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6576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822960" y="1414080"/>
            <a:ext cx="10972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0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EI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22960" y="1809750"/>
            <a:ext cx="1097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Pearl Prime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822960" y="2724150"/>
            <a:ext cx="1097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关于你的音乐的内容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2960" y="4147383"/>
            <a:ext cx="10515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如何在全球规模上创作图书、有声书、播客与漫画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822960" y="4671498"/>
            <a:ext cx="10515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献给 Pearl Prime 品牌总监网络中的音乐人</a:t>
            </a:r>
          </a:p>
        </p:txBody>
      </p:sp>
      <p:sp>
        <p:nvSpPr>
          <p:cNvPr id="26" name="Shape 6"/>
          <p:cNvSpPr/>
          <p:nvPr/>
        </p:nvSpPr>
        <p:spPr>
          <a:xfrm>
            <a:off x="822960" y="5486400"/>
            <a:ext cx="3657601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822960" y="5728007"/>
            <a:ext cx="10515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由 Pearl Prime · Enlightened Intelligence Publishing 呈现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概览</a:t>
            </a:r>
          </a:p>
        </p:txBody>
      </p:sp>
      <p:sp>
        <p:nvSpPr>
          <p:cNvPr id="30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什么是 Music Mode？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—— Enlightened Intelligence —— 是一套 AI 原生的出版系统。Music mode 是该平台上的一等品牌原型。</a:t>
            </a:r>
          </a:p>
        </p:txBody>
      </p:sp>
      <p:sp>
        <p:nvSpPr>
          <p:cNvPr id="33" name="Shape 4"/>
          <p:cNvSpPr/>
          <p:nvPr/>
        </p:nvSpPr>
        <p:spPr>
          <a:xfrm>
            <a:off x="548640" y="1828800"/>
            <a:ext cx="3657601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5"/>
          <p:cNvSpPr/>
          <p:nvPr/>
        </p:nvSpPr>
        <p:spPr>
          <a:xfrm>
            <a:off x="548640" y="1828799"/>
            <a:ext cx="3657601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731519" y="2084069"/>
            <a:ext cx="73152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📚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731519" y="2769869"/>
            <a:ext cx="32918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它创造什么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731519" y="4220386"/>
            <a:ext cx="3291842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sz="11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一本常规的 Pearl Prime 电子书 + 你的音乐插槽。你的数据决定配比 —— 你有歌词的地方便是歌词书，没有歌词的地方便是器乐自省书，两者共存于同一个品牌之中。教诲来自你自己的 bank（如果你授课）或 Pearl Prime composite。你的音乐留在你自己的渠道上；书则指向它。</a:t>
            </a:r>
          </a:p>
        </p:txBody>
      </p:sp>
      <p:sp>
        <p:nvSpPr>
          <p:cNvPr id="38" name="Shape 9"/>
          <p:cNvSpPr/>
          <p:nvPr/>
        </p:nvSpPr>
        <p:spPr>
          <a:xfrm>
            <a:off x="4343400" y="1828800"/>
            <a:ext cx="3657600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0"/>
          <p:cNvSpPr/>
          <p:nvPr/>
        </p:nvSpPr>
        <p:spPr>
          <a:xfrm>
            <a:off x="4343400" y="1828799"/>
            <a:ext cx="3657600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1"/>
          <p:cNvSpPr txBox="1"/>
          <p:nvPr/>
        </p:nvSpPr>
        <p:spPr>
          <a:xfrm>
            <a:off x="4526279" y="2084069"/>
            <a:ext cx="73152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🌍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4526279" y="2769869"/>
            <a:ext cx="32918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它触达谁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4526279" y="4220386"/>
            <a:ext cx="329184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sz="11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横跨 12 个市场的 Z 世代与 Alpha 世代读者 —— 美国、日本、台湾、中国等等 —— 覆盖 KDP、Audible、Apple Books 和 Google Play。各地区版本经由 Pearl_Localization 保持对等。直接对读者言说，以作者之声。</a:t>
            </a:r>
          </a:p>
        </p:txBody>
      </p:sp>
      <p:sp>
        <p:nvSpPr>
          <p:cNvPr id="43" name="Shape 14"/>
          <p:cNvSpPr/>
          <p:nvPr/>
        </p:nvSpPr>
        <p:spPr>
          <a:xfrm>
            <a:off x="8138159" y="1828800"/>
            <a:ext cx="3657601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5"/>
          <p:cNvSpPr/>
          <p:nvPr/>
        </p:nvSpPr>
        <p:spPr>
          <a:xfrm>
            <a:off x="8138159" y="1828799"/>
            <a:ext cx="3657601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6"/>
          <p:cNvSpPr txBox="1"/>
          <p:nvPr/>
        </p:nvSpPr>
        <p:spPr>
          <a:xfrm>
            <a:off x="8321040" y="2084069"/>
            <a:ext cx="73152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🔬</a:t>
            </a:r>
          </a:p>
        </p:txBody>
      </p:sp>
      <p:sp>
        <p:nvSpPr>
          <p:cNvPr id="46" name="Text 17"/>
          <p:cNvSpPr txBox="1"/>
          <p:nvPr/>
        </p:nvSpPr>
        <p:spPr>
          <a:xfrm>
            <a:off x="8321040" y="2769869"/>
            <a:ext cx="32918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它如何运作</a:t>
            </a:r>
          </a:p>
        </p:txBody>
      </p:sp>
      <p:sp>
        <p:nvSpPr>
          <p:cNvPr id="47" name="Text 18"/>
          <p:cNvSpPr txBox="1"/>
          <p:nvPr/>
        </p:nvSpPr>
        <p:spPr>
          <a:xfrm>
            <a:off x="8321040" y="4220386"/>
            <a:ext cx="329184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sz="11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确定性组装：你的调查问卷 + 试金石曲目 + 声音/技法画像，共同馈入一条 atom-bank 流水线。Pearl_Editor + Pearl_Writer 撰写对应 6 个新 slot pool 的 atom。这不是幻觉编造 —— 你的主题与声音将成为系统的永久记忆。</a:t>
            </a:r>
          </a:p>
        </p:txBody>
      </p:sp>
      <p:sp>
        <p:nvSpPr>
          <p:cNvPr id="48" name="Shape 19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0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知识库</a:t>
            </a:r>
          </a:p>
        </p:txBody>
      </p:sp>
      <p:sp>
        <p:nvSpPr>
          <p:cNvPr id="53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你的声音，被撰写为 atom</a:t>
            </a:r>
          </a:p>
        </p:txBody>
      </p:sp>
      <p:sp>
        <p:nvSpPr>
          <p:cNvPr id="55" name="Text 3"/>
          <p:cNvSpPr txBox="1"/>
          <p:nvPr/>
        </p:nvSpPr>
        <p:spPr>
          <a:xfrm>
            <a:off x="548639" y="1254060"/>
            <a:ext cx="1106424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为每位音乐人构建一个 musician_bank —— 你的主题、声音语域、疗愈意图、标志性手法、试金石作品。书，正是从这个 bank 写出来的。</a:t>
            </a:r>
          </a:p>
        </p:txBody>
      </p:sp>
      <p:sp>
        <p:nvSpPr>
          <p:cNvPr id="56" name="Shape 4"/>
          <p:cNvSpPr/>
          <p:nvPr/>
        </p:nvSpPr>
        <p:spPr>
          <a:xfrm>
            <a:off x="548640" y="1828800"/>
            <a:ext cx="5486401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5"/>
          <p:cNvSpPr/>
          <p:nvPr/>
        </p:nvSpPr>
        <p:spPr>
          <a:xfrm>
            <a:off x="548640" y="1828800"/>
            <a:ext cx="73153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6"/>
          <p:cNvSpPr txBox="1"/>
          <p:nvPr/>
        </p:nvSpPr>
        <p:spPr>
          <a:xfrm>
            <a:off x="777239" y="208170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6 个 slot pool 框定每一章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777239" y="3021506"/>
            <a:ext cx="5120642" cy="2369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300"/>
              </a:spcBef>
              <a:defRPr i="1" sz="1100">
                <a:solidFill>
                  <a:srgbClr val="F59E0B"/>
                </a:solidFill>
              </a:defRPr>
            </a:pPr>
            <a:r>
              <a:rPr>
                <a:latin typeface="Calibri"/>
                <a:ea typeface="Heiti SC"/>
              </a:rPr>
              <a:t>含歌词变体：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LYRIC_OPENING  —— 置于章首的你的歌词之声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LYRIC_CLOSING  —— 置于章尾的你的歌词之声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LYRIC_BESTSELLER_BEAT  —— 章节中段的一记歌词节拍</a:t>
            </a:r>
          </a:p>
          <a:p>
            <a:pPr>
              <a:spcBef>
                <a:spcPts val="300"/>
              </a:spcBef>
              <a:defRPr sz="1100"/>
            </a:pPr>
            <a:r>
              <a:t> </a:t>
            </a:r>
          </a:p>
          <a:p>
            <a:pPr>
              <a:spcBef>
                <a:spcPts val="300"/>
              </a:spcBef>
              <a:defRPr i="1" sz="1100">
                <a:solidFill>
                  <a:srgbClr val="F59E0B"/>
                </a:solidFill>
              </a:defRPr>
            </a:pPr>
            <a:r>
              <a:rPr>
                <a:latin typeface="Calibri"/>
                <a:ea typeface="Heiti SC"/>
              </a:rPr>
              <a:t>无歌词变体：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MUSIC_REFLECTION_OPENING  —— 自省式开场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MUSIC_REFLECTION_CLOSING  —— 自省式收尾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MUSIC_REFLECTION_BESTSELLER_BEAT  —— 章节中段节拍</a:t>
            </a:r>
          </a:p>
          <a:p>
            <a:pPr>
              <a:spcBef>
                <a:spcPts val="300"/>
              </a:spcBef>
              <a:defRPr sz="1100"/>
            </a:pPr>
            <a:r>
              <a:t> </a:t>
            </a:r>
          </a:p>
          <a:p>
            <a:pPr>
              <a:spcBef>
                <a:spcPts val="300"/>
              </a:spcBef>
              <a:defRPr i="1" sz="1100">
                <a:solidFill>
                  <a:srgbClr val="F59E0B"/>
                </a:solidFill>
              </a:defRPr>
            </a:pPr>
            <a:r>
              <a:rPr>
                <a:latin typeface="Calibri"/>
                <a:ea typeface="Heiti SC"/>
              </a:rPr>
              <a:t>+ INTRO_2P_TEMPLATE + CONCLUSION_2P_TEMPLATE</a:t>
            </a:r>
          </a:p>
          <a:p>
            <a:pPr>
              <a:spcBef>
                <a:spcPts val="300"/>
              </a:spcBef>
              <a:defRPr i="1" sz="1100">
                <a:solidFill>
                  <a:srgbClr val="9C8A7A"/>
                </a:solidFill>
              </a:defRPr>
            </a:pPr>
            <a:r>
              <a:rPr>
                <a:latin typeface="Calibri"/>
                <a:ea typeface="Heiti SC"/>
              </a:rPr>
              <a:t>（以第二人称视角开启并收束每一本书）外加每个音乐插槽上一层第一人称、归属于音乐的包装</a:t>
            </a:r>
          </a:p>
        </p:txBody>
      </p:sp>
      <p:sp>
        <p:nvSpPr>
          <p:cNvPr id="60" name="Shape 8"/>
          <p:cNvSpPr/>
          <p:nvPr/>
        </p:nvSpPr>
        <p:spPr>
          <a:xfrm>
            <a:off x="6309359" y="1828800"/>
            <a:ext cx="5303521" cy="429768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9"/>
          <p:cNvSpPr/>
          <p:nvPr/>
        </p:nvSpPr>
        <p:spPr>
          <a:xfrm>
            <a:off x="6309359" y="1828800"/>
            <a:ext cx="73153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0"/>
          <p:cNvSpPr txBox="1"/>
          <p:nvPr/>
        </p:nvSpPr>
        <p:spPr>
          <a:xfrm>
            <a:off x="6537959" y="2081706"/>
            <a:ext cx="4937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运作方式</a:t>
            </a:r>
          </a:p>
        </p:txBody>
      </p:sp>
      <p:sp>
        <p:nvSpPr>
          <p:cNvPr id="63" name="Shape 11"/>
          <p:cNvSpPr/>
          <p:nvPr/>
        </p:nvSpPr>
        <p:spPr>
          <a:xfrm>
            <a:off x="6537959" y="24688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2"/>
          <p:cNvSpPr txBox="1"/>
          <p:nvPr/>
        </p:nvSpPr>
        <p:spPr>
          <a:xfrm>
            <a:off x="6537959" y="25539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" name="Text 13"/>
          <p:cNvSpPr txBox="1"/>
          <p:nvPr/>
        </p:nvSpPr>
        <p:spPr>
          <a:xfrm>
            <a:off x="7086600" y="2465069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入驻调查问卷</a:t>
            </a:r>
          </a:p>
        </p:txBody>
      </p:sp>
      <p:sp>
        <p:nvSpPr>
          <p:cNvPr id="66" name="Text 14"/>
          <p:cNvSpPr txBox="1"/>
          <p:nvPr/>
        </p:nvSpPr>
        <p:spPr>
          <a:xfrm>
            <a:off x="7086600" y="28664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身份、主题、声音技法、试金石作品、疗愈意图、乐器、输出偏好、Music-Format（由数据派生）</a:t>
            </a:r>
          </a:p>
        </p:txBody>
      </p:sp>
      <p:sp>
        <p:nvSpPr>
          <p:cNvPr id="67" name="Shape 15"/>
          <p:cNvSpPr/>
          <p:nvPr/>
        </p:nvSpPr>
        <p:spPr>
          <a:xfrm>
            <a:off x="6537959" y="33832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6"/>
          <p:cNvSpPr txBox="1"/>
          <p:nvPr/>
        </p:nvSpPr>
        <p:spPr>
          <a:xfrm>
            <a:off x="6537959" y="34683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" name="Text 17"/>
          <p:cNvSpPr txBox="1"/>
          <p:nvPr/>
        </p:nvSpPr>
        <p:spPr>
          <a:xfrm>
            <a:off x="7086600" y="3379470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Song-Kit 生成</a:t>
            </a:r>
          </a:p>
        </p:txBody>
      </p:sp>
      <p:sp>
        <p:nvSpPr>
          <p:cNvPr id="70" name="Text 18"/>
          <p:cNvSpPr txBox="1"/>
          <p:nvPr/>
        </p:nvSpPr>
        <p:spPr>
          <a:xfrm>
            <a:off x="7086600" y="37808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Song-Kit 生成器依据入驻问卷草拟 atom；Pearl_Editor 审核并提升（Tier 1）</a:t>
            </a:r>
          </a:p>
        </p:txBody>
      </p:sp>
      <p:sp>
        <p:nvSpPr>
          <p:cNvPr id="71" name="Shape 19"/>
          <p:cNvSpPr/>
          <p:nvPr/>
        </p:nvSpPr>
        <p:spPr>
          <a:xfrm>
            <a:off x="6537959" y="42976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0"/>
          <p:cNvSpPr txBox="1"/>
          <p:nvPr/>
        </p:nvSpPr>
        <p:spPr>
          <a:xfrm>
            <a:off x="6537959" y="43827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" name="Text 21"/>
          <p:cNvSpPr txBox="1"/>
          <p:nvPr/>
        </p:nvSpPr>
        <p:spPr>
          <a:xfrm>
            <a:off x="7086600" y="4293870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图书组装</a:t>
            </a:r>
          </a:p>
        </p:txBody>
      </p:sp>
      <p:sp>
        <p:nvSpPr>
          <p:cNvPr id="74" name="Text 22"/>
          <p:cNvSpPr txBox="1"/>
          <p:nvPr/>
        </p:nvSpPr>
        <p:spPr>
          <a:xfrm>
            <a:off x="7086600" y="46952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atom 按确定性规则混入各章；以第二人称行文向读者言说；任何书发行前都会运行质量关卡</a:t>
            </a:r>
          </a:p>
        </p:txBody>
      </p:sp>
      <p:sp>
        <p:nvSpPr>
          <p:cNvPr id="75" name="Shape 23"/>
          <p:cNvSpPr/>
          <p:nvPr/>
        </p:nvSpPr>
        <p:spPr>
          <a:xfrm>
            <a:off x="6537959" y="5212079"/>
            <a:ext cx="411481" cy="41148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24"/>
          <p:cNvSpPr txBox="1"/>
          <p:nvPr/>
        </p:nvSpPr>
        <p:spPr>
          <a:xfrm>
            <a:off x="6537959" y="5297169"/>
            <a:ext cx="4114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" name="Text 25"/>
          <p:cNvSpPr txBox="1"/>
          <p:nvPr/>
        </p:nvSpPr>
        <p:spPr>
          <a:xfrm>
            <a:off x="7086600" y="5208270"/>
            <a:ext cx="4480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配套提示词（可选）</a:t>
            </a:r>
          </a:p>
        </p:txBody>
      </p:sp>
      <p:sp>
        <p:nvSpPr>
          <p:cNvPr id="78" name="Text 26"/>
          <p:cNvSpPr txBox="1"/>
          <p:nvPr/>
        </p:nvSpPr>
        <p:spPr>
          <a:xfrm>
            <a:off x="7086600" y="5609634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每本书一条内部 MusicGen 情绪提示词，供 brand-admin 套装使用 —— 并非交给读者的物件。音频渲染受 Phase-B 把关；你的音乐绝不会以文件形式分发。</a:t>
            </a:r>
          </a:p>
        </p:txBody>
      </p:sp>
      <p:sp>
        <p:nvSpPr>
          <p:cNvPr id="79" name="Shape 27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28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81" name="Text 29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SONG-KIT 生成器</a:t>
            </a:r>
          </a:p>
        </p:txBody>
      </p:sp>
      <p:sp>
        <p:nvSpPr>
          <p:cNvPr id="84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"/>
          <p:cNvSpPr txBox="1"/>
          <p:nvPr/>
        </p:nvSpPr>
        <p:spPr>
          <a:xfrm>
            <a:off x="548639" y="7251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Song-Kit 生成器</a:t>
            </a:r>
          </a:p>
        </p:txBody>
      </p:sp>
      <p:sp>
        <p:nvSpPr>
          <p:cNvPr id="86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一份完成的入驻问卷如何化为音乐人的第一套草稿 atom —— 无论是歌词型还是器乐型。</a:t>
            </a:r>
          </a:p>
        </p:txBody>
      </p:sp>
      <p:sp>
        <p:nvSpPr>
          <p:cNvPr id="87" name="Shape 4"/>
          <p:cNvSpPr/>
          <p:nvPr/>
        </p:nvSpPr>
        <p:spPr>
          <a:xfrm>
            <a:off x="54864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5"/>
          <p:cNvSpPr/>
          <p:nvPr/>
        </p:nvSpPr>
        <p:spPr>
          <a:xfrm>
            <a:off x="685800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6"/>
          <p:cNvSpPr txBox="1"/>
          <p:nvPr/>
        </p:nvSpPr>
        <p:spPr>
          <a:xfrm>
            <a:off x="685800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0" name="Text 7"/>
          <p:cNvSpPr txBox="1"/>
          <p:nvPr/>
        </p:nvSpPr>
        <p:spPr>
          <a:xfrm>
            <a:off x="1325880" y="205993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入驻问卷</a:t>
            </a:r>
          </a:p>
        </p:txBody>
      </p:sp>
      <p:sp>
        <p:nvSpPr>
          <p:cNvPr id="91" name="Text 8"/>
          <p:cNvSpPr txBox="1"/>
          <p:nvPr/>
        </p:nvSpPr>
        <p:spPr>
          <a:xfrm>
            <a:off x="1325880" y="250067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音乐人完成「音乐自省调查问卷」：主题、声音技法、试金石作品、疗愈意图、乐器、输出偏好。</a:t>
            </a:r>
          </a:p>
        </p:txBody>
      </p:sp>
      <p:sp>
        <p:nvSpPr>
          <p:cNvPr id="92" name="Shape 9"/>
          <p:cNvSpPr/>
          <p:nvPr/>
        </p:nvSpPr>
        <p:spPr>
          <a:xfrm>
            <a:off x="621792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0"/>
          <p:cNvSpPr/>
          <p:nvPr/>
        </p:nvSpPr>
        <p:spPr>
          <a:xfrm>
            <a:off x="6355079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1"/>
          <p:cNvSpPr txBox="1"/>
          <p:nvPr/>
        </p:nvSpPr>
        <p:spPr>
          <a:xfrm>
            <a:off x="6355079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5" name="Text 12"/>
          <p:cNvSpPr txBox="1"/>
          <p:nvPr/>
        </p:nvSpPr>
        <p:spPr>
          <a:xfrm>
            <a:off x="6995159" y="205993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派生画像</a:t>
            </a:r>
          </a:p>
        </p:txBody>
      </p:sp>
      <p:sp>
        <p:nvSpPr>
          <p:cNvPr id="96" name="Text 13"/>
          <p:cNvSpPr txBox="1"/>
          <p:nvPr/>
        </p:nvSpPr>
        <p:spPr>
          <a:xfrm>
            <a:off x="6995159" y="250067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survey_derivation.py 把入驻问卷转化为 profile、themes 和 voice_profile —— 生成器的条件化语境。</a:t>
            </a:r>
          </a:p>
        </p:txBody>
      </p:sp>
      <p:sp>
        <p:nvSpPr>
          <p:cNvPr id="97" name="Shape 14"/>
          <p:cNvSpPr/>
          <p:nvPr/>
        </p:nvSpPr>
        <p:spPr>
          <a:xfrm>
            <a:off x="54864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15"/>
          <p:cNvSpPr/>
          <p:nvPr/>
        </p:nvSpPr>
        <p:spPr>
          <a:xfrm>
            <a:off x="685800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6"/>
          <p:cNvSpPr txBox="1"/>
          <p:nvPr/>
        </p:nvSpPr>
        <p:spPr>
          <a:xfrm>
            <a:off x="685800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0" name="Text 17"/>
          <p:cNvSpPr txBox="1"/>
          <p:nvPr/>
        </p:nvSpPr>
        <p:spPr>
          <a:xfrm>
            <a:off x="1325880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匹配主题家族</a:t>
            </a:r>
          </a:p>
        </p:txBody>
      </p:sp>
      <p:sp>
        <p:nvSpPr>
          <p:cNvPr id="101" name="Text 18"/>
          <p:cNvSpPr txBox="1"/>
          <p:nvPr/>
        </p:nvSpPr>
        <p:spPr>
          <a:xfrm>
            <a:off x="1325880" y="382655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调查所得的主题被映射到 8 大家族中的一个或多个；每个家族提供一种歌词语域和一条器乐情绪提示。</a:t>
            </a:r>
          </a:p>
        </p:txBody>
      </p:sp>
      <p:sp>
        <p:nvSpPr>
          <p:cNvPr id="102" name="Shape 19"/>
          <p:cNvSpPr/>
          <p:nvPr/>
        </p:nvSpPr>
        <p:spPr>
          <a:xfrm>
            <a:off x="621792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20"/>
          <p:cNvSpPr/>
          <p:nvPr/>
        </p:nvSpPr>
        <p:spPr>
          <a:xfrm>
            <a:off x="6355079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21"/>
          <p:cNvSpPr txBox="1"/>
          <p:nvPr/>
        </p:nvSpPr>
        <p:spPr>
          <a:xfrm>
            <a:off x="6355079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5" name="Text 22"/>
          <p:cNvSpPr txBox="1"/>
          <p:nvPr/>
        </p:nvSpPr>
        <p:spPr>
          <a:xfrm>
            <a:off x="6995159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配比：歌词型 + 器乐型</a:t>
            </a:r>
          </a:p>
        </p:txBody>
      </p:sp>
      <p:sp>
        <p:nvSpPr>
          <p:cNvPr id="106" name="Text 23"/>
          <p:cNvSpPr txBox="1"/>
          <p:nvPr/>
        </p:nvSpPr>
        <p:spPr>
          <a:xfrm>
            <a:off x="6995159" y="382655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你的数据决定配比 —— 两者共存于同一个目录之中。含歌词 → 歌词 atom（Pearl_Writer）；无歌词 → MusicGen 情绪指令文本。V1 中不渲染任何音频。</a:t>
            </a:r>
          </a:p>
        </p:txBody>
      </p:sp>
      <p:sp>
        <p:nvSpPr>
          <p:cNvPr id="107" name="Shape 24"/>
          <p:cNvSpPr/>
          <p:nvPr/>
        </p:nvSpPr>
        <p:spPr>
          <a:xfrm>
            <a:off x="54864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25"/>
          <p:cNvSpPr/>
          <p:nvPr/>
        </p:nvSpPr>
        <p:spPr>
          <a:xfrm>
            <a:off x="685800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6"/>
          <p:cNvSpPr txBox="1"/>
          <p:nvPr/>
        </p:nvSpPr>
        <p:spPr>
          <a:xfrm>
            <a:off x="685800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0" name="Text 27"/>
          <p:cNvSpPr txBox="1"/>
          <p:nvPr/>
        </p:nvSpPr>
        <p:spPr>
          <a:xfrm>
            <a:off x="1325880" y="4711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每个 pool 草拟 3 个以上变体</a:t>
            </a:r>
          </a:p>
        </p:txBody>
      </p:sp>
      <p:sp>
        <p:nvSpPr>
          <p:cNvPr id="111" name="Text 28"/>
          <p:cNvSpPr txBox="1"/>
          <p:nvPr/>
        </p:nvSpPr>
        <p:spPr>
          <a:xfrm>
            <a:off x="1325880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atom 被草拟进现有的 6 个 slot pool；当每个 pool 达到 SPEC-739 规定的三个或以上变体下限时，该单元即告完成。</a:t>
            </a:r>
          </a:p>
        </p:txBody>
      </p:sp>
      <p:sp>
        <p:nvSpPr>
          <p:cNvPr id="112" name="Shape 29"/>
          <p:cNvSpPr/>
          <p:nvPr/>
        </p:nvSpPr>
        <p:spPr>
          <a:xfrm>
            <a:off x="621792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30"/>
          <p:cNvSpPr/>
          <p:nvPr/>
        </p:nvSpPr>
        <p:spPr>
          <a:xfrm>
            <a:off x="6355079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31"/>
          <p:cNvSpPr txBox="1"/>
          <p:nvPr/>
        </p:nvSpPr>
        <p:spPr>
          <a:xfrm>
            <a:off x="6355079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5" name="Text 32"/>
          <p:cNvSpPr txBox="1"/>
          <p:nvPr/>
        </p:nvSpPr>
        <p:spPr>
          <a:xfrm>
            <a:off x="6995159" y="471170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EI 审核 → 上线</a:t>
            </a:r>
          </a:p>
        </p:txBody>
      </p:sp>
      <p:sp>
        <p:nvSpPr>
          <p:cNvPr id="116" name="Text 33"/>
          <p:cNvSpPr txBox="1"/>
          <p:nvPr/>
        </p:nvSpPr>
        <p:spPr>
          <a:xfrm>
            <a:off x="6995159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Pearl_Editor 审核并提升（Tier 1）；G1–G8 多样性关卡 + 音乐归属/声音 lint 一并运行；注入方式保持不变。</a:t>
            </a:r>
          </a:p>
        </p:txBody>
      </p:sp>
      <p:sp>
        <p:nvSpPr>
          <p:cNvPr id="117" name="Shape 34"/>
          <p:cNvSpPr/>
          <p:nvPr/>
        </p:nvSpPr>
        <p:spPr>
          <a:xfrm>
            <a:off x="548639" y="5897879"/>
            <a:ext cx="11064242" cy="36576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35"/>
          <p:cNvSpPr txBox="1"/>
          <p:nvPr/>
        </p:nvSpPr>
        <p:spPr>
          <a:xfrm>
            <a:off x="548639" y="6012224"/>
            <a:ext cx="11064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YouTube → 赠品桥接（规范）：一首歌的视频经由邮箱关卡导向现有的 m1–m5 赠品 —— 属于获客链路；实时上传暂缓。</a:t>
            </a:r>
          </a:p>
        </p:txBody>
      </p:sp>
      <p:sp>
        <p:nvSpPr>
          <p:cNvPr id="119" name="Shape 36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37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121" name="Text 38"/>
          <p:cNvSpPr txBox="1"/>
          <p:nvPr/>
        </p:nvSpPr>
        <p:spPr>
          <a:xfrm>
            <a:off x="10515600" y="6584188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主题家族</a:t>
            </a:r>
          </a:p>
        </p:txBody>
      </p:sp>
      <p:sp>
        <p:nvSpPr>
          <p:cNvPr id="124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八大主题家族</a:t>
            </a:r>
          </a:p>
        </p:txBody>
      </p:sp>
      <p:sp>
        <p:nvSpPr>
          <p:cNvPr id="126" name="Shape 3"/>
          <p:cNvSpPr/>
          <p:nvPr/>
        </p:nvSpPr>
        <p:spPr>
          <a:xfrm>
            <a:off x="548639" y="1783079"/>
            <a:ext cx="5532122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4"/>
          <p:cNvSpPr/>
          <p:nvPr/>
        </p:nvSpPr>
        <p:spPr>
          <a:xfrm>
            <a:off x="548639" y="1783079"/>
            <a:ext cx="5532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5"/>
          <p:cNvSpPr txBox="1"/>
          <p:nvPr/>
        </p:nvSpPr>
        <p:spPr>
          <a:xfrm>
            <a:off x="777239" y="205884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穿越其中</a:t>
            </a:r>
          </a:p>
        </p:txBody>
      </p:sp>
      <p:sp>
        <p:nvSpPr>
          <p:cNvPr id="129" name="Text 6"/>
          <p:cNvSpPr txBox="1"/>
          <p:nvPr/>
        </p:nvSpPr>
        <p:spPr>
          <a:xfrm>
            <a:off x="777239" y="2350769"/>
            <a:ext cx="51206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艰难时节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777239" y="327817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陪你穿越最沉重时段的音乐。音乐人调查所得的主题会最先路由到这里。</a:t>
            </a:r>
          </a:p>
        </p:txBody>
      </p:sp>
      <p:sp>
        <p:nvSpPr>
          <p:cNvPr id="131" name="Text 8"/>
          <p:cNvSpPr txBox="1"/>
          <p:nvPr/>
        </p:nvSpPr>
        <p:spPr>
          <a:xfrm>
            <a:off x="777239" y="4729655"/>
            <a:ext cx="5120642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复元与修复 —— 在耗竭之后重建自己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焦虑与不堪重负 —— 为狂奔的思绪寻一份更稳的节奏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悲伤与放手 —— 温柔地承载已逝之物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自我价值与羞耻 —— 卸下内心的那纸判决</a:t>
            </a:r>
          </a:p>
        </p:txBody>
      </p:sp>
      <p:sp>
        <p:nvSpPr>
          <p:cNvPr id="132" name="Shape 9"/>
          <p:cNvSpPr/>
          <p:nvPr/>
        </p:nvSpPr>
        <p:spPr>
          <a:xfrm>
            <a:off x="6263640" y="1783079"/>
            <a:ext cx="5532121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0"/>
          <p:cNvSpPr/>
          <p:nvPr/>
        </p:nvSpPr>
        <p:spPr>
          <a:xfrm>
            <a:off x="6263640" y="1783079"/>
            <a:ext cx="5532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1"/>
          <p:cNvSpPr txBox="1"/>
          <p:nvPr/>
        </p:nvSpPr>
        <p:spPr>
          <a:xfrm>
            <a:off x="6492240" y="205884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重新立足</a:t>
            </a:r>
          </a:p>
        </p:txBody>
      </p:sp>
      <p:sp>
        <p:nvSpPr>
          <p:cNvPr id="135" name="Text 12"/>
          <p:cNvSpPr txBox="1"/>
          <p:nvPr/>
        </p:nvSpPr>
        <p:spPr>
          <a:xfrm>
            <a:off x="6492240" y="2350769"/>
            <a:ext cx="51206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归返与希望</a:t>
            </a:r>
          </a:p>
        </p:txBody>
      </p:sp>
      <p:sp>
        <p:nvSpPr>
          <p:cNvPr id="136" name="Text 13"/>
          <p:cNvSpPr txBox="1"/>
          <p:nvPr/>
        </p:nvSpPr>
        <p:spPr>
          <a:xfrm>
            <a:off x="6492240" y="327817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助你重新立足、找回自己的音乐。同样的八大家族为每一位音乐人路由。</a:t>
            </a:r>
          </a:p>
        </p:txBody>
      </p:sp>
      <p:sp>
        <p:nvSpPr>
          <p:cNvPr id="137" name="Text 14"/>
          <p:cNvSpPr txBox="1"/>
          <p:nvPr/>
        </p:nvSpPr>
        <p:spPr>
          <a:xfrm>
            <a:off x="6492240" y="4729655"/>
            <a:ext cx="512064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静默的勇气 —— 微小却勇敢的举动；以边界守护自尊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临在与静定 —— 一呼一吸，回到身体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联结与归属 —— 让自己被看见的勇气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希望与新生 —— 漫漫长夜后的第一缕光</a:t>
            </a:r>
          </a:p>
        </p:txBody>
      </p:sp>
      <p:sp>
        <p:nvSpPr>
          <p:cNvPr id="138" name="Shape 1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1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140" name="Text 1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5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参考套件</a:t>
            </a:r>
          </a:p>
        </p:txBody>
      </p:sp>
      <p:sp>
        <p:nvSpPr>
          <p:cNvPr id="143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Ahjan —— 参考套件</a:t>
            </a:r>
          </a:p>
        </p:txBody>
      </p:sp>
      <p:sp>
        <p:nvSpPr>
          <p:cNvPr id="145" name="Shape 3"/>
          <p:cNvSpPr/>
          <p:nvPr/>
        </p:nvSpPr>
        <p:spPr>
          <a:xfrm>
            <a:off x="548639" y="1783079"/>
            <a:ext cx="5532122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4"/>
          <p:cNvSpPr/>
          <p:nvPr/>
        </p:nvSpPr>
        <p:spPr>
          <a:xfrm>
            <a:off x="548639" y="1783079"/>
            <a:ext cx="5532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5"/>
          <p:cNvSpPr txBox="1"/>
          <p:nvPr/>
        </p:nvSpPr>
        <p:spPr>
          <a:xfrm>
            <a:off x="777239" y="205884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它是什么</a:t>
            </a:r>
          </a:p>
        </p:txBody>
      </p:sp>
      <p:sp>
        <p:nvSpPr>
          <p:cNvPr id="148" name="Text 6"/>
          <p:cNvSpPr txBox="1"/>
          <p:nvPr/>
        </p:nvSpPr>
        <p:spPr>
          <a:xfrm>
            <a:off x="777239" y="2350769"/>
            <a:ext cx="51206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第零号套件</a:t>
            </a:r>
          </a:p>
        </p:txBody>
      </p:sp>
      <p:sp>
        <p:nvSpPr>
          <p:cNvPr id="149" name="Text 7"/>
          <p:cNvSpPr txBox="1"/>
          <p:nvPr/>
        </p:nvSpPr>
        <p:spPr>
          <a:xfrm>
            <a:off x="777239" y="327817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衡量未来所有音乐人套件的黄金标准范例。Brand id：ahjan_music。</a:t>
            </a:r>
          </a:p>
        </p:txBody>
      </p:sp>
      <p:sp>
        <p:nvSpPr>
          <p:cNvPr id="150" name="Text 8"/>
          <p:cNvSpPr txBox="1"/>
          <p:nvPr/>
        </p:nvSpPr>
        <p:spPr>
          <a:xfrm>
            <a:off x="777239" y="4729655"/>
            <a:ext cx="5120642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Bank 位于 SOURCE_OF_TRUTH/musician_banks/ahjan/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在 music_brand_registry.yaml 中注册为 music-mode 品牌（38+）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端到端演示完整的 入驻问卷 → 生成器 → 6-pool 流程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衡量每个未来音乐人套件的黄金基准。</a:t>
            </a:r>
          </a:p>
        </p:txBody>
      </p:sp>
      <p:sp>
        <p:nvSpPr>
          <p:cNvPr id="151" name="Shape 9"/>
          <p:cNvSpPr/>
          <p:nvPr/>
        </p:nvSpPr>
        <p:spPr>
          <a:xfrm>
            <a:off x="6263640" y="1783079"/>
            <a:ext cx="5532121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0"/>
          <p:cNvSpPr/>
          <p:nvPr/>
        </p:nvSpPr>
        <p:spPr>
          <a:xfrm>
            <a:off x="6263640" y="1783079"/>
            <a:ext cx="5532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1"/>
          <p:cNvSpPr txBox="1"/>
          <p:nvPr/>
        </p:nvSpPr>
        <p:spPr>
          <a:xfrm>
            <a:off x="6492240" y="205884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它如何被播种</a:t>
            </a:r>
          </a:p>
        </p:txBody>
      </p:sp>
      <p:sp>
        <p:nvSpPr>
          <p:cNvPr id="154" name="Text 12"/>
          <p:cNvSpPr txBox="1"/>
          <p:nvPr/>
        </p:nvSpPr>
        <p:spPr>
          <a:xfrm>
            <a:off x="6492240" y="2350769"/>
            <a:ext cx="51206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复用，而非另起炉灶</a:t>
            </a:r>
          </a:p>
        </p:txBody>
      </p:sp>
      <p:sp>
        <p:nvSpPr>
          <p:cNvPr id="155" name="Text 13"/>
          <p:cNvSpPr txBox="1"/>
          <p:nvPr/>
        </p:nvSpPr>
        <p:spPr>
          <a:xfrm>
            <a:off x="6492240" y="327817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Ahjan 早已作为一位老师存在，因此这套套件复用了那份声音 —— 无需新人设。非授课的音乐人同样欢迎加入：唯有音乐属于他们自己；教诲则取自 Pearl Prime composite。</a:t>
            </a:r>
          </a:p>
        </p:txBody>
      </p:sp>
      <p:sp>
        <p:nvSpPr>
          <p:cNvPr id="156" name="Text 14"/>
          <p:cNvSpPr txBox="1"/>
          <p:nvPr/>
        </p:nvSpPr>
        <p:spPr>
          <a:xfrm>
            <a:off x="6492240" y="4729655"/>
            <a:ext cx="512064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以现有的 teacher_banks/ahjan/ 语料库为种子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13 位老师名册的锚点，如今延伸至音乐领域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profile、themes 和声音均派生自一份 Ahjan 入驻问卷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生成器草拟出六个音乐 slot pool</a:t>
            </a:r>
          </a:p>
        </p:txBody>
      </p:sp>
      <p:sp>
        <p:nvSpPr>
          <p:cNvPr id="157" name="Shape 1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159" name="Text 1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6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图书变体</a:t>
            </a:r>
          </a:p>
        </p:txBody>
      </p:sp>
      <p:sp>
        <p:nvSpPr>
          <p:cNvPr id="162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两类变体共存 —— 你的数据决定配比</a:t>
            </a:r>
          </a:p>
        </p:txBody>
      </p:sp>
      <p:sp>
        <p:nvSpPr>
          <p:cNvPr id="164" name="Shape 3"/>
          <p:cNvSpPr/>
          <p:nvPr/>
        </p:nvSpPr>
        <p:spPr>
          <a:xfrm>
            <a:off x="548639" y="1783079"/>
            <a:ext cx="5532122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4"/>
          <p:cNvSpPr/>
          <p:nvPr/>
        </p:nvSpPr>
        <p:spPr>
          <a:xfrm>
            <a:off x="548639" y="1783079"/>
            <a:ext cx="5532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5"/>
          <p:cNvSpPr txBox="1"/>
          <p:nvPr/>
        </p:nvSpPr>
        <p:spPr>
          <a:xfrm>
            <a:off x="777239" y="2058846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变体 1</a:t>
            </a:r>
          </a:p>
        </p:txBody>
      </p:sp>
      <p:sp>
        <p:nvSpPr>
          <p:cNvPr id="167" name="Text 6"/>
          <p:cNvSpPr txBox="1"/>
          <p:nvPr/>
        </p:nvSpPr>
        <p:spPr>
          <a:xfrm>
            <a:off x="777239" y="2350769"/>
            <a:ext cx="51206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含歌词</a:t>
            </a:r>
          </a:p>
        </p:txBody>
      </p:sp>
      <p:sp>
        <p:nvSpPr>
          <p:cNvPr id="168" name="Text 7"/>
          <p:cNvSpPr txBox="1"/>
          <p:nvPr/>
        </p:nvSpPr>
        <p:spPr>
          <a:xfrm>
            <a:off x="777239" y="327817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歌词内容穿插于章节开篇、收尾以及一记章中节拍。你数据中的歌词素材越多，这部分在目录中的占比就越大。</a:t>
            </a:r>
          </a:p>
        </p:txBody>
      </p:sp>
      <p:sp>
        <p:nvSpPr>
          <p:cNvPr id="169" name="Text 8"/>
          <p:cNvSpPr txBox="1"/>
          <p:nvPr/>
        </p:nvSpPr>
        <p:spPr>
          <a:xfrm>
            <a:off x="777239" y="4729655"/>
            <a:ext cx="5120642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嵌入与每章情感弧线相契合的歌词段落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尊重你的 lyric_form 偏好（自由体 / 押韵 / 主歌-副歌）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遵从你的 explicit_content_ok 开关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捕捉你声音中那份可感的律动</a:t>
            </a:r>
          </a:p>
        </p:txBody>
      </p:sp>
      <p:sp>
        <p:nvSpPr>
          <p:cNvPr id="170" name="Shape 9"/>
          <p:cNvSpPr/>
          <p:nvPr/>
        </p:nvSpPr>
        <p:spPr>
          <a:xfrm>
            <a:off x="6263640" y="1783079"/>
            <a:ext cx="5532121" cy="443484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10"/>
          <p:cNvSpPr/>
          <p:nvPr/>
        </p:nvSpPr>
        <p:spPr>
          <a:xfrm>
            <a:off x="6263640" y="1783079"/>
            <a:ext cx="5532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1"/>
          <p:cNvSpPr txBox="1"/>
          <p:nvPr/>
        </p:nvSpPr>
        <p:spPr>
          <a:xfrm>
            <a:off x="6492240" y="205884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变体 2</a:t>
            </a:r>
          </a:p>
        </p:txBody>
      </p:sp>
      <p:sp>
        <p:nvSpPr>
          <p:cNvPr id="173" name="Text 12"/>
          <p:cNvSpPr txBox="1"/>
          <p:nvPr/>
        </p:nvSpPr>
        <p:spPr>
          <a:xfrm>
            <a:off x="6492240" y="2350769"/>
            <a:ext cx="51206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无歌词</a:t>
            </a:r>
          </a:p>
        </p:txBody>
      </p:sp>
      <p:sp>
        <p:nvSpPr>
          <p:cNvPr id="174" name="Text 13"/>
          <p:cNvSpPr txBox="1"/>
          <p:nvPr/>
        </p:nvSpPr>
        <p:spPr>
          <a:xfrm>
            <a:off x="6492240" y="327817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在相同位置呈现关于你音乐的自省随笔、日记片段或冥想文字。一位以器乐为主的音乐人，得到的大多是这类书 —— 外加少数几本歌词书 —— 全都共存于同一个品牌之中。</a:t>
            </a:r>
          </a:p>
        </p:txBody>
      </p:sp>
      <p:sp>
        <p:nvSpPr>
          <p:cNvPr id="175" name="Text 14"/>
          <p:cNvSpPr txBox="1"/>
          <p:nvPr/>
        </p:nvSpPr>
        <p:spPr>
          <a:xfrm>
            <a:off x="6492240" y="4729655"/>
            <a:ext cx="512064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自省形式：随笔 / 日记 / 冥想 / 混合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视角：音乐人 / 听众 / 乐评人 / 混合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触达那些为感受而来、而非为文字而来的读者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你的音乐 —— 留在你自己的渠道上 —— 承载起余下的一切</a:t>
            </a:r>
          </a:p>
        </p:txBody>
      </p:sp>
      <p:sp>
        <p:nvSpPr>
          <p:cNvPr id="176" name="Shape 1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1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178" name="Text 1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7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署名归属</a:t>
            </a:r>
          </a:p>
        </p:txBody>
      </p:sp>
      <p:sp>
        <p:nvSpPr>
          <p:cNvPr id="181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作者之声。永远归属于你的音乐。</a:t>
            </a:r>
          </a:p>
        </p:txBody>
      </p:sp>
      <p:sp>
        <p:nvSpPr>
          <p:cNvPr id="183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一个作者人设 —— 真人笔名或 EI —— 以其自己的声音引述你的音乐，永远注明归属，绝不假冒你。新的音乐插槽默认采用第一人称；既有的第二人称文字则予以保留。</a:t>
            </a:r>
          </a:p>
        </p:txBody>
      </p:sp>
      <p:sp>
        <p:nvSpPr>
          <p:cNvPr id="184" name="Shape 4"/>
          <p:cNvSpPr/>
          <p:nvPr/>
        </p:nvSpPr>
        <p:spPr>
          <a:xfrm>
            <a:off x="548640" y="1874520"/>
            <a:ext cx="5486401" cy="18288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5"/>
          <p:cNvSpPr/>
          <p:nvPr/>
        </p:nvSpPr>
        <p:spPr>
          <a:xfrm>
            <a:off x="548640" y="1874520"/>
            <a:ext cx="73153" cy="18288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6"/>
          <p:cNvSpPr txBox="1"/>
          <p:nvPr/>
        </p:nvSpPr>
        <p:spPr>
          <a:xfrm>
            <a:off x="777239" y="2080304"/>
            <a:ext cx="5120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示例 —— 第一人称（新文字的默认）</a:t>
            </a:r>
          </a:p>
        </p:txBody>
      </p:sp>
      <p:sp>
        <p:nvSpPr>
          <p:cNvPr id="187" name="Text 7"/>
          <p:cNvSpPr txBox="1"/>
          <p:nvPr/>
        </p:nvSpPr>
        <p:spPr>
          <a:xfrm>
            <a:off x="777239" y="2590800"/>
            <a:ext cx="5120642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"出自 Ahjan 的音乐 —— 在他的吉他上，一记延绵的和弦，随后一段升扬的旋律。那份借由声音而起的心绪微扬，正是我想陪你一同停驻之处，当我们转向那些压在你心头的东西。"</a:t>
            </a:r>
          </a:p>
        </p:txBody>
      </p:sp>
      <p:sp>
        <p:nvSpPr>
          <p:cNvPr id="188" name="Shape 8"/>
          <p:cNvSpPr/>
          <p:nvPr/>
        </p:nvSpPr>
        <p:spPr>
          <a:xfrm>
            <a:off x="6309359" y="1874520"/>
            <a:ext cx="5303521" cy="13258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9"/>
          <p:cNvSpPr txBox="1"/>
          <p:nvPr/>
        </p:nvSpPr>
        <p:spPr>
          <a:xfrm>
            <a:off x="6446520" y="2141220"/>
            <a:ext cx="548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</a:t>
            </a:r>
          </a:p>
        </p:txBody>
      </p:sp>
      <p:sp>
        <p:nvSpPr>
          <p:cNvPr id="190" name="Text 10"/>
          <p:cNvSpPr txBox="1"/>
          <p:nvPr/>
        </p:nvSpPr>
        <p:spPr>
          <a:xfrm>
            <a:off x="7040880" y="2126741"/>
            <a:ext cx="4480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始终注明归属</a:t>
            </a:r>
          </a:p>
        </p:txBody>
      </p:sp>
      <p:sp>
        <p:nvSpPr>
          <p:cNvPr id="191" name="Text 11"/>
          <p:cNvSpPr txBox="1"/>
          <p:nvPr/>
        </p:nvSpPr>
        <p:spPr>
          <a:xfrm>
            <a:off x="7040880" y="2660694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每一个音乐插槽都点明你的音乐及其来源 —— 「出自 Ahjan 的音乐」—— 并陈述一个真实的结构与一份真实的益处。</a:t>
            </a:r>
          </a:p>
        </p:txBody>
      </p:sp>
      <p:sp>
        <p:nvSpPr>
          <p:cNvPr id="192" name="Shape 12"/>
          <p:cNvSpPr/>
          <p:nvPr/>
        </p:nvSpPr>
        <p:spPr>
          <a:xfrm>
            <a:off x="6309359" y="3291840"/>
            <a:ext cx="5303521" cy="13258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3"/>
          <p:cNvSpPr txBox="1"/>
          <p:nvPr/>
        </p:nvSpPr>
        <p:spPr>
          <a:xfrm>
            <a:off x="6446520" y="3558540"/>
            <a:ext cx="548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🌱</a:t>
            </a:r>
          </a:p>
        </p:txBody>
      </p:sp>
      <p:sp>
        <p:nvSpPr>
          <p:cNvPr id="194" name="Text 14"/>
          <p:cNvSpPr txBox="1"/>
          <p:nvPr/>
        </p:nvSpPr>
        <p:spPr>
          <a:xfrm>
            <a:off x="7040880" y="3544062"/>
            <a:ext cx="4480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第二人称 —— 予以保留</a:t>
            </a:r>
          </a:p>
        </p:txBody>
      </p:sp>
      <p:sp>
        <p:nvSpPr>
          <p:cNvPr id="195" name="Text 15"/>
          <p:cNvSpPr txBox="1"/>
          <p:nvPr/>
        </p:nvSpPr>
        <p:spPr>
          <a:xfrm>
            <a:off x="7040880" y="4078014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"你放上了 Ahjan 的曲子。房间先收拢，继而敞开。和弦稳稳地撑着。"凡是文字本已以第二人称行文之处，便予以保留 —— 依旧注明归属。</a:t>
            </a:r>
          </a:p>
        </p:txBody>
      </p:sp>
      <p:sp>
        <p:nvSpPr>
          <p:cNvPr id="196" name="Shape 16"/>
          <p:cNvSpPr/>
          <p:nvPr/>
        </p:nvSpPr>
        <p:spPr>
          <a:xfrm>
            <a:off x="6309359" y="4709159"/>
            <a:ext cx="5303521" cy="13258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7"/>
          <p:cNvSpPr txBox="1"/>
          <p:nvPr/>
        </p:nvSpPr>
        <p:spPr>
          <a:xfrm>
            <a:off x="6446520" y="4975860"/>
            <a:ext cx="5486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🔄</a:t>
            </a:r>
          </a:p>
        </p:txBody>
      </p:sp>
      <p:sp>
        <p:nvSpPr>
          <p:cNvPr id="198" name="Text 18"/>
          <p:cNvSpPr txBox="1"/>
          <p:nvPr/>
        </p:nvSpPr>
        <p:spPr>
          <a:xfrm>
            <a:off x="7040880" y="4961382"/>
            <a:ext cx="4480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随时间日臻精进</a:t>
            </a:r>
          </a:p>
        </p:txBody>
      </p:sp>
      <p:sp>
        <p:nvSpPr>
          <p:cNvPr id="199" name="Text 19"/>
          <p:cNvSpPr txBox="1"/>
          <p:nvPr/>
        </p:nvSpPr>
        <p:spPr>
          <a:xfrm>
            <a:off x="7040880" y="5495334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更多调查 + 更多 atom + 更多试金石作品 = 你的音乐与环绕它的文字贴合得更紧。目录越是壮大，就越发一眼可辨地属于你。</a:t>
            </a:r>
          </a:p>
        </p:txBody>
      </p:sp>
      <p:sp>
        <p:nvSpPr>
          <p:cNvPr id="200" name="Shape 20"/>
          <p:cNvSpPr/>
          <p:nvPr/>
        </p:nvSpPr>
        <p:spPr>
          <a:xfrm>
            <a:off x="548640" y="3840479"/>
            <a:ext cx="5486401" cy="2240281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1"/>
          <p:cNvSpPr txBox="1"/>
          <p:nvPr/>
        </p:nvSpPr>
        <p:spPr>
          <a:xfrm>
            <a:off x="777239" y="4046264"/>
            <a:ext cx="5120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作者人设为其定调</a:t>
            </a:r>
          </a:p>
        </p:txBody>
      </p:sp>
      <p:sp>
        <p:nvSpPr>
          <p:cNvPr id="202" name="Text 22"/>
          <p:cNvSpPr txBox="1"/>
          <p:nvPr/>
        </p:nvSpPr>
        <p:spPr>
          <a:xfrm>
            <a:off x="777239" y="4706927"/>
            <a:ext cx="5120642" cy="91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2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由真人笔名作者或 EI 作者为本书署名。</a:t>
            </a:r>
          </a:p>
          <a:p>
            <a:pPr>
              <a:defRPr i="1" sz="12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你的音乐塑造了文字。</a:t>
            </a:r>
          </a:p>
          <a:p>
            <a:pPr>
              <a:defRPr i="1" sz="12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读者得到了一间由你音乐造就的房间。</a:t>
            </a:r>
          </a:p>
          <a:p>
            <a:pPr>
              <a:defRPr sz="1200"/>
            </a:pPr>
          </a:p>
          <a:p>
            <a:pPr>
              <a:defRPr i="1" sz="12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音乐仍归于你。而书，成为那座桥。</a:t>
            </a:r>
          </a:p>
        </p:txBody>
      </p:sp>
      <p:sp>
        <p:nvSpPr>
          <p:cNvPr id="203" name="Shape 23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24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205" name="Text 25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8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作者类型</a:t>
            </a:r>
          </a:p>
        </p:txBody>
      </p:sp>
      <p:sp>
        <p:nvSpPr>
          <p:cNvPr id="208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两类 Pearl Prime Music-Mode 作者</a:t>
            </a:r>
          </a:p>
        </p:txBody>
      </p:sp>
      <p:sp>
        <p:nvSpPr>
          <p:cNvPr id="210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笔名是由来已久的出版惯例。Pearl Prime 采用两条路径。</a:t>
            </a:r>
          </a:p>
        </p:txBody>
      </p:sp>
      <p:sp>
        <p:nvSpPr>
          <p:cNvPr id="211" name="Shape 4"/>
          <p:cNvSpPr/>
          <p:nvPr/>
        </p:nvSpPr>
        <p:spPr>
          <a:xfrm>
            <a:off x="548639" y="1828799"/>
            <a:ext cx="5532122" cy="4389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5"/>
          <p:cNvSpPr/>
          <p:nvPr/>
        </p:nvSpPr>
        <p:spPr>
          <a:xfrm>
            <a:off x="548639" y="1828799"/>
            <a:ext cx="55321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6"/>
          <p:cNvSpPr txBox="1"/>
          <p:nvPr/>
        </p:nvSpPr>
        <p:spPr>
          <a:xfrm>
            <a:off x="777239" y="2103164"/>
            <a:ext cx="5120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真人笔名作者</a:t>
            </a:r>
          </a:p>
        </p:txBody>
      </p:sp>
      <p:sp>
        <p:nvSpPr>
          <p:cNvPr id="214" name="Text 7"/>
          <p:cNvSpPr txBox="1"/>
          <p:nvPr/>
        </p:nvSpPr>
        <p:spPr>
          <a:xfrm>
            <a:off x="777239" y="2405379"/>
            <a:ext cx="51206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听众人设</a:t>
            </a:r>
          </a:p>
        </p:txBody>
      </p:sp>
      <p:sp>
        <p:nvSpPr>
          <p:cNvPr id="215" name="Text 8"/>
          <p:cNvSpPr txBox="1"/>
          <p:nvPr/>
        </p:nvSpPr>
        <p:spPr>
          <a:xfrm>
            <a:off x="777239" y="3301037"/>
            <a:ext cx="51206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一份可信的真人听众简介。面向读者。属标准出版惯例。以一个发现你声音、并被它改变的人的身份执笔。</a:t>
            </a:r>
          </a:p>
        </p:txBody>
      </p:sp>
      <p:sp>
        <p:nvSpPr>
          <p:cNvPr id="216" name="Text 9"/>
          <p:cNvSpPr txBox="1"/>
          <p:nvPr/>
        </p:nvSpPr>
        <p:spPr>
          <a:xfrm>
            <a:off x="777239" y="4752516"/>
            <a:ext cx="5120642" cy="781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具名、可立得住的作者身份与简介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广受认可的出版惯例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读者与一个有共鸣的真人之声产生连接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标准图书平台：KDP、Audible、Apple、Google</a:t>
            </a:r>
          </a:p>
        </p:txBody>
      </p:sp>
      <p:sp>
        <p:nvSpPr>
          <p:cNvPr id="217" name="Shape 10"/>
          <p:cNvSpPr/>
          <p:nvPr/>
        </p:nvSpPr>
        <p:spPr>
          <a:xfrm>
            <a:off x="6263640" y="1828799"/>
            <a:ext cx="5532121" cy="4389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11"/>
          <p:cNvSpPr/>
          <p:nvPr/>
        </p:nvSpPr>
        <p:spPr>
          <a:xfrm>
            <a:off x="6263640" y="1828799"/>
            <a:ext cx="5532121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2"/>
          <p:cNvSpPr txBox="1"/>
          <p:nvPr/>
        </p:nvSpPr>
        <p:spPr>
          <a:xfrm>
            <a:off x="6492240" y="2103164"/>
            <a:ext cx="5120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EI · ENLIGHTENED INTELLIGENCE 作者</a:t>
            </a:r>
          </a:p>
        </p:txBody>
      </p:sp>
      <p:sp>
        <p:nvSpPr>
          <p:cNvPr id="220" name="Text 13"/>
          <p:cNvSpPr txBox="1"/>
          <p:nvPr/>
        </p:nvSpPr>
        <p:spPr>
          <a:xfrm>
            <a:off x="6492240" y="2405379"/>
            <a:ext cx="51206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AI 人设</a:t>
            </a:r>
          </a:p>
        </p:txBody>
      </p:sp>
      <p:sp>
        <p:nvSpPr>
          <p:cNvPr id="221" name="Text 14"/>
          <p:cNvSpPr txBox="1"/>
          <p:nvPr/>
        </p:nvSpPr>
        <p:spPr>
          <a:xfrm>
            <a:off x="6492240" y="3301037"/>
            <a:ext cx="51206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一个 AI 人设。完全透明。定位为前沿出版实验。署名明确写出：本书由一位 AI 听众撰写。</a:t>
            </a:r>
          </a:p>
        </p:txBody>
      </p:sp>
      <p:sp>
        <p:nvSpPr>
          <p:cNvPr id="222" name="Text 15"/>
          <p:cNvSpPr txBox="1"/>
          <p:nvPr/>
        </p:nvSpPr>
        <p:spPr>
          <a:xfrm>
            <a:off x="6492240" y="4752516"/>
            <a:ext cx="5120641" cy="781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透明：读者知道这是一位 AI 作者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由你的 atom-bank + 身体感知启发法构建而成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契合 Z 世代对 AI + 音乐的兴趣</a:t>
            </a:r>
          </a:p>
          <a:p>
            <a:pPr marL="342900" indent="-342900">
              <a:spcBef>
                <a:spcPts val="400"/>
              </a:spcBef>
              <a:buSzPct val="100000"/>
              <a:buFont typeface="Calibri"/>
              <a:buChar char="✦"/>
              <a:defRPr sz="11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读者触达的全新前沿</a:t>
            </a:r>
          </a:p>
        </p:txBody>
      </p:sp>
      <p:sp>
        <p:nvSpPr>
          <p:cNvPr id="223" name="Shape 16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7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225" name="Text 18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9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品质 · 平台 · 推出</a:t>
            </a:r>
          </a:p>
        </p:txBody>
      </p:sp>
      <p:sp>
        <p:nvSpPr>
          <p:cNvPr id="228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真正的书。聪明的平台策略。</a:t>
            </a:r>
          </a:p>
        </p:txBody>
      </p:sp>
      <p:sp>
        <p:nvSpPr>
          <p:cNvPr id="230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绝非 AI 垃圾。基于你的 atom bank 确定性生成的书。每个品牌都瞄准约 800 本 —— 篇幅决定它路由到自己能胜出的平台。</a:t>
            </a:r>
          </a:p>
        </p:txBody>
      </p:sp>
      <p:sp>
        <p:nvSpPr>
          <p:cNvPr id="231" name="Shape 4"/>
          <p:cNvSpPr/>
          <p:nvPr/>
        </p:nvSpPr>
        <p:spPr>
          <a:xfrm>
            <a:off x="548639" y="1828799"/>
            <a:ext cx="5303522" cy="4389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5"/>
          <p:cNvSpPr/>
          <p:nvPr/>
        </p:nvSpPr>
        <p:spPr>
          <a:xfrm>
            <a:off x="548640" y="1828799"/>
            <a:ext cx="73153" cy="438912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6"/>
          <p:cNvSpPr txBox="1"/>
          <p:nvPr/>
        </p:nvSpPr>
        <p:spPr>
          <a:xfrm>
            <a:off x="777239" y="2081706"/>
            <a:ext cx="4937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绝非 AI 垃圾 —— 确定性生成的书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777239" y="2798117"/>
            <a:ext cx="493776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Amazon、Google Play、Apple Books 以及各大平台如今都启用 AI 检测，过滤掉那些低质量、套模板换皮的内容。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777239" y="4202606"/>
            <a:ext cx="4937762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天生就为通过检测而设计 —— 因为这些书是真正的好书。atom 由 Pearl_Editor 与 Pearl_Writer 亲手撰写，他们深谙一本书何以成立。组装则依据基于研究的规则，确定无误。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777239" y="5602146"/>
            <a:ext cx="4937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平台：KDP · Audible · Apple Books · Google Play</a:t>
            </a:r>
          </a:p>
        </p:txBody>
      </p:sp>
      <p:sp>
        <p:nvSpPr>
          <p:cNvPr id="237" name="Shape 10"/>
          <p:cNvSpPr/>
          <p:nvPr/>
        </p:nvSpPr>
        <p:spPr>
          <a:xfrm>
            <a:off x="6126479" y="1828799"/>
            <a:ext cx="5486401" cy="4389122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1"/>
          <p:cNvSpPr/>
          <p:nvPr/>
        </p:nvSpPr>
        <p:spPr>
          <a:xfrm>
            <a:off x="6126479" y="1828799"/>
            <a:ext cx="73153" cy="438912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2"/>
          <p:cNvSpPr txBox="1"/>
          <p:nvPr/>
        </p:nvSpPr>
        <p:spPr>
          <a:xfrm>
            <a:off x="6355079" y="2081706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分平台推出</a:t>
            </a:r>
          </a:p>
        </p:txBody>
      </p:sp>
      <p:sp>
        <p:nvSpPr>
          <p:cNvPr id="240" name="Shape 13"/>
          <p:cNvSpPr/>
          <p:nvPr/>
        </p:nvSpPr>
        <p:spPr>
          <a:xfrm>
            <a:off x="6355079" y="2423160"/>
            <a:ext cx="5074921" cy="109728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4"/>
          <p:cNvSpPr txBox="1"/>
          <p:nvPr/>
        </p:nvSpPr>
        <p:spPr>
          <a:xfrm>
            <a:off x="6537959" y="2614099"/>
            <a:ext cx="14630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旗舰</a:t>
            </a:r>
          </a:p>
        </p:txBody>
      </p:sp>
      <p:sp>
        <p:nvSpPr>
          <p:cNvPr id="242" name="Text 15"/>
          <p:cNvSpPr txBox="1"/>
          <p:nvPr/>
        </p:nvSpPr>
        <p:spPr>
          <a:xfrm>
            <a:off x="6537959" y="2945129"/>
            <a:ext cx="14630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T7</a:t>
            </a:r>
          </a:p>
        </p:txBody>
      </p:sp>
      <p:sp>
        <p:nvSpPr>
          <p:cNvPr id="243" name="Text 16"/>
          <p:cNvSpPr txBox="1"/>
          <p:nvPr/>
        </p:nvSpPr>
        <p:spPr>
          <a:xfrm>
            <a:off x="8092440" y="2866434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约 5.2 万字。一举拿下完整的 KDP 电子书 + Audible + Spotify 有声书 —— 唯一能赢下付费图书版面的档位。</a:t>
            </a:r>
          </a:p>
        </p:txBody>
      </p:sp>
      <p:sp>
        <p:nvSpPr>
          <p:cNvPr id="244" name="Shape 17"/>
          <p:cNvSpPr/>
          <p:nvPr/>
        </p:nvSpPr>
        <p:spPr>
          <a:xfrm>
            <a:off x="6355079" y="3657599"/>
            <a:ext cx="5074921" cy="1097282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18"/>
          <p:cNvSpPr txBox="1"/>
          <p:nvPr/>
        </p:nvSpPr>
        <p:spPr>
          <a:xfrm>
            <a:off x="6537959" y="3848539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漏斗</a:t>
            </a:r>
          </a:p>
        </p:txBody>
      </p:sp>
      <p:sp>
        <p:nvSpPr>
          <p:cNvPr id="246" name="Text 19"/>
          <p:cNvSpPr txBox="1"/>
          <p:nvPr/>
        </p:nvSpPr>
        <p:spPr>
          <a:xfrm>
            <a:off x="6537959" y="4179569"/>
            <a:ext cx="14630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T1–T5</a:t>
            </a:r>
          </a:p>
        </p:txBody>
      </p:sp>
      <p:sp>
        <p:nvSpPr>
          <p:cNvPr id="247" name="Text 20"/>
          <p:cNvSpPr txBox="1"/>
          <p:nvPr/>
        </p:nvSpPr>
        <p:spPr>
          <a:xfrm>
            <a:off x="8092440" y="4100874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Short Reads、播客系列、免费 AI 朗读样本、社交内容。引流型档位 —— 当作书来卖会卖错，作为漏斗则恰到好处。</a:t>
            </a:r>
          </a:p>
        </p:txBody>
      </p:sp>
      <p:sp>
        <p:nvSpPr>
          <p:cNvPr id="248" name="Shape 21"/>
          <p:cNvSpPr/>
          <p:nvPr/>
        </p:nvSpPr>
        <p:spPr>
          <a:xfrm>
            <a:off x="6355079" y="4892040"/>
            <a:ext cx="5074921" cy="109728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22"/>
          <p:cNvSpPr txBox="1"/>
          <p:nvPr/>
        </p:nvSpPr>
        <p:spPr>
          <a:xfrm>
            <a:off x="6537959" y="5082978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序列</a:t>
            </a:r>
          </a:p>
        </p:txBody>
      </p:sp>
      <p:sp>
        <p:nvSpPr>
          <p:cNvPr id="250" name="Text 23"/>
          <p:cNvSpPr txBox="1"/>
          <p:nvPr/>
        </p:nvSpPr>
        <p:spPr>
          <a:xfrm>
            <a:off x="6537959" y="5414010"/>
            <a:ext cx="146304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" name="Text 24"/>
          <p:cNvSpPr txBox="1"/>
          <p:nvPr/>
        </p:nvSpPr>
        <p:spPr>
          <a:xfrm>
            <a:off x="8092440" y="5335314"/>
            <a:ext cx="32461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先旗舰（KDP + Audible），再让漏斗档位铺向播客 / Short Read / 社交。规模沿用 Pearl Prime 的做法：约 800 个高置信度配置。</a:t>
            </a:r>
          </a:p>
        </p:txBody>
      </p:sp>
      <p:sp>
        <p:nvSpPr>
          <p:cNvPr id="252" name="Shape 25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6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254" name="Text 27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10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品牌体系</a:t>
            </a:r>
          </a:p>
        </p:txBody>
      </p:sp>
      <p:sp>
        <p:nvSpPr>
          <p:cNvPr id="257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Music-Mode 品牌。属于你的独特声音赛道。</a:t>
            </a:r>
          </a:p>
        </p:txBody>
      </p:sp>
      <p:sp>
        <p:nvSpPr>
          <p:cNvPr id="259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一等原型。在架构上与 37 个 Path X 老师 / 漫画品牌相互独立。brand_id 从 id 空间 38+ 起始，无上限。</a:t>
            </a:r>
          </a:p>
        </p:txBody>
      </p:sp>
      <p:sp>
        <p:nvSpPr>
          <p:cNvPr id="260" name="Shape 4"/>
          <p:cNvSpPr/>
          <p:nvPr/>
        </p:nvSpPr>
        <p:spPr>
          <a:xfrm>
            <a:off x="548640" y="1828800"/>
            <a:ext cx="3657601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5"/>
          <p:cNvSpPr/>
          <p:nvPr/>
        </p:nvSpPr>
        <p:spPr>
          <a:xfrm>
            <a:off x="548640" y="1828800"/>
            <a:ext cx="54865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6"/>
          <p:cNvSpPr txBox="1"/>
          <p:nvPr/>
        </p:nvSpPr>
        <p:spPr>
          <a:xfrm>
            <a:off x="731519" y="200406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🎯</a:t>
            </a:r>
          </a:p>
        </p:txBody>
      </p:sp>
      <p:sp>
        <p:nvSpPr>
          <p:cNvPr id="263" name="Text 7"/>
          <p:cNvSpPr txBox="1"/>
          <p:nvPr/>
        </p:nvSpPr>
        <p:spPr>
          <a:xfrm>
            <a:off x="1280160" y="201421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一品牌一音乐人</a:t>
            </a:r>
          </a:p>
        </p:txBody>
      </p:sp>
      <p:sp>
        <p:nvSpPr>
          <p:cNvPr id="264" name="Text 8"/>
          <p:cNvSpPr txBox="1"/>
          <p:nvPr/>
        </p:nvSpPr>
        <p:spPr>
          <a:xfrm>
            <a:off x="1280160" y="259211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你的品牌只属于你。不会有多人共用同一个 brand id。</a:t>
            </a:r>
          </a:p>
        </p:txBody>
      </p:sp>
      <p:sp>
        <p:nvSpPr>
          <p:cNvPr id="265" name="Shape 9"/>
          <p:cNvSpPr/>
          <p:nvPr/>
        </p:nvSpPr>
        <p:spPr>
          <a:xfrm>
            <a:off x="4343400" y="182880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10"/>
          <p:cNvSpPr/>
          <p:nvPr/>
        </p:nvSpPr>
        <p:spPr>
          <a:xfrm>
            <a:off x="4343400" y="182880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1"/>
          <p:cNvSpPr txBox="1"/>
          <p:nvPr/>
        </p:nvSpPr>
        <p:spPr>
          <a:xfrm>
            <a:off x="4526279" y="200406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🔑</a:t>
            </a:r>
          </a:p>
        </p:txBody>
      </p:sp>
      <p:sp>
        <p:nvSpPr>
          <p:cNvPr id="268" name="Text 12"/>
          <p:cNvSpPr txBox="1"/>
          <p:nvPr/>
        </p:nvSpPr>
        <p:spPr>
          <a:xfrm>
            <a:off x="5074920" y="201421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品牌总监</a:t>
            </a:r>
          </a:p>
        </p:txBody>
      </p:sp>
      <p:sp>
        <p:nvSpPr>
          <p:cNvPr id="269" name="Text 13"/>
          <p:cNvSpPr txBox="1"/>
          <p:nvPr/>
        </p:nvSpPr>
        <p:spPr>
          <a:xfrm>
            <a:off x="5074920" y="259211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你本人或一位忠实听众经由向导入驻；负责调查问卷、审核与修正。</a:t>
            </a:r>
          </a:p>
        </p:txBody>
      </p:sp>
      <p:sp>
        <p:nvSpPr>
          <p:cNvPr id="270" name="Shape 14"/>
          <p:cNvSpPr/>
          <p:nvPr/>
        </p:nvSpPr>
        <p:spPr>
          <a:xfrm>
            <a:off x="8138159" y="1828800"/>
            <a:ext cx="3657601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Shape 15"/>
          <p:cNvSpPr/>
          <p:nvPr/>
        </p:nvSpPr>
        <p:spPr>
          <a:xfrm>
            <a:off x="8138159" y="1828800"/>
            <a:ext cx="54865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16"/>
          <p:cNvSpPr txBox="1"/>
          <p:nvPr/>
        </p:nvSpPr>
        <p:spPr>
          <a:xfrm>
            <a:off x="8321040" y="200406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</a:t>
            </a:r>
          </a:p>
        </p:txBody>
      </p:sp>
      <p:sp>
        <p:nvSpPr>
          <p:cNvPr id="273" name="Text 17"/>
          <p:cNvSpPr txBox="1"/>
          <p:nvPr/>
        </p:nvSpPr>
        <p:spPr>
          <a:xfrm>
            <a:off x="8869680" y="201421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约 800 本图书目录</a:t>
            </a:r>
          </a:p>
        </p:txBody>
      </p:sp>
      <p:sp>
        <p:nvSpPr>
          <p:cNvPr id="274" name="Text 18"/>
          <p:cNvSpPr txBox="1"/>
          <p:nvPr/>
        </p:nvSpPr>
        <p:spPr>
          <a:xfrm>
            <a:off x="8869680" y="2674664"/>
            <a:ext cx="2743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标准的 800 本图书目录</a:t>
            </a:r>
          </a:p>
        </p:txBody>
      </p:sp>
      <p:sp>
        <p:nvSpPr>
          <p:cNvPr id="275" name="Shape 19"/>
          <p:cNvSpPr/>
          <p:nvPr/>
        </p:nvSpPr>
        <p:spPr>
          <a:xfrm>
            <a:off x="548640" y="3337559"/>
            <a:ext cx="3657601" cy="13716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20"/>
          <p:cNvSpPr/>
          <p:nvPr/>
        </p:nvSpPr>
        <p:spPr>
          <a:xfrm>
            <a:off x="548640" y="3337559"/>
            <a:ext cx="54865" cy="13716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21"/>
          <p:cNvSpPr txBox="1"/>
          <p:nvPr/>
        </p:nvSpPr>
        <p:spPr>
          <a:xfrm>
            <a:off x="731519" y="351282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🌐</a:t>
            </a:r>
          </a:p>
        </p:txBody>
      </p:sp>
      <p:sp>
        <p:nvSpPr>
          <p:cNvPr id="278" name="Text 22"/>
          <p:cNvSpPr txBox="1"/>
          <p:nvPr/>
        </p:nvSpPr>
        <p:spPr>
          <a:xfrm>
            <a:off x="1280160" y="352297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14 个市场已上线</a:t>
            </a:r>
          </a:p>
        </p:txBody>
      </p:sp>
      <p:sp>
        <p:nvSpPr>
          <p:cNvPr id="279" name="Text 23"/>
          <p:cNvSpPr txBox="1"/>
          <p:nvPr/>
        </p:nvSpPr>
        <p:spPr>
          <a:xfrm>
            <a:off x="1280160" y="410087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以美国、日本、台湾、中国为主。各地区版本经由 Pearl_Localization 保持对等。</a:t>
            </a:r>
          </a:p>
        </p:txBody>
      </p:sp>
      <p:sp>
        <p:nvSpPr>
          <p:cNvPr id="280" name="Shape 24"/>
          <p:cNvSpPr/>
          <p:nvPr/>
        </p:nvSpPr>
        <p:spPr>
          <a:xfrm>
            <a:off x="4343400" y="3337559"/>
            <a:ext cx="3657600" cy="13716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25"/>
          <p:cNvSpPr/>
          <p:nvPr/>
        </p:nvSpPr>
        <p:spPr>
          <a:xfrm>
            <a:off x="4343400" y="3337559"/>
            <a:ext cx="54864" cy="13716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26"/>
          <p:cNvSpPr txBox="1"/>
          <p:nvPr/>
        </p:nvSpPr>
        <p:spPr>
          <a:xfrm>
            <a:off x="4526279" y="351282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🎶</a:t>
            </a:r>
          </a:p>
        </p:txBody>
      </p:sp>
      <p:sp>
        <p:nvSpPr>
          <p:cNvPr id="283" name="Text 27"/>
          <p:cNvSpPr txBox="1"/>
          <p:nvPr/>
        </p:nvSpPr>
        <p:spPr>
          <a:xfrm>
            <a:off x="5074920" y="352297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音乐留在你自己的渠道上</a:t>
            </a:r>
          </a:p>
        </p:txBody>
      </p:sp>
      <p:sp>
        <p:nvSpPr>
          <p:cNvPr id="284" name="Text 28"/>
          <p:cNvSpPr txBox="1"/>
          <p:nvPr/>
        </p:nvSpPr>
        <p:spPr>
          <a:xfrm>
            <a:off x="5074920" y="410087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我们绝不会把你的音乐以文件形式再分发；每本书都把读者引向它。一条内部 MusicGen 提示词是可选的，仅限 brand-admin。</a:t>
            </a:r>
          </a:p>
        </p:txBody>
      </p:sp>
      <p:sp>
        <p:nvSpPr>
          <p:cNvPr id="285" name="Shape 29"/>
          <p:cNvSpPr/>
          <p:nvPr/>
        </p:nvSpPr>
        <p:spPr>
          <a:xfrm>
            <a:off x="8138159" y="3337559"/>
            <a:ext cx="3657601" cy="137160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Shape 30"/>
          <p:cNvSpPr/>
          <p:nvPr/>
        </p:nvSpPr>
        <p:spPr>
          <a:xfrm>
            <a:off x="8138159" y="3337559"/>
            <a:ext cx="54865" cy="13716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31"/>
          <p:cNvSpPr txBox="1"/>
          <p:nvPr/>
        </p:nvSpPr>
        <p:spPr>
          <a:xfrm>
            <a:off x="8321040" y="3512820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</a:t>
            </a:r>
          </a:p>
        </p:txBody>
      </p:sp>
      <p:sp>
        <p:nvSpPr>
          <p:cNvPr id="288" name="Text 32"/>
          <p:cNvSpPr txBox="1"/>
          <p:nvPr/>
        </p:nvSpPr>
        <p:spPr>
          <a:xfrm>
            <a:off x="8869680" y="3522979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随素材而增长</a:t>
            </a:r>
          </a:p>
        </p:txBody>
      </p:sp>
      <p:sp>
        <p:nvSpPr>
          <p:cNvPr id="289" name="Text 33"/>
          <p:cNvSpPr txBox="1"/>
          <p:nvPr/>
        </p:nvSpPr>
        <p:spPr>
          <a:xfrm>
            <a:off x="8869680" y="4100874"/>
            <a:ext cx="2743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更多调查 + 试金石作品 + 修正 = 对声音更精准的呈现。</a:t>
            </a:r>
          </a:p>
        </p:txBody>
      </p:sp>
      <p:sp>
        <p:nvSpPr>
          <p:cNvPr id="290" name="Shape 34"/>
          <p:cNvSpPr/>
          <p:nvPr/>
        </p:nvSpPr>
        <p:spPr>
          <a:xfrm>
            <a:off x="548639" y="4937759"/>
            <a:ext cx="11064242" cy="118872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35"/>
          <p:cNvSpPr txBox="1"/>
          <p:nvPr/>
        </p:nvSpPr>
        <p:spPr>
          <a:xfrm>
            <a:off x="777240" y="5120684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brand_id 命名规则</a:t>
            </a:r>
          </a:p>
        </p:txBody>
      </p:sp>
      <p:sp>
        <p:nvSpPr>
          <p:cNvPr id="292" name="Text 36"/>
          <p:cNvSpPr txBox="1"/>
          <p:nvPr/>
        </p:nvSpPr>
        <p:spPr>
          <a:xfrm>
            <a:off x="777240" y="5393690"/>
            <a:ext cx="548640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AF6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&lt;musician_handle&gt;_music</a:t>
            </a:r>
          </a:p>
        </p:txBody>
      </p:sp>
      <p:sp>
        <p:nvSpPr>
          <p:cNvPr id="293" name="Text 37"/>
          <p:cNvSpPr txBox="1"/>
          <p:nvPr/>
        </p:nvSpPr>
        <p:spPr>
          <a:xfrm>
            <a:off x="777240" y="5876466"/>
            <a:ext cx="109728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示例：ahjansam_music、junko_music。硬锁定的默认值；如需变更须经 AMENDMENT。</a:t>
            </a:r>
          </a:p>
        </p:txBody>
      </p:sp>
      <p:sp>
        <p:nvSpPr>
          <p:cNvPr id="294" name="Shape 38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39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296" name="Text 40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11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后续步骤</a:t>
            </a:r>
          </a:p>
        </p:txBody>
      </p:sp>
      <p:sp>
        <p:nvSpPr>
          <p:cNvPr id="299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"/>
          <p:cNvSpPr txBox="1"/>
          <p:nvPr/>
        </p:nvSpPr>
        <p:spPr>
          <a:xfrm>
            <a:off x="548639" y="7251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你的音乐如何进入平台</a:t>
            </a:r>
          </a:p>
        </p:txBody>
      </p:sp>
      <p:sp>
        <p:nvSpPr>
          <p:cNvPr id="301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通过实时向导完成六步入驻。</a:t>
            </a:r>
          </a:p>
        </p:txBody>
      </p:sp>
      <p:sp>
        <p:nvSpPr>
          <p:cNvPr id="302" name="Shape 4"/>
          <p:cNvSpPr/>
          <p:nvPr/>
        </p:nvSpPr>
        <p:spPr>
          <a:xfrm>
            <a:off x="54864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hape 5"/>
          <p:cNvSpPr/>
          <p:nvPr/>
        </p:nvSpPr>
        <p:spPr>
          <a:xfrm>
            <a:off x="685800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6"/>
          <p:cNvSpPr txBox="1"/>
          <p:nvPr/>
        </p:nvSpPr>
        <p:spPr>
          <a:xfrm>
            <a:off x="685800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5" name="Text 7"/>
          <p:cNvSpPr txBox="1"/>
          <p:nvPr/>
        </p:nvSpPr>
        <p:spPr>
          <a:xfrm>
            <a:off x="1325880" y="205994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品牌总监</a:t>
            </a:r>
          </a:p>
        </p:txBody>
      </p:sp>
      <p:sp>
        <p:nvSpPr>
          <p:cNvPr id="306" name="Text 8"/>
          <p:cNvSpPr txBox="1"/>
          <p:nvPr/>
        </p:nvSpPr>
        <p:spPr>
          <a:xfrm>
            <a:off x="1325880" y="250067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你本人、一位忠实听众或学员经由 Pearl Prime 向导，在向导应用的 HTTP 路由处完成注册。</a:t>
            </a:r>
          </a:p>
        </p:txBody>
      </p:sp>
      <p:sp>
        <p:nvSpPr>
          <p:cNvPr id="307" name="Shape 9"/>
          <p:cNvSpPr/>
          <p:nvPr/>
        </p:nvSpPr>
        <p:spPr>
          <a:xfrm>
            <a:off x="6217920" y="1828800"/>
            <a:ext cx="5486401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10"/>
          <p:cNvSpPr/>
          <p:nvPr/>
        </p:nvSpPr>
        <p:spPr>
          <a:xfrm>
            <a:off x="6355079" y="2148839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11"/>
          <p:cNvSpPr txBox="1"/>
          <p:nvPr/>
        </p:nvSpPr>
        <p:spPr>
          <a:xfrm>
            <a:off x="6355079" y="225424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0" name="Text 12"/>
          <p:cNvSpPr txBox="1"/>
          <p:nvPr/>
        </p:nvSpPr>
        <p:spPr>
          <a:xfrm>
            <a:off x="6995159" y="205993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模式选择器（向导第 1 步）</a:t>
            </a:r>
          </a:p>
        </p:txBody>
      </p:sp>
      <p:sp>
        <p:nvSpPr>
          <p:cNvPr id="311" name="Text 13"/>
          <p:cNvSpPr txBox="1"/>
          <p:nvPr/>
        </p:nvSpPr>
        <p:spPr>
          <a:xfrm>
            <a:off x="6995159" y="258322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品牌总监选择 Music Mode</a:t>
            </a:r>
          </a:p>
        </p:txBody>
      </p:sp>
      <p:sp>
        <p:nvSpPr>
          <p:cNvPr id="312" name="Shape 14"/>
          <p:cNvSpPr/>
          <p:nvPr/>
        </p:nvSpPr>
        <p:spPr>
          <a:xfrm>
            <a:off x="54864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15"/>
          <p:cNvSpPr/>
          <p:nvPr/>
        </p:nvSpPr>
        <p:spPr>
          <a:xfrm>
            <a:off x="685800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16"/>
          <p:cNvSpPr txBox="1"/>
          <p:nvPr/>
        </p:nvSpPr>
        <p:spPr>
          <a:xfrm>
            <a:off x="685800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5" name="Text 17"/>
          <p:cNvSpPr txBox="1"/>
          <p:nvPr/>
        </p:nvSpPr>
        <p:spPr>
          <a:xfrm>
            <a:off x="1325880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品牌 ID 创建</a:t>
            </a:r>
          </a:p>
        </p:txBody>
      </p:sp>
      <p:sp>
        <p:nvSpPr>
          <p:cNvPr id="316" name="Text 18"/>
          <p:cNvSpPr txBox="1"/>
          <p:nvPr/>
        </p:nvSpPr>
        <p:spPr>
          <a:xfrm>
            <a:off x="1325880" y="390910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生成 &lt;musician_handle&gt;_music 短标识，并在 music_brand_registry.yaml 中注册。</a:t>
            </a:r>
          </a:p>
        </p:txBody>
      </p:sp>
      <p:sp>
        <p:nvSpPr>
          <p:cNvPr id="317" name="Shape 19"/>
          <p:cNvSpPr/>
          <p:nvPr/>
        </p:nvSpPr>
        <p:spPr>
          <a:xfrm>
            <a:off x="6217920" y="315467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20"/>
          <p:cNvSpPr/>
          <p:nvPr/>
        </p:nvSpPr>
        <p:spPr>
          <a:xfrm>
            <a:off x="6355079" y="347472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1"/>
          <p:cNvSpPr txBox="1"/>
          <p:nvPr/>
        </p:nvSpPr>
        <p:spPr>
          <a:xfrm>
            <a:off x="6355079" y="358012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0" name="Text 22"/>
          <p:cNvSpPr txBox="1"/>
          <p:nvPr/>
        </p:nvSpPr>
        <p:spPr>
          <a:xfrm>
            <a:off x="6995159" y="3385820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音乐自省调查问卷（向导第 4 步）</a:t>
            </a:r>
          </a:p>
        </p:txBody>
      </p:sp>
      <p:sp>
        <p:nvSpPr>
          <p:cNvPr id="321" name="Text 23"/>
          <p:cNvSpPr txBox="1"/>
          <p:nvPr/>
        </p:nvSpPr>
        <p:spPr>
          <a:xfrm>
            <a:off x="6995159" y="382655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接着是音乐自省调查问卷：主题、乐器（里拉琴 / 水晶钵 / 频率），以及一个由数据派生的 Music-Format 信号。</a:t>
            </a:r>
          </a:p>
        </p:txBody>
      </p:sp>
      <p:sp>
        <p:nvSpPr>
          <p:cNvPr id="322" name="Shape 24"/>
          <p:cNvSpPr/>
          <p:nvPr/>
        </p:nvSpPr>
        <p:spPr>
          <a:xfrm>
            <a:off x="54864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25"/>
          <p:cNvSpPr/>
          <p:nvPr/>
        </p:nvSpPr>
        <p:spPr>
          <a:xfrm>
            <a:off x="685800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6"/>
          <p:cNvSpPr txBox="1"/>
          <p:nvPr/>
        </p:nvSpPr>
        <p:spPr>
          <a:xfrm>
            <a:off x="685800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5" name="Text 27"/>
          <p:cNvSpPr txBox="1"/>
          <p:nvPr/>
        </p:nvSpPr>
        <p:spPr>
          <a:xfrm>
            <a:off x="1325880" y="4711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Song-Kit 生成</a:t>
            </a:r>
          </a:p>
        </p:txBody>
      </p:sp>
      <p:sp>
        <p:nvSpPr>
          <p:cNvPr id="326" name="Text 28"/>
          <p:cNvSpPr txBox="1"/>
          <p:nvPr/>
        </p:nvSpPr>
        <p:spPr>
          <a:xfrm>
            <a:off x="1325880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Song-Kit 生成器依据入驻问卷，跨 6 个 slot pool 草拟 atom；Pearl_Editor 审核并提升（Tier 1）。</a:t>
            </a:r>
          </a:p>
        </p:txBody>
      </p:sp>
      <p:sp>
        <p:nvSpPr>
          <p:cNvPr id="327" name="Shape 29"/>
          <p:cNvSpPr/>
          <p:nvPr/>
        </p:nvSpPr>
        <p:spPr>
          <a:xfrm>
            <a:off x="6217920" y="4480559"/>
            <a:ext cx="5486401" cy="118872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Shape 30"/>
          <p:cNvSpPr/>
          <p:nvPr/>
        </p:nvSpPr>
        <p:spPr>
          <a:xfrm>
            <a:off x="6355079" y="4800600"/>
            <a:ext cx="502921" cy="50292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ext 31"/>
          <p:cNvSpPr txBox="1"/>
          <p:nvPr/>
        </p:nvSpPr>
        <p:spPr>
          <a:xfrm>
            <a:off x="6355079" y="4906009"/>
            <a:ext cx="502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30" name="Text 32"/>
          <p:cNvSpPr txBox="1"/>
          <p:nvPr/>
        </p:nvSpPr>
        <p:spPr>
          <a:xfrm>
            <a:off x="6995159" y="4711699"/>
            <a:ext cx="4572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品牌上线</a:t>
            </a:r>
          </a:p>
        </p:txBody>
      </p:sp>
      <p:sp>
        <p:nvSpPr>
          <p:cNvPr id="331" name="Text 33"/>
          <p:cNvSpPr txBox="1"/>
          <p:nvPr/>
        </p:nvSpPr>
        <p:spPr>
          <a:xfrm>
            <a:off x="6995159" y="5152434"/>
            <a:ext cx="4572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目录生成器产出 music-mode 图书；每本书都把读者引向你留在自己渠道上的音乐；品牌总监审核并修正；系统持续改进。</a:t>
            </a:r>
          </a:p>
        </p:txBody>
      </p:sp>
      <p:sp>
        <p:nvSpPr>
          <p:cNvPr id="332" name="Shape 34"/>
          <p:cNvSpPr/>
          <p:nvPr/>
        </p:nvSpPr>
        <p:spPr>
          <a:xfrm>
            <a:off x="548639" y="5897879"/>
            <a:ext cx="11064242" cy="365761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35"/>
          <p:cNvSpPr txBox="1"/>
          <p:nvPr/>
        </p:nvSpPr>
        <p:spPr>
          <a:xfrm>
            <a:off x="548639" y="6012224"/>
            <a:ext cx="11064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经由 MUSIC-MODE-FREEBIE-FUNNEL-V1-02 的音频引流诱饵把听众引入图书目录 —— 详见后续幻灯片</a:t>
            </a:r>
          </a:p>
        </p:txBody>
      </p:sp>
      <p:sp>
        <p:nvSpPr>
          <p:cNvPr id="334" name="Shape 36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37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336" name="Text 38"/>
          <p:cNvSpPr txBox="1"/>
          <p:nvPr/>
        </p:nvSpPr>
        <p:spPr>
          <a:xfrm>
            <a:off x="10515600" y="6584188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音频入口</a:t>
            </a:r>
          </a:p>
        </p:txBody>
      </p:sp>
      <p:sp>
        <p:nvSpPr>
          <p:cNvPr id="339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建立关系的五种方式</a:t>
            </a:r>
          </a:p>
        </p:txBody>
      </p:sp>
      <p:sp>
        <p:nvSpPr>
          <p:cNvPr id="341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MUSIC-MODE-FREEBIE-FUNNEL-V1-02 —— 把听众引向你留在自己渠道上的音乐、并将他们引入你的图书目录的入口。我们不会把你的音乐以文件形式交出去。</a:t>
            </a:r>
          </a:p>
        </p:txBody>
      </p:sp>
      <p:sp>
        <p:nvSpPr>
          <p:cNvPr id="342" name="Shape 4"/>
          <p:cNvSpPr/>
          <p:nvPr/>
        </p:nvSpPr>
        <p:spPr>
          <a:xfrm>
            <a:off x="548640" y="1828799"/>
            <a:ext cx="3593592" cy="2103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Shape 5"/>
          <p:cNvSpPr/>
          <p:nvPr/>
        </p:nvSpPr>
        <p:spPr>
          <a:xfrm>
            <a:off x="548640" y="1828799"/>
            <a:ext cx="359359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6"/>
          <p:cNvSpPr txBox="1"/>
          <p:nvPr/>
        </p:nvSpPr>
        <p:spPr>
          <a:xfrm>
            <a:off x="658368" y="202684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M1</a:t>
            </a:r>
          </a:p>
        </p:txBody>
      </p:sp>
      <p:sp>
        <p:nvSpPr>
          <p:cNvPr id="345" name="Text 7"/>
          <p:cNvSpPr txBox="1"/>
          <p:nvPr/>
        </p:nvSpPr>
        <p:spPr>
          <a:xfrm>
            <a:off x="1142999" y="1928876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🎵</a:t>
            </a:r>
          </a:p>
        </p:txBody>
      </p:sp>
      <p:sp>
        <p:nvSpPr>
          <p:cNvPr id="346" name="Text 8"/>
          <p:cNvSpPr txBox="1"/>
          <p:nvPr/>
        </p:nvSpPr>
        <p:spPr>
          <a:xfrm>
            <a:off x="658368" y="2410206"/>
            <a:ext cx="3392424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你的音乐，在你自己的渠道上</a:t>
            </a:r>
          </a:p>
        </p:txBody>
      </p:sp>
      <p:sp>
        <p:nvSpPr>
          <p:cNvPr id="347" name="Text 9"/>
          <p:cNvSpPr txBox="1"/>
          <p:nvPr/>
        </p:nvSpPr>
        <p:spPr>
          <a:xfrm>
            <a:off x="658368" y="2962315"/>
            <a:ext cx="3392424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不交出任何文件。每本书都把读者引向你的音乐所在之处 —— 你的流媒体、你的渠道 —— 并设有一道邮箱关卡，服务于图书漏斗。</a:t>
            </a:r>
          </a:p>
        </p:txBody>
      </p:sp>
      <p:sp>
        <p:nvSpPr>
          <p:cNvPr id="348" name="Text 10"/>
          <p:cNvSpPr txBox="1"/>
          <p:nvPr/>
        </p:nvSpPr>
        <p:spPr>
          <a:xfrm>
            <a:off x="658368" y="3642395"/>
            <a:ext cx="339242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"在 Ahjan 的渠道上聆听《Morning Room》—— 本章正是围绕这首曲子写成的。"</a:t>
            </a:r>
          </a:p>
        </p:txBody>
      </p:sp>
      <p:sp>
        <p:nvSpPr>
          <p:cNvPr id="349" name="Shape 11"/>
          <p:cNvSpPr/>
          <p:nvPr/>
        </p:nvSpPr>
        <p:spPr>
          <a:xfrm>
            <a:off x="4293108" y="1828799"/>
            <a:ext cx="3593593" cy="2103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12"/>
          <p:cNvSpPr/>
          <p:nvPr/>
        </p:nvSpPr>
        <p:spPr>
          <a:xfrm>
            <a:off x="4293108" y="1828799"/>
            <a:ext cx="3593593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3"/>
          <p:cNvSpPr txBox="1"/>
          <p:nvPr/>
        </p:nvSpPr>
        <p:spPr>
          <a:xfrm>
            <a:off x="4402835" y="202684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M2</a:t>
            </a:r>
          </a:p>
        </p:txBody>
      </p:sp>
      <p:sp>
        <p:nvSpPr>
          <p:cNvPr id="352" name="Text 14"/>
          <p:cNvSpPr txBox="1"/>
          <p:nvPr/>
        </p:nvSpPr>
        <p:spPr>
          <a:xfrm>
            <a:off x="4887467" y="192887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✂️</a:t>
            </a:r>
          </a:p>
        </p:txBody>
      </p:sp>
      <p:sp>
        <p:nvSpPr>
          <p:cNvPr id="353" name="Text 15"/>
          <p:cNvSpPr txBox="1"/>
          <p:nvPr/>
        </p:nvSpPr>
        <p:spPr>
          <a:xfrm>
            <a:off x="4402835" y="2410206"/>
            <a:ext cx="339242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30 秒预览片段</a:t>
            </a:r>
          </a:p>
        </p:txBody>
      </p:sp>
      <p:sp>
        <p:nvSpPr>
          <p:cNvPr id="354" name="Text 16"/>
          <p:cNvSpPr txBox="1"/>
          <p:nvPr/>
        </p:nvSpPr>
        <p:spPr>
          <a:xfrm>
            <a:off x="4402835" y="3032165"/>
            <a:ext cx="3392425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满载记忆点的 30 秒片段，屏幕上配有歌词节选，以及定义整首曲子的听觉钩子。把听众引向专辑预存或完整发行。</a:t>
            </a:r>
          </a:p>
        </p:txBody>
      </p:sp>
      <p:sp>
        <p:nvSpPr>
          <p:cNvPr id="355" name="Text 17"/>
          <p:cNvSpPr txBox="1"/>
          <p:nvPr/>
        </p:nvSpPr>
        <p:spPr>
          <a:xfrm>
            <a:off x="4402835" y="3694683"/>
            <a:ext cx="3392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"聆听《Drift》开头的 30 秒 —— 叠加了第 3 章的歌词。"</a:t>
            </a:r>
          </a:p>
        </p:txBody>
      </p:sp>
      <p:sp>
        <p:nvSpPr>
          <p:cNvPr id="356" name="Shape 18"/>
          <p:cNvSpPr/>
          <p:nvPr/>
        </p:nvSpPr>
        <p:spPr>
          <a:xfrm>
            <a:off x="8037576" y="1828799"/>
            <a:ext cx="3593593" cy="2103122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Shape 19"/>
          <p:cNvSpPr/>
          <p:nvPr/>
        </p:nvSpPr>
        <p:spPr>
          <a:xfrm>
            <a:off x="8037576" y="1828799"/>
            <a:ext cx="3593593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20"/>
          <p:cNvSpPr txBox="1"/>
          <p:nvPr/>
        </p:nvSpPr>
        <p:spPr>
          <a:xfrm>
            <a:off x="8147304" y="202684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M3</a:t>
            </a:r>
          </a:p>
        </p:txBody>
      </p:sp>
      <p:sp>
        <p:nvSpPr>
          <p:cNvPr id="359" name="Text 21"/>
          <p:cNvSpPr txBox="1"/>
          <p:nvPr/>
        </p:nvSpPr>
        <p:spPr>
          <a:xfrm>
            <a:off x="8631935" y="192887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💿</a:t>
            </a:r>
          </a:p>
        </p:txBody>
      </p:sp>
      <p:sp>
        <p:nvSpPr>
          <p:cNvPr id="360" name="Text 22"/>
          <p:cNvSpPr txBox="1"/>
          <p:nvPr/>
        </p:nvSpPr>
        <p:spPr>
          <a:xfrm>
            <a:off x="8147304" y="2410206"/>
            <a:ext cx="339242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YouTube 与 TikTok</a:t>
            </a:r>
          </a:p>
        </p:txBody>
      </p:sp>
      <p:sp>
        <p:nvSpPr>
          <p:cNvPr id="361" name="Text 23"/>
          <p:cNvSpPr txBox="1"/>
          <p:nvPr/>
        </p:nvSpPr>
        <p:spPr>
          <a:xfrm>
            <a:off x="8147304" y="3032165"/>
            <a:ext cx="3392425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FAF6F0"/>
                </a:solidFill>
              </a:defRPr>
            </a:pPr>
            <a:r>
              <a:rPr>
                <a:latin typeface="Calibri"/>
                <a:ea typeface="Heiti SC"/>
              </a:rPr>
              <a:t>从 YouTube 与 TikTok 引入的图书销售。每本书中都设有外链，供读者去看、去听你的音乐。</a:t>
            </a:r>
            <a:br/>
          </a:p>
        </p:txBody>
      </p:sp>
      <p:sp>
        <p:nvSpPr>
          <p:cNvPr id="362" name="Text 24"/>
          <p:cNvSpPr txBox="1"/>
          <p:nvPr/>
        </p:nvSpPr>
        <p:spPr>
          <a:xfrm>
            <a:off x="8147304" y="3694683"/>
            <a:ext cx="3392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"获取《Quiet Hours》的链接 —— 构成本书脊梁的 4 首曲目。"</a:t>
            </a:r>
          </a:p>
        </p:txBody>
      </p:sp>
      <p:sp>
        <p:nvSpPr>
          <p:cNvPr id="363" name="Shape 25"/>
          <p:cNvSpPr/>
          <p:nvPr/>
        </p:nvSpPr>
        <p:spPr>
          <a:xfrm>
            <a:off x="548639" y="4069079"/>
            <a:ext cx="5394962" cy="22402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Shape 26"/>
          <p:cNvSpPr/>
          <p:nvPr/>
        </p:nvSpPr>
        <p:spPr>
          <a:xfrm>
            <a:off x="548639" y="4069079"/>
            <a:ext cx="539496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27"/>
          <p:cNvSpPr txBox="1"/>
          <p:nvPr/>
        </p:nvSpPr>
        <p:spPr>
          <a:xfrm>
            <a:off x="658368" y="426712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M4</a:t>
            </a:r>
          </a:p>
        </p:txBody>
      </p:sp>
      <p:sp>
        <p:nvSpPr>
          <p:cNvPr id="366" name="Text 28"/>
          <p:cNvSpPr txBox="1"/>
          <p:nvPr/>
        </p:nvSpPr>
        <p:spPr>
          <a:xfrm>
            <a:off x="1142999" y="4169156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🖼️</a:t>
            </a:r>
          </a:p>
        </p:txBody>
      </p:sp>
      <p:sp>
        <p:nvSpPr>
          <p:cNvPr id="367" name="Text 29"/>
          <p:cNvSpPr txBox="1"/>
          <p:nvPr/>
        </p:nvSpPr>
        <p:spPr>
          <a:xfrm>
            <a:off x="658368" y="4650485"/>
            <a:ext cx="519379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歌词海报 PDF</a:t>
            </a:r>
          </a:p>
        </p:txBody>
      </p:sp>
      <p:sp>
        <p:nvSpPr>
          <p:cNvPr id="368" name="Text 30"/>
          <p:cNvSpPr txBox="1"/>
          <p:nvPr/>
        </p:nvSpPr>
        <p:spPr>
          <a:xfrm>
            <a:off x="658368" y="5341024"/>
            <a:ext cx="5193792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可打印的艺术海报，将歌词与视觉设计相结合。在邮件序列中与 M1/M2 关联。它挂在墙上、留在收件箱里 —— 一件让数字关系有了实体质感的纪念物。读者会把它打印出来，并一直留着。</a:t>
            </a:r>
          </a:p>
        </p:txBody>
      </p:sp>
      <p:sp>
        <p:nvSpPr>
          <p:cNvPr id="369" name="Text 31"/>
          <p:cNvSpPr txBox="1"/>
          <p:nvPr/>
        </p:nvSpPr>
        <p:spPr>
          <a:xfrm>
            <a:off x="658368" y="6072124"/>
            <a:ext cx="51937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"下载《Dissolve》歌词海报 —— 第 47 页的那首曲子。"</a:t>
            </a:r>
          </a:p>
        </p:txBody>
      </p:sp>
      <p:sp>
        <p:nvSpPr>
          <p:cNvPr id="370" name="Shape 32"/>
          <p:cNvSpPr/>
          <p:nvPr/>
        </p:nvSpPr>
        <p:spPr>
          <a:xfrm>
            <a:off x="6217919" y="4069079"/>
            <a:ext cx="5394962" cy="22402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33"/>
          <p:cNvSpPr/>
          <p:nvPr/>
        </p:nvSpPr>
        <p:spPr>
          <a:xfrm>
            <a:off x="6217919" y="4069079"/>
            <a:ext cx="539496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34"/>
          <p:cNvSpPr txBox="1"/>
          <p:nvPr/>
        </p:nvSpPr>
        <p:spPr>
          <a:xfrm>
            <a:off x="6327647" y="426712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M5</a:t>
            </a:r>
          </a:p>
        </p:txBody>
      </p:sp>
      <p:sp>
        <p:nvSpPr>
          <p:cNvPr id="373" name="Text 35"/>
          <p:cNvSpPr txBox="1"/>
          <p:nvPr/>
        </p:nvSpPr>
        <p:spPr>
          <a:xfrm>
            <a:off x="6812280" y="416915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🎤</a:t>
            </a:r>
          </a:p>
        </p:txBody>
      </p:sp>
      <p:sp>
        <p:nvSpPr>
          <p:cNvPr id="374" name="Text 36"/>
          <p:cNvSpPr txBox="1"/>
          <p:nvPr/>
        </p:nvSpPr>
        <p:spPr>
          <a:xfrm>
            <a:off x="6327647" y="4650485"/>
            <a:ext cx="519379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播客：歌曲幕后访谈</a:t>
            </a:r>
          </a:p>
        </p:txBody>
      </p:sp>
      <p:sp>
        <p:nvSpPr>
          <p:cNvPr id="375" name="Text 37"/>
          <p:cNvSpPr txBox="1"/>
          <p:nvPr/>
        </p:nvSpPr>
        <p:spPr>
          <a:xfrm>
            <a:off x="6327647" y="5271174"/>
            <a:ext cx="5193793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一期播客节目，外加一份配套 PDF —— 对一首曲子更深的一层观照：一首曲子意味着什么、为何写下它、什么崩塌了、什么撑住了。读者由此开始读懂一位艺人。</a:t>
            </a:r>
          </a:p>
        </p:txBody>
      </p:sp>
      <p:sp>
        <p:nvSpPr>
          <p:cNvPr id="376" name="Text 38"/>
          <p:cNvSpPr txBox="1"/>
          <p:nvPr/>
        </p:nvSpPr>
        <p:spPr>
          <a:xfrm>
            <a:off x="6327647" y="6072124"/>
            <a:ext cx="51937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"8 分钟音频：《The Distance》—— 它为何写成，最后一句又付出了什么。"</a:t>
            </a:r>
          </a:p>
        </p:txBody>
      </p:sp>
      <p:sp>
        <p:nvSpPr>
          <p:cNvPr id="377" name="Shape 39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40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379" name="Text 41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 txBox="1"/>
          <p:nvPr/>
        </p:nvSpPr>
        <p:spPr>
          <a:xfrm>
            <a:off x="548640" y="481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1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转化漏斗</a:t>
            </a:r>
          </a:p>
        </p:txBody>
      </p:sp>
      <p:sp>
        <p:nvSpPr>
          <p:cNvPr id="382" name="Shape 1"/>
          <p:cNvSpPr/>
          <p:nvPr/>
        </p:nvSpPr>
        <p:spPr>
          <a:xfrm>
            <a:off x="-1" y="-1"/>
            <a:ext cx="12161522" cy="731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Text 2"/>
          <p:cNvSpPr txBox="1"/>
          <p:nvPr/>
        </p:nvSpPr>
        <p:spPr>
          <a:xfrm>
            <a:off x="548639" y="725170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从免费单曲到忠实读者</a:t>
            </a:r>
          </a:p>
        </p:txBody>
      </p:sp>
      <p:sp>
        <p:nvSpPr>
          <p:cNvPr id="384" name="Text 3"/>
          <p:cNvSpPr txBox="1"/>
          <p:nvPr/>
        </p:nvSpPr>
        <p:spPr>
          <a:xfrm>
            <a:off x="548639" y="136836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五个阶段。每一步都让关系更深一层 —— 直到购书成为水到渠成的下一步。</a:t>
            </a:r>
          </a:p>
        </p:txBody>
      </p:sp>
      <p:sp>
        <p:nvSpPr>
          <p:cNvPr id="385" name="Shape 4"/>
          <p:cNvSpPr/>
          <p:nvPr/>
        </p:nvSpPr>
        <p:spPr>
          <a:xfrm>
            <a:off x="548639" y="1874520"/>
            <a:ext cx="2103122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Shape 5"/>
          <p:cNvSpPr/>
          <p:nvPr/>
        </p:nvSpPr>
        <p:spPr>
          <a:xfrm>
            <a:off x="548639" y="1874520"/>
            <a:ext cx="2103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ext 6"/>
          <p:cNvSpPr txBox="1"/>
          <p:nvPr/>
        </p:nvSpPr>
        <p:spPr>
          <a:xfrm>
            <a:off x="621791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漏斗顶端</a:t>
            </a:r>
          </a:p>
        </p:txBody>
      </p:sp>
      <p:sp>
        <p:nvSpPr>
          <p:cNvPr id="388" name="Shape 7"/>
          <p:cNvSpPr/>
          <p:nvPr/>
        </p:nvSpPr>
        <p:spPr>
          <a:xfrm>
            <a:off x="1408175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ext 8"/>
          <p:cNvSpPr txBox="1"/>
          <p:nvPr/>
        </p:nvSpPr>
        <p:spPr>
          <a:xfrm>
            <a:off x="140817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0" name="Text 9"/>
          <p:cNvSpPr txBox="1"/>
          <p:nvPr/>
        </p:nvSpPr>
        <p:spPr>
          <a:xfrm>
            <a:off x="621791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🔊</a:t>
            </a:r>
          </a:p>
        </p:txBody>
      </p:sp>
      <p:sp>
        <p:nvSpPr>
          <p:cNvPr id="391" name="Text 10"/>
          <p:cNvSpPr txBox="1"/>
          <p:nvPr/>
        </p:nvSpPr>
        <p:spPr>
          <a:xfrm>
            <a:off x="621791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聆听</a:t>
            </a:r>
          </a:p>
        </p:txBody>
      </p:sp>
      <p:sp>
        <p:nvSpPr>
          <p:cNvPr id="392" name="Text 11"/>
          <p:cNvSpPr txBox="1"/>
          <p:nvPr/>
        </p:nvSpPr>
        <p:spPr>
          <a:xfrm>
            <a:off x="621791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单曲页面：标题、专辑封面、30 秒试听嵌入。你的声音与一位潜在读者的第一次接触。</a:t>
            </a:r>
          </a:p>
        </p:txBody>
      </p:sp>
      <p:sp>
        <p:nvSpPr>
          <p:cNvPr id="393" name="Text 12"/>
          <p:cNvSpPr txBox="1"/>
          <p:nvPr/>
        </p:nvSpPr>
        <p:spPr>
          <a:xfrm>
            <a:off x="621791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漏斗顶端主图</a:t>
            </a:r>
          </a:p>
        </p:txBody>
      </p:sp>
      <p:sp>
        <p:nvSpPr>
          <p:cNvPr id="394" name="Shape 13"/>
          <p:cNvSpPr/>
          <p:nvPr/>
        </p:nvSpPr>
        <p:spPr>
          <a:xfrm>
            <a:off x="2788920" y="1874520"/>
            <a:ext cx="2103121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Shape 14"/>
          <p:cNvSpPr/>
          <p:nvPr/>
        </p:nvSpPr>
        <p:spPr>
          <a:xfrm>
            <a:off x="2788920" y="1874520"/>
            <a:ext cx="2103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15"/>
          <p:cNvSpPr txBox="1"/>
          <p:nvPr/>
        </p:nvSpPr>
        <p:spPr>
          <a:xfrm>
            <a:off x="2862071" y="207162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引流诱饵</a:t>
            </a:r>
          </a:p>
        </p:txBody>
      </p:sp>
      <p:sp>
        <p:nvSpPr>
          <p:cNvPr id="397" name="Shape 16"/>
          <p:cNvSpPr/>
          <p:nvPr/>
        </p:nvSpPr>
        <p:spPr>
          <a:xfrm>
            <a:off x="3648455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17"/>
          <p:cNvSpPr txBox="1"/>
          <p:nvPr/>
        </p:nvSpPr>
        <p:spPr>
          <a:xfrm>
            <a:off x="364845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9" name="Text 18"/>
          <p:cNvSpPr txBox="1"/>
          <p:nvPr/>
        </p:nvSpPr>
        <p:spPr>
          <a:xfrm>
            <a:off x="2862071" y="2786888"/>
            <a:ext cx="195681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📥</a:t>
            </a:r>
          </a:p>
        </p:txBody>
      </p:sp>
      <p:sp>
        <p:nvSpPr>
          <p:cNvPr id="400" name="Text 19"/>
          <p:cNvSpPr txBox="1"/>
          <p:nvPr/>
        </p:nvSpPr>
        <p:spPr>
          <a:xfrm>
            <a:off x="2862071" y="3339338"/>
            <a:ext cx="195681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免费入口</a:t>
            </a:r>
          </a:p>
        </p:txBody>
      </p:sp>
      <p:sp>
        <p:nvSpPr>
          <p:cNvPr id="401" name="Text 20"/>
          <p:cNvSpPr txBox="1"/>
          <p:nvPr/>
        </p:nvSpPr>
        <p:spPr>
          <a:xfrm>
            <a:off x="2862071" y="4320199"/>
            <a:ext cx="1956818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一个指向你留在自己渠道上的音乐（M1）或你的 YouTube/TikTok（M3）的入口 —— 并留下邮箱。他们选择了听得更多。</a:t>
            </a:r>
          </a:p>
        </p:txBody>
      </p:sp>
      <p:sp>
        <p:nvSpPr>
          <p:cNvPr id="402" name="Text 21"/>
          <p:cNvSpPr txBox="1"/>
          <p:nvPr/>
        </p:nvSpPr>
        <p:spPr>
          <a:xfrm>
            <a:off x="2862071" y="545033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M1 · M3</a:t>
            </a:r>
          </a:p>
        </p:txBody>
      </p:sp>
      <p:sp>
        <p:nvSpPr>
          <p:cNvPr id="403" name="Shape 22"/>
          <p:cNvSpPr/>
          <p:nvPr/>
        </p:nvSpPr>
        <p:spPr>
          <a:xfrm>
            <a:off x="5029199" y="1874520"/>
            <a:ext cx="2103122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Shape 23"/>
          <p:cNvSpPr/>
          <p:nvPr/>
        </p:nvSpPr>
        <p:spPr>
          <a:xfrm>
            <a:off x="5029199" y="1874520"/>
            <a:ext cx="2103122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24"/>
          <p:cNvSpPr txBox="1"/>
          <p:nvPr/>
        </p:nvSpPr>
        <p:spPr>
          <a:xfrm>
            <a:off x="5102352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邮件序列</a:t>
            </a:r>
          </a:p>
        </p:txBody>
      </p:sp>
      <p:sp>
        <p:nvSpPr>
          <p:cNvPr id="406" name="Shape 25"/>
          <p:cNvSpPr/>
          <p:nvPr/>
        </p:nvSpPr>
        <p:spPr>
          <a:xfrm>
            <a:off x="5888735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26"/>
          <p:cNvSpPr txBox="1"/>
          <p:nvPr/>
        </p:nvSpPr>
        <p:spPr>
          <a:xfrm>
            <a:off x="588873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8" name="Text 27"/>
          <p:cNvSpPr txBox="1"/>
          <p:nvPr/>
        </p:nvSpPr>
        <p:spPr>
          <a:xfrm>
            <a:off x="5102352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📧</a:t>
            </a:r>
          </a:p>
        </p:txBody>
      </p:sp>
      <p:sp>
        <p:nvSpPr>
          <p:cNvPr id="409" name="Text 28"/>
          <p:cNvSpPr txBox="1"/>
          <p:nvPr/>
        </p:nvSpPr>
        <p:spPr>
          <a:xfrm>
            <a:off x="5102352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故事</a:t>
            </a:r>
          </a:p>
        </p:txBody>
      </p:sp>
      <p:sp>
        <p:nvSpPr>
          <p:cNvPr id="410" name="Text 29"/>
          <p:cNvSpPr txBox="1"/>
          <p:nvPr/>
        </p:nvSpPr>
        <p:spPr>
          <a:xfrm>
            <a:off x="5102352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预览片段（M2）随「这首曲子从何而来」的邮件一同送达。歌词海报（M4）紧随其后。音乐开始有了私人化的意义。</a:t>
            </a:r>
          </a:p>
        </p:txBody>
      </p:sp>
      <p:sp>
        <p:nvSpPr>
          <p:cNvPr id="411" name="Text 30"/>
          <p:cNvSpPr txBox="1"/>
          <p:nvPr/>
        </p:nvSpPr>
        <p:spPr>
          <a:xfrm>
            <a:off x="5102352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M2 · M4</a:t>
            </a:r>
          </a:p>
        </p:txBody>
      </p:sp>
      <p:sp>
        <p:nvSpPr>
          <p:cNvPr id="412" name="Shape 31"/>
          <p:cNvSpPr/>
          <p:nvPr/>
        </p:nvSpPr>
        <p:spPr>
          <a:xfrm>
            <a:off x="7269480" y="1874520"/>
            <a:ext cx="2103121" cy="3840481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Shape 32"/>
          <p:cNvSpPr/>
          <p:nvPr/>
        </p:nvSpPr>
        <p:spPr>
          <a:xfrm>
            <a:off x="7269480" y="1874520"/>
            <a:ext cx="2103121" cy="731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Text 33"/>
          <p:cNvSpPr txBox="1"/>
          <p:nvPr/>
        </p:nvSpPr>
        <p:spPr>
          <a:xfrm>
            <a:off x="7342631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序列中段</a:t>
            </a:r>
          </a:p>
        </p:txBody>
      </p:sp>
      <p:sp>
        <p:nvSpPr>
          <p:cNvPr id="415" name="Shape 34"/>
          <p:cNvSpPr/>
          <p:nvPr/>
        </p:nvSpPr>
        <p:spPr>
          <a:xfrm>
            <a:off x="8129016" y="2304288"/>
            <a:ext cx="384049" cy="384049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35"/>
          <p:cNvSpPr txBox="1"/>
          <p:nvPr/>
        </p:nvSpPr>
        <p:spPr>
          <a:xfrm>
            <a:off x="8129016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7" name="Text 36"/>
          <p:cNvSpPr txBox="1"/>
          <p:nvPr/>
        </p:nvSpPr>
        <p:spPr>
          <a:xfrm>
            <a:off x="7342631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F59E0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🎤</a:t>
            </a:r>
          </a:p>
        </p:txBody>
      </p:sp>
      <p:sp>
        <p:nvSpPr>
          <p:cNvPr id="418" name="Text 37"/>
          <p:cNvSpPr txBox="1"/>
          <p:nvPr/>
        </p:nvSpPr>
        <p:spPr>
          <a:xfrm>
            <a:off x="7342631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歌曲幕后</a:t>
            </a:r>
          </a:p>
        </p:txBody>
      </p:sp>
      <p:sp>
        <p:nvSpPr>
          <p:cNvPr id="419" name="Text 38"/>
          <p:cNvSpPr txBox="1"/>
          <p:nvPr/>
        </p:nvSpPr>
        <p:spPr>
          <a:xfrm>
            <a:off x="7342631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歌曲幕后访谈（M5）—— 一期播客节目与一份配套 PDF。音乐人未经修饰的声音。读者由此读懂这位艺人。</a:t>
            </a:r>
          </a:p>
        </p:txBody>
      </p:sp>
      <p:sp>
        <p:nvSpPr>
          <p:cNvPr id="420" name="Text 39"/>
          <p:cNvSpPr txBox="1"/>
          <p:nvPr/>
        </p:nvSpPr>
        <p:spPr>
          <a:xfrm>
            <a:off x="7342631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M5</a:t>
            </a:r>
          </a:p>
        </p:txBody>
      </p:sp>
      <p:sp>
        <p:nvSpPr>
          <p:cNvPr id="421" name="Shape 40"/>
          <p:cNvSpPr/>
          <p:nvPr/>
        </p:nvSpPr>
        <p:spPr>
          <a:xfrm>
            <a:off x="9509759" y="1874520"/>
            <a:ext cx="2103121" cy="3840481"/>
          </a:xfrm>
          <a:prstGeom prst="rect">
            <a:avLst/>
          </a:prstGeom>
          <a:solidFill>
            <a:srgbClr val="0A1A0A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Shape 41"/>
          <p:cNvSpPr/>
          <p:nvPr/>
        </p:nvSpPr>
        <p:spPr>
          <a:xfrm>
            <a:off x="9509759" y="1874520"/>
            <a:ext cx="2103121" cy="73153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42"/>
          <p:cNvSpPr txBox="1"/>
          <p:nvPr/>
        </p:nvSpPr>
        <p:spPr>
          <a:xfrm>
            <a:off x="9582911" y="20716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700">
                <a:solidFill>
                  <a:srgbClr val="86EFAC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转化</a:t>
            </a:r>
          </a:p>
        </p:txBody>
      </p:sp>
      <p:sp>
        <p:nvSpPr>
          <p:cNvPr id="424" name="Shape 43"/>
          <p:cNvSpPr/>
          <p:nvPr/>
        </p:nvSpPr>
        <p:spPr>
          <a:xfrm>
            <a:off x="10369295" y="2304288"/>
            <a:ext cx="384049" cy="384049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ext 44"/>
          <p:cNvSpPr txBox="1"/>
          <p:nvPr/>
        </p:nvSpPr>
        <p:spPr>
          <a:xfrm>
            <a:off x="10369295" y="2375662"/>
            <a:ext cx="3840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E0A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26" name="Text 45"/>
          <p:cNvSpPr txBox="1"/>
          <p:nvPr/>
        </p:nvSpPr>
        <p:spPr>
          <a:xfrm>
            <a:off x="9582911" y="2786888"/>
            <a:ext cx="19568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86EFA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📚</a:t>
            </a:r>
          </a:p>
        </p:txBody>
      </p:sp>
      <p:sp>
        <p:nvSpPr>
          <p:cNvPr id="427" name="Text 46"/>
          <p:cNvSpPr txBox="1"/>
          <p:nvPr/>
        </p:nvSpPr>
        <p:spPr>
          <a:xfrm>
            <a:off x="9582911" y="3339338"/>
            <a:ext cx="19568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图书</a:t>
            </a:r>
          </a:p>
        </p:txBody>
      </p:sp>
      <p:sp>
        <p:nvSpPr>
          <p:cNvPr id="428" name="Text 47"/>
          <p:cNvSpPr txBox="1"/>
          <p:nvPr/>
        </p:nvSpPr>
        <p:spPr>
          <a:xfrm>
            <a:off x="9582911" y="4250349"/>
            <a:ext cx="1956817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购书号召自然而至。这本书是交付物；你的音乐则留在你自己的渠道上。这是他们熟悉的领域 —— 他们早已熟知那份声音。于是他们买下了它。</a:t>
            </a:r>
          </a:p>
        </p:txBody>
      </p:sp>
      <p:sp>
        <p:nvSpPr>
          <p:cNvPr id="429" name="Text 48"/>
          <p:cNvSpPr txBox="1"/>
          <p:nvPr/>
        </p:nvSpPr>
        <p:spPr>
          <a:xfrm>
            <a:off x="9582911" y="545033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86EFAC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书</a:t>
            </a:r>
          </a:p>
        </p:txBody>
      </p:sp>
      <p:sp>
        <p:nvSpPr>
          <p:cNvPr id="430" name="Shape 49"/>
          <p:cNvSpPr/>
          <p:nvPr/>
        </p:nvSpPr>
        <p:spPr>
          <a:xfrm>
            <a:off x="2651760" y="3794759"/>
            <a:ext cx="137161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50"/>
          <p:cNvSpPr txBox="1"/>
          <p:nvPr/>
        </p:nvSpPr>
        <p:spPr>
          <a:xfrm>
            <a:off x="2674620" y="366267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2" name="Shape 51"/>
          <p:cNvSpPr/>
          <p:nvPr/>
        </p:nvSpPr>
        <p:spPr>
          <a:xfrm>
            <a:off x="4892040" y="3794759"/>
            <a:ext cx="137161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52"/>
          <p:cNvSpPr txBox="1"/>
          <p:nvPr/>
        </p:nvSpPr>
        <p:spPr>
          <a:xfrm>
            <a:off x="4914899" y="3662679"/>
            <a:ext cx="91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4" name="Shape 53"/>
          <p:cNvSpPr/>
          <p:nvPr/>
        </p:nvSpPr>
        <p:spPr>
          <a:xfrm>
            <a:off x="7132319" y="3794759"/>
            <a:ext cx="137161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54"/>
          <p:cNvSpPr txBox="1"/>
          <p:nvPr/>
        </p:nvSpPr>
        <p:spPr>
          <a:xfrm>
            <a:off x="7155180" y="366267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6" name="Shape 55"/>
          <p:cNvSpPr/>
          <p:nvPr/>
        </p:nvSpPr>
        <p:spPr>
          <a:xfrm>
            <a:off x="9372599" y="3794759"/>
            <a:ext cx="137162" cy="1"/>
          </a:xfrm>
          <a:prstGeom prst="line">
            <a:avLst/>
          </a:prstGeom>
          <a:ln w="1905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7" name="Text 56"/>
          <p:cNvSpPr txBox="1"/>
          <p:nvPr/>
        </p:nvSpPr>
        <p:spPr>
          <a:xfrm>
            <a:off x="9395459" y="366267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59E0B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438" name="Shape 57"/>
          <p:cNvSpPr/>
          <p:nvPr/>
        </p:nvSpPr>
        <p:spPr>
          <a:xfrm>
            <a:off x="548639" y="5888735"/>
            <a:ext cx="11064242" cy="393193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58"/>
          <p:cNvSpPr txBox="1"/>
          <p:nvPr/>
        </p:nvSpPr>
        <p:spPr>
          <a:xfrm>
            <a:off x="777239" y="6016796"/>
            <a:ext cx="10607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图书是目录主体。这些入口指向你留在自己渠道上的音乐。因声音而发现你的听众，会成为最忠实的读者。</a:t>
            </a:r>
          </a:p>
        </p:txBody>
      </p:sp>
      <p:sp>
        <p:nvSpPr>
          <p:cNvPr id="440" name="Shape 59"/>
          <p:cNvSpPr/>
          <p:nvPr/>
        </p:nvSpPr>
        <p:spPr>
          <a:xfrm>
            <a:off x="548639" y="6446520"/>
            <a:ext cx="11064242" cy="1"/>
          </a:xfrm>
          <a:prstGeom prst="line">
            <a:avLst/>
          </a:prstGeom>
          <a:ln w="12700">
            <a:solidFill>
              <a:srgbClr val="2A1F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60"/>
          <p:cNvSpPr txBox="1"/>
          <p:nvPr/>
        </p:nvSpPr>
        <p:spPr>
          <a:xfrm>
            <a:off x="548640" y="6584188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Enlightened Intelligence Publishing · Music Mode V1 + V2</a:t>
            </a:r>
          </a:p>
        </p:txBody>
      </p:sp>
      <p:sp>
        <p:nvSpPr>
          <p:cNvPr id="442" name="Text 61"/>
          <p:cNvSpPr txBox="1"/>
          <p:nvPr/>
        </p:nvSpPr>
        <p:spPr>
          <a:xfrm>
            <a:off x="10515599" y="6584188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C8A7A"/>
                </a:solidFill>
              </a:defRPr>
            </a:lvl1pPr>
          </a:lstStyle>
          <a:p>
            <a:pPr/>
            <a:r>
              <a:t>14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0"/>
          <p:cNvSpPr/>
          <p:nvPr/>
        </p:nvSpPr>
        <p:spPr>
          <a:xfrm>
            <a:off x="-1" y="0"/>
            <a:ext cx="36576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Text 1"/>
          <p:cNvSpPr txBox="1"/>
          <p:nvPr/>
        </p:nvSpPr>
        <p:spPr>
          <a:xfrm>
            <a:off x="822960" y="1596960"/>
            <a:ext cx="10972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0" sz="1400">
                <a:solidFill>
                  <a:srgbClr val="F59E0B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· EI</a:t>
            </a:r>
          </a:p>
        </p:txBody>
      </p:sp>
      <p:sp>
        <p:nvSpPr>
          <p:cNvPr id="446" name="Text 2"/>
          <p:cNvSpPr txBox="1"/>
          <p:nvPr/>
        </p:nvSpPr>
        <p:spPr>
          <a:xfrm>
            <a:off x="822960" y="2098039"/>
            <a:ext cx="1097280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800">
                <a:solidFill>
                  <a:srgbClr val="FAF6F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 sz="3600">
                <a:latin typeface="Cambria"/>
                <a:ea typeface="Songti SC"/>
              </a:rPr>
              <a:t>你的音乐 —— Composite USLF</a:t>
            </a:r>
          </a:p>
        </p:txBody>
      </p:sp>
      <p:sp>
        <p:nvSpPr>
          <p:cNvPr id="447" name="Text 3"/>
          <p:cNvSpPr txBox="1"/>
          <p:nvPr/>
        </p:nvSpPr>
        <p:spPr>
          <a:xfrm>
            <a:off x="822960" y="3103879"/>
            <a:ext cx="1097280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800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rPr>
                <a:latin typeface="Cambria"/>
                <a:ea typeface="Songti SC"/>
              </a:rPr>
              <a:t>疗愈型内容</a:t>
            </a:r>
          </a:p>
        </p:txBody>
      </p:sp>
      <p:sp>
        <p:nvSpPr>
          <p:cNvPr id="448" name="Text 4"/>
          <p:cNvSpPr txBox="1"/>
          <p:nvPr/>
        </p:nvSpPr>
        <p:spPr>
          <a:xfrm>
            <a:off x="822960" y="4958781"/>
            <a:ext cx="10515601" cy="41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9C8A7A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Pearl Prime 的存在，是为了把你音乐中的精神智慧与那份可感的质地，带给那些也许永远到不了现场演出、唱片店或某个圈子的读者 —— 但他们会以一种可读、可听、可反复回味的形式，把你的声音带进自己的日常。</a:t>
            </a:r>
          </a:p>
        </p:txBody>
      </p:sp>
      <p:sp>
        <p:nvSpPr>
          <p:cNvPr id="449" name="Shape 5"/>
          <p:cNvSpPr/>
          <p:nvPr/>
        </p:nvSpPr>
        <p:spPr>
          <a:xfrm>
            <a:off x="822960" y="5943600"/>
            <a:ext cx="3657601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ext 6"/>
          <p:cNvSpPr txBox="1"/>
          <p:nvPr/>
        </p:nvSpPr>
        <p:spPr>
          <a:xfrm>
            <a:off x="822960" y="6180258"/>
            <a:ext cx="109728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AF6F0"/>
                </a:solidFill>
              </a:defRPr>
            </a:lvl1pPr>
          </a:lstStyle>
          <a:p>
            <a:pPr/>
            <a:r>
              <a:rPr>
                <a:latin typeface="Calibri"/>
                <a:ea typeface="Heiti SC"/>
              </a:rPr>
              <a:t>与我们一同共建。  ·  Pearl Prime  ·  Enlightened Intelligence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