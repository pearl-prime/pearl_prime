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" name="Shape 1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609600" y="92074"/>
            <a:ext cx="10972800" cy="15081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E0A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0"/>
          <p:cNvSpPr/>
          <p:nvPr/>
        </p:nvSpPr>
        <p:spPr>
          <a:xfrm>
            <a:off x="-1" y="0"/>
            <a:ext cx="365762" cy="68580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1" name="Text 1"/>
          <p:cNvSpPr txBox="1"/>
          <p:nvPr/>
        </p:nvSpPr>
        <p:spPr>
          <a:xfrm>
            <a:off x="822960" y="1414080"/>
            <a:ext cx="1097280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800" sz="1400">
                <a:solidFill>
                  <a:srgbClr val="F59E0B"/>
                </a:solidFill>
              </a:defRPr>
            </a:lvl1pPr>
          </a:lstStyle>
          <a:p>
            <a:pPr/>
            <a:r>
              <a:t>PEARL PRIME · EI</a:t>
            </a:r>
          </a:p>
        </p:txBody>
      </p:sp>
      <p:sp>
        <p:nvSpPr>
          <p:cNvPr id="22" name="Text 2"/>
          <p:cNvSpPr txBox="1"/>
          <p:nvPr/>
        </p:nvSpPr>
        <p:spPr>
          <a:xfrm>
            <a:off x="822960" y="1809750"/>
            <a:ext cx="10972801" cy="952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6400">
                <a:solidFill>
                  <a:srgbClr val="FAF6F0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Pearl Prime</a:t>
            </a:r>
          </a:p>
        </p:txBody>
      </p:sp>
      <p:sp>
        <p:nvSpPr>
          <p:cNvPr id="23" name="Text 3"/>
          <p:cNvSpPr txBox="1"/>
          <p:nvPr/>
        </p:nvSpPr>
        <p:spPr>
          <a:xfrm>
            <a:off x="822960" y="2724150"/>
            <a:ext cx="10972801" cy="952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6400">
                <a:solidFill>
                  <a:srgbClr val="F59E0B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Music Content </a:t>
            </a:r>
          </a:p>
        </p:txBody>
      </p:sp>
      <p:sp>
        <p:nvSpPr>
          <p:cNvPr id="24" name="Text 4"/>
          <p:cNvSpPr txBox="1"/>
          <p:nvPr/>
        </p:nvSpPr>
        <p:spPr>
          <a:xfrm>
            <a:off x="822960" y="4147383"/>
            <a:ext cx="10515601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600">
                <a:solidFill>
                  <a:srgbClr val="9C8A7A"/>
                </a:solidFill>
              </a:defRPr>
            </a:lvl1pPr>
          </a:lstStyle>
          <a:p>
            <a:pPr/>
            <a:r>
              <a:t>How Pearl Prime Creates Books, Audiobooks, Podcasts &amp; Manga at Global Scale</a:t>
            </a:r>
          </a:p>
        </p:txBody>
      </p:sp>
      <p:sp>
        <p:nvSpPr>
          <p:cNvPr id="25" name="Text 5"/>
          <p:cNvSpPr txBox="1"/>
          <p:nvPr/>
        </p:nvSpPr>
        <p:spPr>
          <a:xfrm>
            <a:off x="822960" y="4671498"/>
            <a:ext cx="10515601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FAF6F0"/>
                </a:solidFill>
              </a:defRPr>
            </a:lvl1pPr>
          </a:lstStyle>
          <a:p>
            <a:pPr/>
            <a:r>
              <a:t>For Musicians of the Pearl Prime Brand Director Network</a:t>
            </a:r>
          </a:p>
        </p:txBody>
      </p:sp>
      <p:sp>
        <p:nvSpPr>
          <p:cNvPr id="26" name="Shape 6"/>
          <p:cNvSpPr/>
          <p:nvPr/>
        </p:nvSpPr>
        <p:spPr>
          <a:xfrm>
            <a:off x="822960" y="5486400"/>
            <a:ext cx="3657601" cy="0"/>
          </a:xfrm>
          <a:prstGeom prst="line">
            <a:avLst/>
          </a:prstGeom>
          <a:ln w="2540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7" name="Text 7"/>
          <p:cNvSpPr txBox="1"/>
          <p:nvPr/>
        </p:nvSpPr>
        <p:spPr>
          <a:xfrm>
            <a:off x="822960" y="5728007"/>
            <a:ext cx="1051560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200">
                <a:solidFill>
                  <a:srgbClr val="F59E0B"/>
                </a:solidFill>
              </a:defRPr>
            </a:lvl1pPr>
          </a:lstStyle>
          <a:p>
            <a:pPr/>
            <a:r>
              <a:t>Presented by Pearl Prime · Enlightened Intelligence Publishing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E0A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 0"/>
          <p:cNvSpPr txBox="1"/>
          <p:nvPr/>
        </p:nvSpPr>
        <p:spPr>
          <a:xfrm>
            <a:off x="548640" y="481506"/>
            <a:ext cx="54864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600" sz="1100">
                <a:solidFill>
                  <a:srgbClr val="F59E0B"/>
                </a:solidFill>
              </a:defRPr>
            </a:lvl1pPr>
          </a:lstStyle>
          <a:p>
            <a:pPr/>
            <a:r>
              <a:t>OVERVIEW</a:t>
            </a:r>
          </a:p>
        </p:txBody>
      </p:sp>
      <p:sp>
        <p:nvSpPr>
          <p:cNvPr id="30" name="Shape 1"/>
          <p:cNvSpPr/>
          <p:nvPr/>
        </p:nvSpPr>
        <p:spPr>
          <a:xfrm>
            <a:off x="-1" y="-1"/>
            <a:ext cx="12161522" cy="7315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1" name="Text 2"/>
          <p:cNvSpPr txBox="1"/>
          <p:nvPr/>
        </p:nvSpPr>
        <p:spPr>
          <a:xfrm>
            <a:off x="548639" y="725170"/>
            <a:ext cx="11064242" cy="46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3200">
                <a:solidFill>
                  <a:srgbClr val="FAF6F0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What Is Music Mode?</a:t>
            </a:r>
          </a:p>
        </p:txBody>
      </p:sp>
      <p:sp>
        <p:nvSpPr>
          <p:cNvPr id="32" name="Text 3"/>
          <p:cNvSpPr txBox="1"/>
          <p:nvPr/>
        </p:nvSpPr>
        <p:spPr>
          <a:xfrm>
            <a:off x="548639" y="1368360"/>
            <a:ext cx="11064242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400">
                <a:solidFill>
                  <a:srgbClr val="F59E0B"/>
                </a:solidFill>
              </a:defRPr>
            </a:lvl1pPr>
          </a:lstStyle>
          <a:p>
            <a:pPr/>
            <a:r>
              <a:t>Pearl Prime — Enlightened Intelligence — is an AI-native publishing system. Music mode is a first-class brand archetype on the Platform.</a:t>
            </a:r>
          </a:p>
        </p:txBody>
      </p:sp>
      <p:sp>
        <p:nvSpPr>
          <p:cNvPr id="33" name="Shape 4"/>
          <p:cNvSpPr/>
          <p:nvPr/>
        </p:nvSpPr>
        <p:spPr>
          <a:xfrm>
            <a:off x="548640" y="1828800"/>
            <a:ext cx="3657601" cy="4297680"/>
          </a:xfrm>
          <a:prstGeom prst="rect">
            <a:avLst/>
          </a:prstGeom>
          <a:solidFill>
            <a:srgbClr val="2A1F17"/>
          </a:solidFill>
          <a:ln w="1270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4" name="Shape 5"/>
          <p:cNvSpPr/>
          <p:nvPr/>
        </p:nvSpPr>
        <p:spPr>
          <a:xfrm>
            <a:off x="548640" y="1828799"/>
            <a:ext cx="3657601" cy="7315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5" name="Text 6"/>
          <p:cNvSpPr txBox="1"/>
          <p:nvPr/>
        </p:nvSpPr>
        <p:spPr>
          <a:xfrm>
            <a:off x="731519" y="2084069"/>
            <a:ext cx="731521" cy="495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3000">
                <a:solidFill>
                  <a:srgbClr val="F59E0B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📚</a:t>
            </a:r>
          </a:p>
        </p:txBody>
      </p:sp>
      <p:sp>
        <p:nvSpPr>
          <p:cNvPr id="36" name="Text 7"/>
          <p:cNvSpPr txBox="1"/>
          <p:nvPr/>
        </p:nvSpPr>
        <p:spPr>
          <a:xfrm>
            <a:off x="731519" y="2769869"/>
            <a:ext cx="3291842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>
                <a:solidFill>
                  <a:srgbClr val="FAF6F0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What It Creates</a:t>
            </a:r>
          </a:p>
        </p:txBody>
      </p:sp>
      <p:sp>
        <p:nvSpPr>
          <p:cNvPr id="37" name="Text 8"/>
          <p:cNvSpPr txBox="1"/>
          <p:nvPr/>
        </p:nvSpPr>
        <p:spPr>
          <a:xfrm>
            <a:off x="731519" y="4220386"/>
            <a:ext cx="3291842" cy="7946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spcBef>
                <a:spcPts val="400"/>
              </a:spcBef>
              <a:defRPr sz="1100">
                <a:solidFill>
                  <a:srgbClr val="FAF6F0"/>
                </a:solidFill>
              </a:defRPr>
            </a:lvl1pPr>
          </a:lstStyle>
          <a:p>
            <a:pPr/>
            <a:r>
              <a:t>A regular Pearl Prime ebook + your music slots. Your data sets the mix — lyric books where you have lyrics, instrumental-reflection books where you don't, both in one brand. The teachings come from your own bank (if you teach) or the Pearl Prime composite. Your music stays on your channels; the book points to it.</a:t>
            </a:r>
          </a:p>
        </p:txBody>
      </p:sp>
      <p:sp>
        <p:nvSpPr>
          <p:cNvPr id="38" name="Shape 9"/>
          <p:cNvSpPr/>
          <p:nvPr/>
        </p:nvSpPr>
        <p:spPr>
          <a:xfrm>
            <a:off x="4343400" y="1828800"/>
            <a:ext cx="3657600" cy="4297680"/>
          </a:xfrm>
          <a:prstGeom prst="rect">
            <a:avLst/>
          </a:prstGeom>
          <a:solidFill>
            <a:srgbClr val="2A1F17"/>
          </a:solidFill>
          <a:ln w="1270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9" name="Shape 10"/>
          <p:cNvSpPr/>
          <p:nvPr/>
        </p:nvSpPr>
        <p:spPr>
          <a:xfrm>
            <a:off x="4343400" y="1828799"/>
            <a:ext cx="3657600" cy="7315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0" name="Text 11"/>
          <p:cNvSpPr txBox="1"/>
          <p:nvPr/>
        </p:nvSpPr>
        <p:spPr>
          <a:xfrm>
            <a:off x="4526279" y="2084069"/>
            <a:ext cx="731521" cy="495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3000">
                <a:solidFill>
                  <a:srgbClr val="F59E0B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🌍</a:t>
            </a:r>
          </a:p>
        </p:txBody>
      </p:sp>
      <p:sp>
        <p:nvSpPr>
          <p:cNvPr id="41" name="Text 12"/>
          <p:cNvSpPr txBox="1"/>
          <p:nvPr/>
        </p:nvSpPr>
        <p:spPr>
          <a:xfrm>
            <a:off x="4526279" y="2769869"/>
            <a:ext cx="3291841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>
                <a:solidFill>
                  <a:srgbClr val="FAF6F0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Who It Reaches</a:t>
            </a:r>
          </a:p>
        </p:txBody>
      </p:sp>
      <p:sp>
        <p:nvSpPr>
          <p:cNvPr id="42" name="Text 13"/>
          <p:cNvSpPr txBox="1"/>
          <p:nvPr/>
        </p:nvSpPr>
        <p:spPr>
          <a:xfrm>
            <a:off x="4526279" y="4220386"/>
            <a:ext cx="3291841" cy="7946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spcBef>
                <a:spcPts val="400"/>
              </a:spcBef>
              <a:defRPr sz="1100">
                <a:solidFill>
                  <a:srgbClr val="FAF6F0"/>
                </a:solidFill>
              </a:defRPr>
            </a:lvl1pPr>
          </a:lstStyle>
          <a:p>
            <a:pPr/>
            <a:r>
              <a:t>Gen Z and Gen Alpha readers across 12 markets — US, Japan, Taiwan, China, and more — on KDP, Audible, Apple Books, and Google Play. Per-locale parity via Pearl_Localization. Addressed directly to the reader, in the author's voice.</a:t>
            </a:r>
          </a:p>
        </p:txBody>
      </p:sp>
      <p:sp>
        <p:nvSpPr>
          <p:cNvPr id="43" name="Shape 14"/>
          <p:cNvSpPr/>
          <p:nvPr/>
        </p:nvSpPr>
        <p:spPr>
          <a:xfrm>
            <a:off x="8138159" y="1828800"/>
            <a:ext cx="3657601" cy="4297680"/>
          </a:xfrm>
          <a:prstGeom prst="rect">
            <a:avLst/>
          </a:prstGeom>
          <a:solidFill>
            <a:srgbClr val="2A1F17"/>
          </a:solidFill>
          <a:ln w="1270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4" name="Shape 15"/>
          <p:cNvSpPr/>
          <p:nvPr/>
        </p:nvSpPr>
        <p:spPr>
          <a:xfrm>
            <a:off x="8138159" y="1828799"/>
            <a:ext cx="3657601" cy="7315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5" name="Text 16"/>
          <p:cNvSpPr txBox="1"/>
          <p:nvPr/>
        </p:nvSpPr>
        <p:spPr>
          <a:xfrm>
            <a:off x="8321040" y="2084069"/>
            <a:ext cx="731521" cy="495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3000">
                <a:solidFill>
                  <a:srgbClr val="F59E0B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🔬</a:t>
            </a:r>
          </a:p>
        </p:txBody>
      </p:sp>
      <p:sp>
        <p:nvSpPr>
          <p:cNvPr id="46" name="Text 17"/>
          <p:cNvSpPr txBox="1"/>
          <p:nvPr/>
        </p:nvSpPr>
        <p:spPr>
          <a:xfrm>
            <a:off x="8321040" y="2769869"/>
            <a:ext cx="3291841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>
                <a:solidFill>
                  <a:srgbClr val="FAF6F0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How It Works</a:t>
            </a:r>
          </a:p>
        </p:txBody>
      </p:sp>
      <p:sp>
        <p:nvSpPr>
          <p:cNvPr id="47" name="Text 18"/>
          <p:cNvSpPr txBox="1"/>
          <p:nvPr/>
        </p:nvSpPr>
        <p:spPr>
          <a:xfrm>
            <a:off x="8321040" y="4220386"/>
            <a:ext cx="3291841" cy="7946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spcBef>
                <a:spcPts val="400"/>
              </a:spcBef>
              <a:defRPr sz="1100">
                <a:solidFill>
                  <a:srgbClr val="FAF6F0"/>
                </a:solidFill>
              </a:defRPr>
            </a:lvl1pPr>
          </a:lstStyle>
          <a:p>
            <a:pPr/>
            <a:r>
              <a:t>Deterministic assembly: your survey + touchstone tracks + voice/craft profile feed an atom-bank pipeline. Pearl_Editor + Pearl_Writer author atoms keyed to 6 new slot pools. Not hallucination — your themes and voice become permanent system memory.</a:t>
            </a:r>
          </a:p>
        </p:txBody>
      </p:sp>
      <p:sp>
        <p:nvSpPr>
          <p:cNvPr id="48" name="Shape 19"/>
          <p:cNvSpPr/>
          <p:nvPr/>
        </p:nvSpPr>
        <p:spPr>
          <a:xfrm>
            <a:off x="548639" y="6446520"/>
            <a:ext cx="11064242" cy="1"/>
          </a:xfrm>
          <a:prstGeom prst="line">
            <a:avLst/>
          </a:prstGeom>
          <a:ln w="12700">
            <a:solidFill>
              <a:srgbClr val="2A1F1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9" name="Text 20"/>
          <p:cNvSpPr txBox="1"/>
          <p:nvPr/>
        </p:nvSpPr>
        <p:spPr>
          <a:xfrm>
            <a:off x="548640" y="6584188"/>
            <a:ext cx="8229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9C8A7A"/>
                </a:solidFill>
              </a:defRPr>
            </a:lvl1pPr>
          </a:lstStyle>
          <a:p>
            <a:pPr/>
            <a:r>
              <a:t>Pearl Prime · Enlightened Intelligence Publishing · Music Mode V1 + V2</a:t>
            </a:r>
          </a:p>
        </p:txBody>
      </p:sp>
      <p:sp>
        <p:nvSpPr>
          <p:cNvPr id="50" name="Text 21"/>
          <p:cNvSpPr txBox="1"/>
          <p:nvPr/>
        </p:nvSpPr>
        <p:spPr>
          <a:xfrm>
            <a:off x="10515599" y="6584188"/>
            <a:ext cx="109728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9C8A7A"/>
                </a:solidFill>
              </a:defRPr>
            </a:lvl1pPr>
          </a:lstStyle>
          <a:p>
            <a:pPr/>
            <a:r>
              <a:t>2 / 15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E0A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ext 0"/>
          <p:cNvSpPr txBox="1"/>
          <p:nvPr/>
        </p:nvSpPr>
        <p:spPr>
          <a:xfrm>
            <a:off x="548640" y="481506"/>
            <a:ext cx="54864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600" sz="1100">
                <a:solidFill>
                  <a:srgbClr val="F59E0B"/>
                </a:solidFill>
              </a:defRPr>
            </a:lvl1pPr>
          </a:lstStyle>
          <a:p>
            <a:pPr/>
            <a:r>
              <a:t>THE KNOWLEDGE BASE</a:t>
            </a:r>
          </a:p>
        </p:txBody>
      </p:sp>
      <p:sp>
        <p:nvSpPr>
          <p:cNvPr id="53" name="Shape 1"/>
          <p:cNvSpPr/>
          <p:nvPr/>
        </p:nvSpPr>
        <p:spPr>
          <a:xfrm>
            <a:off x="-1" y="-1"/>
            <a:ext cx="12161522" cy="7315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4" name="Text 2"/>
          <p:cNvSpPr txBox="1"/>
          <p:nvPr/>
        </p:nvSpPr>
        <p:spPr>
          <a:xfrm>
            <a:off x="548639" y="725170"/>
            <a:ext cx="11064242" cy="46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3200">
                <a:solidFill>
                  <a:srgbClr val="FAF6F0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Your Voice, Authored as Atoms</a:t>
            </a:r>
          </a:p>
        </p:txBody>
      </p:sp>
      <p:sp>
        <p:nvSpPr>
          <p:cNvPr id="55" name="Text 3"/>
          <p:cNvSpPr txBox="1"/>
          <p:nvPr/>
        </p:nvSpPr>
        <p:spPr>
          <a:xfrm>
            <a:off x="548639" y="1254060"/>
            <a:ext cx="11064242" cy="4179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400">
                <a:solidFill>
                  <a:srgbClr val="F59E0B"/>
                </a:solidFill>
              </a:defRPr>
            </a:lvl1pPr>
          </a:lstStyle>
          <a:p>
            <a:pPr/>
            <a:r>
              <a:t>For each musician, Pearl Prime builds a musician_bank — your themes, voice register, healing intent, signature devices, touchstones. From that bank, scripts are written.</a:t>
            </a:r>
          </a:p>
        </p:txBody>
      </p:sp>
      <p:sp>
        <p:nvSpPr>
          <p:cNvPr id="56" name="Shape 4"/>
          <p:cNvSpPr/>
          <p:nvPr/>
        </p:nvSpPr>
        <p:spPr>
          <a:xfrm>
            <a:off x="548640" y="1828800"/>
            <a:ext cx="5486401" cy="4297680"/>
          </a:xfrm>
          <a:prstGeom prst="rect">
            <a:avLst/>
          </a:prstGeom>
          <a:solidFill>
            <a:srgbClr val="2A1F17"/>
          </a:solidFill>
          <a:ln w="1270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7" name="Shape 5"/>
          <p:cNvSpPr/>
          <p:nvPr/>
        </p:nvSpPr>
        <p:spPr>
          <a:xfrm>
            <a:off x="548640" y="1828800"/>
            <a:ext cx="73153" cy="42976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8" name="Text 6"/>
          <p:cNvSpPr txBox="1"/>
          <p:nvPr/>
        </p:nvSpPr>
        <p:spPr>
          <a:xfrm>
            <a:off x="777239" y="2081706"/>
            <a:ext cx="5120642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400" sz="1100">
                <a:solidFill>
                  <a:srgbClr val="F59E0B"/>
                </a:solidFill>
              </a:defRPr>
            </a:lvl1pPr>
          </a:lstStyle>
          <a:p>
            <a:pPr/>
            <a:r>
              <a:t>6 SLOT POOLS FRAME EVERY CHAPTER</a:t>
            </a:r>
          </a:p>
        </p:txBody>
      </p:sp>
      <p:sp>
        <p:nvSpPr>
          <p:cNvPr id="59" name="Text 7"/>
          <p:cNvSpPr txBox="1"/>
          <p:nvPr/>
        </p:nvSpPr>
        <p:spPr>
          <a:xfrm>
            <a:off x="777239" y="3021506"/>
            <a:ext cx="5120642" cy="23694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spcBef>
                <a:spcPts val="300"/>
              </a:spcBef>
              <a:defRPr i="1" sz="1100">
                <a:solidFill>
                  <a:srgbClr val="F59E0B"/>
                </a:solidFill>
              </a:defRPr>
            </a:pPr>
            <a:r>
              <a:t>with-lyrics variant:</a:t>
            </a:r>
          </a:p>
          <a:p>
            <a:pPr marL="342900" indent="-342900">
              <a:spcBef>
                <a:spcPts val="300"/>
              </a:spcBef>
              <a:buSzPct val="100000"/>
              <a:buChar char="■"/>
              <a:defRPr sz="1100">
                <a:solidFill>
                  <a:srgbClr val="FAF6F0"/>
                </a:solidFill>
              </a:defRPr>
            </a:pPr>
            <a:r>
              <a:t>LYRIC_OPENING  — your lyrical voice at chapter top</a:t>
            </a:r>
          </a:p>
          <a:p>
            <a:pPr marL="342900" indent="-342900">
              <a:spcBef>
                <a:spcPts val="300"/>
              </a:spcBef>
              <a:buSzPct val="100000"/>
              <a:buChar char="■"/>
              <a:defRPr sz="1100">
                <a:solidFill>
                  <a:srgbClr val="FAF6F0"/>
                </a:solidFill>
              </a:defRPr>
            </a:pPr>
            <a:r>
              <a:t>LYRIC_CLOSING  — your lyrical voice at chapter bottom</a:t>
            </a:r>
          </a:p>
          <a:p>
            <a:pPr marL="342900" indent="-342900">
              <a:spcBef>
                <a:spcPts val="300"/>
              </a:spcBef>
              <a:buSzPct val="100000"/>
              <a:buChar char="■"/>
              <a:defRPr sz="1100">
                <a:solidFill>
                  <a:srgbClr val="FAF6F0"/>
                </a:solidFill>
              </a:defRPr>
            </a:pPr>
            <a:r>
              <a:t>LYRIC_BESTSELLER_BEAT  — one mid-chapter lyric beat</a:t>
            </a:r>
          </a:p>
          <a:p>
            <a:pPr>
              <a:spcBef>
                <a:spcPts val="300"/>
              </a:spcBef>
              <a:defRPr sz="1100"/>
            </a:pPr>
            <a:r>
              <a:t> </a:t>
            </a:r>
          </a:p>
          <a:p>
            <a:pPr>
              <a:spcBef>
                <a:spcPts val="300"/>
              </a:spcBef>
              <a:defRPr i="1" sz="1100">
                <a:solidFill>
                  <a:srgbClr val="F59E0B"/>
                </a:solidFill>
              </a:defRPr>
            </a:pPr>
            <a:r>
              <a:t>no-lyrics variant:</a:t>
            </a:r>
          </a:p>
          <a:p>
            <a:pPr marL="342900" indent="-342900">
              <a:spcBef>
                <a:spcPts val="300"/>
              </a:spcBef>
              <a:buSzPct val="100000"/>
              <a:buChar char="■"/>
              <a:defRPr sz="1100">
                <a:solidFill>
                  <a:srgbClr val="FAF6F0"/>
                </a:solidFill>
              </a:defRPr>
            </a:pPr>
            <a:r>
              <a:t>MUSIC_REFLECTION_OPENING  — reflective open</a:t>
            </a:r>
          </a:p>
          <a:p>
            <a:pPr marL="342900" indent="-342900">
              <a:spcBef>
                <a:spcPts val="300"/>
              </a:spcBef>
              <a:buSzPct val="100000"/>
              <a:buChar char="■"/>
              <a:defRPr sz="1100">
                <a:solidFill>
                  <a:srgbClr val="FAF6F0"/>
                </a:solidFill>
              </a:defRPr>
            </a:pPr>
            <a:r>
              <a:t>MUSIC_REFLECTION_CLOSING  — reflective close</a:t>
            </a:r>
          </a:p>
          <a:p>
            <a:pPr marL="342900" indent="-342900">
              <a:spcBef>
                <a:spcPts val="300"/>
              </a:spcBef>
              <a:buSzPct val="100000"/>
              <a:buChar char="■"/>
              <a:defRPr sz="1100">
                <a:solidFill>
                  <a:srgbClr val="FAF6F0"/>
                </a:solidFill>
              </a:defRPr>
            </a:pPr>
            <a:r>
              <a:t>MUSIC_REFLECTION_BESTSELLER_BEAT  — mid-chapter beat</a:t>
            </a:r>
          </a:p>
          <a:p>
            <a:pPr>
              <a:spcBef>
                <a:spcPts val="300"/>
              </a:spcBef>
              <a:defRPr sz="1100"/>
            </a:pPr>
            <a:r>
              <a:t> </a:t>
            </a:r>
          </a:p>
          <a:p>
            <a:pPr>
              <a:spcBef>
                <a:spcPts val="300"/>
              </a:spcBef>
              <a:defRPr i="1" sz="1100">
                <a:solidFill>
                  <a:srgbClr val="F59E0B"/>
                </a:solidFill>
              </a:defRPr>
            </a:pPr>
            <a:r>
              <a:t>+ INTRO_2P_TEMPLATE + CONCLUSION_2P_TEMPLATE</a:t>
            </a:r>
          </a:p>
          <a:p>
            <a:pPr>
              <a:spcBef>
                <a:spcPts val="300"/>
              </a:spcBef>
              <a:defRPr i="1" sz="1100">
                <a:solidFill>
                  <a:srgbClr val="9C8A7A"/>
                </a:solidFill>
              </a:defRPr>
            </a:pPr>
            <a:r>
              <a:t>(2P framings open &amp; close) + a first-person, music-attributed wrapper on every music slot</a:t>
            </a:r>
          </a:p>
        </p:txBody>
      </p:sp>
      <p:sp>
        <p:nvSpPr>
          <p:cNvPr id="60" name="Shape 8"/>
          <p:cNvSpPr/>
          <p:nvPr/>
        </p:nvSpPr>
        <p:spPr>
          <a:xfrm>
            <a:off x="6309359" y="1828800"/>
            <a:ext cx="5303521" cy="4297680"/>
          </a:xfrm>
          <a:prstGeom prst="rect">
            <a:avLst/>
          </a:prstGeom>
          <a:solidFill>
            <a:srgbClr val="1A1108"/>
          </a:solidFill>
          <a:ln w="1270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1" name="Shape 9"/>
          <p:cNvSpPr/>
          <p:nvPr/>
        </p:nvSpPr>
        <p:spPr>
          <a:xfrm>
            <a:off x="6309359" y="1828800"/>
            <a:ext cx="73153" cy="42976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2" name="Text 10"/>
          <p:cNvSpPr txBox="1"/>
          <p:nvPr/>
        </p:nvSpPr>
        <p:spPr>
          <a:xfrm>
            <a:off x="6537959" y="2081706"/>
            <a:ext cx="493776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400" sz="1100">
                <a:solidFill>
                  <a:srgbClr val="F59E0B"/>
                </a:solidFill>
              </a:defRPr>
            </a:lvl1pPr>
          </a:lstStyle>
          <a:p>
            <a:pPr/>
            <a:r>
              <a:t>HOW IT WORKS</a:t>
            </a:r>
          </a:p>
        </p:txBody>
      </p:sp>
      <p:sp>
        <p:nvSpPr>
          <p:cNvPr id="63" name="Shape 11"/>
          <p:cNvSpPr/>
          <p:nvPr/>
        </p:nvSpPr>
        <p:spPr>
          <a:xfrm>
            <a:off x="6537959" y="2468879"/>
            <a:ext cx="411481" cy="411481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4" name="Text 12"/>
          <p:cNvSpPr txBox="1"/>
          <p:nvPr/>
        </p:nvSpPr>
        <p:spPr>
          <a:xfrm>
            <a:off x="6537959" y="2553969"/>
            <a:ext cx="411481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600">
                <a:solidFill>
                  <a:srgbClr val="0E0A06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65" name="Text 13"/>
          <p:cNvSpPr txBox="1"/>
          <p:nvPr/>
        </p:nvSpPr>
        <p:spPr>
          <a:xfrm>
            <a:off x="7086600" y="2465069"/>
            <a:ext cx="4480560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FAF6F0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Onboarding Intake</a:t>
            </a:r>
          </a:p>
        </p:txBody>
      </p:sp>
      <p:sp>
        <p:nvSpPr>
          <p:cNvPr id="66" name="Text 14"/>
          <p:cNvSpPr txBox="1"/>
          <p:nvPr/>
        </p:nvSpPr>
        <p:spPr>
          <a:xfrm>
            <a:off x="7086600" y="2866434"/>
            <a:ext cx="4480560" cy="302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9C8A7A"/>
                </a:solidFill>
              </a:defRPr>
            </a:lvl1pPr>
          </a:lstStyle>
          <a:p>
            <a:pPr/>
            <a:r>
              <a:t>Identity, themes, voice-craft, touchstones, healing intent, instruments, output preferences, Music-Format (data-derived)</a:t>
            </a:r>
          </a:p>
        </p:txBody>
      </p:sp>
      <p:sp>
        <p:nvSpPr>
          <p:cNvPr id="67" name="Shape 15"/>
          <p:cNvSpPr/>
          <p:nvPr/>
        </p:nvSpPr>
        <p:spPr>
          <a:xfrm>
            <a:off x="6537959" y="3383279"/>
            <a:ext cx="411481" cy="411481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8" name="Text 16"/>
          <p:cNvSpPr txBox="1"/>
          <p:nvPr/>
        </p:nvSpPr>
        <p:spPr>
          <a:xfrm>
            <a:off x="6537959" y="3468369"/>
            <a:ext cx="411481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600">
                <a:solidFill>
                  <a:srgbClr val="0E0A06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69" name="Text 17"/>
          <p:cNvSpPr txBox="1"/>
          <p:nvPr/>
        </p:nvSpPr>
        <p:spPr>
          <a:xfrm>
            <a:off x="7086600" y="3379470"/>
            <a:ext cx="4480560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FAF6F0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Song-Kit Generation</a:t>
            </a:r>
          </a:p>
        </p:txBody>
      </p:sp>
      <p:sp>
        <p:nvSpPr>
          <p:cNvPr id="70" name="Text 18"/>
          <p:cNvSpPr txBox="1"/>
          <p:nvPr/>
        </p:nvSpPr>
        <p:spPr>
          <a:xfrm>
            <a:off x="7086600" y="3780834"/>
            <a:ext cx="4480560" cy="302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9C8A7A"/>
                </a:solidFill>
              </a:defRPr>
            </a:lvl1pPr>
          </a:lstStyle>
          <a:p>
            <a:pPr/>
            <a:r>
              <a:t>The Song-Kit generator drafts atoms from the intake; Pearl_Editor reviews and promotes (Tier 1)</a:t>
            </a:r>
          </a:p>
        </p:txBody>
      </p:sp>
      <p:sp>
        <p:nvSpPr>
          <p:cNvPr id="71" name="Shape 19"/>
          <p:cNvSpPr/>
          <p:nvPr/>
        </p:nvSpPr>
        <p:spPr>
          <a:xfrm>
            <a:off x="6537959" y="4297679"/>
            <a:ext cx="411481" cy="411481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2" name="Text 20"/>
          <p:cNvSpPr txBox="1"/>
          <p:nvPr/>
        </p:nvSpPr>
        <p:spPr>
          <a:xfrm>
            <a:off x="6537959" y="4382769"/>
            <a:ext cx="411481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600">
                <a:solidFill>
                  <a:srgbClr val="0E0A06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73" name="Text 21"/>
          <p:cNvSpPr txBox="1"/>
          <p:nvPr/>
        </p:nvSpPr>
        <p:spPr>
          <a:xfrm>
            <a:off x="7086600" y="4293870"/>
            <a:ext cx="4480560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FAF6F0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Book Assembly</a:t>
            </a:r>
          </a:p>
        </p:txBody>
      </p:sp>
      <p:sp>
        <p:nvSpPr>
          <p:cNvPr id="74" name="Text 22"/>
          <p:cNvSpPr txBox="1"/>
          <p:nvPr/>
        </p:nvSpPr>
        <p:spPr>
          <a:xfrm>
            <a:off x="7086600" y="4695234"/>
            <a:ext cx="4480560" cy="302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9C8A7A"/>
                </a:solidFill>
              </a:defRPr>
            </a:lvl1pPr>
          </a:lstStyle>
          <a:p>
            <a:pPr/>
            <a:r>
              <a:t>Atoms mix into chapters by deterministic rules; second-person prose addresses the reader; quality gates run before any book ships</a:t>
            </a:r>
          </a:p>
        </p:txBody>
      </p:sp>
      <p:sp>
        <p:nvSpPr>
          <p:cNvPr id="75" name="Shape 23"/>
          <p:cNvSpPr/>
          <p:nvPr/>
        </p:nvSpPr>
        <p:spPr>
          <a:xfrm>
            <a:off x="6537959" y="5212079"/>
            <a:ext cx="411481" cy="411481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6" name="Text 24"/>
          <p:cNvSpPr txBox="1"/>
          <p:nvPr/>
        </p:nvSpPr>
        <p:spPr>
          <a:xfrm>
            <a:off x="6537959" y="5297169"/>
            <a:ext cx="411481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600">
                <a:solidFill>
                  <a:srgbClr val="0E0A06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77" name="Text 25"/>
          <p:cNvSpPr txBox="1"/>
          <p:nvPr/>
        </p:nvSpPr>
        <p:spPr>
          <a:xfrm>
            <a:off x="7086600" y="5208270"/>
            <a:ext cx="4480560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FAF6F0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Companion Prompt (optional)</a:t>
            </a:r>
          </a:p>
        </p:txBody>
      </p:sp>
      <p:sp>
        <p:nvSpPr>
          <p:cNvPr id="78" name="Text 26"/>
          <p:cNvSpPr txBox="1"/>
          <p:nvPr/>
        </p:nvSpPr>
        <p:spPr>
          <a:xfrm>
            <a:off x="7086600" y="5609634"/>
            <a:ext cx="4480560" cy="302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9C8A7A"/>
                </a:solidFill>
              </a:defRPr>
            </a:lvl1pPr>
          </a:lstStyle>
          <a:p>
            <a:pPr/>
            <a:r>
              <a:t>An internal MusicGen mood-prompt per book for the brand-admin bundle — not a reader hand-out. Audio render is Phase-B-gated; your music is never distributed as a file.</a:t>
            </a:r>
          </a:p>
        </p:txBody>
      </p:sp>
      <p:sp>
        <p:nvSpPr>
          <p:cNvPr id="79" name="Shape 27"/>
          <p:cNvSpPr/>
          <p:nvPr/>
        </p:nvSpPr>
        <p:spPr>
          <a:xfrm>
            <a:off x="548639" y="6446520"/>
            <a:ext cx="11064242" cy="1"/>
          </a:xfrm>
          <a:prstGeom prst="line">
            <a:avLst/>
          </a:prstGeom>
          <a:ln w="12700">
            <a:solidFill>
              <a:srgbClr val="2A1F1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0" name="Text 28"/>
          <p:cNvSpPr txBox="1"/>
          <p:nvPr/>
        </p:nvSpPr>
        <p:spPr>
          <a:xfrm>
            <a:off x="548640" y="6584188"/>
            <a:ext cx="8229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9C8A7A"/>
                </a:solidFill>
              </a:defRPr>
            </a:lvl1pPr>
          </a:lstStyle>
          <a:p>
            <a:pPr/>
            <a:r>
              <a:t>Pearl Prime · Enlightened Intelligence Publishing · Music Mode V1 + V2</a:t>
            </a:r>
          </a:p>
        </p:txBody>
      </p:sp>
      <p:sp>
        <p:nvSpPr>
          <p:cNvPr id="81" name="Text 29"/>
          <p:cNvSpPr txBox="1"/>
          <p:nvPr/>
        </p:nvSpPr>
        <p:spPr>
          <a:xfrm>
            <a:off x="10515599" y="6584188"/>
            <a:ext cx="109728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9C8A7A"/>
                </a:solidFill>
              </a:defRPr>
            </a:lvl1pPr>
          </a:lstStyle>
          <a:p>
            <a:pPr/>
            <a:r>
              <a:t>3 / 15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E0A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ext 0"/>
          <p:cNvSpPr txBox="1"/>
          <p:nvPr/>
        </p:nvSpPr>
        <p:spPr>
          <a:xfrm>
            <a:off x="548640" y="481506"/>
            <a:ext cx="54864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600" sz="1100">
                <a:solidFill>
                  <a:srgbClr val="F59E0B"/>
                </a:solidFill>
              </a:defRPr>
            </a:lvl1pPr>
          </a:lstStyle>
          <a:p>
            <a:pPr/>
            <a:r>
              <a:t>THE SONG-KIT GENERATOR</a:t>
            </a:r>
          </a:p>
        </p:txBody>
      </p:sp>
      <p:sp>
        <p:nvSpPr>
          <p:cNvPr id="84" name="Shape 1"/>
          <p:cNvSpPr/>
          <p:nvPr/>
        </p:nvSpPr>
        <p:spPr>
          <a:xfrm>
            <a:off x="-1" y="-1"/>
            <a:ext cx="12161522" cy="7315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5" name="Text 2"/>
          <p:cNvSpPr txBox="1"/>
          <p:nvPr/>
        </p:nvSpPr>
        <p:spPr>
          <a:xfrm>
            <a:off x="548639" y="725169"/>
            <a:ext cx="11064242" cy="46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3200">
                <a:solidFill>
                  <a:srgbClr val="FAF6F0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The Song-Kit Generator</a:t>
            </a:r>
          </a:p>
        </p:txBody>
      </p:sp>
      <p:sp>
        <p:nvSpPr>
          <p:cNvPr id="86" name="Text 3"/>
          <p:cNvSpPr txBox="1"/>
          <p:nvPr/>
        </p:nvSpPr>
        <p:spPr>
          <a:xfrm>
            <a:off x="548639" y="1368360"/>
            <a:ext cx="11064242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400">
                <a:solidFill>
                  <a:srgbClr val="F59E0B"/>
                </a:solidFill>
              </a:defRPr>
            </a:lvl1pPr>
          </a:lstStyle>
          <a:p>
            <a:pPr/>
            <a:r>
              <a:t>How a completed intake becomes a musician's first kit of draft atoms — lyrical or instrumental.</a:t>
            </a:r>
          </a:p>
        </p:txBody>
      </p:sp>
      <p:sp>
        <p:nvSpPr>
          <p:cNvPr id="87" name="Shape 4"/>
          <p:cNvSpPr/>
          <p:nvPr/>
        </p:nvSpPr>
        <p:spPr>
          <a:xfrm>
            <a:off x="548640" y="1828800"/>
            <a:ext cx="5486401" cy="1188720"/>
          </a:xfrm>
          <a:prstGeom prst="rect">
            <a:avLst/>
          </a:prstGeom>
          <a:solidFill>
            <a:srgbClr val="2A1F17"/>
          </a:solidFill>
          <a:ln w="1270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8" name="Shape 5"/>
          <p:cNvSpPr/>
          <p:nvPr/>
        </p:nvSpPr>
        <p:spPr>
          <a:xfrm>
            <a:off x="685800" y="2148839"/>
            <a:ext cx="502921" cy="502921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9" name="Text 6"/>
          <p:cNvSpPr txBox="1"/>
          <p:nvPr/>
        </p:nvSpPr>
        <p:spPr>
          <a:xfrm>
            <a:off x="685800" y="2254249"/>
            <a:ext cx="502920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2000">
                <a:solidFill>
                  <a:srgbClr val="0E0A06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90" name="Text 7"/>
          <p:cNvSpPr txBox="1"/>
          <p:nvPr/>
        </p:nvSpPr>
        <p:spPr>
          <a:xfrm>
            <a:off x="1325880" y="2059939"/>
            <a:ext cx="457200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FAF6F0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Intake</a:t>
            </a:r>
          </a:p>
        </p:txBody>
      </p:sp>
      <p:sp>
        <p:nvSpPr>
          <p:cNvPr id="91" name="Text 8"/>
          <p:cNvSpPr txBox="1"/>
          <p:nvPr/>
        </p:nvSpPr>
        <p:spPr>
          <a:xfrm>
            <a:off x="1325880" y="2500674"/>
            <a:ext cx="4572001" cy="302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9C8A7A"/>
                </a:solidFill>
              </a:defRPr>
            </a:lvl1pPr>
          </a:lstStyle>
          <a:p>
            <a:pPr/>
            <a:r>
              <a:t>The musician completes the Music Reflections Intake: themes, voice-craft, touchstones, healing intent, instruments, output preferences.</a:t>
            </a:r>
          </a:p>
        </p:txBody>
      </p:sp>
      <p:sp>
        <p:nvSpPr>
          <p:cNvPr id="92" name="Shape 9"/>
          <p:cNvSpPr/>
          <p:nvPr/>
        </p:nvSpPr>
        <p:spPr>
          <a:xfrm>
            <a:off x="6217920" y="1828800"/>
            <a:ext cx="5486401" cy="1188720"/>
          </a:xfrm>
          <a:prstGeom prst="rect">
            <a:avLst/>
          </a:prstGeom>
          <a:solidFill>
            <a:srgbClr val="2A1F17"/>
          </a:solidFill>
          <a:ln w="1270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3" name="Shape 10"/>
          <p:cNvSpPr/>
          <p:nvPr/>
        </p:nvSpPr>
        <p:spPr>
          <a:xfrm>
            <a:off x="6355079" y="2148839"/>
            <a:ext cx="502921" cy="502921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4" name="Text 11"/>
          <p:cNvSpPr txBox="1"/>
          <p:nvPr/>
        </p:nvSpPr>
        <p:spPr>
          <a:xfrm>
            <a:off x="6355079" y="2254249"/>
            <a:ext cx="502920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2000">
                <a:solidFill>
                  <a:srgbClr val="0E0A06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95" name="Text 12"/>
          <p:cNvSpPr txBox="1"/>
          <p:nvPr/>
        </p:nvSpPr>
        <p:spPr>
          <a:xfrm>
            <a:off x="6995159" y="2059939"/>
            <a:ext cx="457200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FAF6F0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Derive Profile</a:t>
            </a:r>
          </a:p>
        </p:txBody>
      </p:sp>
      <p:sp>
        <p:nvSpPr>
          <p:cNvPr id="96" name="Text 13"/>
          <p:cNvSpPr txBox="1"/>
          <p:nvPr/>
        </p:nvSpPr>
        <p:spPr>
          <a:xfrm>
            <a:off x="6995159" y="2500674"/>
            <a:ext cx="4572001" cy="302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9C8A7A"/>
                </a:solidFill>
              </a:defRPr>
            </a:lvl1pPr>
          </a:lstStyle>
          <a:p>
            <a:pPr/>
            <a:r>
              <a:t>survey_derivation.py turns the intake into profile, themes, and voice_profile — the generator's conditioning context.</a:t>
            </a:r>
          </a:p>
        </p:txBody>
      </p:sp>
      <p:sp>
        <p:nvSpPr>
          <p:cNvPr id="97" name="Shape 14"/>
          <p:cNvSpPr/>
          <p:nvPr/>
        </p:nvSpPr>
        <p:spPr>
          <a:xfrm>
            <a:off x="548640" y="3154679"/>
            <a:ext cx="5486401" cy="1188721"/>
          </a:xfrm>
          <a:prstGeom prst="rect">
            <a:avLst/>
          </a:prstGeom>
          <a:solidFill>
            <a:srgbClr val="2A1F17"/>
          </a:solidFill>
          <a:ln w="1270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8" name="Shape 15"/>
          <p:cNvSpPr/>
          <p:nvPr/>
        </p:nvSpPr>
        <p:spPr>
          <a:xfrm>
            <a:off x="685800" y="3474720"/>
            <a:ext cx="502921" cy="502921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9" name="Text 16"/>
          <p:cNvSpPr txBox="1"/>
          <p:nvPr/>
        </p:nvSpPr>
        <p:spPr>
          <a:xfrm>
            <a:off x="685800" y="3580129"/>
            <a:ext cx="502920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2000">
                <a:solidFill>
                  <a:srgbClr val="0E0A06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100" name="Text 17"/>
          <p:cNvSpPr txBox="1"/>
          <p:nvPr/>
        </p:nvSpPr>
        <p:spPr>
          <a:xfrm>
            <a:off x="1325880" y="3385820"/>
            <a:ext cx="457200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FAF6F0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Match Topic Family</a:t>
            </a:r>
          </a:p>
        </p:txBody>
      </p:sp>
      <p:sp>
        <p:nvSpPr>
          <p:cNvPr id="101" name="Text 18"/>
          <p:cNvSpPr txBox="1"/>
          <p:nvPr/>
        </p:nvSpPr>
        <p:spPr>
          <a:xfrm>
            <a:off x="1325880" y="3826554"/>
            <a:ext cx="4572001" cy="302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9C8A7A"/>
                </a:solidFill>
              </a:defRPr>
            </a:lvl1pPr>
          </a:lstStyle>
          <a:p>
            <a:pPr/>
            <a:r>
              <a:t>Surveyed themes map onto one or more of the 8 families; each supplies a lyric register and an instrumental mood hint.</a:t>
            </a:r>
          </a:p>
        </p:txBody>
      </p:sp>
      <p:sp>
        <p:nvSpPr>
          <p:cNvPr id="102" name="Shape 19"/>
          <p:cNvSpPr/>
          <p:nvPr/>
        </p:nvSpPr>
        <p:spPr>
          <a:xfrm>
            <a:off x="6217920" y="3154679"/>
            <a:ext cx="5486401" cy="1188721"/>
          </a:xfrm>
          <a:prstGeom prst="rect">
            <a:avLst/>
          </a:prstGeom>
          <a:solidFill>
            <a:srgbClr val="2A1F17"/>
          </a:solidFill>
          <a:ln w="1270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3" name="Shape 20"/>
          <p:cNvSpPr/>
          <p:nvPr/>
        </p:nvSpPr>
        <p:spPr>
          <a:xfrm>
            <a:off x="6355079" y="3474720"/>
            <a:ext cx="502921" cy="502921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4" name="Text 21"/>
          <p:cNvSpPr txBox="1"/>
          <p:nvPr/>
        </p:nvSpPr>
        <p:spPr>
          <a:xfrm>
            <a:off x="6355079" y="3580129"/>
            <a:ext cx="502920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2000">
                <a:solidFill>
                  <a:srgbClr val="0E0A06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105" name="Text 22"/>
          <p:cNvSpPr txBox="1"/>
          <p:nvPr/>
        </p:nvSpPr>
        <p:spPr>
          <a:xfrm>
            <a:off x="6995159" y="3385820"/>
            <a:ext cx="457200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FAF6F0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Mix: Lyrical + Instrumental</a:t>
            </a:r>
          </a:p>
        </p:txBody>
      </p:sp>
      <p:sp>
        <p:nvSpPr>
          <p:cNvPr id="106" name="Text 23"/>
          <p:cNvSpPr txBox="1"/>
          <p:nvPr/>
        </p:nvSpPr>
        <p:spPr>
          <a:xfrm>
            <a:off x="6995159" y="3826554"/>
            <a:ext cx="4572001" cy="302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9C8A7A"/>
                </a:solidFill>
              </a:defRPr>
            </a:lvl1pPr>
          </a:lstStyle>
          <a:p>
            <a:pPr/>
            <a:r>
              <a:t>Your data sets the proportion — both coexist in one catalog. With-lyrics → lyric atoms (Pearl_Writer); no-lyrics → MusicGen mood-instruction text. No audio rendered in V1.</a:t>
            </a:r>
          </a:p>
        </p:txBody>
      </p:sp>
      <p:sp>
        <p:nvSpPr>
          <p:cNvPr id="107" name="Shape 24"/>
          <p:cNvSpPr/>
          <p:nvPr/>
        </p:nvSpPr>
        <p:spPr>
          <a:xfrm>
            <a:off x="548640" y="4480559"/>
            <a:ext cx="5486401" cy="1188721"/>
          </a:xfrm>
          <a:prstGeom prst="rect">
            <a:avLst/>
          </a:prstGeom>
          <a:solidFill>
            <a:srgbClr val="2A1F17"/>
          </a:solidFill>
          <a:ln w="1270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8" name="Shape 25"/>
          <p:cNvSpPr/>
          <p:nvPr/>
        </p:nvSpPr>
        <p:spPr>
          <a:xfrm>
            <a:off x="685800" y="4800600"/>
            <a:ext cx="502921" cy="502921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9" name="Text 26"/>
          <p:cNvSpPr txBox="1"/>
          <p:nvPr/>
        </p:nvSpPr>
        <p:spPr>
          <a:xfrm>
            <a:off x="685800" y="4906009"/>
            <a:ext cx="502920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2000">
                <a:solidFill>
                  <a:srgbClr val="0E0A06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110" name="Text 27"/>
          <p:cNvSpPr txBox="1"/>
          <p:nvPr/>
        </p:nvSpPr>
        <p:spPr>
          <a:xfrm>
            <a:off x="1325880" y="4711699"/>
            <a:ext cx="457200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FAF6F0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Draft 3+ Variants per Pool</a:t>
            </a:r>
          </a:p>
        </p:txBody>
      </p:sp>
      <p:sp>
        <p:nvSpPr>
          <p:cNvPr id="111" name="Text 28"/>
          <p:cNvSpPr txBox="1"/>
          <p:nvPr/>
        </p:nvSpPr>
        <p:spPr>
          <a:xfrm>
            <a:off x="1325880" y="5152434"/>
            <a:ext cx="4572001" cy="302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9C8A7A"/>
                </a:solidFill>
              </a:defRPr>
            </a:lvl1pPr>
          </a:lstStyle>
          <a:p>
            <a:pPr/>
            <a:r>
              <a:t>Atoms are drafted into the 6 existing slot pools; a cell is complete at the SPEC-739 floor of three or more variants per pool.</a:t>
            </a:r>
          </a:p>
        </p:txBody>
      </p:sp>
      <p:sp>
        <p:nvSpPr>
          <p:cNvPr id="112" name="Shape 29"/>
          <p:cNvSpPr/>
          <p:nvPr/>
        </p:nvSpPr>
        <p:spPr>
          <a:xfrm>
            <a:off x="6217920" y="4480559"/>
            <a:ext cx="5486401" cy="1188721"/>
          </a:xfrm>
          <a:prstGeom prst="rect">
            <a:avLst/>
          </a:prstGeom>
          <a:solidFill>
            <a:srgbClr val="2A1F17"/>
          </a:solidFill>
          <a:ln w="1270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3" name="Shape 30"/>
          <p:cNvSpPr/>
          <p:nvPr/>
        </p:nvSpPr>
        <p:spPr>
          <a:xfrm>
            <a:off x="6355079" y="4800600"/>
            <a:ext cx="502921" cy="502921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4" name="Text 31"/>
          <p:cNvSpPr txBox="1"/>
          <p:nvPr/>
        </p:nvSpPr>
        <p:spPr>
          <a:xfrm>
            <a:off x="6355079" y="4906009"/>
            <a:ext cx="502920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2000">
                <a:solidFill>
                  <a:srgbClr val="0E0A06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115" name="Text 32"/>
          <p:cNvSpPr txBox="1"/>
          <p:nvPr/>
        </p:nvSpPr>
        <p:spPr>
          <a:xfrm>
            <a:off x="6995159" y="4711700"/>
            <a:ext cx="457200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FAF6F0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EI Review → Active</a:t>
            </a:r>
          </a:p>
        </p:txBody>
      </p:sp>
      <p:sp>
        <p:nvSpPr>
          <p:cNvPr id="116" name="Text 33"/>
          <p:cNvSpPr txBox="1"/>
          <p:nvPr/>
        </p:nvSpPr>
        <p:spPr>
          <a:xfrm>
            <a:off x="6995159" y="5152434"/>
            <a:ext cx="4572001" cy="302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9C8A7A"/>
                </a:solidFill>
              </a:defRPr>
            </a:lvl1pPr>
          </a:lstStyle>
          <a:p>
            <a:pPr/>
            <a:r>
              <a:t>Pearl_Editor reviews and promotes (Tier 1); the G1–G8 diversity gates + the music-attribution/voice lint run; injection unchanged.</a:t>
            </a:r>
          </a:p>
        </p:txBody>
      </p:sp>
      <p:sp>
        <p:nvSpPr>
          <p:cNvPr id="117" name="Shape 34"/>
          <p:cNvSpPr/>
          <p:nvPr/>
        </p:nvSpPr>
        <p:spPr>
          <a:xfrm>
            <a:off x="548639" y="5897879"/>
            <a:ext cx="11064242" cy="365761"/>
          </a:xfrm>
          <a:prstGeom prst="rect">
            <a:avLst/>
          </a:prstGeom>
          <a:solidFill>
            <a:srgbClr val="0E0A06"/>
          </a:solidFill>
          <a:ln w="1270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8" name="Text 35"/>
          <p:cNvSpPr txBox="1"/>
          <p:nvPr/>
        </p:nvSpPr>
        <p:spPr>
          <a:xfrm>
            <a:off x="548639" y="6012224"/>
            <a:ext cx="11064242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i="1" sz="1000">
                <a:solidFill>
                  <a:srgbClr val="F59E0B"/>
                </a:solidFill>
              </a:defRPr>
            </a:lvl1pPr>
          </a:lstStyle>
          <a:p>
            <a:pPr/>
            <a:r>
              <a:t>YouTube → freebie bridge (spec): a song's video routes through an email gate to an existing m1–m5 freebie — acquisition wiring; live upload deferred.</a:t>
            </a:r>
          </a:p>
        </p:txBody>
      </p:sp>
      <p:sp>
        <p:nvSpPr>
          <p:cNvPr id="119" name="Shape 36"/>
          <p:cNvSpPr/>
          <p:nvPr/>
        </p:nvSpPr>
        <p:spPr>
          <a:xfrm>
            <a:off x="548639" y="6446520"/>
            <a:ext cx="11064242" cy="1"/>
          </a:xfrm>
          <a:prstGeom prst="line">
            <a:avLst/>
          </a:prstGeom>
          <a:ln w="12700">
            <a:solidFill>
              <a:srgbClr val="2A1F1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0" name="Text 37"/>
          <p:cNvSpPr txBox="1"/>
          <p:nvPr/>
        </p:nvSpPr>
        <p:spPr>
          <a:xfrm>
            <a:off x="548640" y="6584188"/>
            <a:ext cx="8229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9C8A7A"/>
                </a:solidFill>
              </a:defRPr>
            </a:lvl1pPr>
          </a:lstStyle>
          <a:p>
            <a:pPr/>
            <a:r>
              <a:t>Pearl Prime · Enlightened Intelligence Publishing · Music Mode V1 + V2</a:t>
            </a:r>
          </a:p>
        </p:txBody>
      </p:sp>
      <p:sp>
        <p:nvSpPr>
          <p:cNvPr id="121" name="Text 38"/>
          <p:cNvSpPr txBox="1"/>
          <p:nvPr/>
        </p:nvSpPr>
        <p:spPr>
          <a:xfrm>
            <a:off x="10515600" y="6584188"/>
            <a:ext cx="10972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9C8A7A"/>
                </a:solidFill>
              </a:defRPr>
            </a:lvl1pPr>
          </a:lstStyle>
          <a:p>
            <a:pPr/>
            <a:r>
              <a:t>4 / 15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E0A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Text 0"/>
          <p:cNvSpPr txBox="1"/>
          <p:nvPr/>
        </p:nvSpPr>
        <p:spPr>
          <a:xfrm>
            <a:off x="548640" y="481506"/>
            <a:ext cx="54864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600" sz="1100">
                <a:solidFill>
                  <a:srgbClr val="F59E0B"/>
                </a:solidFill>
              </a:defRPr>
            </a:lvl1pPr>
          </a:lstStyle>
          <a:p>
            <a:pPr/>
            <a:r>
              <a:t>TOPIC FAMILIES</a:t>
            </a:r>
          </a:p>
        </p:txBody>
      </p:sp>
      <p:sp>
        <p:nvSpPr>
          <p:cNvPr id="124" name="Shape 1"/>
          <p:cNvSpPr/>
          <p:nvPr/>
        </p:nvSpPr>
        <p:spPr>
          <a:xfrm>
            <a:off x="-1" y="-1"/>
            <a:ext cx="12161522" cy="7315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5" name="Text 2"/>
          <p:cNvSpPr txBox="1"/>
          <p:nvPr/>
        </p:nvSpPr>
        <p:spPr>
          <a:xfrm>
            <a:off x="548639" y="725170"/>
            <a:ext cx="11064242" cy="46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3200">
                <a:solidFill>
                  <a:srgbClr val="FAF6F0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Eight Topic Families</a:t>
            </a:r>
          </a:p>
        </p:txBody>
      </p:sp>
      <p:sp>
        <p:nvSpPr>
          <p:cNvPr id="126" name="Shape 3"/>
          <p:cNvSpPr/>
          <p:nvPr/>
        </p:nvSpPr>
        <p:spPr>
          <a:xfrm>
            <a:off x="548639" y="1783079"/>
            <a:ext cx="5532122" cy="4434841"/>
          </a:xfrm>
          <a:prstGeom prst="rect">
            <a:avLst/>
          </a:prstGeom>
          <a:solidFill>
            <a:srgbClr val="2A1F17"/>
          </a:solidFill>
          <a:ln w="1270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7" name="Shape 4"/>
          <p:cNvSpPr/>
          <p:nvPr/>
        </p:nvSpPr>
        <p:spPr>
          <a:xfrm>
            <a:off x="548639" y="1783079"/>
            <a:ext cx="5532122" cy="73153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8" name="Text 5"/>
          <p:cNvSpPr txBox="1"/>
          <p:nvPr/>
        </p:nvSpPr>
        <p:spPr>
          <a:xfrm>
            <a:off x="777239" y="2058846"/>
            <a:ext cx="5120642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500" sz="1100">
                <a:solidFill>
                  <a:srgbClr val="F59E0B"/>
                </a:solidFill>
              </a:defRPr>
            </a:lvl1pPr>
          </a:lstStyle>
          <a:p>
            <a:pPr/>
            <a:r>
              <a:t>MOVING THROUGH</a:t>
            </a:r>
          </a:p>
        </p:txBody>
      </p:sp>
      <p:sp>
        <p:nvSpPr>
          <p:cNvPr id="129" name="Text 6"/>
          <p:cNvSpPr txBox="1"/>
          <p:nvPr/>
        </p:nvSpPr>
        <p:spPr>
          <a:xfrm>
            <a:off x="777239" y="2350769"/>
            <a:ext cx="5120642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800">
                <a:solidFill>
                  <a:srgbClr val="FAF6F0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Hard Seasons</a:t>
            </a:r>
          </a:p>
        </p:txBody>
      </p:sp>
      <p:sp>
        <p:nvSpPr>
          <p:cNvPr id="130" name="Text 7"/>
          <p:cNvSpPr txBox="1"/>
          <p:nvPr/>
        </p:nvSpPr>
        <p:spPr>
          <a:xfrm>
            <a:off x="777239" y="3278177"/>
            <a:ext cx="5120642" cy="347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200">
                <a:solidFill>
                  <a:srgbClr val="9C8A7A"/>
                </a:solidFill>
              </a:defRPr>
            </a:lvl1pPr>
          </a:lstStyle>
          <a:p>
            <a:pPr/>
            <a:r>
              <a:t>Music for moving through the heaviest stretches. A musician's surveyed themes route here first.</a:t>
            </a:r>
          </a:p>
        </p:txBody>
      </p:sp>
      <p:sp>
        <p:nvSpPr>
          <p:cNvPr id="131" name="Text 8"/>
          <p:cNvSpPr txBox="1"/>
          <p:nvPr/>
        </p:nvSpPr>
        <p:spPr>
          <a:xfrm>
            <a:off x="777239" y="4729655"/>
            <a:ext cx="5120642" cy="7819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marL="342900" indent="-342900">
              <a:spcBef>
                <a:spcPts val="400"/>
              </a:spcBef>
              <a:buSzPct val="100000"/>
              <a:buFont typeface="Calibri"/>
              <a:buChar char="✦"/>
              <a:defRPr sz="1100">
                <a:solidFill>
                  <a:srgbClr val="FAF6F0"/>
                </a:solidFill>
              </a:defRPr>
            </a:pPr>
            <a:r>
              <a:t>Recovery &amp; Repair — rebuilding after depletion</a:t>
            </a:r>
          </a:p>
          <a:p>
            <a:pPr marL="342900" indent="-342900">
              <a:spcBef>
                <a:spcPts val="400"/>
              </a:spcBef>
              <a:buSzPct val="100000"/>
              <a:buFont typeface="Calibri"/>
              <a:buChar char="✦"/>
              <a:defRPr sz="1100">
                <a:solidFill>
                  <a:srgbClr val="FAF6F0"/>
                </a:solidFill>
              </a:defRPr>
            </a:pPr>
            <a:r>
              <a:t>Anxiety &amp; Overwhelm — a steadier rhythm for the racing mind</a:t>
            </a:r>
          </a:p>
          <a:p>
            <a:pPr marL="342900" indent="-342900">
              <a:spcBef>
                <a:spcPts val="400"/>
              </a:spcBef>
              <a:buSzPct val="100000"/>
              <a:buFont typeface="Calibri"/>
              <a:buChar char="✦"/>
              <a:defRPr sz="1100">
                <a:solidFill>
                  <a:srgbClr val="FAF6F0"/>
                </a:solidFill>
              </a:defRPr>
            </a:pPr>
            <a:r>
              <a:t>Grief &amp; Letting Go — carrying what is gone, gently</a:t>
            </a:r>
          </a:p>
          <a:p>
            <a:pPr marL="342900" indent="-342900">
              <a:spcBef>
                <a:spcPts val="400"/>
              </a:spcBef>
              <a:buSzPct val="100000"/>
              <a:buFont typeface="Calibri"/>
              <a:buChar char="✦"/>
              <a:defRPr sz="1100">
                <a:solidFill>
                  <a:srgbClr val="FAF6F0"/>
                </a:solidFill>
              </a:defRPr>
            </a:pPr>
            <a:r>
              <a:t>Self-Worth &amp; Shame — unlearning the inner verdict</a:t>
            </a:r>
          </a:p>
        </p:txBody>
      </p:sp>
      <p:sp>
        <p:nvSpPr>
          <p:cNvPr id="132" name="Shape 9"/>
          <p:cNvSpPr/>
          <p:nvPr/>
        </p:nvSpPr>
        <p:spPr>
          <a:xfrm>
            <a:off x="6263640" y="1783079"/>
            <a:ext cx="5532121" cy="4434841"/>
          </a:xfrm>
          <a:prstGeom prst="rect">
            <a:avLst/>
          </a:prstGeom>
          <a:solidFill>
            <a:srgbClr val="2A1F17"/>
          </a:solidFill>
          <a:ln w="1270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3" name="Shape 10"/>
          <p:cNvSpPr/>
          <p:nvPr/>
        </p:nvSpPr>
        <p:spPr>
          <a:xfrm>
            <a:off x="6263640" y="1783079"/>
            <a:ext cx="5532121" cy="73153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4" name="Text 11"/>
          <p:cNvSpPr txBox="1"/>
          <p:nvPr/>
        </p:nvSpPr>
        <p:spPr>
          <a:xfrm>
            <a:off x="6492240" y="2058846"/>
            <a:ext cx="512064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500" sz="1100">
                <a:solidFill>
                  <a:srgbClr val="F59E0B"/>
                </a:solidFill>
              </a:defRPr>
            </a:lvl1pPr>
          </a:lstStyle>
          <a:p>
            <a:pPr/>
            <a:r>
              <a:t>FINDING GROUND</a:t>
            </a:r>
          </a:p>
        </p:txBody>
      </p:sp>
      <p:sp>
        <p:nvSpPr>
          <p:cNvPr id="135" name="Text 12"/>
          <p:cNvSpPr txBox="1"/>
          <p:nvPr/>
        </p:nvSpPr>
        <p:spPr>
          <a:xfrm>
            <a:off x="6492240" y="2350769"/>
            <a:ext cx="5120641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800">
                <a:solidFill>
                  <a:srgbClr val="FAF6F0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Return &amp; Hope</a:t>
            </a:r>
          </a:p>
        </p:txBody>
      </p:sp>
      <p:sp>
        <p:nvSpPr>
          <p:cNvPr id="136" name="Text 13"/>
          <p:cNvSpPr txBox="1"/>
          <p:nvPr/>
        </p:nvSpPr>
        <p:spPr>
          <a:xfrm>
            <a:off x="6492240" y="3278177"/>
            <a:ext cx="5120641" cy="347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200">
                <a:solidFill>
                  <a:srgbClr val="9C8A7A"/>
                </a:solidFill>
              </a:defRPr>
            </a:lvl1pPr>
          </a:lstStyle>
          <a:p>
            <a:pPr/>
            <a:r>
              <a:t>Music for finding ground and coming back. The same eight families route every musician.</a:t>
            </a:r>
          </a:p>
        </p:txBody>
      </p:sp>
      <p:sp>
        <p:nvSpPr>
          <p:cNvPr id="137" name="Text 14"/>
          <p:cNvSpPr txBox="1"/>
          <p:nvPr/>
        </p:nvSpPr>
        <p:spPr>
          <a:xfrm>
            <a:off x="6492240" y="4729655"/>
            <a:ext cx="5120641" cy="7819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marL="342900" indent="-342900">
              <a:spcBef>
                <a:spcPts val="400"/>
              </a:spcBef>
              <a:buSzPct val="100000"/>
              <a:buFont typeface="Calibri"/>
              <a:buChar char="✦"/>
              <a:defRPr sz="1100">
                <a:solidFill>
                  <a:srgbClr val="FAF6F0"/>
                </a:solidFill>
              </a:defRPr>
            </a:pPr>
            <a:r>
              <a:t>Quiet Courage — small brave acts; boundaries as self-respect</a:t>
            </a:r>
          </a:p>
          <a:p>
            <a:pPr marL="342900" indent="-342900">
              <a:spcBef>
                <a:spcPts val="400"/>
              </a:spcBef>
              <a:buSzPct val="100000"/>
              <a:buFont typeface="Calibri"/>
              <a:buChar char="✦"/>
              <a:defRPr sz="1100">
                <a:solidFill>
                  <a:srgbClr val="FAF6F0"/>
                </a:solidFill>
              </a:defRPr>
            </a:pPr>
            <a:r>
              <a:t>Presence &amp; Stillness — returning to the body, one breath</a:t>
            </a:r>
          </a:p>
          <a:p>
            <a:pPr marL="342900" indent="-342900">
              <a:spcBef>
                <a:spcPts val="400"/>
              </a:spcBef>
              <a:buSzPct val="100000"/>
              <a:buFont typeface="Calibri"/>
              <a:buChar char="✦"/>
              <a:defRPr sz="1100">
                <a:solidFill>
                  <a:srgbClr val="FAF6F0"/>
                </a:solidFill>
              </a:defRPr>
            </a:pPr>
            <a:r>
              <a:t>Connection &amp; Belonging — the courage to be known</a:t>
            </a:r>
          </a:p>
          <a:p>
            <a:pPr marL="342900" indent="-342900">
              <a:spcBef>
                <a:spcPts val="400"/>
              </a:spcBef>
              <a:buSzPct val="100000"/>
              <a:buFont typeface="Calibri"/>
              <a:buChar char="✦"/>
              <a:defRPr sz="1100">
                <a:solidFill>
                  <a:srgbClr val="FAF6F0"/>
                </a:solidFill>
              </a:defRPr>
            </a:pPr>
            <a:r>
              <a:t>Hope &amp; Renewal — first light after a long dark</a:t>
            </a:r>
          </a:p>
        </p:txBody>
      </p:sp>
      <p:sp>
        <p:nvSpPr>
          <p:cNvPr id="138" name="Shape 15"/>
          <p:cNvSpPr/>
          <p:nvPr/>
        </p:nvSpPr>
        <p:spPr>
          <a:xfrm>
            <a:off x="548639" y="6446520"/>
            <a:ext cx="11064242" cy="1"/>
          </a:xfrm>
          <a:prstGeom prst="line">
            <a:avLst/>
          </a:prstGeom>
          <a:ln w="12700">
            <a:solidFill>
              <a:srgbClr val="2A1F1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9" name="Text 16"/>
          <p:cNvSpPr txBox="1"/>
          <p:nvPr/>
        </p:nvSpPr>
        <p:spPr>
          <a:xfrm>
            <a:off x="548640" y="6584188"/>
            <a:ext cx="8229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9C8A7A"/>
                </a:solidFill>
              </a:defRPr>
            </a:lvl1pPr>
          </a:lstStyle>
          <a:p>
            <a:pPr/>
            <a:r>
              <a:t>Pearl Prime · Enlightened Intelligence Publishing · Music Mode V1 + V2</a:t>
            </a:r>
          </a:p>
        </p:txBody>
      </p:sp>
      <p:sp>
        <p:nvSpPr>
          <p:cNvPr id="140" name="Text 17"/>
          <p:cNvSpPr txBox="1"/>
          <p:nvPr/>
        </p:nvSpPr>
        <p:spPr>
          <a:xfrm>
            <a:off x="10515599" y="6584188"/>
            <a:ext cx="109728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9C8A7A"/>
                </a:solidFill>
              </a:defRPr>
            </a:lvl1pPr>
          </a:lstStyle>
          <a:p>
            <a:pPr/>
            <a:r>
              <a:t>5 / 15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E0A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Text 0"/>
          <p:cNvSpPr txBox="1"/>
          <p:nvPr/>
        </p:nvSpPr>
        <p:spPr>
          <a:xfrm>
            <a:off x="548640" y="481506"/>
            <a:ext cx="54864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600" sz="1100">
                <a:solidFill>
                  <a:srgbClr val="F59E0B"/>
                </a:solidFill>
              </a:defRPr>
            </a:lvl1pPr>
          </a:lstStyle>
          <a:p>
            <a:pPr/>
            <a:r>
              <a:t>THE REFERENCE KIT</a:t>
            </a:r>
          </a:p>
        </p:txBody>
      </p:sp>
      <p:sp>
        <p:nvSpPr>
          <p:cNvPr id="143" name="Shape 1"/>
          <p:cNvSpPr/>
          <p:nvPr/>
        </p:nvSpPr>
        <p:spPr>
          <a:xfrm>
            <a:off x="-1" y="-1"/>
            <a:ext cx="12161522" cy="7315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44" name="Text 2"/>
          <p:cNvSpPr txBox="1"/>
          <p:nvPr/>
        </p:nvSpPr>
        <p:spPr>
          <a:xfrm>
            <a:off x="548639" y="725170"/>
            <a:ext cx="11064242" cy="46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3200">
                <a:solidFill>
                  <a:srgbClr val="FAF6F0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Ahjan — The Reference Kit</a:t>
            </a:r>
          </a:p>
        </p:txBody>
      </p:sp>
      <p:sp>
        <p:nvSpPr>
          <p:cNvPr id="145" name="Shape 3"/>
          <p:cNvSpPr/>
          <p:nvPr/>
        </p:nvSpPr>
        <p:spPr>
          <a:xfrm>
            <a:off x="548639" y="1783079"/>
            <a:ext cx="5532122" cy="4434841"/>
          </a:xfrm>
          <a:prstGeom prst="rect">
            <a:avLst/>
          </a:prstGeom>
          <a:solidFill>
            <a:srgbClr val="2A1F17"/>
          </a:solidFill>
          <a:ln w="1270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46" name="Shape 4"/>
          <p:cNvSpPr/>
          <p:nvPr/>
        </p:nvSpPr>
        <p:spPr>
          <a:xfrm>
            <a:off x="548639" y="1783079"/>
            <a:ext cx="5532122" cy="73153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47" name="Text 5"/>
          <p:cNvSpPr txBox="1"/>
          <p:nvPr/>
        </p:nvSpPr>
        <p:spPr>
          <a:xfrm>
            <a:off x="777239" y="2058846"/>
            <a:ext cx="5120642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500" sz="1100">
                <a:solidFill>
                  <a:srgbClr val="F59E0B"/>
                </a:solidFill>
              </a:defRPr>
            </a:lvl1pPr>
          </a:lstStyle>
          <a:p>
            <a:pPr/>
            <a:r>
              <a:t>WHAT IT IS</a:t>
            </a:r>
          </a:p>
        </p:txBody>
      </p:sp>
      <p:sp>
        <p:nvSpPr>
          <p:cNvPr id="148" name="Text 6"/>
          <p:cNvSpPr txBox="1"/>
          <p:nvPr/>
        </p:nvSpPr>
        <p:spPr>
          <a:xfrm>
            <a:off x="777239" y="2350769"/>
            <a:ext cx="5120642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800">
                <a:solidFill>
                  <a:srgbClr val="FAF6F0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The Zeroth Kit</a:t>
            </a:r>
          </a:p>
        </p:txBody>
      </p:sp>
      <p:sp>
        <p:nvSpPr>
          <p:cNvPr id="149" name="Text 7"/>
          <p:cNvSpPr txBox="1"/>
          <p:nvPr/>
        </p:nvSpPr>
        <p:spPr>
          <a:xfrm>
            <a:off x="777239" y="3278177"/>
            <a:ext cx="5120642" cy="347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200">
                <a:solidFill>
                  <a:srgbClr val="9C8A7A"/>
                </a:solidFill>
              </a:defRPr>
            </a:lvl1pPr>
          </a:lstStyle>
          <a:p>
            <a:pPr/>
            <a:r>
              <a:t>The gold-standard exemplar every future musician kit is measured against. Brand id: ahjan_music.</a:t>
            </a:r>
          </a:p>
        </p:txBody>
      </p:sp>
      <p:sp>
        <p:nvSpPr>
          <p:cNvPr id="150" name="Text 8"/>
          <p:cNvSpPr txBox="1"/>
          <p:nvPr/>
        </p:nvSpPr>
        <p:spPr>
          <a:xfrm>
            <a:off x="777239" y="4729655"/>
            <a:ext cx="5120642" cy="7819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marL="342900" indent="-342900">
              <a:spcBef>
                <a:spcPts val="400"/>
              </a:spcBef>
              <a:buSzPct val="100000"/>
              <a:buFont typeface="Calibri"/>
              <a:buChar char="✦"/>
              <a:defRPr sz="1100">
                <a:solidFill>
                  <a:srgbClr val="FAF6F0"/>
                </a:solidFill>
              </a:defRPr>
            </a:pPr>
            <a:r>
              <a:t>Bank at SOURCE_OF_TRUTH/musician_banks/ahjan/</a:t>
            </a:r>
          </a:p>
          <a:p>
            <a:pPr marL="342900" indent="-342900">
              <a:spcBef>
                <a:spcPts val="400"/>
              </a:spcBef>
              <a:buSzPct val="100000"/>
              <a:buFont typeface="Calibri"/>
              <a:buChar char="✦"/>
              <a:defRPr sz="1100">
                <a:solidFill>
                  <a:srgbClr val="FAF6F0"/>
                </a:solidFill>
              </a:defRPr>
            </a:pPr>
            <a:r>
              <a:t>Registered as a music-mode brand (38+) in music_brand_registry.yaml</a:t>
            </a:r>
          </a:p>
          <a:p>
            <a:pPr marL="342900" indent="-342900">
              <a:spcBef>
                <a:spcPts val="400"/>
              </a:spcBef>
              <a:buSzPct val="100000"/>
              <a:buFont typeface="Calibri"/>
              <a:buChar char="✦"/>
              <a:defRPr sz="1100">
                <a:solidFill>
                  <a:srgbClr val="FAF6F0"/>
                </a:solidFill>
              </a:defRPr>
            </a:pPr>
            <a:r>
              <a:t>Demonstrates the full intake → generator → 6-pool flow end to end</a:t>
            </a:r>
          </a:p>
          <a:p>
            <a:pPr marL="342900" indent="-342900">
              <a:spcBef>
                <a:spcPts val="400"/>
              </a:spcBef>
              <a:buSzPct val="100000"/>
              <a:buFont typeface="Calibri"/>
              <a:buChar char="✦"/>
              <a:defRPr sz="1100">
                <a:solidFill>
                  <a:srgbClr val="FAF6F0"/>
                </a:solidFill>
              </a:defRPr>
            </a:pPr>
            <a:r>
              <a:t>The gold standard for every future musician kit.</a:t>
            </a:r>
          </a:p>
        </p:txBody>
      </p:sp>
      <p:sp>
        <p:nvSpPr>
          <p:cNvPr id="151" name="Shape 9"/>
          <p:cNvSpPr/>
          <p:nvPr/>
        </p:nvSpPr>
        <p:spPr>
          <a:xfrm>
            <a:off x="6263640" y="1783079"/>
            <a:ext cx="5532121" cy="4434841"/>
          </a:xfrm>
          <a:prstGeom prst="rect">
            <a:avLst/>
          </a:prstGeom>
          <a:solidFill>
            <a:srgbClr val="2A1F17"/>
          </a:solidFill>
          <a:ln w="1270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52" name="Shape 10"/>
          <p:cNvSpPr/>
          <p:nvPr/>
        </p:nvSpPr>
        <p:spPr>
          <a:xfrm>
            <a:off x="6263640" y="1783079"/>
            <a:ext cx="5532121" cy="73153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53" name="Text 11"/>
          <p:cNvSpPr txBox="1"/>
          <p:nvPr/>
        </p:nvSpPr>
        <p:spPr>
          <a:xfrm>
            <a:off x="6492240" y="2058846"/>
            <a:ext cx="512064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500" sz="1100">
                <a:solidFill>
                  <a:srgbClr val="F59E0B"/>
                </a:solidFill>
              </a:defRPr>
            </a:lvl1pPr>
          </a:lstStyle>
          <a:p>
            <a:pPr/>
            <a:r>
              <a:t>HOW IT'S SEEDED</a:t>
            </a:r>
          </a:p>
        </p:txBody>
      </p:sp>
      <p:sp>
        <p:nvSpPr>
          <p:cNvPr id="154" name="Text 12"/>
          <p:cNvSpPr txBox="1"/>
          <p:nvPr/>
        </p:nvSpPr>
        <p:spPr>
          <a:xfrm>
            <a:off x="6492240" y="2350769"/>
            <a:ext cx="5120641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800">
                <a:solidFill>
                  <a:srgbClr val="FAF6F0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Reuse, Not Greenfield</a:t>
            </a:r>
          </a:p>
        </p:txBody>
      </p:sp>
      <p:sp>
        <p:nvSpPr>
          <p:cNvPr id="155" name="Text 13"/>
          <p:cNvSpPr txBox="1"/>
          <p:nvPr/>
        </p:nvSpPr>
        <p:spPr>
          <a:xfrm>
            <a:off x="6492240" y="3278177"/>
            <a:ext cx="5120641" cy="347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200">
                <a:solidFill>
                  <a:srgbClr val="9C8A7A"/>
                </a:solidFill>
              </a:defRPr>
            </a:lvl1pPr>
          </a:lstStyle>
          <a:p>
            <a:pPr/>
            <a:r>
              <a:t>Ahjan already exists as a teacher, so the kit reuses that voice — no new persona. A non-teacher musician is welcome too: only the music is theirs; the teachings draw from the Pearl Prime composite.</a:t>
            </a:r>
          </a:p>
        </p:txBody>
      </p:sp>
      <p:sp>
        <p:nvSpPr>
          <p:cNvPr id="156" name="Text 14"/>
          <p:cNvSpPr txBox="1"/>
          <p:nvPr/>
        </p:nvSpPr>
        <p:spPr>
          <a:xfrm>
            <a:off x="6492240" y="4729655"/>
            <a:ext cx="5120641" cy="7819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marL="342900" indent="-342900">
              <a:spcBef>
                <a:spcPts val="400"/>
              </a:spcBef>
              <a:buSzPct val="100000"/>
              <a:buFont typeface="Calibri"/>
              <a:buChar char="✦"/>
              <a:defRPr sz="1100">
                <a:solidFill>
                  <a:srgbClr val="FAF6F0"/>
                </a:solidFill>
              </a:defRPr>
            </a:pPr>
            <a:r>
              <a:t>Seeded from the existing teacher_banks/ahjan/ corpus</a:t>
            </a:r>
          </a:p>
          <a:p>
            <a:pPr marL="342900" indent="-342900">
              <a:spcBef>
                <a:spcPts val="400"/>
              </a:spcBef>
              <a:buSzPct val="100000"/>
              <a:buFont typeface="Calibri"/>
              <a:buChar char="✦"/>
              <a:defRPr sz="1100">
                <a:solidFill>
                  <a:srgbClr val="FAF6F0"/>
                </a:solidFill>
              </a:defRPr>
            </a:pPr>
            <a:r>
              <a:t>The 13-teacher roster anchor, now extended into music</a:t>
            </a:r>
          </a:p>
          <a:p>
            <a:pPr marL="342900" indent="-342900">
              <a:spcBef>
                <a:spcPts val="400"/>
              </a:spcBef>
              <a:buSzPct val="100000"/>
              <a:buFont typeface="Calibri"/>
              <a:buChar char="✦"/>
              <a:defRPr sz="1100">
                <a:solidFill>
                  <a:srgbClr val="FAF6F0"/>
                </a:solidFill>
              </a:defRPr>
            </a:pPr>
            <a:r>
              <a:t>Profile, themes, and voice derive from an Ahjan intake</a:t>
            </a:r>
          </a:p>
          <a:p>
            <a:pPr marL="342900" indent="-342900">
              <a:spcBef>
                <a:spcPts val="400"/>
              </a:spcBef>
              <a:buSzPct val="100000"/>
              <a:buFont typeface="Calibri"/>
              <a:buChar char="✦"/>
              <a:defRPr sz="1100">
                <a:solidFill>
                  <a:srgbClr val="FAF6F0"/>
                </a:solidFill>
              </a:defRPr>
            </a:pPr>
            <a:r>
              <a:t>The generator drafts the six music slot pools</a:t>
            </a:r>
          </a:p>
        </p:txBody>
      </p:sp>
      <p:sp>
        <p:nvSpPr>
          <p:cNvPr id="157" name="Shape 15"/>
          <p:cNvSpPr/>
          <p:nvPr/>
        </p:nvSpPr>
        <p:spPr>
          <a:xfrm>
            <a:off x="548639" y="6446520"/>
            <a:ext cx="11064242" cy="1"/>
          </a:xfrm>
          <a:prstGeom prst="line">
            <a:avLst/>
          </a:prstGeom>
          <a:ln w="12700">
            <a:solidFill>
              <a:srgbClr val="2A1F1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58" name="Text 16"/>
          <p:cNvSpPr txBox="1"/>
          <p:nvPr/>
        </p:nvSpPr>
        <p:spPr>
          <a:xfrm>
            <a:off x="548640" y="6584188"/>
            <a:ext cx="8229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9C8A7A"/>
                </a:solidFill>
              </a:defRPr>
            </a:lvl1pPr>
          </a:lstStyle>
          <a:p>
            <a:pPr/>
            <a:r>
              <a:t>Pearl Prime · Enlightened Intelligence Publishing · Music Mode V1 + V2</a:t>
            </a:r>
          </a:p>
        </p:txBody>
      </p:sp>
      <p:sp>
        <p:nvSpPr>
          <p:cNvPr id="159" name="Text 17"/>
          <p:cNvSpPr txBox="1"/>
          <p:nvPr/>
        </p:nvSpPr>
        <p:spPr>
          <a:xfrm>
            <a:off x="10515599" y="6584188"/>
            <a:ext cx="109728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9C8A7A"/>
                </a:solidFill>
              </a:defRPr>
            </a:lvl1pPr>
          </a:lstStyle>
          <a:p>
            <a:pPr/>
            <a:r>
              <a:t>6 / 15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E0A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Text 0"/>
          <p:cNvSpPr txBox="1"/>
          <p:nvPr/>
        </p:nvSpPr>
        <p:spPr>
          <a:xfrm>
            <a:off x="548640" y="481506"/>
            <a:ext cx="54864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600" sz="1100">
                <a:solidFill>
                  <a:srgbClr val="F59E0B"/>
                </a:solidFill>
              </a:defRPr>
            </a:lvl1pPr>
          </a:lstStyle>
          <a:p>
            <a:pPr/>
            <a:r>
              <a:t>BOOK VARIANTS</a:t>
            </a:r>
          </a:p>
        </p:txBody>
      </p:sp>
      <p:sp>
        <p:nvSpPr>
          <p:cNvPr id="162" name="Shape 1"/>
          <p:cNvSpPr/>
          <p:nvPr/>
        </p:nvSpPr>
        <p:spPr>
          <a:xfrm>
            <a:off x="-1" y="-1"/>
            <a:ext cx="12161522" cy="7315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3" name="Text 2"/>
          <p:cNvSpPr txBox="1"/>
          <p:nvPr/>
        </p:nvSpPr>
        <p:spPr>
          <a:xfrm>
            <a:off x="548639" y="725170"/>
            <a:ext cx="11064242" cy="46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3200">
                <a:solidFill>
                  <a:srgbClr val="FAF6F0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Both Variants Coexist — Your Data Sets the Mix</a:t>
            </a:r>
          </a:p>
        </p:txBody>
      </p:sp>
      <p:sp>
        <p:nvSpPr>
          <p:cNvPr id="164" name="Shape 3"/>
          <p:cNvSpPr/>
          <p:nvPr/>
        </p:nvSpPr>
        <p:spPr>
          <a:xfrm>
            <a:off x="548639" y="1783079"/>
            <a:ext cx="5532122" cy="4434841"/>
          </a:xfrm>
          <a:prstGeom prst="rect">
            <a:avLst/>
          </a:prstGeom>
          <a:solidFill>
            <a:srgbClr val="2A1F17"/>
          </a:solidFill>
          <a:ln w="1270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5" name="Shape 4"/>
          <p:cNvSpPr/>
          <p:nvPr/>
        </p:nvSpPr>
        <p:spPr>
          <a:xfrm>
            <a:off x="548639" y="1783079"/>
            <a:ext cx="5532122" cy="73153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6" name="Text 5"/>
          <p:cNvSpPr txBox="1"/>
          <p:nvPr/>
        </p:nvSpPr>
        <p:spPr>
          <a:xfrm>
            <a:off x="777239" y="2058846"/>
            <a:ext cx="5120642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500" sz="1100">
                <a:solidFill>
                  <a:srgbClr val="F59E0B"/>
                </a:solidFill>
              </a:defRPr>
            </a:lvl1pPr>
          </a:lstStyle>
          <a:p>
            <a:pPr/>
            <a:r>
              <a:t>VARIANT 1</a:t>
            </a:r>
          </a:p>
        </p:txBody>
      </p:sp>
      <p:sp>
        <p:nvSpPr>
          <p:cNvPr id="167" name="Text 6"/>
          <p:cNvSpPr txBox="1"/>
          <p:nvPr/>
        </p:nvSpPr>
        <p:spPr>
          <a:xfrm>
            <a:off x="777239" y="2350769"/>
            <a:ext cx="5120642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800">
                <a:solidFill>
                  <a:srgbClr val="FAF6F0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With Lyrics</a:t>
            </a:r>
          </a:p>
        </p:txBody>
      </p:sp>
      <p:sp>
        <p:nvSpPr>
          <p:cNvPr id="168" name="Text 7"/>
          <p:cNvSpPr txBox="1"/>
          <p:nvPr/>
        </p:nvSpPr>
        <p:spPr>
          <a:xfrm>
            <a:off x="777239" y="3278177"/>
            <a:ext cx="5120642" cy="347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200">
                <a:solidFill>
                  <a:srgbClr val="9C8A7A"/>
                </a:solidFill>
              </a:defRPr>
            </a:lvl1pPr>
          </a:lstStyle>
          <a:p>
            <a:pPr/>
            <a:r>
              <a:t>Lyrical content at chapter opens, closes, and one mid-chapter beat. The more lyric material in your data, the larger this share of the catalog.</a:t>
            </a:r>
          </a:p>
        </p:txBody>
      </p:sp>
      <p:sp>
        <p:nvSpPr>
          <p:cNvPr id="169" name="Text 8"/>
          <p:cNvSpPr txBox="1"/>
          <p:nvPr/>
        </p:nvSpPr>
        <p:spPr>
          <a:xfrm>
            <a:off x="777239" y="4729655"/>
            <a:ext cx="5120642" cy="7819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marL="342900" indent="-342900">
              <a:spcBef>
                <a:spcPts val="400"/>
              </a:spcBef>
              <a:buSzPct val="100000"/>
              <a:buFont typeface="Calibri"/>
              <a:buChar char="✦"/>
              <a:defRPr sz="1100">
                <a:solidFill>
                  <a:srgbClr val="FAF6F0"/>
                </a:solidFill>
              </a:defRPr>
            </a:pPr>
            <a:r>
              <a:t>Drops in lyric blocks matching each chapter's emotional arc</a:t>
            </a:r>
          </a:p>
          <a:p>
            <a:pPr marL="342900" indent="-342900">
              <a:spcBef>
                <a:spcPts val="400"/>
              </a:spcBef>
              <a:buSzPct val="100000"/>
              <a:buFont typeface="Calibri"/>
              <a:buChar char="✦"/>
              <a:defRPr sz="1100">
                <a:solidFill>
                  <a:srgbClr val="FAF6F0"/>
                </a:solidFill>
              </a:defRPr>
            </a:pPr>
            <a:r>
              <a:t>Honors your lyric_form preference (free verse / rhymed / verse-chorus)</a:t>
            </a:r>
          </a:p>
          <a:p>
            <a:pPr marL="342900" indent="-342900">
              <a:spcBef>
                <a:spcPts val="400"/>
              </a:spcBef>
              <a:buSzPct val="100000"/>
              <a:buFont typeface="Calibri"/>
              <a:buChar char="✦"/>
              <a:defRPr sz="1100">
                <a:solidFill>
                  <a:srgbClr val="FAF6F0"/>
                </a:solidFill>
              </a:defRPr>
            </a:pPr>
            <a:r>
              <a:t>Respects your explicit_content_ok gate</a:t>
            </a:r>
          </a:p>
          <a:p>
            <a:pPr marL="342900" indent="-342900">
              <a:spcBef>
                <a:spcPts val="400"/>
              </a:spcBef>
              <a:buSzPct val="100000"/>
              <a:buFont typeface="Calibri"/>
              <a:buChar char="✦"/>
              <a:defRPr sz="1100">
                <a:solidFill>
                  <a:srgbClr val="FAF6F0"/>
                </a:solidFill>
              </a:defRPr>
            </a:pPr>
            <a:r>
              <a:t>Captures the felt rhythm of your voice</a:t>
            </a:r>
          </a:p>
        </p:txBody>
      </p:sp>
      <p:sp>
        <p:nvSpPr>
          <p:cNvPr id="170" name="Shape 9"/>
          <p:cNvSpPr/>
          <p:nvPr/>
        </p:nvSpPr>
        <p:spPr>
          <a:xfrm>
            <a:off x="6263640" y="1783079"/>
            <a:ext cx="5532121" cy="4434841"/>
          </a:xfrm>
          <a:prstGeom prst="rect">
            <a:avLst/>
          </a:prstGeom>
          <a:solidFill>
            <a:srgbClr val="2A1F17"/>
          </a:solidFill>
          <a:ln w="1270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71" name="Shape 10"/>
          <p:cNvSpPr/>
          <p:nvPr/>
        </p:nvSpPr>
        <p:spPr>
          <a:xfrm>
            <a:off x="6263640" y="1783079"/>
            <a:ext cx="5532121" cy="73153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72" name="Text 11"/>
          <p:cNvSpPr txBox="1"/>
          <p:nvPr/>
        </p:nvSpPr>
        <p:spPr>
          <a:xfrm>
            <a:off x="6492240" y="2058846"/>
            <a:ext cx="512064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500" sz="1100">
                <a:solidFill>
                  <a:srgbClr val="F59E0B"/>
                </a:solidFill>
              </a:defRPr>
            </a:lvl1pPr>
          </a:lstStyle>
          <a:p>
            <a:pPr/>
            <a:r>
              <a:t>VARIANT 2</a:t>
            </a:r>
          </a:p>
        </p:txBody>
      </p:sp>
      <p:sp>
        <p:nvSpPr>
          <p:cNvPr id="173" name="Text 12"/>
          <p:cNvSpPr txBox="1"/>
          <p:nvPr/>
        </p:nvSpPr>
        <p:spPr>
          <a:xfrm>
            <a:off x="6492240" y="2350769"/>
            <a:ext cx="5120641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800">
                <a:solidFill>
                  <a:srgbClr val="FAF6F0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No Lyrics</a:t>
            </a:r>
          </a:p>
        </p:txBody>
      </p:sp>
      <p:sp>
        <p:nvSpPr>
          <p:cNvPr id="174" name="Text 13"/>
          <p:cNvSpPr txBox="1"/>
          <p:nvPr/>
        </p:nvSpPr>
        <p:spPr>
          <a:xfrm>
            <a:off x="6492240" y="3278177"/>
            <a:ext cx="5120641" cy="347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200">
                <a:solidFill>
                  <a:srgbClr val="9C8A7A"/>
                </a:solidFill>
              </a:defRPr>
            </a:lvl1pPr>
          </a:lstStyle>
          <a:p>
            <a:pPr/>
            <a:r>
              <a:t>Reflection essays, journals, or meditations on your music at the same positions. A mostly-instrumental musician gets mostly these — plus a few lyric books — in one brand.</a:t>
            </a:r>
          </a:p>
        </p:txBody>
      </p:sp>
      <p:sp>
        <p:nvSpPr>
          <p:cNvPr id="175" name="Text 14"/>
          <p:cNvSpPr txBox="1"/>
          <p:nvPr/>
        </p:nvSpPr>
        <p:spPr>
          <a:xfrm>
            <a:off x="6492240" y="4729655"/>
            <a:ext cx="5120641" cy="7819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marL="342900" indent="-342900">
              <a:spcBef>
                <a:spcPts val="400"/>
              </a:spcBef>
              <a:buSzPct val="100000"/>
              <a:buFont typeface="Calibri"/>
              <a:buChar char="✦"/>
              <a:defRPr sz="1100">
                <a:solidFill>
                  <a:srgbClr val="FAF6F0"/>
                </a:solidFill>
              </a:defRPr>
            </a:pPr>
            <a:r>
              <a:t>Reflection form: essay / journal / meditation / mixed</a:t>
            </a:r>
          </a:p>
          <a:p>
            <a:pPr marL="342900" indent="-342900">
              <a:spcBef>
                <a:spcPts val="400"/>
              </a:spcBef>
              <a:buSzPct val="100000"/>
              <a:buFont typeface="Calibri"/>
              <a:buChar char="✦"/>
              <a:defRPr sz="1100">
                <a:solidFill>
                  <a:srgbClr val="FAF6F0"/>
                </a:solidFill>
              </a:defRPr>
            </a:pPr>
            <a:r>
              <a:t>Perspective: musician / listener / critic / mixed</a:t>
            </a:r>
          </a:p>
          <a:p>
            <a:pPr marL="342900" indent="-342900">
              <a:spcBef>
                <a:spcPts val="400"/>
              </a:spcBef>
              <a:buSzPct val="100000"/>
              <a:buFont typeface="Calibri"/>
              <a:buChar char="✦"/>
              <a:defRPr sz="1100">
                <a:solidFill>
                  <a:srgbClr val="FAF6F0"/>
                </a:solidFill>
              </a:defRPr>
            </a:pPr>
            <a:r>
              <a:t>Reaches readers who came for the feeling, not the words</a:t>
            </a:r>
          </a:p>
          <a:p>
            <a:pPr marL="342900" indent="-342900">
              <a:spcBef>
                <a:spcPts val="400"/>
              </a:spcBef>
              <a:buSzPct val="100000"/>
              <a:buFont typeface="Calibri"/>
              <a:buChar char="✦"/>
              <a:defRPr sz="1100">
                <a:solidFill>
                  <a:srgbClr val="FAF6F0"/>
                </a:solidFill>
              </a:defRPr>
            </a:pPr>
            <a:r>
              <a:t>Your music — on your channels — carries the rest</a:t>
            </a:r>
          </a:p>
        </p:txBody>
      </p:sp>
      <p:sp>
        <p:nvSpPr>
          <p:cNvPr id="176" name="Shape 15"/>
          <p:cNvSpPr/>
          <p:nvPr/>
        </p:nvSpPr>
        <p:spPr>
          <a:xfrm>
            <a:off x="548639" y="6446520"/>
            <a:ext cx="11064242" cy="1"/>
          </a:xfrm>
          <a:prstGeom prst="line">
            <a:avLst/>
          </a:prstGeom>
          <a:ln w="12700">
            <a:solidFill>
              <a:srgbClr val="2A1F1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77" name="Text 16"/>
          <p:cNvSpPr txBox="1"/>
          <p:nvPr/>
        </p:nvSpPr>
        <p:spPr>
          <a:xfrm>
            <a:off x="548640" y="6584188"/>
            <a:ext cx="8229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9C8A7A"/>
                </a:solidFill>
              </a:defRPr>
            </a:lvl1pPr>
          </a:lstStyle>
          <a:p>
            <a:pPr/>
            <a:r>
              <a:t>Pearl Prime · Enlightened Intelligence Publishing · Music Mode V1 + V2</a:t>
            </a:r>
          </a:p>
        </p:txBody>
      </p:sp>
      <p:sp>
        <p:nvSpPr>
          <p:cNvPr id="178" name="Text 17"/>
          <p:cNvSpPr txBox="1"/>
          <p:nvPr/>
        </p:nvSpPr>
        <p:spPr>
          <a:xfrm>
            <a:off x="10515599" y="6584188"/>
            <a:ext cx="109728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9C8A7A"/>
                </a:solidFill>
              </a:defRPr>
            </a:lvl1pPr>
          </a:lstStyle>
          <a:p>
            <a:pPr/>
            <a:r>
              <a:t>7 / 15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E0A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Text 0"/>
          <p:cNvSpPr txBox="1"/>
          <p:nvPr/>
        </p:nvSpPr>
        <p:spPr>
          <a:xfrm>
            <a:off x="548640" y="481506"/>
            <a:ext cx="54864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600" sz="1100">
                <a:solidFill>
                  <a:srgbClr val="F59E0B"/>
                </a:solidFill>
              </a:defRPr>
            </a:lvl1pPr>
          </a:lstStyle>
          <a:p>
            <a:pPr/>
            <a:r>
              <a:t>AUTHORSHIP</a:t>
            </a:r>
          </a:p>
        </p:txBody>
      </p:sp>
      <p:sp>
        <p:nvSpPr>
          <p:cNvPr id="181" name="Shape 1"/>
          <p:cNvSpPr/>
          <p:nvPr/>
        </p:nvSpPr>
        <p:spPr>
          <a:xfrm>
            <a:off x="-1" y="-1"/>
            <a:ext cx="12161522" cy="7315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82" name="Text 2"/>
          <p:cNvSpPr txBox="1"/>
          <p:nvPr/>
        </p:nvSpPr>
        <p:spPr>
          <a:xfrm>
            <a:off x="548639" y="725170"/>
            <a:ext cx="11064242" cy="46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3200">
                <a:solidFill>
                  <a:srgbClr val="FAF6F0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The Author's Voice. Always Attributed to Your Music.</a:t>
            </a:r>
          </a:p>
        </p:txBody>
      </p:sp>
      <p:sp>
        <p:nvSpPr>
          <p:cNvPr id="183" name="Text 3"/>
          <p:cNvSpPr txBox="1"/>
          <p:nvPr/>
        </p:nvSpPr>
        <p:spPr>
          <a:xfrm>
            <a:off x="548639" y="1368360"/>
            <a:ext cx="11064242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400">
                <a:solidFill>
                  <a:srgbClr val="F59E0B"/>
                </a:solidFill>
              </a:defRPr>
            </a:lvl1pPr>
          </a:lstStyle>
          <a:p>
            <a:pPr/>
            <a:r>
              <a:t>An author persona — pen-name or EI — references your music in its own voice, always attributed, never impersonating you. New music slots default to first person; existing second-person prose is kept.</a:t>
            </a:r>
          </a:p>
        </p:txBody>
      </p:sp>
      <p:sp>
        <p:nvSpPr>
          <p:cNvPr id="184" name="Shape 4"/>
          <p:cNvSpPr/>
          <p:nvPr/>
        </p:nvSpPr>
        <p:spPr>
          <a:xfrm>
            <a:off x="548640" y="1874520"/>
            <a:ext cx="5486401" cy="1828801"/>
          </a:xfrm>
          <a:prstGeom prst="rect">
            <a:avLst/>
          </a:prstGeom>
          <a:solidFill>
            <a:srgbClr val="2A1F17"/>
          </a:solidFill>
          <a:ln w="1270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85" name="Shape 5"/>
          <p:cNvSpPr/>
          <p:nvPr/>
        </p:nvSpPr>
        <p:spPr>
          <a:xfrm>
            <a:off x="548640" y="1874520"/>
            <a:ext cx="73153" cy="1828801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86" name="Text 6"/>
          <p:cNvSpPr txBox="1"/>
          <p:nvPr/>
        </p:nvSpPr>
        <p:spPr>
          <a:xfrm>
            <a:off x="777239" y="2080304"/>
            <a:ext cx="5120642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400" sz="1000">
                <a:solidFill>
                  <a:srgbClr val="F59E0B"/>
                </a:solidFill>
              </a:defRPr>
            </a:lvl1pPr>
          </a:lstStyle>
          <a:p>
            <a:pPr/>
            <a:r>
              <a:t>EXAMPLE — FIRST PERSON (new-prose default)</a:t>
            </a:r>
          </a:p>
        </p:txBody>
      </p:sp>
      <p:sp>
        <p:nvSpPr>
          <p:cNvPr id="187" name="Text 7"/>
          <p:cNvSpPr txBox="1"/>
          <p:nvPr/>
        </p:nvSpPr>
        <p:spPr>
          <a:xfrm>
            <a:off x="777239" y="2590800"/>
            <a:ext cx="5120642" cy="762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700">
                <a:solidFill>
                  <a:srgbClr val="FAF6F0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“From Ahjan's music — on his guitar, a sustained chord, then a melody that lifts. That small lift of the spirit through sound is what I want to sit with you on, as we turn toward what weighs on you.”</a:t>
            </a:r>
          </a:p>
        </p:txBody>
      </p:sp>
      <p:sp>
        <p:nvSpPr>
          <p:cNvPr id="188" name="Shape 8"/>
          <p:cNvSpPr/>
          <p:nvPr/>
        </p:nvSpPr>
        <p:spPr>
          <a:xfrm>
            <a:off x="6309359" y="1874520"/>
            <a:ext cx="5303521" cy="1325881"/>
          </a:xfrm>
          <a:prstGeom prst="rect">
            <a:avLst/>
          </a:prstGeom>
          <a:solidFill>
            <a:srgbClr val="1A1108"/>
          </a:solidFill>
          <a:ln w="12700">
            <a:solidFill>
              <a:srgbClr val="2A1F1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89" name="Text 9"/>
          <p:cNvSpPr txBox="1"/>
          <p:nvPr/>
        </p:nvSpPr>
        <p:spPr>
          <a:xfrm>
            <a:off x="6446520" y="2141220"/>
            <a:ext cx="548641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200">
                <a:solidFill>
                  <a:srgbClr val="F59E0B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🛡️</a:t>
            </a:r>
          </a:p>
        </p:txBody>
      </p:sp>
      <p:sp>
        <p:nvSpPr>
          <p:cNvPr id="190" name="Text 10"/>
          <p:cNvSpPr txBox="1"/>
          <p:nvPr/>
        </p:nvSpPr>
        <p:spPr>
          <a:xfrm>
            <a:off x="7040880" y="2126741"/>
            <a:ext cx="4480561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FAF6F0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Always attributed</a:t>
            </a:r>
          </a:p>
        </p:txBody>
      </p:sp>
      <p:sp>
        <p:nvSpPr>
          <p:cNvPr id="191" name="Text 11"/>
          <p:cNvSpPr txBox="1"/>
          <p:nvPr/>
        </p:nvSpPr>
        <p:spPr>
          <a:xfrm>
            <a:off x="7040880" y="2660694"/>
            <a:ext cx="4480561" cy="302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9C8A7A"/>
                </a:solidFill>
              </a:defRPr>
            </a:lvl1pPr>
          </a:lstStyle>
          <a:p>
            <a:pPr/>
            <a:r>
              <a:t>Every music slot names your music and its source — “from Ahjan's music” — and states a true structure and a true benefit.</a:t>
            </a:r>
          </a:p>
        </p:txBody>
      </p:sp>
      <p:sp>
        <p:nvSpPr>
          <p:cNvPr id="192" name="Shape 12"/>
          <p:cNvSpPr/>
          <p:nvPr/>
        </p:nvSpPr>
        <p:spPr>
          <a:xfrm>
            <a:off x="6309359" y="3291840"/>
            <a:ext cx="5303521" cy="1325881"/>
          </a:xfrm>
          <a:prstGeom prst="rect">
            <a:avLst/>
          </a:prstGeom>
          <a:solidFill>
            <a:srgbClr val="1A1108"/>
          </a:solidFill>
          <a:ln w="12700">
            <a:solidFill>
              <a:srgbClr val="2A1F1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93" name="Text 13"/>
          <p:cNvSpPr txBox="1"/>
          <p:nvPr/>
        </p:nvSpPr>
        <p:spPr>
          <a:xfrm>
            <a:off x="6446520" y="3558540"/>
            <a:ext cx="548641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200">
                <a:solidFill>
                  <a:srgbClr val="F59E0B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🌱</a:t>
            </a:r>
          </a:p>
        </p:txBody>
      </p:sp>
      <p:sp>
        <p:nvSpPr>
          <p:cNvPr id="194" name="Text 14"/>
          <p:cNvSpPr txBox="1"/>
          <p:nvPr/>
        </p:nvSpPr>
        <p:spPr>
          <a:xfrm>
            <a:off x="7040880" y="3544062"/>
            <a:ext cx="4480561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FAF6F0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Second person — kept</a:t>
            </a:r>
          </a:p>
        </p:txBody>
      </p:sp>
      <p:sp>
        <p:nvSpPr>
          <p:cNvPr id="195" name="Text 15"/>
          <p:cNvSpPr txBox="1"/>
          <p:nvPr/>
        </p:nvSpPr>
        <p:spPr>
          <a:xfrm>
            <a:off x="7040880" y="4078014"/>
            <a:ext cx="4480561" cy="302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9C8A7A"/>
                </a:solidFill>
              </a:defRPr>
            </a:lvl1pPr>
          </a:lstStyle>
          <a:p>
            <a:pPr/>
            <a:r>
              <a:t>“You put on Ahjan's track. The room gets small, then opens. The chord holds.” Where prose already reads in 2P, it is kept — still attributed.</a:t>
            </a:r>
          </a:p>
        </p:txBody>
      </p:sp>
      <p:sp>
        <p:nvSpPr>
          <p:cNvPr id="196" name="Shape 16"/>
          <p:cNvSpPr/>
          <p:nvPr/>
        </p:nvSpPr>
        <p:spPr>
          <a:xfrm>
            <a:off x="6309359" y="4709159"/>
            <a:ext cx="5303521" cy="1325881"/>
          </a:xfrm>
          <a:prstGeom prst="rect">
            <a:avLst/>
          </a:prstGeom>
          <a:solidFill>
            <a:srgbClr val="1A1108"/>
          </a:solidFill>
          <a:ln w="12700">
            <a:solidFill>
              <a:srgbClr val="2A1F1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97" name="Text 17"/>
          <p:cNvSpPr txBox="1"/>
          <p:nvPr/>
        </p:nvSpPr>
        <p:spPr>
          <a:xfrm>
            <a:off x="6446520" y="4975860"/>
            <a:ext cx="548641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200">
                <a:solidFill>
                  <a:srgbClr val="F59E0B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🔄</a:t>
            </a:r>
          </a:p>
        </p:txBody>
      </p:sp>
      <p:sp>
        <p:nvSpPr>
          <p:cNvPr id="198" name="Text 18"/>
          <p:cNvSpPr txBox="1"/>
          <p:nvPr/>
        </p:nvSpPr>
        <p:spPr>
          <a:xfrm>
            <a:off x="7040880" y="4961382"/>
            <a:ext cx="4480561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FAF6F0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Refines over time</a:t>
            </a:r>
          </a:p>
        </p:txBody>
      </p:sp>
      <p:sp>
        <p:nvSpPr>
          <p:cNvPr id="199" name="Text 19"/>
          <p:cNvSpPr txBox="1"/>
          <p:nvPr/>
        </p:nvSpPr>
        <p:spPr>
          <a:xfrm>
            <a:off x="7040880" y="5495334"/>
            <a:ext cx="4480561" cy="302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9C8A7A"/>
                </a:solidFill>
              </a:defRPr>
            </a:lvl1pPr>
          </a:lstStyle>
          <a:p>
            <a:pPr/>
            <a:r>
              <a:t>More survey + more atoms + more touchstones = closer fit between your music and the prose around it. The catalog gets more recognizably yours as it grows.</a:t>
            </a:r>
          </a:p>
        </p:txBody>
      </p:sp>
      <p:sp>
        <p:nvSpPr>
          <p:cNvPr id="200" name="Shape 20"/>
          <p:cNvSpPr/>
          <p:nvPr/>
        </p:nvSpPr>
        <p:spPr>
          <a:xfrm>
            <a:off x="548640" y="3840479"/>
            <a:ext cx="5486401" cy="2240281"/>
          </a:xfrm>
          <a:prstGeom prst="rect">
            <a:avLst/>
          </a:prstGeom>
          <a:solidFill>
            <a:srgbClr val="1A1108"/>
          </a:solidFill>
          <a:ln w="12700">
            <a:solidFill>
              <a:srgbClr val="2A1F1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01" name="Text 21"/>
          <p:cNvSpPr txBox="1"/>
          <p:nvPr/>
        </p:nvSpPr>
        <p:spPr>
          <a:xfrm>
            <a:off x="777239" y="4046264"/>
            <a:ext cx="5120642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400" sz="1000">
                <a:solidFill>
                  <a:srgbClr val="F59E0B"/>
                </a:solidFill>
              </a:defRPr>
            </a:lvl1pPr>
          </a:lstStyle>
          <a:p>
            <a:pPr/>
            <a:r>
              <a:t>THE AUTHOR PERSONA FRAMES IT</a:t>
            </a:r>
          </a:p>
        </p:txBody>
      </p:sp>
      <p:sp>
        <p:nvSpPr>
          <p:cNvPr id="202" name="Text 22"/>
          <p:cNvSpPr txBox="1"/>
          <p:nvPr/>
        </p:nvSpPr>
        <p:spPr>
          <a:xfrm>
            <a:off x="777239" y="4706927"/>
            <a:ext cx="5120642" cy="918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i="1" sz="1200">
                <a:solidFill>
                  <a:srgbClr val="FAF6F0"/>
                </a:solidFill>
              </a:defRPr>
            </a:pPr>
            <a:r>
              <a:t>Human Pen Name Author OR EI Author signs the book.</a:t>
            </a:r>
          </a:p>
          <a:p>
            <a:pPr>
              <a:defRPr i="1" sz="1200">
                <a:solidFill>
                  <a:srgbClr val="FAF6F0"/>
                </a:solidFill>
              </a:defRPr>
            </a:pPr>
            <a:r>
              <a:t>Your music shapes the prose.</a:t>
            </a:r>
          </a:p>
          <a:p>
            <a:pPr>
              <a:defRPr i="1" sz="1200">
                <a:solidFill>
                  <a:srgbClr val="FAF6F0"/>
                </a:solidFill>
              </a:defRPr>
            </a:pPr>
            <a:r>
              <a:t>The reader gets a room your music made.</a:t>
            </a:r>
          </a:p>
          <a:p>
            <a:pPr>
              <a:defRPr sz="1200"/>
            </a:pPr>
          </a:p>
          <a:p>
            <a:pPr>
              <a:defRPr i="1" sz="1200">
                <a:solidFill>
                  <a:srgbClr val="FAF6F0"/>
                </a:solidFill>
              </a:defRPr>
            </a:pPr>
            <a:r>
              <a:t>You keep the music. The book becomes the bridge.</a:t>
            </a:r>
          </a:p>
        </p:txBody>
      </p:sp>
      <p:sp>
        <p:nvSpPr>
          <p:cNvPr id="203" name="Shape 23"/>
          <p:cNvSpPr/>
          <p:nvPr/>
        </p:nvSpPr>
        <p:spPr>
          <a:xfrm>
            <a:off x="548639" y="6446520"/>
            <a:ext cx="11064242" cy="1"/>
          </a:xfrm>
          <a:prstGeom prst="line">
            <a:avLst/>
          </a:prstGeom>
          <a:ln w="12700">
            <a:solidFill>
              <a:srgbClr val="2A1F1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04" name="Text 24"/>
          <p:cNvSpPr txBox="1"/>
          <p:nvPr/>
        </p:nvSpPr>
        <p:spPr>
          <a:xfrm>
            <a:off x="548640" y="6584188"/>
            <a:ext cx="8229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9C8A7A"/>
                </a:solidFill>
              </a:defRPr>
            </a:lvl1pPr>
          </a:lstStyle>
          <a:p>
            <a:pPr/>
            <a:r>
              <a:t>Pearl Prime · Enlightened Intelligence Publishing · Music Mode V1 + V2</a:t>
            </a:r>
          </a:p>
        </p:txBody>
      </p:sp>
      <p:sp>
        <p:nvSpPr>
          <p:cNvPr id="205" name="Text 25"/>
          <p:cNvSpPr txBox="1"/>
          <p:nvPr/>
        </p:nvSpPr>
        <p:spPr>
          <a:xfrm>
            <a:off x="10515599" y="6584188"/>
            <a:ext cx="109728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9C8A7A"/>
                </a:solidFill>
              </a:defRPr>
            </a:lvl1pPr>
          </a:lstStyle>
          <a:p>
            <a:pPr/>
            <a:r>
              <a:t>8 / 15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E0A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Text 0"/>
          <p:cNvSpPr txBox="1"/>
          <p:nvPr/>
        </p:nvSpPr>
        <p:spPr>
          <a:xfrm>
            <a:off x="548640" y="481506"/>
            <a:ext cx="54864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600" sz="1100">
                <a:solidFill>
                  <a:srgbClr val="F59E0B"/>
                </a:solidFill>
              </a:defRPr>
            </a:lvl1pPr>
          </a:lstStyle>
          <a:p>
            <a:pPr/>
            <a:r>
              <a:t>AUTHOR TYPES</a:t>
            </a:r>
          </a:p>
        </p:txBody>
      </p:sp>
      <p:sp>
        <p:nvSpPr>
          <p:cNvPr id="208" name="Shape 1"/>
          <p:cNvSpPr/>
          <p:nvPr/>
        </p:nvSpPr>
        <p:spPr>
          <a:xfrm>
            <a:off x="-1" y="-1"/>
            <a:ext cx="12161522" cy="7315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09" name="Text 2"/>
          <p:cNvSpPr txBox="1"/>
          <p:nvPr/>
        </p:nvSpPr>
        <p:spPr>
          <a:xfrm>
            <a:off x="548639" y="725170"/>
            <a:ext cx="11064242" cy="46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3200">
                <a:solidFill>
                  <a:srgbClr val="FAF6F0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Two Types of Pearl Prime Music-Mode Authors</a:t>
            </a:r>
          </a:p>
        </p:txBody>
      </p:sp>
      <p:sp>
        <p:nvSpPr>
          <p:cNvPr id="210" name="Text 3"/>
          <p:cNvSpPr txBox="1"/>
          <p:nvPr/>
        </p:nvSpPr>
        <p:spPr>
          <a:xfrm>
            <a:off x="548639" y="1368360"/>
            <a:ext cx="11064242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400">
                <a:solidFill>
                  <a:srgbClr val="F59E0B"/>
                </a:solidFill>
              </a:defRPr>
            </a:lvl1pPr>
          </a:lstStyle>
          <a:p>
            <a:pPr/>
            <a:r>
              <a:t>Pen names are a long-standing publishing convention. Pearl Prime uses two paths.</a:t>
            </a:r>
          </a:p>
        </p:txBody>
      </p:sp>
      <p:sp>
        <p:nvSpPr>
          <p:cNvPr id="211" name="Shape 4"/>
          <p:cNvSpPr/>
          <p:nvPr/>
        </p:nvSpPr>
        <p:spPr>
          <a:xfrm>
            <a:off x="548639" y="1828799"/>
            <a:ext cx="5532122" cy="4389122"/>
          </a:xfrm>
          <a:prstGeom prst="rect">
            <a:avLst/>
          </a:prstGeom>
          <a:solidFill>
            <a:srgbClr val="2A1F17"/>
          </a:solidFill>
          <a:ln w="1270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12" name="Shape 5"/>
          <p:cNvSpPr/>
          <p:nvPr/>
        </p:nvSpPr>
        <p:spPr>
          <a:xfrm>
            <a:off x="548639" y="1828799"/>
            <a:ext cx="5532122" cy="7315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13" name="Text 6"/>
          <p:cNvSpPr txBox="1"/>
          <p:nvPr/>
        </p:nvSpPr>
        <p:spPr>
          <a:xfrm>
            <a:off x="777239" y="2103164"/>
            <a:ext cx="5120642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400" sz="1000">
                <a:solidFill>
                  <a:srgbClr val="F59E0B"/>
                </a:solidFill>
              </a:defRPr>
            </a:lvl1pPr>
          </a:lstStyle>
          <a:p>
            <a:pPr/>
            <a:r>
              <a:t>HUMAN PEN NAME AUTHOR</a:t>
            </a:r>
          </a:p>
        </p:txBody>
      </p:sp>
      <p:sp>
        <p:nvSpPr>
          <p:cNvPr id="214" name="Text 7"/>
          <p:cNvSpPr txBox="1"/>
          <p:nvPr/>
        </p:nvSpPr>
        <p:spPr>
          <a:xfrm>
            <a:off x="777239" y="2405379"/>
            <a:ext cx="5120642" cy="35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400">
                <a:solidFill>
                  <a:srgbClr val="FAF6F0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The Listener Persona</a:t>
            </a:r>
          </a:p>
        </p:txBody>
      </p:sp>
      <p:sp>
        <p:nvSpPr>
          <p:cNvPr id="215" name="Text 8"/>
          <p:cNvSpPr txBox="1"/>
          <p:nvPr/>
        </p:nvSpPr>
        <p:spPr>
          <a:xfrm>
            <a:off x="777239" y="3301037"/>
            <a:ext cx="5120642" cy="347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200">
                <a:solidFill>
                  <a:srgbClr val="9C8A7A"/>
                </a:solidFill>
              </a:defRPr>
            </a:lvl1pPr>
          </a:lstStyle>
          <a:p>
            <a:pPr/>
            <a:r>
              <a:t>A credible human listener bio. Reader-facing. Standard publishing convention. Writes as someone who discovered and was changed by your sound.</a:t>
            </a:r>
          </a:p>
        </p:txBody>
      </p:sp>
      <p:sp>
        <p:nvSpPr>
          <p:cNvPr id="216" name="Text 9"/>
          <p:cNvSpPr txBox="1"/>
          <p:nvPr/>
        </p:nvSpPr>
        <p:spPr>
          <a:xfrm>
            <a:off x="777239" y="4752516"/>
            <a:ext cx="5120642" cy="7819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marL="342900" indent="-342900">
              <a:spcBef>
                <a:spcPts val="400"/>
              </a:spcBef>
              <a:buSzPct val="100000"/>
              <a:buFont typeface="Calibri"/>
              <a:buChar char="✦"/>
              <a:defRPr sz="1100">
                <a:solidFill>
                  <a:srgbClr val="FAF6F0"/>
                </a:solidFill>
              </a:defRPr>
            </a:pPr>
            <a:r>
              <a:t>Named, viable author identity and bio</a:t>
            </a:r>
          </a:p>
          <a:p>
            <a:pPr marL="342900" indent="-342900">
              <a:spcBef>
                <a:spcPts val="400"/>
              </a:spcBef>
              <a:buSzPct val="100000"/>
              <a:buFont typeface="Calibri"/>
              <a:buChar char="✦"/>
              <a:defRPr sz="1100">
                <a:solidFill>
                  <a:srgbClr val="FAF6F0"/>
                </a:solidFill>
              </a:defRPr>
            </a:pPr>
            <a:r>
              <a:t>Widely accepted publishing convention</a:t>
            </a:r>
          </a:p>
          <a:p>
            <a:pPr marL="342900" indent="-342900">
              <a:spcBef>
                <a:spcPts val="400"/>
              </a:spcBef>
              <a:buSzPct val="100000"/>
              <a:buFont typeface="Calibri"/>
              <a:buChar char="✦"/>
              <a:defRPr sz="1100">
                <a:solidFill>
                  <a:srgbClr val="FAF6F0"/>
                </a:solidFill>
              </a:defRPr>
            </a:pPr>
            <a:r>
              <a:t>Readers connect with a relatable human voice</a:t>
            </a:r>
          </a:p>
          <a:p>
            <a:pPr marL="342900" indent="-342900">
              <a:spcBef>
                <a:spcPts val="400"/>
              </a:spcBef>
              <a:buSzPct val="100000"/>
              <a:buFont typeface="Calibri"/>
              <a:buChar char="✦"/>
              <a:defRPr sz="1100">
                <a:solidFill>
                  <a:srgbClr val="FAF6F0"/>
                </a:solidFill>
              </a:defRPr>
            </a:pPr>
            <a:r>
              <a:t>Standard book platforms: KDP, Audible, Apple, Google</a:t>
            </a:r>
          </a:p>
        </p:txBody>
      </p:sp>
      <p:sp>
        <p:nvSpPr>
          <p:cNvPr id="217" name="Shape 10"/>
          <p:cNvSpPr/>
          <p:nvPr/>
        </p:nvSpPr>
        <p:spPr>
          <a:xfrm>
            <a:off x="6263640" y="1828799"/>
            <a:ext cx="5532121" cy="4389122"/>
          </a:xfrm>
          <a:prstGeom prst="rect">
            <a:avLst/>
          </a:prstGeom>
          <a:solidFill>
            <a:srgbClr val="2A1F17"/>
          </a:solidFill>
          <a:ln w="1270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18" name="Shape 11"/>
          <p:cNvSpPr/>
          <p:nvPr/>
        </p:nvSpPr>
        <p:spPr>
          <a:xfrm>
            <a:off x="6263640" y="1828799"/>
            <a:ext cx="5532121" cy="7315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19" name="Text 12"/>
          <p:cNvSpPr txBox="1"/>
          <p:nvPr/>
        </p:nvSpPr>
        <p:spPr>
          <a:xfrm>
            <a:off x="6492240" y="2103164"/>
            <a:ext cx="512064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400" sz="1000">
                <a:solidFill>
                  <a:srgbClr val="F59E0B"/>
                </a:solidFill>
              </a:defRPr>
            </a:lvl1pPr>
          </a:lstStyle>
          <a:p>
            <a:pPr/>
            <a:r>
              <a:t>EI · ENLIGHTENED INTELLIGENCE AUTHOR</a:t>
            </a:r>
          </a:p>
        </p:txBody>
      </p:sp>
      <p:sp>
        <p:nvSpPr>
          <p:cNvPr id="220" name="Text 13"/>
          <p:cNvSpPr txBox="1"/>
          <p:nvPr/>
        </p:nvSpPr>
        <p:spPr>
          <a:xfrm>
            <a:off x="6492240" y="2405379"/>
            <a:ext cx="5120641" cy="35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400">
                <a:solidFill>
                  <a:srgbClr val="FAF6F0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The AI Persona</a:t>
            </a:r>
          </a:p>
        </p:txBody>
      </p:sp>
      <p:sp>
        <p:nvSpPr>
          <p:cNvPr id="221" name="Text 14"/>
          <p:cNvSpPr txBox="1"/>
          <p:nvPr/>
        </p:nvSpPr>
        <p:spPr>
          <a:xfrm>
            <a:off x="6492240" y="3301037"/>
            <a:ext cx="5120641" cy="347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200">
                <a:solidFill>
                  <a:srgbClr val="9C8A7A"/>
                </a:solidFill>
              </a:defRPr>
            </a:lvl1pPr>
          </a:lstStyle>
          <a:p>
            <a:pPr/>
            <a:r>
              <a:t>An AI persona. Transparent. Positioned as a frontier publishing experiment. Byline is explicit: this book was authored by an AI listener.</a:t>
            </a:r>
          </a:p>
        </p:txBody>
      </p:sp>
      <p:sp>
        <p:nvSpPr>
          <p:cNvPr id="222" name="Text 15"/>
          <p:cNvSpPr txBox="1"/>
          <p:nvPr/>
        </p:nvSpPr>
        <p:spPr>
          <a:xfrm>
            <a:off x="6492240" y="4752516"/>
            <a:ext cx="5120641" cy="7819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marL="342900" indent="-342900">
              <a:spcBef>
                <a:spcPts val="400"/>
              </a:spcBef>
              <a:buSzPct val="100000"/>
              <a:buFont typeface="Calibri"/>
              <a:buChar char="✦"/>
              <a:defRPr sz="1100">
                <a:solidFill>
                  <a:srgbClr val="FAF6F0"/>
                </a:solidFill>
              </a:defRPr>
            </a:pPr>
            <a:r>
              <a:t>Transparent: readers know it is an AI author</a:t>
            </a:r>
          </a:p>
          <a:p>
            <a:pPr marL="342900" indent="-342900">
              <a:spcBef>
                <a:spcPts val="400"/>
              </a:spcBef>
              <a:buSzPct val="100000"/>
              <a:buFont typeface="Calibri"/>
              <a:buChar char="✦"/>
              <a:defRPr sz="1100">
                <a:solidFill>
                  <a:srgbClr val="FAF6F0"/>
                </a:solidFill>
              </a:defRPr>
            </a:pPr>
            <a:r>
              <a:t>Built from your atom-bank + somatic heuristics</a:t>
            </a:r>
          </a:p>
          <a:p>
            <a:pPr marL="342900" indent="-342900">
              <a:spcBef>
                <a:spcPts val="400"/>
              </a:spcBef>
              <a:buSzPct val="100000"/>
              <a:buFont typeface="Calibri"/>
              <a:buChar char="✦"/>
              <a:defRPr sz="1100">
                <a:solidFill>
                  <a:srgbClr val="FAF6F0"/>
                </a:solidFill>
              </a:defRPr>
            </a:pPr>
            <a:r>
              <a:t>Appeals to Gen Z's interest in AI + music</a:t>
            </a:r>
          </a:p>
          <a:p>
            <a:pPr marL="342900" indent="-342900">
              <a:spcBef>
                <a:spcPts val="400"/>
              </a:spcBef>
              <a:buSzPct val="100000"/>
              <a:buFont typeface="Calibri"/>
              <a:buChar char="✦"/>
              <a:defRPr sz="1100">
                <a:solidFill>
                  <a:srgbClr val="FAF6F0"/>
                </a:solidFill>
              </a:defRPr>
            </a:pPr>
            <a:r>
              <a:t>A new frontier of reader reach</a:t>
            </a:r>
          </a:p>
        </p:txBody>
      </p:sp>
      <p:sp>
        <p:nvSpPr>
          <p:cNvPr id="223" name="Shape 16"/>
          <p:cNvSpPr/>
          <p:nvPr/>
        </p:nvSpPr>
        <p:spPr>
          <a:xfrm>
            <a:off x="548639" y="6446520"/>
            <a:ext cx="11064242" cy="1"/>
          </a:xfrm>
          <a:prstGeom prst="line">
            <a:avLst/>
          </a:prstGeom>
          <a:ln w="12700">
            <a:solidFill>
              <a:srgbClr val="2A1F1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24" name="Text 17"/>
          <p:cNvSpPr txBox="1"/>
          <p:nvPr/>
        </p:nvSpPr>
        <p:spPr>
          <a:xfrm>
            <a:off x="548640" y="6584188"/>
            <a:ext cx="8229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9C8A7A"/>
                </a:solidFill>
              </a:defRPr>
            </a:lvl1pPr>
          </a:lstStyle>
          <a:p>
            <a:pPr/>
            <a:r>
              <a:t>Pearl Prime · Enlightened Intelligence Publishing · Music Mode V1 + V2</a:t>
            </a:r>
          </a:p>
        </p:txBody>
      </p:sp>
      <p:sp>
        <p:nvSpPr>
          <p:cNvPr id="225" name="Text 18"/>
          <p:cNvSpPr txBox="1"/>
          <p:nvPr/>
        </p:nvSpPr>
        <p:spPr>
          <a:xfrm>
            <a:off x="10515599" y="6584188"/>
            <a:ext cx="109728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9C8A7A"/>
                </a:solidFill>
              </a:defRPr>
            </a:lvl1pPr>
          </a:lstStyle>
          <a:p>
            <a:pPr/>
            <a:r>
              <a:t>9 / 15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E0A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Text 0"/>
          <p:cNvSpPr txBox="1"/>
          <p:nvPr/>
        </p:nvSpPr>
        <p:spPr>
          <a:xfrm>
            <a:off x="548640" y="481506"/>
            <a:ext cx="54864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600" sz="1100">
                <a:solidFill>
                  <a:srgbClr val="F59E0B"/>
                </a:solidFill>
              </a:defRPr>
            </a:lvl1pPr>
          </a:lstStyle>
          <a:p>
            <a:pPr/>
            <a:r>
              <a:t>QUALITY · PLATFORMS · ROLLOUT</a:t>
            </a:r>
          </a:p>
        </p:txBody>
      </p:sp>
      <p:sp>
        <p:nvSpPr>
          <p:cNvPr id="228" name="Shape 1"/>
          <p:cNvSpPr/>
          <p:nvPr/>
        </p:nvSpPr>
        <p:spPr>
          <a:xfrm>
            <a:off x="-1" y="-1"/>
            <a:ext cx="12161522" cy="7315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29" name="Text 2"/>
          <p:cNvSpPr txBox="1"/>
          <p:nvPr/>
        </p:nvSpPr>
        <p:spPr>
          <a:xfrm>
            <a:off x="548639" y="725170"/>
            <a:ext cx="11064242" cy="46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3200">
                <a:solidFill>
                  <a:srgbClr val="FAF6F0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Real Books. Smart Platform Strategy.</a:t>
            </a:r>
          </a:p>
        </p:txBody>
      </p:sp>
      <p:sp>
        <p:nvSpPr>
          <p:cNvPr id="230" name="Text 3"/>
          <p:cNvSpPr txBox="1"/>
          <p:nvPr/>
        </p:nvSpPr>
        <p:spPr>
          <a:xfrm>
            <a:off x="548639" y="1368360"/>
            <a:ext cx="11064242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400">
                <a:solidFill>
                  <a:srgbClr val="F59E0B"/>
                </a:solidFill>
              </a:defRPr>
            </a:lvl1pPr>
          </a:lstStyle>
          <a:p>
            <a:pPr/>
            <a:r>
              <a:t>Not AI slop. Deterministic books on your atom bank. Every brand targets ~800 — length routes to the platform it wins.</a:t>
            </a:r>
          </a:p>
        </p:txBody>
      </p:sp>
      <p:sp>
        <p:nvSpPr>
          <p:cNvPr id="231" name="Shape 4"/>
          <p:cNvSpPr/>
          <p:nvPr/>
        </p:nvSpPr>
        <p:spPr>
          <a:xfrm>
            <a:off x="548639" y="1828799"/>
            <a:ext cx="5303522" cy="4389122"/>
          </a:xfrm>
          <a:prstGeom prst="rect">
            <a:avLst/>
          </a:prstGeom>
          <a:solidFill>
            <a:srgbClr val="2A1F17"/>
          </a:solidFill>
          <a:ln w="1270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32" name="Shape 5"/>
          <p:cNvSpPr/>
          <p:nvPr/>
        </p:nvSpPr>
        <p:spPr>
          <a:xfrm>
            <a:off x="548640" y="1828799"/>
            <a:ext cx="73153" cy="438912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33" name="Text 6"/>
          <p:cNvSpPr txBox="1"/>
          <p:nvPr/>
        </p:nvSpPr>
        <p:spPr>
          <a:xfrm>
            <a:off x="777239" y="2081706"/>
            <a:ext cx="4937762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400" sz="1100">
                <a:solidFill>
                  <a:srgbClr val="F59E0B"/>
                </a:solidFill>
              </a:defRPr>
            </a:lvl1pPr>
          </a:lstStyle>
          <a:p>
            <a:pPr/>
            <a:r>
              <a:t>NOT AI SLOP — DETERMINISTIC BOOKS</a:t>
            </a:r>
          </a:p>
        </p:txBody>
      </p:sp>
      <p:sp>
        <p:nvSpPr>
          <p:cNvPr id="234" name="Text 7"/>
          <p:cNvSpPr txBox="1"/>
          <p:nvPr/>
        </p:nvSpPr>
        <p:spPr>
          <a:xfrm>
            <a:off x="777239" y="2798117"/>
            <a:ext cx="4937762" cy="347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FAF6F0"/>
                </a:solidFill>
              </a:defRPr>
            </a:lvl1pPr>
          </a:lstStyle>
          <a:p>
            <a:pPr/>
            <a:r>
              <a:t>Amazon, Google Play, Apple Books, and every major platform now use AI-detection to filter out low-quality template-swapped content.</a:t>
            </a:r>
          </a:p>
        </p:txBody>
      </p:sp>
      <p:sp>
        <p:nvSpPr>
          <p:cNvPr id="235" name="Text 8"/>
          <p:cNvSpPr txBox="1"/>
          <p:nvPr/>
        </p:nvSpPr>
        <p:spPr>
          <a:xfrm>
            <a:off x="777239" y="4202606"/>
            <a:ext cx="4937762" cy="4644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100">
                <a:solidFill>
                  <a:srgbClr val="9C8A7A"/>
                </a:solidFill>
              </a:defRPr>
            </a:lvl1pPr>
          </a:lstStyle>
          <a:p>
            <a:pPr/>
            <a:r>
              <a:t>Pearl Prime is designed to pass — because the books are genuinely good. Atoms are human-authored by Pearl_Editor and Pearl_Writer with deep expertise in what makes books work. Assembly is deterministic by research-based rules.</a:t>
            </a:r>
          </a:p>
        </p:txBody>
      </p:sp>
      <p:sp>
        <p:nvSpPr>
          <p:cNvPr id="236" name="Text 9"/>
          <p:cNvSpPr txBox="1"/>
          <p:nvPr/>
        </p:nvSpPr>
        <p:spPr>
          <a:xfrm>
            <a:off x="777239" y="5602146"/>
            <a:ext cx="4937762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F59E0B"/>
                </a:solidFill>
              </a:defRPr>
            </a:lvl1pPr>
          </a:lstStyle>
          <a:p>
            <a:pPr/>
            <a:r>
              <a:t>Platforms: KDP · Audible · Apple Books · Google Play</a:t>
            </a:r>
          </a:p>
        </p:txBody>
      </p:sp>
      <p:sp>
        <p:nvSpPr>
          <p:cNvPr id="237" name="Shape 10"/>
          <p:cNvSpPr/>
          <p:nvPr/>
        </p:nvSpPr>
        <p:spPr>
          <a:xfrm>
            <a:off x="6126479" y="1828799"/>
            <a:ext cx="5486401" cy="4389122"/>
          </a:xfrm>
          <a:prstGeom prst="rect">
            <a:avLst/>
          </a:prstGeom>
          <a:solidFill>
            <a:srgbClr val="1A1108"/>
          </a:solidFill>
          <a:ln w="1270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38" name="Shape 11"/>
          <p:cNvSpPr/>
          <p:nvPr/>
        </p:nvSpPr>
        <p:spPr>
          <a:xfrm>
            <a:off x="6126479" y="1828799"/>
            <a:ext cx="73153" cy="438912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39" name="Text 12"/>
          <p:cNvSpPr txBox="1"/>
          <p:nvPr/>
        </p:nvSpPr>
        <p:spPr>
          <a:xfrm>
            <a:off x="6355079" y="2081706"/>
            <a:ext cx="512064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400" sz="1100">
                <a:solidFill>
                  <a:srgbClr val="F59E0B"/>
                </a:solidFill>
              </a:defRPr>
            </a:lvl1pPr>
          </a:lstStyle>
          <a:p>
            <a:pPr/>
            <a:r>
              <a:t>PER-PLATFORM ROLLOUT</a:t>
            </a:r>
          </a:p>
        </p:txBody>
      </p:sp>
      <p:sp>
        <p:nvSpPr>
          <p:cNvPr id="240" name="Shape 13"/>
          <p:cNvSpPr/>
          <p:nvPr/>
        </p:nvSpPr>
        <p:spPr>
          <a:xfrm>
            <a:off x="6355079" y="2423160"/>
            <a:ext cx="5074921" cy="1097281"/>
          </a:xfrm>
          <a:prstGeom prst="rect">
            <a:avLst/>
          </a:prstGeom>
          <a:solidFill>
            <a:srgbClr val="0E0A06"/>
          </a:solidFill>
          <a:ln w="1270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41" name="Text 14"/>
          <p:cNvSpPr txBox="1"/>
          <p:nvPr/>
        </p:nvSpPr>
        <p:spPr>
          <a:xfrm>
            <a:off x="6537959" y="2614099"/>
            <a:ext cx="1463041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400" sz="1300">
                <a:solidFill>
                  <a:srgbClr val="F59E0B"/>
                </a:solidFill>
              </a:defRPr>
            </a:lvl1pPr>
          </a:lstStyle>
          <a:p>
            <a:pPr/>
            <a:r>
              <a:t>FLAGSHIP</a:t>
            </a:r>
          </a:p>
        </p:txBody>
      </p:sp>
      <p:sp>
        <p:nvSpPr>
          <p:cNvPr id="242" name="Text 15"/>
          <p:cNvSpPr txBox="1"/>
          <p:nvPr/>
        </p:nvSpPr>
        <p:spPr>
          <a:xfrm>
            <a:off x="6537959" y="2945129"/>
            <a:ext cx="1463041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800">
                <a:solidFill>
                  <a:srgbClr val="FAF6F0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T7</a:t>
            </a:r>
          </a:p>
        </p:txBody>
      </p:sp>
      <p:sp>
        <p:nvSpPr>
          <p:cNvPr id="243" name="Text 16"/>
          <p:cNvSpPr txBox="1"/>
          <p:nvPr/>
        </p:nvSpPr>
        <p:spPr>
          <a:xfrm>
            <a:off x="8092440" y="2866434"/>
            <a:ext cx="3246121" cy="302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FAF6F0"/>
                </a:solidFill>
              </a:defRPr>
            </a:lvl1pPr>
          </a:lstStyle>
          <a:p>
            <a:pPr/>
            <a:r>
              <a:t>~52k words. Wins full KDP ebook + Audible + Spotify audiobook at once — the only tier that wins the paid-book surfaces.</a:t>
            </a:r>
          </a:p>
        </p:txBody>
      </p:sp>
      <p:sp>
        <p:nvSpPr>
          <p:cNvPr id="244" name="Shape 17"/>
          <p:cNvSpPr/>
          <p:nvPr/>
        </p:nvSpPr>
        <p:spPr>
          <a:xfrm>
            <a:off x="6355079" y="3657599"/>
            <a:ext cx="5074921" cy="1097282"/>
          </a:xfrm>
          <a:prstGeom prst="rect">
            <a:avLst/>
          </a:prstGeom>
          <a:solidFill>
            <a:srgbClr val="0E0A06"/>
          </a:solidFill>
          <a:ln w="1270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45" name="Text 18"/>
          <p:cNvSpPr txBox="1"/>
          <p:nvPr/>
        </p:nvSpPr>
        <p:spPr>
          <a:xfrm>
            <a:off x="6537959" y="3848539"/>
            <a:ext cx="1463041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400" sz="1300">
                <a:solidFill>
                  <a:srgbClr val="F59E0B"/>
                </a:solidFill>
              </a:defRPr>
            </a:lvl1pPr>
          </a:lstStyle>
          <a:p>
            <a:pPr/>
            <a:r>
              <a:t>FUNNEL</a:t>
            </a:r>
          </a:p>
        </p:txBody>
      </p:sp>
      <p:sp>
        <p:nvSpPr>
          <p:cNvPr id="246" name="Text 19"/>
          <p:cNvSpPr txBox="1"/>
          <p:nvPr/>
        </p:nvSpPr>
        <p:spPr>
          <a:xfrm>
            <a:off x="6537959" y="4179569"/>
            <a:ext cx="1463041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800">
                <a:solidFill>
                  <a:srgbClr val="FAF6F0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T1–T5</a:t>
            </a:r>
          </a:p>
        </p:txBody>
      </p:sp>
      <p:sp>
        <p:nvSpPr>
          <p:cNvPr id="247" name="Text 20"/>
          <p:cNvSpPr txBox="1"/>
          <p:nvPr/>
        </p:nvSpPr>
        <p:spPr>
          <a:xfrm>
            <a:off x="8092440" y="4100874"/>
            <a:ext cx="3246121" cy="302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FAF6F0"/>
                </a:solidFill>
              </a:defRPr>
            </a:lvl1pPr>
          </a:lstStyle>
          <a:p>
            <a:pPr/>
            <a:r>
              <a:t>Short Reads, podcast seasons, free AI-narration samples, social. The on-ramp tiers — mis-sold as books, ideal as funnel.</a:t>
            </a:r>
          </a:p>
        </p:txBody>
      </p:sp>
      <p:sp>
        <p:nvSpPr>
          <p:cNvPr id="248" name="Shape 21"/>
          <p:cNvSpPr/>
          <p:nvPr/>
        </p:nvSpPr>
        <p:spPr>
          <a:xfrm>
            <a:off x="6355079" y="4892040"/>
            <a:ext cx="5074921" cy="1097281"/>
          </a:xfrm>
          <a:prstGeom prst="rect">
            <a:avLst/>
          </a:prstGeom>
          <a:solidFill>
            <a:srgbClr val="0E0A06"/>
          </a:solidFill>
          <a:ln w="1270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49" name="Text 22"/>
          <p:cNvSpPr txBox="1"/>
          <p:nvPr/>
        </p:nvSpPr>
        <p:spPr>
          <a:xfrm>
            <a:off x="6537959" y="5082978"/>
            <a:ext cx="1463041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400" sz="1300">
                <a:solidFill>
                  <a:srgbClr val="F59E0B"/>
                </a:solidFill>
              </a:defRPr>
            </a:lvl1pPr>
          </a:lstStyle>
          <a:p>
            <a:pPr/>
            <a:r>
              <a:t>SEQUENCE</a:t>
            </a:r>
          </a:p>
        </p:txBody>
      </p:sp>
      <p:sp>
        <p:nvSpPr>
          <p:cNvPr id="250" name="Text 23"/>
          <p:cNvSpPr txBox="1"/>
          <p:nvPr/>
        </p:nvSpPr>
        <p:spPr>
          <a:xfrm>
            <a:off x="6537959" y="5414010"/>
            <a:ext cx="1463041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800">
                <a:solidFill>
                  <a:srgbClr val="FAF6F0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251" name="Text 24"/>
          <p:cNvSpPr txBox="1"/>
          <p:nvPr/>
        </p:nvSpPr>
        <p:spPr>
          <a:xfrm>
            <a:off x="8092440" y="5335314"/>
            <a:ext cx="3246121" cy="302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FAF6F0"/>
                </a:solidFill>
              </a:defRPr>
            </a:lvl1pPr>
          </a:lstStyle>
          <a:p>
            <a:pPr/>
            <a:r>
              <a:t>Flagship first (KDP + Audible), then funnel tiers fan across podcast / short-read / social. Volume follows Pearl Prime: ~800 high-confidence configs.</a:t>
            </a:r>
          </a:p>
        </p:txBody>
      </p:sp>
      <p:sp>
        <p:nvSpPr>
          <p:cNvPr id="252" name="Shape 25"/>
          <p:cNvSpPr/>
          <p:nvPr/>
        </p:nvSpPr>
        <p:spPr>
          <a:xfrm>
            <a:off x="548639" y="6446520"/>
            <a:ext cx="11064242" cy="1"/>
          </a:xfrm>
          <a:prstGeom prst="line">
            <a:avLst/>
          </a:prstGeom>
          <a:ln w="12700">
            <a:solidFill>
              <a:srgbClr val="2A1F1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53" name="Text 26"/>
          <p:cNvSpPr txBox="1"/>
          <p:nvPr/>
        </p:nvSpPr>
        <p:spPr>
          <a:xfrm>
            <a:off x="548640" y="6584188"/>
            <a:ext cx="8229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9C8A7A"/>
                </a:solidFill>
              </a:defRPr>
            </a:lvl1pPr>
          </a:lstStyle>
          <a:p>
            <a:pPr/>
            <a:r>
              <a:t>Pearl Prime · Enlightened Intelligence Publishing · Music Mode V1 + V2</a:t>
            </a:r>
          </a:p>
        </p:txBody>
      </p:sp>
      <p:sp>
        <p:nvSpPr>
          <p:cNvPr id="254" name="Text 27"/>
          <p:cNvSpPr txBox="1"/>
          <p:nvPr/>
        </p:nvSpPr>
        <p:spPr>
          <a:xfrm>
            <a:off x="10515599" y="6584188"/>
            <a:ext cx="109728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9C8A7A"/>
                </a:solidFill>
              </a:defRPr>
            </a:lvl1pPr>
          </a:lstStyle>
          <a:p>
            <a:pPr/>
            <a:r>
              <a:t>10 / 15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E0A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Text 0"/>
          <p:cNvSpPr txBox="1"/>
          <p:nvPr/>
        </p:nvSpPr>
        <p:spPr>
          <a:xfrm>
            <a:off x="548640" y="481506"/>
            <a:ext cx="54864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600" sz="1100">
                <a:solidFill>
                  <a:srgbClr val="F59E0B"/>
                </a:solidFill>
              </a:defRPr>
            </a:lvl1pPr>
          </a:lstStyle>
          <a:p>
            <a:pPr/>
            <a:r>
              <a:t>BRAND SYSTEM</a:t>
            </a:r>
          </a:p>
        </p:txBody>
      </p:sp>
      <p:sp>
        <p:nvSpPr>
          <p:cNvPr id="257" name="Shape 1"/>
          <p:cNvSpPr/>
          <p:nvPr/>
        </p:nvSpPr>
        <p:spPr>
          <a:xfrm>
            <a:off x="-1" y="-1"/>
            <a:ext cx="12161522" cy="7315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58" name="Text 2"/>
          <p:cNvSpPr txBox="1"/>
          <p:nvPr/>
        </p:nvSpPr>
        <p:spPr>
          <a:xfrm>
            <a:off x="548639" y="725170"/>
            <a:ext cx="11064242" cy="46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3200">
                <a:solidFill>
                  <a:srgbClr val="FAF6F0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Music-Mode Brands. Your Unique Sonic Lane.</a:t>
            </a:r>
          </a:p>
        </p:txBody>
      </p:sp>
      <p:sp>
        <p:nvSpPr>
          <p:cNvPr id="259" name="Text 3"/>
          <p:cNvSpPr txBox="1"/>
          <p:nvPr/>
        </p:nvSpPr>
        <p:spPr>
          <a:xfrm>
            <a:off x="548639" y="1368360"/>
            <a:ext cx="11064242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400">
                <a:solidFill>
                  <a:srgbClr val="F59E0B"/>
                </a:solidFill>
              </a:defRPr>
            </a:lvl1pPr>
          </a:lstStyle>
          <a:p>
            <a:pPr/>
            <a:r>
              <a:t>First-class archetype. Architecturally separate from the 37 Path X teacher / manga brands. brand_id starts at id space 38+, open-ended.</a:t>
            </a:r>
          </a:p>
        </p:txBody>
      </p:sp>
      <p:sp>
        <p:nvSpPr>
          <p:cNvPr id="260" name="Shape 4"/>
          <p:cNvSpPr/>
          <p:nvPr/>
        </p:nvSpPr>
        <p:spPr>
          <a:xfrm>
            <a:off x="548640" y="1828800"/>
            <a:ext cx="3657601" cy="1371600"/>
          </a:xfrm>
          <a:prstGeom prst="rect">
            <a:avLst/>
          </a:prstGeom>
          <a:solidFill>
            <a:srgbClr val="2A1F17"/>
          </a:solidFill>
          <a:ln w="1270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61" name="Shape 5"/>
          <p:cNvSpPr/>
          <p:nvPr/>
        </p:nvSpPr>
        <p:spPr>
          <a:xfrm>
            <a:off x="548640" y="1828800"/>
            <a:ext cx="54865" cy="13716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62" name="Text 6"/>
          <p:cNvSpPr txBox="1"/>
          <p:nvPr/>
        </p:nvSpPr>
        <p:spPr>
          <a:xfrm>
            <a:off x="731519" y="2004060"/>
            <a:ext cx="457201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200">
                <a:solidFill>
                  <a:srgbClr val="F59E0B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🎯</a:t>
            </a:r>
          </a:p>
        </p:txBody>
      </p:sp>
      <p:sp>
        <p:nvSpPr>
          <p:cNvPr id="263" name="Text 7"/>
          <p:cNvSpPr txBox="1"/>
          <p:nvPr/>
        </p:nvSpPr>
        <p:spPr>
          <a:xfrm>
            <a:off x="1280160" y="2014219"/>
            <a:ext cx="274320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FAF6F0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One Musician Per Brand</a:t>
            </a:r>
          </a:p>
        </p:txBody>
      </p:sp>
      <p:sp>
        <p:nvSpPr>
          <p:cNvPr id="264" name="Text 8"/>
          <p:cNvSpPr txBox="1"/>
          <p:nvPr/>
        </p:nvSpPr>
        <p:spPr>
          <a:xfrm>
            <a:off x="1280160" y="2592114"/>
            <a:ext cx="2743201" cy="302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9C8A7A"/>
                </a:solidFill>
              </a:defRPr>
            </a:lvl1pPr>
          </a:lstStyle>
          <a:p>
            <a:pPr/>
            <a:r>
              <a:t>Your brand is yours alone. No co-mingling under one brand id.</a:t>
            </a:r>
          </a:p>
        </p:txBody>
      </p:sp>
      <p:sp>
        <p:nvSpPr>
          <p:cNvPr id="265" name="Shape 9"/>
          <p:cNvSpPr/>
          <p:nvPr/>
        </p:nvSpPr>
        <p:spPr>
          <a:xfrm>
            <a:off x="4343400" y="1828800"/>
            <a:ext cx="3657600" cy="1371600"/>
          </a:xfrm>
          <a:prstGeom prst="rect">
            <a:avLst/>
          </a:prstGeom>
          <a:solidFill>
            <a:srgbClr val="2A1F17"/>
          </a:solidFill>
          <a:ln w="1270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66" name="Shape 10"/>
          <p:cNvSpPr/>
          <p:nvPr/>
        </p:nvSpPr>
        <p:spPr>
          <a:xfrm>
            <a:off x="4343400" y="1828800"/>
            <a:ext cx="54864" cy="13716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67" name="Text 11"/>
          <p:cNvSpPr txBox="1"/>
          <p:nvPr/>
        </p:nvSpPr>
        <p:spPr>
          <a:xfrm>
            <a:off x="4526279" y="2004060"/>
            <a:ext cx="457201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200">
                <a:solidFill>
                  <a:srgbClr val="F59E0B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🔑</a:t>
            </a:r>
          </a:p>
        </p:txBody>
      </p:sp>
      <p:sp>
        <p:nvSpPr>
          <p:cNvPr id="268" name="Text 12"/>
          <p:cNvSpPr txBox="1"/>
          <p:nvPr/>
        </p:nvSpPr>
        <p:spPr>
          <a:xfrm>
            <a:off x="5074920" y="2014219"/>
            <a:ext cx="274320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FAF6F0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Brand Director</a:t>
            </a:r>
          </a:p>
        </p:txBody>
      </p:sp>
      <p:sp>
        <p:nvSpPr>
          <p:cNvPr id="269" name="Text 13"/>
          <p:cNvSpPr txBox="1"/>
          <p:nvPr/>
        </p:nvSpPr>
        <p:spPr>
          <a:xfrm>
            <a:off x="5074920" y="2592114"/>
            <a:ext cx="2743201" cy="302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9C8A7A"/>
                </a:solidFill>
              </a:defRPr>
            </a:lvl1pPr>
          </a:lstStyle>
          <a:p>
            <a:pPr/>
            <a:r>
              <a:t>You or a devoted listener onboards via wizard; owns survey, reviews, corrections.</a:t>
            </a:r>
          </a:p>
        </p:txBody>
      </p:sp>
      <p:sp>
        <p:nvSpPr>
          <p:cNvPr id="270" name="Shape 14"/>
          <p:cNvSpPr/>
          <p:nvPr/>
        </p:nvSpPr>
        <p:spPr>
          <a:xfrm>
            <a:off x="8138159" y="1828800"/>
            <a:ext cx="3657601" cy="1371600"/>
          </a:xfrm>
          <a:prstGeom prst="rect">
            <a:avLst/>
          </a:prstGeom>
          <a:solidFill>
            <a:srgbClr val="2A1F17"/>
          </a:solidFill>
          <a:ln w="1270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71" name="Shape 15"/>
          <p:cNvSpPr/>
          <p:nvPr/>
        </p:nvSpPr>
        <p:spPr>
          <a:xfrm>
            <a:off x="8138159" y="1828800"/>
            <a:ext cx="54865" cy="13716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72" name="Text 16"/>
          <p:cNvSpPr txBox="1"/>
          <p:nvPr/>
        </p:nvSpPr>
        <p:spPr>
          <a:xfrm>
            <a:off x="8321040" y="2004060"/>
            <a:ext cx="457201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200">
                <a:solidFill>
                  <a:srgbClr val="F59E0B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📊</a:t>
            </a:r>
          </a:p>
        </p:txBody>
      </p:sp>
      <p:sp>
        <p:nvSpPr>
          <p:cNvPr id="273" name="Text 17"/>
          <p:cNvSpPr txBox="1"/>
          <p:nvPr/>
        </p:nvSpPr>
        <p:spPr>
          <a:xfrm>
            <a:off x="8869680" y="2014219"/>
            <a:ext cx="274320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FAF6F0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~800 Book Catalog</a:t>
            </a:r>
          </a:p>
        </p:txBody>
      </p:sp>
      <p:sp>
        <p:nvSpPr>
          <p:cNvPr id="274" name="Text 18"/>
          <p:cNvSpPr txBox="1"/>
          <p:nvPr/>
        </p:nvSpPr>
        <p:spPr>
          <a:xfrm>
            <a:off x="8869680" y="2674664"/>
            <a:ext cx="274320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9C8A7A"/>
                </a:solidFill>
              </a:defRPr>
            </a:lvl1pPr>
          </a:lstStyle>
          <a:p>
            <a:pPr/>
            <a:r>
              <a:t>Standard 800 book catalog</a:t>
            </a:r>
          </a:p>
        </p:txBody>
      </p:sp>
      <p:sp>
        <p:nvSpPr>
          <p:cNvPr id="275" name="Shape 19"/>
          <p:cNvSpPr/>
          <p:nvPr/>
        </p:nvSpPr>
        <p:spPr>
          <a:xfrm>
            <a:off x="548640" y="3337559"/>
            <a:ext cx="3657601" cy="1371601"/>
          </a:xfrm>
          <a:prstGeom prst="rect">
            <a:avLst/>
          </a:prstGeom>
          <a:solidFill>
            <a:srgbClr val="2A1F17"/>
          </a:solidFill>
          <a:ln w="1270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76" name="Shape 20"/>
          <p:cNvSpPr/>
          <p:nvPr/>
        </p:nvSpPr>
        <p:spPr>
          <a:xfrm>
            <a:off x="548640" y="3337559"/>
            <a:ext cx="54865" cy="1371601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77" name="Text 21"/>
          <p:cNvSpPr txBox="1"/>
          <p:nvPr/>
        </p:nvSpPr>
        <p:spPr>
          <a:xfrm>
            <a:off x="731519" y="3512820"/>
            <a:ext cx="457201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200">
                <a:solidFill>
                  <a:srgbClr val="F59E0B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🌐</a:t>
            </a:r>
          </a:p>
        </p:txBody>
      </p:sp>
      <p:sp>
        <p:nvSpPr>
          <p:cNvPr id="278" name="Text 22"/>
          <p:cNvSpPr txBox="1"/>
          <p:nvPr/>
        </p:nvSpPr>
        <p:spPr>
          <a:xfrm>
            <a:off x="1280160" y="3522979"/>
            <a:ext cx="274320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FAF6F0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14 Markets Active</a:t>
            </a:r>
          </a:p>
        </p:txBody>
      </p:sp>
      <p:sp>
        <p:nvSpPr>
          <p:cNvPr id="279" name="Text 23"/>
          <p:cNvSpPr txBox="1"/>
          <p:nvPr/>
        </p:nvSpPr>
        <p:spPr>
          <a:xfrm>
            <a:off x="1280160" y="4100874"/>
            <a:ext cx="2743201" cy="302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9C8A7A"/>
                </a:solidFill>
              </a:defRPr>
            </a:lvl1pPr>
          </a:lstStyle>
          <a:p>
            <a:pPr/>
            <a:r>
              <a:t>US, Japan, Taiwan, China primary. Per-locale parity via Pearl_Localization.</a:t>
            </a:r>
          </a:p>
        </p:txBody>
      </p:sp>
      <p:sp>
        <p:nvSpPr>
          <p:cNvPr id="280" name="Shape 24"/>
          <p:cNvSpPr/>
          <p:nvPr/>
        </p:nvSpPr>
        <p:spPr>
          <a:xfrm>
            <a:off x="4343400" y="3337559"/>
            <a:ext cx="3657600" cy="1371601"/>
          </a:xfrm>
          <a:prstGeom prst="rect">
            <a:avLst/>
          </a:prstGeom>
          <a:solidFill>
            <a:srgbClr val="2A1F17"/>
          </a:solidFill>
          <a:ln w="1270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81" name="Shape 25"/>
          <p:cNvSpPr/>
          <p:nvPr/>
        </p:nvSpPr>
        <p:spPr>
          <a:xfrm>
            <a:off x="4343400" y="3337559"/>
            <a:ext cx="54864" cy="1371601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82" name="Text 26"/>
          <p:cNvSpPr txBox="1"/>
          <p:nvPr/>
        </p:nvSpPr>
        <p:spPr>
          <a:xfrm>
            <a:off x="4526279" y="3512820"/>
            <a:ext cx="457201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200">
                <a:solidFill>
                  <a:srgbClr val="F59E0B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🎶</a:t>
            </a:r>
          </a:p>
        </p:txBody>
      </p:sp>
      <p:sp>
        <p:nvSpPr>
          <p:cNvPr id="283" name="Text 27"/>
          <p:cNvSpPr txBox="1"/>
          <p:nvPr/>
        </p:nvSpPr>
        <p:spPr>
          <a:xfrm>
            <a:off x="5074920" y="3522979"/>
            <a:ext cx="274320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FAF6F0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Music Stays on Your Channels</a:t>
            </a:r>
          </a:p>
        </p:txBody>
      </p:sp>
      <p:sp>
        <p:nvSpPr>
          <p:cNvPr id="284" name="Text 28"/>
          <p:cNvSpPr txBox="1"/>
          <p:nvPr/>
        </p:nvSpPr>
        <p:spPr>
          <a:xfrm>
            <a:off x="5074920" y="4100874"/>
            <a:ext cx="2743201" cy="302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9C8A7A"/>
                </a:solidFill>
              </a:defRPr>
            </a:lvl1pPr>
          </a:lstStyle>
          <a:p>
            <a:pPr/>
            <a:r>
              <a:t>We never redistribute your music as files; each book links readers to it. An internal MusicGen prompt is optional, brand-admin only.</a:t>
            </a:r>
          </a:p>
        </p:txBody>
      </p:sp>
      <p:sp>
        <p:nvSpPr>
          <p:cNvPr id="285" name="Shape 29"/>
          <p:cNvSpPr/>
          <p:nvPr/>
        </p:nvSpPr>
        <p:spPr>
          <a:xfrm>
            <a:off x="8138159" y="3337559"/>
            <a:ext cx="3657601" cy="1371601"/>
          </a:xfrm>
          <a:prstGeom prst="rect">
            <a:avLst/>
          </a:prstGeom>
          <a:solidFill>
            <a:srgbClr val="2A1F17"/>
          </a:solidFill>
          <a:ln w="1270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86" name="Shape 30"/>
          <p:cNvSpPr/>
          <p:nvPr/>
        </p:nvSpPr>
        <p:spPr>
          <a:xfrm>
            <a:off x="8138159" y="3337559"/>
            <a:ext cx="54865" cy="1371601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87" name="Text 31"/>
          <p:cNvSpPr txBox="1"/>
          <p:nvPr/>
        </p:nvSpPr>
        <p:spPr>
          <a:xfrm>
            <a:off x="8321040" y="3512820"/>
            <a:ext cx="457201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200">
                <a:solidFill>
                  <a:srgbClr val="F59E0B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📈</a:t>
            </a:r>
          </a:p>
        </p:txBody>
      </p:sp>
      <p:sp>
        <p:nvSpPr>
          <p:cNvPr id="288" name="Text 32"/>
          <p:cNvSpPr txBox="1"/>
          <p:nvPr/>
        </p:nvSpPr>
        <p:spPr>
          <a:xfrm>
            <a:off x="8869680" y="3522979"/>
            <a:ext cx="274320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FAF6F0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Scales With Material</a:t>
            </a:r>
          </a:p>
        </p:txBody>
      </p:sp>
      <p:sp>
        <p:nvSpPr>
          <p:cNvPr id="289" name="Text 33"/>
          <p:cNvSpPr txBox="1"/>
          <p:nvPr/>
        </p:nvSpPr>
        <p:spPr>
          <a:xfrm>
            <a:off x="8869680" y="4100874"/>
            <a:ext cx="2743201" cy="302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9C8A7A"/>
                </a:solidFill>
              </a:defRPr>
            </a:lvl1pPr>
          </a:lstStyle>
          <a:p>
            <a:pPr/>
            <a:r>
              <a:t>More survey + touchstones + corrections = more accurate sound representation.</a:t>
            </a:r>
          </a:p>
        </p:txBody>
      </p:sp>
      <p:sp>
        <p:nvSpPr>
          <p:cNvPr id="290" name="Shape 34"/>
          <p:cNvSpPr/>
          <p:nvPr/>
        </p:nvSpPr>
        <p:spPr>
          <a:xfrm>
            <a:off x="548639" y="4937759"/>
            <a:ext cx="11064242" cy="1188721"/>
          </a:xfrm>
          <a:prstGeom prst="rect">
            <a:avLst/>
          </a:prstGeom>
          <a:solidFill>
            <a:srgbClr val="0E0A06"/>
          </a:solidFill>
          <a:ln w="1270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91" name="Text 35"/>
          <p:cNvSpPr txBox="1"/>
          <p:nvPr/>
        </p:nvSpPr>
        <p:spPr>
          <a:xfrm>
            <a:off x="777240" y="5120684"/>
            <a:ext cx="365760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400" sz="1000">
                <a:solidFill>
                  <a:srgbClr val="F59E0B"/>
                </a:solidFill>
              </a:defRPr>
            </a:lvl1pPr>
          </a:lstStyle>
          <a:p>
            <a:pPr/>
            <a:r>
              <a:t>brand_id pattern</a:t>
            </a:r>
          </a:p>
        </p:txBody>
      </p:sp>
      <p:sp>
        <p:nvSpPr>
          <p:cNvPr id="292" name="Text 36"/>
          <p:cNvSpPr txBox="1"/>
          <p:nvPr/>
        </p:nvSpPr>
        <p:spPr>
          <a:xfrm>
            <a:off x="777240" y="5393690"/>
            <a:ext cx="5486401" cy="368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400">
                <a:solidFill>
                  <a:srgbClr val="FAF6F0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&lt;musician_handle&gt;_music</a:t>
            </a:r>
          </a:p>
        </p:txBody>
      </p:sp>
      <p:sp>
        <p:nvSpPr>
          <p:cNvPr id="293" name="Text 37"/>
          <p:cNvSpPr txBox="1"/>
          <p:nvPr/>
        </p:nvSpPr>
        <p:spPr>
          <a:xfrm>
            <a:off x="777240" y="5876466"/>
            <a:ext cx="10972801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100">
                <a:solidFill>
                  <a:srgbClr val="9C8A7A"/>
                </a:solidFill>
              </a:defRPr>
            </a:lvl1pPr>
          </a:lstStyle>
          <a:p>
            <a:pPr/>
            <a:r>
              <a:t>Examples: ahjansam_music, junko_music. Hard-locked default; alternates require AMENDMENT.</a:t>
            </a:r>
          </a:p>
        </p:txBody>
      </p:sp>
      <p:sp>
        <p:nvSpPr>
          <p:cNvPr id="294" name="Shape 38"/>
          <p:cNvSpPr/>
          <p:nvPr/>
        </p:nvSpPr>
        <p:spPr>
          <a:xfrm>
            <a:off x="548639" y="6446520"/>
            <a:ext cx="11064242" cy="1"/>
          </a:xfrm>
          <a:prstGeom prst="line">
            <a:avLst/>
          </a:prstGeom>
          <a:ln w="12700">
            <a:solidFill>
              <a:srgbClr val="2A1F1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95" name="Text 39"/>
          <p:cNvSpPr txBox="1"/>
          <p:nvPr/>
        </p:nvSpPr>
        <p:spPr>
          <a:xfrm>
            <a:off x="548640" y="6584188"/>
            <a:ext cx="8229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9C8A7A"/>
                </a:solidFill>
              </a:defRPr>
            </a:lvl1pPr>
          </a:lstStyle>
          <a:p>
            <a:pPr/>
            <a:r>
              <a:t>Pearl Prime · Enlightened Intelligence Publishing · Music Mode V1 + V2</a:t>
            </a:r>
          </a:p>
        </p:txBody>
      </p:sp>
      <p:sp>
        <p:nvSpPr>
          <p:cNvPr id="296" name="Text 40"/>
          <p:cNvSpPr txBox="1"/>
          <p:nvPr/>
        </p:nvSpPr>
        <p:spPr>
          <a:xfrm>
            <a:off x="10515599" y="6584188"/>
            <a:ext cx="109728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9C8A7A"/>
                </a:solidFill>
              </a:defRPr>
            </a:lvl1pPr>
          </a:lstStyle>
          <a:p>
            <a:pPr/>
            <a:r>
              <a:t>11 / 15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E0A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Text 0"/>
          <p:cNvSpPr txBox="1"/>
          <p:nvPr/>
        </p:nvSpPr>
        <p:spPr>
          <a:xfrm>
            <a:off x="548640" y="481506"/>
            <a:ext cx="54864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600" sz="1100">
                <a:solidFill>
                  <a:srgbClr val="F59E0B"/>
                </a:solidFill>
              </a:defRPr>
            </a:lvl1pPr>
          </a:lstStyle>
          <a:p>
            <a:pPr/>
            <a:r>
              <a:t>NEXT STEPS</a:t>
            </a:r>
          </a:p>
        </p:txBody>
      </p:sp>
      <p:sp>
        <p:nvSpPr>
          <p:cNvPr id="299" name="Shape 1"/>
          <p:cNvSpPr/>
          <p:nvPr/>
        </p:nvSpPr>
        <p:spPr>
          <a:xfrm>
            <a:off x="-1" y="-1"/>
            <a:ext cx="12161522" cy="7315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00" name="Text 2"/>
          <p:cNvSpPr txBox="1"/>
          <p:nvPr/>
        </p:nvSpPr>
        <p:spPr>
          <a:xfrm>
            <a:off x="548639" y="725169"/>
            <a:ext cx="11064242" cy="46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3200">
                <a:solidFill>
                  <a:srgbClr val="FAF6F0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How Your Music Enters the Platform</a:t>
            </a:r>
          </a:p>
        </p:txBody>
      </p:sp>
      <p:sp>
        <p:nvSpPr>
          <p:cNvPr id="301" name="Text 3"/>
          <p:cNvSpPr txBox="1"/>
          <p:nvPr/>
        </p:nvSpPr>
        <p:spPr>
          <a:xfrm>
            <a:off x="548639" y="1368360"/>
            <a:ext cx="11064242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400">
                <a:solidFill>
                  <a:srgbClr val="F59E0B"/>
                </a:solidFill>
              </a:defRPr>
            </a:lvl1pPr>
          </a:lstStyle>
          <a:p>
            <a:pPr/>
            <a:r>
              <a:t>Six-step onboarding through the live wizard.</a:t>
            </a:r>
          </a:p>
        </p:txBody>
      </p:sp>
      <p:sp>
        <p:nvSpPr>
          <p:cNvPr id="302" name="Shape 4"/>
          <p:cNvSpPr/>
          <p:nvPr/>
        </p:nvSpPr>
        <p:spPr>
          <a:xfrm>
            <a:off x="548640" y="1828800"/>
            <a:ext cx="5486401" cy="1188720"/>
          </a:xfrm>
          <a:prstGeom prst="rect">
            <a:avLst/>
          </a:prstGeom>
          <a:solidFill>
            <a:srgbClr val="2A1F17"/>
          </a:solidFill>
          <a:ln w="1270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03" name="Shape 5"/>
          <p:cNvSpPr/>
          <p:nvPr/>
        </p:nvSpPr>
        <p:spPr>
          <a:xfrm>
            <a:off x="685800" y="2148839"/>
            <a:ext cx="502921" cy="502921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04" name="Text 6"/>
          <p:cNvSpPr txBox="1"/>
          <p:nvPr/>
        </p:nvSpPr>
        <p:spPr>
          <a:xfrm>
            <a:off x="685800" y="2254249"/>
            <a:ext cx="502920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2000">
                <a:solidFill>
                  <a:srgbClr val="0E0A06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305" name="Text 7"/>
          <p:cNvSpPr txBox="1"/>
          <p:nvPr/>
        </p:nvSpPr>
        <p:spPr>
          <a:xfrm>
            <a:off x="1325880" y="2059940"/>
            <a:ext cx="457200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FAF6F0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Brand Director</a:t>
            </a:r>
          </a:p>
        </p:txBody>
      </p:sp>
      <p:sp>
        <p:nvSpPr>
          <p:cNvPr id="306" name="Text 8"/>
          <p:cNvSpPr txBox="1"/>
          <p:nvPr/>
        </p:nvSpPr>
        <p:spPr>
          <a:xfrm>
            <a:off x="1325880" y="2500674"/>
            <a:ext cx="4572001" cy="302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9C8A7A"/>
                </a:solidFill>
              </a:defRPr>
            </a:lvl1pPr>
          </a:lstStyle>
          <a:p>
            <a:pPr/>
            <a:r>
              <a:t>You or a devoted listener or student registers via Pearl Prime wizard at the wizard app's HTTP route.</a:t>
            </a:r>
          </a:p>
        </p:txBody>
      </p:sp>
      <p:sp>
        <p:nvSpPr>
          <p:cNvPr id="307" name="Shape 9"/>
          <p:cNvSpPr/>
          <p:nvPr/>
        </p:nvSpPr>
        <p:spPr>
          <a:xfrm>
            <a:off x="6217920" y="1828800"/>
            <a:ext cx="5486401" cy="1188720"/>
          </a:xfrm>
          <a:prstGeom prst="rect">
            <a:avLst/>
          </a:prstGeom>
          <a:solidFill>
            <a:srgbClr val="2A1F17"/>
          </a:solidFill>
          <a:ln w="1270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08" name="Shape 10"/>
          <p:cNvSpPr/>
          <p:nvPr/>
        </p:nvSpPr>
        <p:spPr>
          <a:xfrm>
            <a:off x="6355079" y="2148839"/>
            <a:ext cx="502921" cy="502921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09" name="Text 11"/>
          <p:cNvSpPr txBox="1"/>
          <p:nvPr/>
        </p:nvSpPr>
        <p:spPr>
          <a:xfrm>
            <a:off x="6355079" y="2254249"/>
            <a:ext cx="502920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2000">
                <a:solidFill>
                  <a:srgbClr val="0E0A06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310" name="Text 12"/>
          <p:cNvSpPr txBox="1"/>
          <p:nvPr/>
        </p:nvSpPr>
        <p:spPr>
          <a:xfrm>
            <a:off x="6995159" y="2059939"/>
            <a:ext cx="457200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FAF6F0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Mode Selector (Wizard Step 1)</a:t>
            </a:r>
          </a:p>
        </p:txBody>
      </p:sp>
      <p:sp>
        <p:nvSpPr>
          <p:cNvPr id="311" name="Text 13"/>
          <p:cNvSpPr txBox="1"/>
          <p:nvPr/>
        </p:nvSpPr>
        <p:spPr>
          <a:xfrm>
            <a:off x="6995159" y="2583224"/>
            <a:ext cx="457200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9C8A7A"/>
                </a:solidFill>
              </a:defRPr>
            </a:lvl1pPr>
          </a:lstStyle>
          <a:p>
            <a:pPr/>
            <a:r>
              <a:t>Brand Director chooses Music Mode </a:t>
            </a:r>
          </a:p>
        </p:txBody>
      </p:sp>
      <p:sp>
        <p:nvSpPr>
          <p:cNvPr id="312" name="Shape 14"/>
          <p:cNvSpPr/>
          <p:nvPr/>
        </p:nvSpPr>
        <p:spPr>
          <a:xfrm>
            <a:off x="548640" y="3154679"/>
            <a:ext cx="5486401" cy="1188721"/>
          </a:xfrm>
          <a:prstGeom prst="rect">
            <a:avLst/>
          </a:prstGeom>
          <a:solidFill>
            <a:srgbClr val="2A1F17"/>
          </a:solidFill>
          <a:ln w="1270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13" name="Shape 15"/>
          <p:cNvSpPr/>
          <p:nvPr/>
        </p:nvSpPr>
        <p:spPr>
          <a:xfrm>
            <a:off x="685800" y="3474720"/>
            <a:ext cx="502921" cy="502921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14" name="Text 16"/>
          <p:cNvSpPr txBox="1"/>
          <p:nvPr/>
        </p:nvSpPr>
        <p:spPr>
          <a:xfrm>
            <a:off x="685800" y="3580129"/>
            <a:ext cx="502920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2000">
                <a:solidFill>
                  <a:srgbClr val="0E0A06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315" name="Text 17"/>
          <p:cNvSpPr txBox="1"/>
          <p:nvPr/>
        </p:nvSpPr>
        <p:spPr>
          <a:xfrm>
            <a:off x="1325880" y="3385820"/>
            <a:ext cx="457200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FAF6F0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Brand ID Created</a:t>
            </a:r>
          </a:p>
        </p:txBody>
      </p:sp>
      <p:sp>
        <p:nvSpPr>
          <p:cNvPr id="316" name="Text 18"/>
          <p:cNvSpPr txBox="1"/>
          <p:nvPr/>
        </p:nvSpPr>
        <p:spPr>
          <a:xfrm>
            <a:off x="1325880" y="3909104"/>
            <a:ext cx="457200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9C8A7A"/>
                </a:solidFill>
              </a:defRPr>
            </a:lvl1pPr>
          </a:lstStyle>
          <a:p>
            <a:pPr/>
            <a:r>
              <a:t>&lt;musician_handle&gt;_music slug is minted and registered in music_brand_registry.yaml.</a:t>
            </a:r>
          </a:p>
        </p:txBody>
      </p:sp>
      <p:sp>
        <p:nvSpPr>
          <p:cNvPr id="317" name="Shape 19"/>
          <p:cNvSpPr/>
          <p:nvPr/>
        </p:nvSpPr>
        <p:spPr>
          <a:xfrm>
            <a:off x="6217920" y="3154679"/>
            <a:ext cx="5486401" cy="1188721"/>
          </a:xfrm>
          <a:prstGeom prst="rect">
            <a:avLst/>
          </a:prstGeom>
          <a:solidFill>
            <a:srgbClr val="2A1F17"/>
          </a:solidFill>
          <a:ln w="1270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18" name="Shape 20"/>
          <p:cNvSpPr/>
          <p:nvPr/>
        </p:nvSpPr>
        <p:spPr>
          <a:xfrm>
            <a:off x="6355079" y="3474720"/>
            <a:ext cx="502921" cy="502921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19" name="Text 21"/>
          <p:cNvSpPr txBox="1"/>
          <p:nvPr/>
        </p:nvSpPr>
        <p:spPr>
          <a:xfrm>
            <a:off x="6355079" y="3580129"/>
            <a:ext cx="502920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2000">
                <a:solidFill>
                  <a:srgbClr val="0E0A06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320" name="Text 22"/>
          <p:cNvSpPr txBox="1"/>
          <p:nvPr/>
        </p:nvSpPr>
        <p:spPr>
          <a:xfrm>
            <a:off x="6995159" y="3385820"/>
            <a:ext cx="457200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FAF6F0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Music Reflections Intake (Wizard Step 4)</a:t>
            </a:r>
          </a:p>
        </p:txBody>
      </p:sp>
      <p:sp>
        <p:nvSpPr>
          <p:cNvPr id="321" name="Text 23"/>
          <p:cNvSpPr txBox="1"/>
          <p:nvPr/>
        </p:nvSpPr>
        <p:spPr>
          <a:xfrm>
            <a:off x="6995159" y="3826554"/>
            <a:ext cx="4572001" cy="302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9C8A7A"/>
                </a:solidFill>
              </a:defRPr>
            </a:lvl1pPr>
          </a:lstStyle>
          <a:p>
            <a:pPr/>
            <a:r>
              <a:t>Now the Music Reflections Intake: themes, instruments (lyre / crystal bowls / frequency), and a data-derived Music-Format signal.</a:t>
            </a:r>
          </a:p>
        </p:txBody>
      </p:sp>
      <p:sp>
        <p:nvSpPr>
          <p:cNvPr id="322" name="Shape 24"/>
          <p:cNvSpPr/>
          <p:nvPr/>
        </p:nvSpPr>
        <p:spPr>
          <a:xfrm>
            <a:off x="548640" y="4480559"/>
            <a:ext cx="5486401" cy="1188721"/>
          </a:xfrm>
          <a:prstGeom prst="rect">
            <a:avLst/>
          </a:prstGeom>
          <a:solidFill>
            <a:srgbClr val="2A1F17"/>
          </a:solidFill>
          <a:ln w="1270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23" name="Shape 25"/>
          <p:cNvSpPr/>
          <p:nvPr/>
        </p:nvSpPr>
        <p:spPr>
          <a:xfrm>
            <a:off x="685800" y="4800600"/>
            <a:ext cx="502921" cy="502921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24" name="Text 26"/>
          <p:cNvSpPr txBox="1"/>
          <p:nvPr/>
        </p:nvSpPr>
        <p:spPr>
          <a:xfrm>
            <a:off x="685800" y="4906009"/>
            <a:ext cx="502920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2000">
                <a:solidFill>
                  <a:srgbClr val="0E0A06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325" name="Text 27"/>
          <p:cNvSpPr txBox="1"/>
          <p:nvPr/>
        </p:nvSpPr>
        <p:spPr>
          <a:xfrm>
            <a:off x="1325880" y="4711699"/>
            <a:ext cx="457200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FAF6F0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Song-Kit Generation</a:t>
            </a:r>
          </a:p>
        </p:txBody>
      </p:sp>
      <p:sp>
        <p:nvSpPr>
          <p:cNvPr id="326" name="Text 28"/>
          <p:cNvSpPr txBox="1"/>
          <p:nvPr/>
        </p:nvSpPr>
        <p:spPr>
          <a:xfrm>
            <a:off x="1325880" y="5152434"/>
            <a:ext cx="4572001" cy="302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9C8A7A"/>
                </a:solidFill>
              </a:defRPr>
            </a:lvl1pPr>
          </a:lstStyle>
          <a:p>
            <a:pPr/>
            <a:r>
              <a:t>The Song-Kit generator drafts atoms across the 6 slot pools from the intake; Pearl_Editor reviews and promotes (Tier 1).</a:t>
            </a:r>
          </a:p>
        </p:txBody>
      </p:sp>
      <p:sp>
        <p:nvSpPr>
          <p:cNvPr id="327" name="Shape 29"/>
          <p:cNvSpPr/>
          <p:nvPr/>
        </p:nvSpPr>
        <p:spPr>
          <a:xfrm>
            <a:off x="6217920" y="4480559"/>
            <a:ext cx="5486401" cy="1188721"/>
          </a:xfrm>
          <a:prstGeom prst="rect">
            <a:avLst/>
          </a:prstGeom>
          <a:solidFill>
            <a:srgbClr val="2A1F17"/>
          </a:solidFill>
          <a:ln w="1270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28" name="Shape 30"/>
          <p:cNvSpPr/>
          <p:nvPr/>
        </p:nvSpPr>
        <p:spPr>
          <a:xfrm>
            <a:off x="6355079" y="4800600"/>
            <a:ext cx="502921" cy="502921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29" name="Text 31"/>
          <p:cNvSpPr txBox="1"/>
          <p:nvPr/>
        </p:nvSpPr>
        <p:spPr>
          <a:xfrm>
            <a:off x="6355079" y="4906009"/>
            <a:ext cx="502920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2000">
                <a:solidFill>
                  <a:srgbClr val="0E0A06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330" name="Text 32"/>
          <p:cNvSpPr txBox="1"/>
          <p:nvPr/>
        </p:nvSpPr>
        <p:spPr>
          <a:xfrm>
            <a:off x="6995159" y="4711699"/>
            <a:ext cx="457200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FAF6F0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Brand Goes Active</a:t>
            </a:r>
          </a:p>
        </p:txBody>
      </p:sp>
      <p:sp>
        <p:nvSpPr>
          <p:cNvPr id="331" name="Text 33"/>
          <p:cNvSpPr txBox="1"/>
          <p:nvPr/>
        </p:nvSpPr>
        <p:spPr>
          <a:xfrm>
            <a:off x="6995159" y="5152434"/>
            <a:ext cx="4572001" cy="302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9C8A7A"/>
                </a:solidFill>
              </a:defRPr>
            </a:lvl1pPr>
          </a:lstStyle>
          <a:p>
            <a:pPr/>
            <a:r>
              <a:t>Catalog generator produces music-mode books; each book links readers to your music on your channels; Brand Director reviews &amp; corrects; system improves.</a:t>
            </a:r>
          </a:p>
        </p:txBody>
      </p:sp>
      <p:sp>
        <p:nvSpPr>
          <p:cNvPr id="332" name="Shape 34"/>
          <p:cNvSpPr/>
          <p:nvPr/>
        </p:nvSpPr>
        <p:spPr>
          <a:xfrm>
            <a:off x="548639" y="5897879"/>
            <a:ext cx="11064242" cy="365761"/>
          </a:xfrm>
          <a:prstGeom prst="rect">
            <a:avLst/>
          </a:prstGeom>
          <a:solidFill>
            <a:srgbClr val="0E0A06"/>
          </a:solidFill>
          <a:ln w="1270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33" name="Text 35"/>
          <p:cNvSpPr txBox="1"/>
          <p:nvPr/>
        </p:nvSpPr>
        <p:spPr>
          <a:xfrm>
            <a:off x="548639" y="6012224"/>
            <a:ext cx="11064242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i="1" sz="1000">
                <a:solidFill>
                  <a:srgbClr val="F59E0B"/>
                </a:solidFill>
              </a:defRPr>
            </a:lvl1pPr>
          </a:lstStyle>
          <a:p>
            <a:pPr/>
            <a:r>
              <a:t>Audio lead magnets via MUSIC-MODE-FREEBIE-FUNNEL-V1-02 pull listeners into the book catalog — see next slides</a:t>
            </a:r>
          </a:p>
        </p:txBody>
      </p:sp>
      <p:sp>
        <p:nvSpPr>
          <p:cNvPr id="334" name="Shape 36"/>
          <p:cNvSpPr/>
          <p:nvPr/>
        </p:nvSpPr>
        <p:spPr>
          <a:xfrm>
            <a:off x="548639" y="6446520"/>
            <a:ext cx="11064242" cy="1"/>
          </a:xfrm>
          <a:prstGeom prst="line">
            <a:avLst/>
          </a:prstGeom>
          <a:ln w="12700">
            <a:solidFill>
              <a:srgbClr val="2A1F1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35" name="Text 37"/>
          <p:cNvSpPr txBox="1"/>
          <p:nvPr/>
        </p:nvSpPr>
        <p:spPr>
          <a:xfrm>
            <a:off x="548640" y="6584188"/>
            <a:ext cx="8229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9C8A7A"/>
                </a:solidFill>
              </a:defRPr>
            </a:lvl1pPr>
          </a:lstStyle>
          <a:p>
            <a:pPr/>
            <a:r>
              <a:t>Pearl Prime · Enlightened Intelligence Publishing · Music Mode V1 + V2</a:t>
            </a:r>
          </a:p>
        </p:txBody>
      </p:sp>
      <p:sp>
        <p:nvSpPr>
          <p:cNvPr id="336" name="Text 38"/>
          <p:cNvSpPr txBox="1"/>
          <p:nvPr/>
        </p:nvSpPr>
        <p:spPr>
          <a:xfrm>
            <a:off x="10515600" y="6584188"/>
            <a:ext cx="10972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9C8A7A"/>
                </a:solidFill>
              </a:defRPr>
            </a:lvl1pPr>
          </a:lstStyle>
          <a:p>
            <a:pPr/>
            <a:r>
              <a:t>12 / 15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E0A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Text 0"/>
          <p:cNvSpPr txBox="1"/>
          <p:nvPr/>
        </p:nvSpPr>
        <p:spPr>
          <a:xfrm>
            <a:off x="548640" y="481506"/>
            <a:ext cx="54864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600" sz="1100">
                <a:solidFill>
                  <a:srgbClr val="F59E0B"/>
                </a:solidFill>
              </a:defRPr>
            </a:lvl1pPr>
          </a:lstStyle>
          <a:p>
            <a:pPr/>
            <a:r>
              <a:t>AUDIO ON-RAMPS</a:t>
            </a:r>
          </a:p>
        </p:txBody>
      </p:sp>
      <p:sp>
        <p:nvSpPr>
          <p:cNvPr id="339" name="Shape 1"/>
          <p:cNvSpPr/>
          <p:nvPr/>
        </p:nvSpPr>
        <p:spPr>
          <a:xfrm>
            <a:off x="-1" y="-1"/>
            <a:ext cx="12161522" cy="7315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40" name="Text 2"/>
          <p:cNvSpPr txBox="1"/>
          <p:nvPr/>
        </p:nvSpPr>
        <p:spPr>
          <a:xfrm>
            <a:off x="548639" y="725170"/>
            <a:ext cx="11064242" cy="46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3200">
                <a:solidFill>
                  <a:srgbClr val="FAF6F0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Five Ways to Build the Relationship</a:t>
            </a:r>
          </a:p>
        </p:txBody>
      </p:sp>
      <p:sp>
        <p:nvSpPr>
          <p:cNvPr id="341" name="Text 3"/>
          <p:cNvSpPr txBox="1"/>
          <p:nvPr/>
        </p:nvSpPr>
        <p:spPr>
          <a:xfrm>
            <a:off x="548639" y="1368360"/>
            <a:ext cx="11064242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400">
                <a:solidFill>
                  <a:srgbClr val="F59E0B"/>
                </a:solidFill>
              </a:defRPr>
            </a:lvl1pPr>
          </a:lstStyle>
          <a:p>
            <a:pPr/>
            <a:r>
              <a:t>MUSIC-MODE-FREEBIE-FUNNEL-V1-02 — on-ramps that point listeners to your music on your channels and pull them into your book catalog. We don't hand out your music as files.</a:t>
            </a:r>
          </a:p>
        </p:txBody>
      </p:sp>
      <p:sp>
        <p:nvSpPr>
          <p:cNvPr id="342" name="Shape 4"/>
          <p:cNvSpPr/>
          <p:nvPr/>
        </p:nvSpPr>
        <p:spPr>
          <a:xfrm>
            <a:off x="548640" y="1828799"/>
            <a:ext cx="3593592" cy="2103122"/>
          </a:xfrm>
          <a:prstGeom prst="rect">
            <a:avLst/>
          </a:prstGeom>
          <a:solidFill>
            <a:srgbClr val="2A1F17"/>
          </a:solidFill>
          <a:ln w="1270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43" name="Shape 5"/>
          <p:cNvSpPr/>
          <p:nvPr/>
        </p:nvSpPr>
        <p:spPr>
          <a:xfrm>
            <a:off x="548640" y="1828799"/>
            <a:ext cx="3593592" cy="7315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44" name="Text 6"/>
          <p:cNvSpPr txBox="1"/>
          <p:nvPr/>
        </p:nvSpPr>
        <p:spPr>
          <a:xfrm>
            <a:off x="658368" y="2026842"/>
            <a:ext cx="4572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F59E0B"/>
                </a:solidFill>
              </a:defRPr>
            </a:lvl1pPr>
          </a:lstStyle>
          <a:p>
            <a:pPr/>
            <a:r>
              <a:t>M1</a:t>
            </a:r>
          </a:p>
        </p:txBody>
      </p:sp>
      <p:sp>
        <p:nvSpPr>
          <p:cNvPr id="345" name="Text 7"/>
          <p:cNvSpPr txBox="1"/>
          <p:nvPr/>
        </p:nvSpPr>
        <p:spPr>
          <a:xfrm>
            <a:off x="1142999" y="1928876"/>
            <a:ext cx="365762" cy="33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600">
                <a:solidFill>
                  <a:srgbClr val="F59E0B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🎵</a:t>
            </a:r>
          </a:p>
        </p:txBody>
      </p:sp>
      <p:sp>
        <p:nvSpPr>
          <p:cNvPr id="346" name="Text 8"/>
          <p:cNvSpPr txBox="1"/>
          <p:nvPr/>
        </p:nvSpPr>
        <p:spPr>
          <a:xfrm>
            <a:off x="658368" y="2410206"/>
            <a:ext cx="3392424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FAF6F0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Your Music, On Your Channels</a:t>
            </a:r>
          </a:p>
        </p:txBody>
      </p:sp>
      <p:sp>
        <p:nvSpPr>
          <p:cNvPr id="347" name="Text 9"/>
          <p:cNvSpPr txBox="1"/>
          <p:nvPr/>
        </p:nvSpPr>
        <p:spPr>
          <a:xfrm>
            <a:off x="658368" y="2962315"/>
            <a:ext cx="3392424" cy="3938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FAF6F0"/>
                </a:solidFill>
              </a:defRPr>
            </a:lvl1pPr>
          </a:lstStyle>
          <a:p>
            <a:pPr/>
            <a:r>
              <a:t>No files handed out. Each book points readers to your music where it lives — your streaming, your channels — behind an email gate for the book funnel.</a:t>
            </a:r>
          </a:p>
        </p:txBody>
      </p:sp>
      <p:sp>
        <p:nvSpPr>
          <p:cNvPr id="348" name="Text 10"/>
          <p:cNvSpPr txBox="1"/>
          <p:nvPr/>
        </p:nvSpPr>
        <p:spPr>
          <a:xfrm>
            <a:off x="658368" y="3642395"/>
            <a:ext cx="3392424" cy="2315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800">
                <a:solidFill>
                  <a:srgbClr val="F59E0B"/>
                </a:solidFill>
              </a:defRPr>
            </a:lvl1pPr>
          </a:lstStyle>
          <a:p>
            <a:pPr/>
            <a:r>
              <a:t>"Hear 'Morning Room' on Ahjan's channel — the track this chapter was written around."</a:t>
            </a:r>
          </a:p>
        </p:txBody>
      </p:sp>
      <p:sp>
        <p:nvSpPr>
          <p:cNvPr id="349" name="Shape 11"/>
          <p:cNvSpPr/>
          <p:nvPr/>
        </p:nvSpPr>
        <p:spPr>
          <a:xfrm>
            <a:off x="4293108" y="1828799"/>
            <a:ext cx="3593593" cy="2103122"/>
          </a:xfrm>
          <a:prstGeom prst="rect">
            <a:avLst/>
          </a:prstGeom>
          <a:solidFill>
            <a:srgbClr val="2A1F17"/>
          </a:solidFill>
          <a:ln w="1270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50" name="Shape 12"/>
          <p:cNvSpPr/>
          <p:nvPr/>
        </p:nvSpPr>
        <p:spPr>
          <a:xfrm>
            <a:off x="4293108" y="1828799"/>
            <a:ext cx="3593593" cy="7315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51" name="Text 13"/>
          <p:cNvSpPr txBox="1"/>
          <p:nvPr/>
        </p:nvSpPr>
        <p:spPr>
          <a:xfrm>
            <a:off x="4402835" y="2026842"/>
            <a:ext cx="4572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F59E0B"/>
                </a:solidFill>
              </a:defRPr>
            </a:lvl1pPr>
          </a:lstStyle>
          <a:p>
            <a:pPr/>
            <a:r>
              <a:t>M2</a:t>
            </a:r>
          </a:p>
        </p:txBody>
      </p:sp>
      <p:sp>
        <p:nvSpPr>
          <p:cNvPr id="352" name="Text 14"/>
          <p:cNvSpPr txBox="1"/>
          <p:nvPr/>
        </p:nvSpPr>
        <p:spPr>
          <a:xfrm>
            <a:off x="4887467" y="1928876"/>
            <a:ext cx="365761" cy="33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600">
                <a:solidFill>
                  <a:srgbClr val="F59E0B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✂️</a:t>
            </a:r>
          </a:p>
        </p:txBody>
      </p:sp>
      <p:sp>
        <p:nvSpPr>
          <p:cNvPr id="353" name="Text 15"/>
          <p:cNvSpPr txBox="1"/>
          <p:nvPr/>
        </p:nvSpPr>
        <p:spPr>
          <a:xfrm>
            <a:off x="4402835" y="2410206"/>
            <a:ext cx="3392425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FAF6F0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30-Second Preview Clip</a:t>
            </a:r>
          </a:p>
        </p:txBody>
      </p:sp>
      <p:sp>
        <p:nvSpPr>
          <p:cNvPr id="354" name="Text 16"/>
          <p:cNvSpPr txBox="1"/>
          <p:nvPr/>
        </p:nvSpPr>
        <p:spPr>
          <a:xfrm>
            <a:off x="4402835" y="3032165"/>
            <a:ext cx="3392425" cy="2541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FAF6F0"/>
                </a:solidFill>
              </a:defRPr>
            </a:lvl1pPr>
          </a:lstStyle>
          <a:p>
            <a:pPr/>
            <a:r>
              <a:t>Hook-packed 30s clip with lyric snippet on-screen and the audio hook that defines the track. Bridges listeners to album pre-save or full release.</a:t>
            </a:r>
          </a:p>
        </p:txBody>
      </p:sp>
      <p:sp>
        <p:nvSpPr>
          <p:cNvPr id="355" name="Text 17"/>
          <p:cNvSpPr txBox="1"/>
          <p:nvPr/>
        </p:nvSpPr>
        <p:spPr>
          <a:xfrm>
            <a:off x="4402835" y="3694683"/>
            <a:ext cx="339242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800">
                <a:solidFill>
                  <a:srgbClr val="F59E0B"/>
                </a:solidFill>
              </a:defRPr>
            </a:lvl1pPr>
          </a:lstStyle>
          <a:p>
            <a:pPr/>
            <a:r>
              <a:t>"Hear the opening 30 seconds of 'Drift' — with the Chapter 3 lyric overlaid."</a:t>
            </a:r>
          </a:p>
        </p:txBody>
      </p:sp>
      <p:sp>
        <p:nvSpPr>
          <p:cNvPr id="356" name="Shape 18"/>
          <p:cNvSpPr/>
          <p:nvPr/>
        </p:nvSpPr>
        <p:spPr>
          <a:xfrm>
            <a:off x="8037576" y="1828799"/>
            <a:ext cx="3593593" cy="2103122"/>
          </a:xfrm>
          <a:prstGeom prst="rect">
            <a:avLst/>
          </a:prstGeom>
          <a:solidFill>
            <a:srgbClr val="2A1F17"/>
          </a:solidFill>
          <a:ln w="1270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57" name="Shape 19"/>
          <p:cNvSpPr/>
          <p:nvPr/>
        </p:nvSpPr>
        <p:spPr>
          <a:xfrm>
            <a:off x="8037576" y="1828799"/>
            <a:ext cx="3593593" cy="7315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58" name="Text 20"/>
          <p:cNvSpPr txBox="1"/>
          <p:nvPr/>
        </p:nvSpPr>
        <p:spPr>
          <a:xfrm>
            <a:off x="8147304" y="2026842"/>
            <a:ext cx="4572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F59E0B"/>
                </a:solidFill>
              </a:defRPr>
            </a:lvl1pPr>
          </a:lstStyle>
          <a:p>
            <a:pPr/>
            <a:r>
              <a:t>M3</a:t>
            </a:r>
          </a:p>
        </p:txBody>
      </p:sp>
      <p:sp>
        <p:nvSpPr>
          <p:cNvPr id="359" name="Text 21"/>
          <p:cNvSpPr txBox="1"/>
          <p:nvPr/>
        </p:nvSpPr>
        <p:spPr>
          <a:xfrm>
            <a:off x="8631935" y="1928876"/>
            <a:ext cx="365761" cy="33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600">
                <a:solidFill>
                  <a:srgbClr val="F59E0B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💿</a:t>
            </a:r>
          </a:p>
        </p:txBody>
      </p:sp>
      <p:sp>
        <p:nvSpPr>
          <p:cNvPr id="360" name="Text 22"/>
          <p:cNvSpPr txBox="1"/>
          <p:nvPr/>
        </p:nvSpPr>
        <p:spPr>
          <a:xfrm>
            <a:off x="8147304" y="2410206"/>
            <a:ext cx="3392425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FAF6F0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YouTube &amp; TikTok</a:t>
            </a:r>
          </a:p>
        </p:txBody>
      </p:sp>
      <p:sp>
        <p:nvSpPr>
          <p:cNvPr id="361" name="Text 23"/>
          <p:cNvSpPr txBox="1"/>
          <p:nvPr/>
        </p:nvSpPr>
        <p:spPr>
          <a:xfrm>
            <a:off x="8147304" y="3032165"/>
            <a:ext cx="3392425" cy="2541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900">
                <a:solidFill>
                  <a:srgbClr val="FAF6F0"/>
                </a:solidFill>
              </a:defRPr>
            </a:pPr>
            <a:r>
              <a:t>Inbound book sales from YouTube and TikTok. Outbound links in each book for readers to see and hear your music.</a:t>
            </a:r>
            <a:br/>
          </a:p>
        </p:txBody>
      </p:sp>
      <p:sp>
        <p:nvSpPr>
          <p:cNvPr id="362" name="Text 24"/>
          <p:cNvSpPr txBox="1"/>
          <p:nvPr/>
        </p:nvSpPr>
        <p:spPr>
          <a:xfrm>
            <a:off x="8147304" y="3694683"/>
            <a:ext cx="339242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800">
                <a:solidFill>
                  <a:srgbClr val="F59E0B"/>
                </a:solidFill>
              </a:defRPr>
            </a:lvl1pPr>
          </a:lstStyle>
          <a:p>
            <a:pPr/>
            <a:r>
              <a:t>"Get the 'Quiet Hours' links — 4 tracks that are the spine of this book."</a:t>
            </a:r>
          </a:p>
        </p:txBody>
      </p:sp>
      <p:sp>
        <p:nvSpPr>
          <p:cNvPr id="363" name="Shape 25"/>
          <p:cNvSpPr/>
          <p:nvPr/>
        </p:nvSpPr>
        <p:spPr>
          <a:xfrm>
            <a:off x="548639" y="4069079"/>
            <a:ext cx="5394962" cy="2240281"/>
          </a:xfrm>
          <a:prstGeom prst="rect">
            <a:avLst/>
          </a:prstGeom>
          <a:solidFill>
            <a:srgbClr val="2A1F17"/>
          </a:solidFill>
          <a:ln w="1270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64" name="Shape 26"/>
          <p:cNvSpPr/>
          <p:nvPr/>
        </p:nvSpPr>
        <p:spPr>
          <a:xfrm>
            <a:off x="548639" y="4069079"/>
            <a:ext cx="5394962" cy="73153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65" name="Text 27"/>
          <p:cNvSpPr txBox="1"/>
          <p:nvPr/>
        </p:nvSpPr>
        <p:spPr>
          <a:xfrm>
            <a:off x="658368" y="4267122"/>
            <a:ext cx="4572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F59E0B"/>
                </a:solidFill>
              </a:defRPr>
            </a:lvl1pPr>
          </a:lstStyle>
          <a:p>
            <a:pPr/>
            <a:r>
              <a:t>M4</a:t>
            </a:r>
          </a:p>
        </p:txBody>
      </p:sp>
      <p:sp>
        <p:nvSpPr>
          <p:cNvPr id="366" name="Text 28"/>
          <p:cNvSpPr txBox="1"/>
          <p:nvPr/>
        </p:nvSpPr>
        <p:spPr>
          <a:xfrm>
            <a:off x="1142999" y="4169156"/>
            <a:ext cx="365762" cy="33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600">
                <a:solidFill>
                  <a:srgbClr val="F59E0B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🖼️</a:t>
            </a:r>
          </a:p>
        </p:txBody>
      </p:sp>
      <p:sp>
        <p:nvSpPr>
          <p:cNvPr id="367" name="Text 29"/>
          <p:cNvSpPr txBox="1"/>
          <p:nvPr/>
        </p:nvSpPr>
        <p:spPr>
          <a:xfrm>
            <a:off x="658368" y="4650485"/>
            <a:ext cx="5193792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FAF6F0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Lyric Poster PDF</a:t>
            </a:r>
          </a:p>
        </p:txBody>
      </p:sp>
      <p:sp>
        <p:nvSpPr>
          <p:cNvPr id="368" name="Text 30"/>
          <p:cNvSpPr txBox="1"/>
          <p:nvPr/>
        </p:nvSpPr>
        <p:spPr>
          <a:xfrm>
            <a:off x="658368" y="5341024"/>
            <a:ext cx="5193792" cy="2541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FAF6F0"/>
                </a:solidFill>
              </a:defRPr>
            </a:lvl1pPr>
          </a:lstStyle>
          <a:p>
            <a:pPr/>
            <a:r>
              <a:t>Printable art poster pairing the lyric with visual design. Tied to M1/M2 in the email sequence. Lives on walls and in inboxes — a physical-feeling artifact of a digital relationship. Readers print it. It stays.</a:t>
            </a:r>
          </a:p>
        </p:txBody>
      </p:sp>
      <p:sp>
        <p:nvSpPr>
          <p:cNvPr id="369" name="Text 31"/>
          <p:cNvSpPr txBox="1"/>
          <p:nvPr/>
        </p:nvSpPr>
        <p:spPr>
          <a:xfrm>
            <a:off x="658368" y="6072124"/>
            <a:ext cx="519379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800">
                <a:solidFill>
                  <a:srgbClr val="F59E0B"/>
                </a:solidFill>
              </a:defRPr>
            </a:lvl1pPr>
          </a:lstStyle>
          <a:p>
            <a:pPr/>
            <a:r>
              <a:t>"Download the 'Dissolve' lyric poster — the track on page 47."</a:t>
            </a:r>
          </a:p>
        </p:txBody>
      </p:sp>
      <p:sp>
        <p:nvSpPr>
          <p:cNvPr id="370" name="Shape 32"/>
          <p:cNvSpPr/>
          <p:nvPr/>
        </p:nvSpPr>
        <p:spPr>
          <a:xfrm>
            <a:off x="6217919" y="4069079"/>
            <a:ext cx="5394962" cy="2240281"/>
          </a:xfrm>
          <a:prstGeom prst="rect">
            <a:avLst/>
          </a:prstGeom>
          <a:solidFill>
            <a:srgbClr val="2A1F17"/>
          </a:solidFill>
          <a:ln w="1270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71" name="Shape 33"/>
          <p:cNvSpPr/>
          <p:nvPr/>
        </p:nvSpPr>
        <p:spPr>
          <a:xfrm>
            <a:off x="6217919" y="4069079"/>
            <a:ext cx="5394962" cy="73153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72" name="Text 34"/>
          <p:cNvSpPr txBox="1"/>
          <p:nvPr/>
        </p:nvSpPr>
        <p:spPr>
          <a:xfrm>
            <a:off x="6327647" y="4267122"/>
            <a:ext cx="4572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F59E0B"/>
                </a:solidFill>
              </a:defRPr>
            </a:lvl1pPr>
          </a:lstStyle>
          <a:p>
            <a:pPr/>
            <a:r>
              <a:t>M5</a:t>
            </a:r>
          </a:p>
        </p:txBody>
      </p:sp>
      <p:sp>
        <p:nvSpPr>
          <p:cNvPr id="373" name="Text 35"/>
          <p:cNvSpPr txBox="1"/>
          <p:nvPr/>
        </p:nvSpPr>
        <p:spPr>
          <a:xfrm>
            <a:off x="6812280" y="4169156"/>
            <a:ext cx="365761" cy="33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600">
                <a:solidFill>
                  <a:srgbClr val="F59E0B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🎤</a:t>
            </a:r>
          </a:p>
        </p:txBody>
      </p:sp>
      <p:sp>
        <p:nvSpPr>
          <p:cNvPr id="374" name="Text 36"/>
          <p:cNvSpPr txBox="1"/>
          <p:nvPr/>
        </p:nvSpPr>
        <p:spPr>
          <a:xfrm>
            <a:off x="6327647" y="4650485"/>
            <a:ext cx="5193793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FAF6F0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Podcasts: Behind-the-Song Interview</a:t>
            </a:r>
          </a:p>
        </p:txBody>
      </p:sp>
      <p:sp>
        <p:nvSpPr>
          <p:cNvPr id="375" name="Text 37"/>
          <p:cNvSpPr txBox="1"/>
          <p:nvPr/>
        </p:nvSpPr>
        <p:spPr>
          <a:xfrm>
            <a:off x="6327647" y="5271174"/>
            <a:ext cx="5193793" cy="3938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FAF6F0"/>
                </a:solidFill>
              </a:defRPr>
            </a:lvl1pPr>
          </a:lstStyle>
          <a:p>
            <a:pPr/>
            <a:r>
              <a:t>A podcast episode AND a companion PDF — the deeper view of the song: what a track means, why it was written, what broke, what held. The reader starts understanding an artist.</a:t>
            </a:r>
          </a:p>
        </p:txBody>
      </p:sp>
      <p:sp>
        <p:nvSpPr>
          <p:cNvPr id="376" name="Text 38"/>
          <p:cNvSpPr txBox="1"/>
          <p:nvPr/>
        </p:nvSpPr>
        <p:spPr>
          <a:xfrm>
            <a:off x="6327647" y="6072124"/>
            <a:ext cx="519379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800">
                <a:solidFill>
                  <a:srgbClr val="F59E0B"/>
                </a:solidFill>
              </a:defRPr>
            </a:lvl1pPr>
          </a:lstStyle>
          <a:p>
            <a:pPr/>
            <a:r>
              <a:t>"8-min audio: 'The Distance' — why it was written, what the last line costs."</a:t>
            </a:r>
          </a:p>
        </p:txBody>
      </p:sp>
      <p:sp>
        <p:nvSpPr>
          <p:cNvPr id="377" name="Shape 39"/>
          <p:cNvSpPr/>
          <p:nvPr/>
        </p:nvSpPr>
        <p:spPr>
          <a:xfrm>
            <a:off x="548639" y="6446520"/>
            <a:ext cx="11064242" cy="1"/>
          </a:xfrm>
          <a:prstGeom prst="line">
            <a:avLst/>
          </a:prstGeom>
          <a:ln w="12700">
            <a:solidFill>
              <a:srgbClr val="2A1F1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78" name="Text 40"/>
          <p:cNvSpPr txBox="1"/>
          <p:nvPr/>
        </p:nvSpPr>
        <p:spPr>
          <a:xfrm>
            <a:off x="548640" y="6584188"/>
            <a:ext cx="8229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9C8A7A"/>
                </a:solidFill>
              </a:defRPr>
            </a:lvl1pPr>
          </a:lstStyle>
          <a:p>
            <a:pPr/>
            <a:r>
              <a:t>Pearl Prime · Enlightened Intelligence Publishing · Music Mode V1 + V2</a:t>
            </a:r>
          </a:p>
        </p:txBody>
      </p:sp>
      <p:sp>
        <p:nvSpPr>
          <p:cNvPr id="379" name="Text 41"/>
          <p:cNvSpPr txBox="1"/>
          <p:nvPr/>
        </p:nvSpPr>
        <p:spPr>
          <a:xfrm>
            <a:off x="10515599" y="6584188"/>
            <a:ext cx="109728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9C8A7A"/>
                </a:solidFill>
              </a:defRPr>
            </a:lvl1pPr>
          </a:lstStyle>
          <a:p>
            <a:pPr/>
            <a:r>
              <a:t>13 / 15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E0A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Text 0"/>
          <p:cNvSpPr txBox="1"/>
          <p:nvPr/>
        </p:nvSpPr>
        <p:spPr>
          <a:xfrm>
            <a:off x="548640" y="481506"/>
            <a:ext cx="54864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600" sz="1100">
                <a:solidFill>
                  <a:srgbClr val="F59E0B"/>
                </a:solidFill>
              </a:defRPr>
            </a:lvl1pPr>
          </a:lstStyle>
          <a:p>
            <a:pPr/>
            <a:r>
              <a:t>THE FUNNEL</a:t>
            </a:r>
          </a:p>
        </p:txBody>
      </p:sp>
      <p:sp>
        <p:nvSpPr>
          <p:cNvPr id="382" name="Shape 1"/>
          <p:cNvSpPr/>
          <p:nvPr/>
        </p:nvSpPr>
        <p:spPr>
          <a:xfrm>
            <a:off x="-1" y="-1"/>
            <a:ext cx="12161522" cy="7315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83" name="Text 2"/>
          <p:cNvSpPr txBox="1"/>
          <p:nvPr/>
        </p:nvSpPr>
        <p:spPr>
          <a:xfrm>
            <a:off x="548639" y="725170"/>
            <a:ext cx="11064242" cy="46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3200">
                <a:solidFill>
                  <a:srgbClr val="FAF6F0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From Free Track to Loyal Reader</a:t>
            </a:r>
          </a:p>
        </p:txBody>
      </p:sp>
      <p:sp>
        <p:nvSpPr>
          <p:cNvPr id="384" name="Text 3"/>
          <p:cNvSpPr txBox="1"/>
          <p:nvPr/>
        </p:nvSpPr>
        <p:spPr>
          <a:xfrm>
            <a:off x="548639" y="1368360"/>
            <a:ext cx="11064242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400">
                <a:solidFill>
                  <a:srgbClr val="F59E0B"/>
                </a:solidFill>
              </a:defRPr>
            </a:lvl1pPr>
          </a:lstStyle>
          <a:p>
            <a:pPr/>
            <a:r>
              <a:t>Five stages. Each one deepens the relationship — until buying the book is the natural next step.</a:t>
            </a:r>
          </a:p>
        </p:txBody>
      </p:sp>
      <p:sp>
        <p:nvSpPr>
          <p:cNvPr id="385" name="Shape 4"/>
          <p:cNvSpPr/>
          <p:nvPr/>
        </p:nvSpPr>
        <p:spPr>
          <a:xfrm>
            <a:off x="548639" y="1874520"/>
            <a:ext cx="2103122" cy="3840481"/>
          </a:xfrm>
          <a:prstGeom prst="rect">
            <a:avLst/>
          </a:prstGeom>
          <a:solidFill>
            <a:srgbClr val="2A1F17"/>
          </a:solidFill>
          <a:ln w="1270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86" name="Shape 5"/>
          <p:cNvSpPr/>
          <p:nvPr/>
        </p:nvSpPr>
        <p:spPr>
          <a:xfrm>
            <a:off x="548639" y="1874520"/>
            <a:ext cx="2103122" cy="73153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87" name="Text 6"/>
          <p:cNvSpPr txBox="1"/>
          <p:nvPr/>
        </p:nvSpPr>
        <p:spPr>
          <a:xfrm>
            <a:off x="621791" y="2071623"/>
            <a:ext cx="195681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pc="200" sz="700">
                <a:solidFill>
                  <a:srgbClr val="F59E0B"/>
                </a:solidFill>
              </a:defRPr>
            </a:lvl1pPr>
          </a:lstStyle>
          <a:p>
            <a:pPr/>
            <a:r>
              <a:t>TOP OF FUNNEL</a:t>
            </a:r>
          </a:p>
        </p:txBody>
      </p:sp>
      <p:sp>
        <p:nvSpPr>
          <p:cNvPr id="388" name="Shape 7"/>
          <p:cNvSpPr/>
          <p:nvPr/>
        </p:nvSpPr>
        <p:spPr>
          <a:xfrm>
            <a:off x="1408175" y="2304288"/>
            <a:ext cx="384049" cy="384049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89" name="Text 8"/>
          <p:cNvSpPr txBox="1"/>
          <p:nvPr/>
        </p:nvSpPr>
        <p:spPr>
          <a:xfrm>
            <a:off x="1408175" y="2375662"/>
            <a:ext cx="384049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600">
                <a:solidFill>
                  <a:srgbClr val="0E0A06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390" name="Text 9"/>
          <p:cNvSpPr txBox="1"/>
          <p:nvPr/>
        </p:nvSpPr>
        <p:spPr>
          <a:xfrm>
            <a:off x="621791" y="2786888"/>
            <a:ext cx="1956817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2400">
                <a:solidFill>
                  <a:srgbClr val="F59E0B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🔊</a:t>
            </a:r>
          </a:p>
        </p:txBody>
      </p:sp>
      <p:sp>
        <p:nvSpPr>
          <p:cNvPr id="391" name="Text 10"/>
          <p:cNvSpPr txBox="1"/>
          <p:nvPr/>
        </p:nvSpPr>
        <p:spPr>
          <a:xfrm>
            <a:off x="621791" y="3339338"/>
            <a:ext cx="1956817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500">
                <a:solidFill>
                  <a:srgbClr val="FAF6F0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Listen</a:t>
            </a:r>
          </a:p>
        </p:txBody>
      </p:sp>
      <p:sp>
        <p:nvSpPr>
          <p:cNvPr id="392" name="Text 11"/>
          <p:cNvSpPr txBox="1"/>
          <p:nvPr/>
        </p:nvSpPr>
        <p:spPr>
          <a:xfrm>
            <a:off x="621791" y="4250349"/>
            <a:ext cx="1956817" cy="5335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900">
                <a:solidFill>
                  <a:srgbClr val="9C8A7A"/>
                </a:solidFill>
              </a:defRPr>
            </a:lvl1pPr>
          </a:lstStyle>
          <a:p>
            <a:pPr/>
            <a:r>
              <a:t>Track page: title, album art, 30-second listen embed. First contact between your sound and someone who might become a reader.</a:t>
            </a:r>
          </a:p>
        </p:txBody>
      </p:sp>
      <p:sp>
        <p:nvSpPr>
          <p:cNvPr id="393" name="Text 12"/>
          <p:cNvSpPr txBox="1"/>
          <p:nvPr/>
        </p:nvSpPr>
        <p:spPr>
          <a:xfrm>
            <a:off x="621791" y="5450331"/>
            <a:ext cx="195681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800">
                <a:solidFill>
                  <a:srgbClr val="F59E0B"/>
                </a:solidFill>
              </a:defRPr>
            </a:lvl1pPr>
          </a:lstStyle>
          <a:p>
            <a:pPr/>
            <a:r>
              <a:t>TOF HERO</a:t>
            </a:r>
          </a:p>
        </p:txBody>
      </p:sp>
      <p:sp>
        <p:nvSpPr>
          <p:cNvPr id="394" name="Shape 13"/>
          <p:cNvSpPr/>
          <p:nvPr/>
        </p:nvSpPr>
        <p:spPr>
          <a:xfrm>
            <a:off x="2788920" y="1874520"/>
            <a:ext cx="2103121" cy="3840481"/>
          </a:xfrm>
          <a:prstGeom prst="rect">
            <a:avLst/>
          </a:prstGeom>
          <a:solidFill>
            <a:srgbClr val="2A1F17"/>
          </a:solidFill>
          <a:ln w="1270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95" name="Shape 14"/>
          <p:cNvSpPr/>
          <p:nvPr/>
        </p:nvSpPr>
        <p:spPr>
          <a:xfrm>
            <a:off x="2788920" y="1874520"/>
            <a:ext cx="2103121" cy="73153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96" name="Text 15"/>
          <p:cNvSpPr txBox="1"/>
          <p:nvPr/>
        </p:nvSpPr>
        <p:spPr>
          <a:xfrm>
            <a:off x="2862071" y="2071623"/>
            <a:ext cx="195681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pc="200" sz="700">
                <a:solidFill>
                  <a:srgbClr val="F59E0B"/>
                </a:solidFill>
              </a:defRPr>
            </a:lvl1pPr>
          </a:lstStyle>
          <a:p>
            <a:pPr/>
            <a:r>
              <a:t>LEAD MAGNET</a:t>
            </a:r>
          </a:p>
        </p:txBody>
      </p:sp>
      <p:sp>
        <p:nvSpPr>
          <p:cNvPr id="397" name="Shape 16"/>
          <p:cNvSpPr/>
          <p:nvPr/>
        </p:nvSpPr>
        <p:spPr>
          <a:xfrm>
            <a:off x="3648455" y="2304288"/>
            <a:ext cx="384049" cy="384049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98" name="Text 17"/>
          <p:cNvSpPr txBox="1"/>
          <p:nvPr/>
        </p:nvSpPr>
        <p:spPr>
          <a:xfrm>
            <a:off x="3648455" y="2375662"/>
            <a:ext cx="384049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600">
                <a:solidFill>
                  <a:srgbClr val="0E0A06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399" name="Text 18"/>
          <p:cNvSpPr txBox="1"/>
          <p:nvPr/>
        </p:nvSpPr>
        <p:spPr>
          <a:xfrm>
            <a:off x="2862071" y="2786888"/>
            <a:ext cx="1956818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2400">
                <a:solidFill>
                  <a:srgbClr val="F59E0B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📥</a:t>
            </a:r>
          </a:p>
        </p:txBody>
      </p:sp>
      <p:sp>
        <p:nvSpPr>
          <p:cNvPr id="400" name="Text 19"/>
          <p:cNvSpPr txBox="1"/>
          <p:nvPr/>
        </p:nvSpPr>
        <p:spPr>
          <a:xfrm>
            <a:off x="2862071" y="3339338"/>
            <a:ext cx="1956818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500">
                <a:solidFill>
                  <a:srgbClr val="FAF6F0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Free On-Ramp</a:t>
            </a:r>
          </a:p>
        </p:txBody>
      </p:sp>
      <p:sp>
        <p:nvSpPr>
          <p:cNvPr id="401" name="Text 20"/>
          <p:cNvSpPr txBox="1"/>
          <p:nvPr/>
        </p:nvSpPr>
        <p:spPr>
          <a:xfrm>
            <a:off x="2862071" y="4320199"/>
            <a:ext cx="1956818" cy="3938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900">
                <a:solidFill>
                  <a:srgbClr val="9C8A7A"/>
                </a:solidFill>
              </a:defRPr>
            </a:lvl1pPr>
          </a:lstStyle>
          <a:p>
            <a:pPr/>
            <a:r>
              <a:t>A pointer to your music on your channels (M1) or your YouTube/TikTok (M3) — email captured. They chose to hear more.</a:t>
            </a:r>
          </a:p>
        </p:txBody>
      </p:sp>
      <p:sp>
        <p:nvSpPr>
          <p:cNvPr id="402" name="Text 21"/>
          <p:cNvSpPr txBox="1"/>
          <p:nvPr/>
        </p:nvSpPr>
        <p:spPr>
          <a:xfrm>
            <a:off x="2862071" y="5450331"/>
            <a:ext cx="195681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800">
                <a:solidFill>
                  <a:srgbClr val="F59E0B"/>
                </a:solidFill>
              </a:defRPr>
            </a:lvl1pPr>
          </a:lstStyle>
          <a:p>
            <a:pPr/>
            <a:r>
              <a:t>M1 · M3</a:t>
            </a:r>
          </a:p>
        </p:txBody>
      </p:sp>
      <p:sp>
        <p:nvSpPr>
          <p:cNvPr id="403" name="Shape 22"/>
          <p:cNvSpPr/>
          <p:nvPr/>
        </p:nvSpPr>
        <p:spPr>
          <a:xfrm>
            <a:off x="5029199" y="1874520"/>
            <a:ext cx="2103122" cy="3840481"/>
          </a:xfrm>
          <a:prstGeom prst="rect">
            <a:avLst/>
          </a:prstGeom>
          <a:solidFill>
            <a:srgbClr val="2A1F17"/>
          </a:solidFill>
          <a:ln w="1270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04" name="Shape 23"/>
          <p:cNvSpPr/>
          <p:nvPr/>
        </p:nvSpPr>
        <p:spPr>
          <a:xfrm>
            <a:off x="5029199" y="1874520"/>
            <a:ext cx="2103122" cy="73153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05" name="Text 24"/>
          <p:cNvSpPr txBox="1"/>
          <p:nvPr/>
        </p:nvSpPr>
        <p:spPr>
          <a:xfrm>
            <a:off x="5102352" y="2071623"/>
            <a:ext cx="195681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pc="200" sz="700">
                <a:solidFill>
                  <a:srgbClr val="F59E0B"/>
                </a:solidFill>
              </a:defRPr>
            </a:lvl1pPr>
          </a:lstStyle>
          <a:p>
            <a:pPr/>
            <a:r>
              <a:t>EMAIL SEQUENCE</a:t>
            </a:r>
          </a:p>
        </p:txBody>
      </p:sp>
      <p:sp>
        <p:nvSpPr>
          <p:cNvPr id="406" name="Shape 25"/>
          <p:cNvSpPr/>
          <p:nvPr/>
        </p:nvSpPr>
        <p:spPr>
          <a:xfrm>
            <a:off x="5888735" y="2304288"/>
            <a:ext cx="384049" cy="384049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07" name="Text 26"/>
          <p:cNvSpPr txBox="1"/>
          <p:nvPr/>
        </p:nvSpPr>
        <p:spPr>
          <a:xfrm>
            <a:off x="5888735" y="2375662"/>
            <a:ext cx="384049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600">
                <a:solidFill>
                  <a:srgbClr val="0E0A06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408" name="Text 27"/>
          <p:cNvSpPr txBox="1"/>
          <p:nvPr/>
        </p:nvSpPr>
        <p:spPr>
          <a:xfrm>
            <a:off x="5102352" y="2786888"/>
            <a:ext cx="1956817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2400">
                <a:solidFill>
                  <a:srgbClr val="F59E0B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📧</a:t>
            </a:r>
          </a:p>
        </p:txBody>
      </p:sp>
      <p:sp>
        <p:nvSpPr>
          <p:cNvPr id="409" name="Text 28"/>
          <p:cNvSpPr txBox="1"/>
          <p:nvPr/>
        </p:nvSpPr>
        <p:spPr>
          <a:xfrm>
            <a:off x="5102352" y="3339338"/>
            <a:ext cx="1956817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500">
                <a:solidFill>
                  <a:srgbClr val="FAF6F0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The Story</a:t>
            </a:r>
          </a:p>
        </p:txBody>
      </p:sp>
      <p:sp>
        <p:nvSpPr>
          <p:cNvPr id="410" name="Text 29"/>
          <p:cNvSpPr txBox="1"/>
          <p:nvPr/>
        </p:nvSpPr>
        <p:spPr>
          <a:xfrm>
            <a:off x="5102352" y="4250349"/>
            <a:ext cx="1956817" cy="5335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900">
                <a:solidFill>
                  <a:srgbClr val="9C8A7A"/>
                </a:solidFill>
              </a:defRPr>
            </a:lvl1pPr>
          </a:lstStyle>
          <a:p>
            <a:pPr/>
            <a:r>
              <a:t>Preview Clip (M2) arrives with the why-this-track email. Lyric Poster (M4) follows. The music starts to mean something personal.</a:t>
            </a:r>
          </a:p>
        </p:txBody>
      </p:sp>
      <p:sp>
        <p:nvSpPr>
          <p:cNvPr id="411" name="Text 30"/>
          <p:cNvSpPr txBox="1"/>
          <p:nvPr/>
        </p:nvSpPr>
        <p:spPr>
          <a:xfrm>
            <a:off x="5102352" y="5450331"/>
            <a:ext cx="195681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800">
                <a:solidFill>
                  <a:srgbClr val="F59E0B"/>
                </a:solidFill>
              </a:defRPr>
            </a:lvl1pPr>
          </a:lstStyle>
          <a:p>
            <a:pPr/>
            <a:r>
              <a:t>M2 · M4</a:t>
            </a:r>
          </a:p>
        </p:txBody>
      </p:sp>
      <p:sp>
        <p:nvSpPr>
          <p:cNvPr id="412" name="Shape 31"/>
          <p:cNvSpPr/>
          <p:nvPr/>
        </p:nvSpPr>
        <p:spPr>
          <a:xfrm>
            <a:off x="7269480" y="1874520"/>
            <a:ext cx="2103121" cy="3840481"/>
          </a:xfrm>
          <a:prstGeom prst="rect">
            <a:avLst/>
          </a:prstGeom>
          <a:solidFill>
            <a:srgbClr val="2A1F17"/>
          </a:solidFill>
          <a:ln w="1270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13" name="Shape 32"/>
          <p:cNvSpPr/>
          <p:nvPr/>
        </p:nvSpPr>
        <p:spPr>
          <a:xfrm>
            <a:off x="7269480" y="1874520"/>
            <a:ext cx="2103121" cy="73153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14" name="Text 33"/>
          <p:cNvSpPr txBox="1"/>
          <p:nvPr/>
        </p:nvSpPr>
        <p:spPr>
          <a:xfrm>
            <a:off x="7342631" y="2071623"/>
            <a:ext cx="195681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pc="200" sz="700">
                <a:solidFill>
                  <a:srgbClr val="F59E0B"/>
                </a:solidFill>
              </a:defRPr>
            </a:lvl1pPr>
          </a:lstStyle>
          <a:p>
            <a:pPr/>
            <a:r>
              <a:t>MID-SEQUENCE</a:t>
            </a:r>
          </a:p>
        </p:txBody>
      </p:sp>
      <p:sp>
        <p:nvSpPr>
          <p:cNvPr id="415" name="Shape 34"/>
          <p:cNvSpPr/>
          <p:nvPr/>
        </p:nvSpPr>
        <p:spPr>
          <a:xfrm>
            <a:off x="8129016" y="2304288"/>
            <a:ext cx="384049" cy="384049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16" name="Text 35"/>
          <p:cNvSpPr txBox="1"/>
          <p:nvPr/>
        </p:nvSpPr>
        <p:spPr>
          <a:xfrm>
            <a:off x="8129016" y="2375662"/>
            <a:ext cx="384049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600">
                <a:solidFill>
                  <a:srgbClr val="0E0A06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417" name="Text 36"/>
          <p:cNvSpPr txBox="1"/>
          <p:nvPr/>
        </p:nvSpPr>
        <p:spPr>
          <a:xfrm>
            <a:off x="7342631" y="2786888"/>
            <a:ext cx="1956817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2400">
                <a:solidFill>
                  <a:srgbClr val="F59E0B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🎤</a:t>
            </a:r>
          </a:p>
        </p:txBody>
      </p:sp>
      <p:sp>
        <p:nvSpPr>
          <p:cNvPr id="418" name="Text 37"/>
          <p:cNvSpPr txBox="1"/>
          <p:nvPr/>
        </p:nvSpPr>
        <p:spPr>
          <a:xfrm>
            <a:off x="7342631" y="3339338"/>
            <a:ext cx="1956817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500">
                <a:solidFill>
                  <a:srgbClr val="FAF6F0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Behind the Song</a:t>
            </a:r>
          </a:p>
        </p:txBody>
      </p:sp>
      <p:sp>
        <p:nvSpPr>
          <p:cNvPr id="419" name="Text 38"/>
          <p:cNvSpPr txBox="1"/>
          <p:nvPr/>
        </p:nvSpPr>
        <p:spPr>
          <a:xfrm>
            <a:off x="7342631" y="4250349"/>
            <a:ext cx="1956817" cy="5335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900">
                <a:solidFill>
                  <a:srgbClr val="9C8A7A"/>
                </a:solidFill>
              </a:defRPr>
            </a:lvl1pPr>
          </a:lstStyle>
          <a:p>
            <a:pPr/>
            <a:r>
              <a:t>Behind-the-song (M5) — a podcast episode and a companion PDF. The musician's voice, unfiltered. The reader understands the artist.</a:t>
            </a:r>
          </a:p>
        </p:txBody>
      </p:sp>
      <p:sp>
        <p:nvSpPr>
          <p:cNvPr id="420" name="Text 39"/>
          <p:cNvSpPr txBox="1"/>
          <p:nvPr/>
        </p:nvSpPr>
        <p:spPr>
          <a:xfrm>
            <a:off x="7342631" y="5450331"/>
            <a:ext cx="195681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800">
                <a:solidFill>
                  <a:srgbClr val="F59E0B"/>
                </a:solidFill>
              </a:defRPr>
            </a:lvl1pPr>
          </a:lstStyle>
          <a:p>
            <a:pPr/>
            <a:r>
              <a:t>M5</a:t>
            </a:r>
          </a:p>
        </p:txBody>
      </p:sp>
      <p:sp>
        <p:nvSpPr>
          <p:cNvPr id="421" name="Shape 40"/>
          <p:cNvSpPr/>
          <p:nvPr/>
        </p:nvSpPr>
        <p:spPr>
          <a:xfrm>
            <a:off x="9509759" y="1874520"/>
            <a:ext cx="2103121" cy="3840481"/>
          </a:xfrm>
          <a:prstGeom prst="rect">
            <a:avLst/>
          </a:prstGeom>
          <a:solidFill>
            <a:srgbClr val="0A1A0A"/>
          </a:solidFill>
          <a:ln w="1270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22" name="Shape 41"/>
          <p:cNvSpPr/>
          <p:nvPr/>
        </p:nvSpPr>
        <p:spPr>
          <a:xfrm>
            <a:off x="9509759" y="1874520"/>
            <a:ext cx="2103121" cy="73153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23" name="Text 42"/>
          <p:cNvSpPr txBox="1"/>
          <p:nvPr/>
        </p:nvSpPr>
        <p:spPr>
          <a:xfrm>
            <a:off x="9582911" y="2071623"/>
            <a:ext cx="195681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pc="200" sz="700">
                <a:solidFill>
                  <a:srgbClr val="86EFAC"/>
                </a:solidFill>
              </a:defRPr>
            </a:lvl1pPr>
          </a:lstStyle>
          <a:p>
            <a:pPr/>
            <a:r>
              <a:t>CONVERSION</a:t>
            </a:r>
          </a:p>
        </p:txBody>
      </p:sp>
      <p:sp>
        <p:nvSpPr>
          <p:cNvPr id="424" name="Shape 43"/>
          <p:cNvSpPr/>
          <p:nvPr/>
        </p:nvSpPr>
        <p:spPr>
          <a:xfrm>
            <a:off x="10369295" y="2304288"/>
            <a:ext cx="384049" cy="384049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25" name="Text 44"/>
          <p:cNvSpPr txBox="1"/>
          <p:nvPr/>
        </p:nvSpPr>
        <p:spPr>
          <a:xfrm>
            <a:off x="10369295" y="2375662"/>
            <a:ext cx="384049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600">
                <a:solidFill>
                  <a:srgbClr val="0E0A06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426" name="Text 45"/>
          <p:cNvSpPr txBox="1"/>
          <p:nvPr/>
        </p:nvSpPr>
        <p:spPr>
          <a:xfrm>
            <a:off x="9582911" y="2786888"/>
            <a:ext cx="1956817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2400">
                <a:solidFill>
                  <a:srgbClr val="86EFAC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📚</a:t>
            </a:r>
          </a:p>
        </p:txBody>
      </p:sp>
      <p:sp>
        <p:nvSpPr>
          <p:cNvPr id="427" name="Text 46"/>
          <p:cNvSpPr txBox="1"/>
          <p:nvPr/>
        </p:nvSpPr>
        <p:spPr>
          <a:xfrm>
            <a:off x="9582911" y="3339338"/>
            <a:ext cx="1956817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500">
                <a:solidFill>
                  <a:srgbClr val="FAF6F0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The Book</a:t>
            </a:r>
          </a:p>
        </p:txBody>
      </p:sp>
      <p:sp>
        <p:nvSpPr>
          <p:cNvPr id="428" name="Text 47"/>
          <p:cNvSpPr txBox="1"/>
          <p:nvPr/>
        </p:nvSpPr>
        <p:spPr>
          <a:xfrm>
            <a:off x="9582911" y="4250349"/>
            <a:ext cx="1956817" cy="5335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900">
                <a:solidFill>
                  <a:srgbClr val="9C8A7A"/>
                </a:solidFill>
              </a:defRPr>
            </a:lvl1pPr>
          </a:lstStyle>
          <a:p>
            <a:pPr/>
            <a:r>
              <a:t>Book CTA arrives naturally. The book is the deliverable; your music stays on your channels. Familiar territory — they already know the sound. They buy it.</a:t>
            </a:r>
          </a:p>
        </p:txBody>
      </p:sp>
      <p:sp>
        <p:nvSpPr>
          <p:cNvPr id="429" name="Text 48"/>
          <p:cNvSpPr txBox="1"/>
          <p:nvPr/>
        </p:nvSpPr>
        <p:spPr>
          <a:xfrm>
            <a:off x="9582911" y="5450331"/>
            <a:ext cx="195681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800">
                <a:solidFill>
                  <a:srgbClr val="86EFAC"/>
                </a:solidFill>
              </a:defRPr>
            </a:lvl1pPr>
          </a:lstStyle>
          <a:p>
            <a:pPr/>
            <a:r>
              <a:t>THE BOOK</a:t>
            </a:r>
          </a:p>
        </p:txBody>
      </p:sp>
      <p:sp>
        <p:nvSpPr>
          <p:cNvPr id="430" name="Shape 49"/>
          <p:cNvSpPr/>
          <p:nvPr/>
        </p:nvSpPr>
        <p:spPr>
          <a:xfrm>
            <a:off x="2651760" y="3794759"/>
            <a:ext cx="137161" cy="1"/>
          </a:xfrm>
          <a:prstGeom prst="line">
            <a:avLst/>
          </a:prstGeom>
          <a:ln w="1905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31" name="Text 50"/>
          <p:cNvSpPr txBox="1"/>
          <p:nvPr/>
        </p:nvSpPr>
        <p:spPr>
          <a:xfrm>
            <a:off x="2674620" y="3662679"/>
            <a:ext cx="914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F59E0B"/>
                </a:solidFill>
              </a:defRPr>
            </a:lvl1pPr>
          </a:lstStyle>
          <a:p>
            <a:pPr/>
            <a:r>
              <a:t>&gt;</a:t>
            </a:r>
          </a:p>
        </p:txBody>
      </p:sp>
      <p:sp>
        <p:nvSpPr>
          <p:cNvPr id="432" name="Shape 51"/>
          <p:cNvSpPr/>
          <p:nvPr/>
        </p:nvSpPr>
        <p:spPr>
          <a:xfrm>
            <a:off x="4892040" y="3794759"/>
            <a:ext cx="137161" cy="1"/>
          </a:xfrm>
          <a:prstGeom prst="line">
            <a:avLst/>
          </a:prstGeom>
          <a:ln w="1905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33" name="Text 52"/>
          <p:cNvSpPr txBox="1"/>
          <p:nvPr/>
        </p:nvSpPr>
        <p:spPr>
          <a:xfrm>
            <a:off x="4914899" y="3662679"/>
            <a:ext cx="9144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F59E0B"/>
                </a:solidFill>
              </a:defRPr>
            </a:lvl1pPr>
          </a:lstStyle>
          <a:p>
            <a:pPr/>
            <a:r>
              <a:t>&gt;</a:t>
            </a:r>
          </a:p>
        </p:txBody>
      </p:sp>
      <p:sp>
        <p:nvSpPr>
          <p:cNvPr id="434" name="Shape 53"/>
          <p:cNvSpPr/>
          <p:nvPr/>
        </p:nvSpPr>
        <p:spPr>
          <a:xfrm>
            <a:off x="7132319" y="3794759"/>
            <a:ext cx="137161" cy="1"/>
          </a:xfrm>
          <a:prstGeom prst="line">
            <a:avLst/>
          </a:prstGeom>
          <a:ln w="1905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35" name="Text 54"/>
          <p:cNvSpPr txBox="1"/>
          <p:nvPr/>
        </p:nvSpPr>
        <p:spPr>
          <a:xfrm>
            <a:off x="7155180" y="3662679"/>
            <a:ext cx="914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F59E0B"/>
                </a:solidFill>
              </a:defRPr>
            </a:lvl1pPr>
          </a:lstStyle>
          <a:p>
            <a:pPr/>
            <a:r>
              <a:t>&gt;</a:t>
            </a:r>
          </a:p>
        </p:txBody>
      </p:sp>
      <p:sp>
        <p:nvSpPr>
          <p:cNvPr id="436" name="Shape 55"/>
          <p:cNvSpPr/>
          <p:nvPr/>
        </p:nvSpPr>
        <p:spPr>
          <a:xfrm>
            <a:off x="9372599" y="3794759"/>
            <a:ext cx="137162" cy="1"/>
          </a:xfrm>
          <a:prstGeom prst="line">
            <a:avLst/>
          </a:prstGeom>
          <a:ln w="1905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37" name="Text 56"/>
          <p:cNvSpPr txBox="1"/>
          <p:nvPr/>
        </p:nvSpPr>
        <p:spPr>
          <a:xfrm>
            <a:off x="9395459" y="3662679"/>
            <a:ext cx="914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F59E0B"/>
                </a:solidFill>
              </a:defRPr>
            </a:lvl1pPr>
          </a:lstStyle>
          <a:p>
            <a:pPr/>
            <a:r>
              <a:t>&gt;</a:t>
            </a:r>
          </a:p>
        </p:txBody>
      </p:sp>
      <p:sp>
        <p:nvSpPr>
          <p:cNvPr id="438" name="Shape 57"/>
          <p:cNvSpPr/>
          <p:nvPr/>
        </p:nvSpPr>
        <p:spPr>
          <a:xfrm>
            <a:off x="548639" y="5888735"/>
            <a:ext cx="11064242" cy="393193"/>
          </a:xfrm>
          <a:prstGeom prst="rect">
            <a:avLst/>
          </a:prstGeom>
          <a:solidFill>
            <a:srgbClr val="0E0A06"/>
          </a:solidFill>
          <a:ln w="1270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39" name="Text 58"/>
          <p:cNvSpPr txBox="1"/>
          <p:nvPr/>
        </p:nvSpPr>
        <p:spPr>
          <a:xfrm>
            <a:off x="777239" y="6016796"/>
            <a:ext cx="10607042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i="1" sz="1000">
                <a:solidFill>
                  <a:srgbClr val="FAF6F0"/>
                </a:solidFill>
              </a:defRPr>
            </a:lvl1pPr>
          </a:lstStyle>
          <a:p>
            <a:pPr/>
            <a:r>
              <a:t>Books are the catalog. The on-ramps point to your music on your channels. Listeners who discover through sound become the most loyal readers.</a:t>
            </a:r>
          </a:p>
        </p:txBody>
      </p:sp>
      <p:sp>
        <p:nvSpPr>
          <p:cNvPr id="440" name="Shape 59"/>
          <p:cNvSpPr/>
          <p:nvPr/>
        </p:nvSpPr>
        <p:spPr>
          <a:xfrm>
            <a:off x="548639" y="6446520"/>
            <a:ext cx="11064242" cy="1"/>
          </a:xfrm>
          <a:prstGeom prst="line">
            <a:avLst/>
          </a:prstGeom>
          <a:ln w="12700">
            <a:solidFill>
              <a:srgbClr val="2A1F1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41" name="Text 60"/>
          <p:cNvSpPr txBox="1"/>
          <p:nvPr/>
        </p:nvSpPr>
        <p:spPr>
          <a:xfrm>
            <a:off x="548640" y="6584188"/>
            <a:ext cx="8229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9C8A7A"/>
                </a:solidFill>
              </a:defRPr>
            </a:lvl1pPr>
          </a:lstStyle>
          <a:p>
            <a:pPr/>
            <a:r>
              <a:t>Pearl Prime · Enlightened Intelligence Publishing · Music Mode V1 + V2</a:t>
            </a:r>
          </a:p>
        </p:txBody>
      </p:sp>
      <p:sp>
        <p:nvSpPr>
          <p:cNvPr id="442" name="Text 61"/>
          <p:cNvSpPr txBox="1"/>
          <p:nvPr/>
        </p:nvSpPr>
        <p:spPr>
          <a:xfrm>
            <a:off x="10515599" y="6584188"/>
            <a:ext cx="109728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9C8A7A"/>
                </a:solidFill>
              </a:defRPr>
            </a:lvl1pPr>
          </a:lstStyle>
          <a:p>
            <a:pPr/>
            <a:r>
              <a:t>14 / 15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E0A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Shape 0"/>
          <p:cNvSpPr/>
          <p:nvPr/>
        </p:nvSpPr>
        <p:spPr>
          <a:xfrm>
            <a:off x="-1" y="0"/>
            <a:ext cx="365762" cy="68580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45" name="Text 1"/>
          <p:cNvSpPr txBox="1"/>
          <p:nvPr/>
        </p:nvSpPr>
        <p:spPr>
          <a:xfrm>
            <a:off x="822960" y="1596960"/>
            <a:ext cx="1097280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800" sz="1400">
                <a:solidFill>
                  <a:srgbClr val="F59E0B"/>
                </a:solidFill>
              </a:defRPr>
            </a:lvl1pPr>
          </a:lstStyle>
          <a:p>
            <a:pPr/>
            <a:r>
              <a:t>PEARL PRIME · EI</a:t>
            </a:r>
          </a:p>
        </p:txBody>
      </p:sp>
      <p:sp>
        <p:nvSpPr>
          <p:cNvPr id="446" name="Text 2"/>
          <p:cNvSpPr txBox="1"/>
          <p:nvPr/>
        </p:nvSpPr>
        <p:spPr>
          <a:xfrm>
            <a:off x="822960" y="2098039"/>
            <a:ext cx="10972801" cy="1016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6800">
                <a:solidFill>
                  <a:srgbClr val="FAF6F0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Your Music - Composite USLF</a:t>
            </a:r>
          </a:p>
        </p:txBody>
      </p:sp>
      <p:sp>
        <p:nvSpPr>
          <p:cNvPr id="447" name="Text 3"/>
          <p:cNvSpPr txBox="1"/>
          <p:nvPr/>
        </p:nvSpPr>
        <p:spPr>
          <a:xfrm>
            <a:off x="822960" y="3103879"/>
            <a:ext cx="10972801" cy="1016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6800">
                <a:solidFill>
                  <a:srgbClr val="F59E0B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Therapeutic Content</a:t>
            </a:r>
          </a:p>
        </p:txBody>
      </p:sp>
      <p:sp>
        <p:nvSpPr>
          <p:cNvPr id="448" name="Text 4"/>
          <p:cNvSpPr txBox="1"/>
          <p:nvPr/>
        </p:nvSpPr>
        <p:spPr>
          <a:xfrm>
            <a:off x="822960" y="4958781"/>
            <a:ext cx="10515601" cy="4151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500">
                <a:solidFill>
                  <a:srgbClr val="9C8A7A"/>
                </a:solidFill>
              </a:defRPr>
            </a:lvl1pPr>
          </a:lstStyle>
          <a:p>
            <a:pPr/>
            <a:r>
              <a:t>Pearl Prime exists to carry the spiritual wisdom and a felt sense of your music to readers who may never make it to a live set, a record store, or a scene — but who carry your sound into their day in a form they can read, listen to, and return to.</a:t>
            </a:r>
          </a:p>
        </p:txBody>
      </p:sp>
      <p:sp>
        <p:nvSpPr>
          <p:cNvPr id="449" name="Shape 5"/>
          <p:cNvSpPr/>
          <p:nvPr/>
        </p:nvSpPr>
        <p:spPr>
          <a:xfrm>
            <a:off x="822960" y="5943600"/>
            <a:ext cx="3657601" cy="0"/>
          </a:xfrm>
          <a:prstGeom prst="line">
            <a:avLst/>
          </a:prstGeom>
          <a:ln w="2540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50" name="Text 6"/>
          <p:cNvSpPr txBox="1"/>
          <p:nvPr/>
        </p:nvSpPr>
        <p:spPr>
          <a:xfrm>
            <a:off x="822960" y="6180258"/>
            <a:ext cx="10972801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FAF6F0"/>
                </a:solidFill>
              </a:defRPr>
            </a:lvl1pPr>
          </a:lstStyle>
          <a:p>
            <a:pPr/>
            <a:r>
              <a:t>Build with us.  ·  Pearl Prime  ·  Enlightened Intelligence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