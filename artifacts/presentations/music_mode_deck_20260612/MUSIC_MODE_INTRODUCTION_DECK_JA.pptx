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20" name="Shape 0"/>
          <p:cNvSpPr/>
          <p:nvPr/>
        </p:nvSpPr>
        <p:spPr>
          <a:xfrm>
            <a:off x="-1" y="0"/>
            <a:ext cx="365762" cy="6858000"/>
          </a:xfrm>
          <a:prstGeom prst="rect">
            <a:avLst/>
          </a:prstGeom>
          <a:solidFill>
            <a:srgbClr val="D97706"/>
          </a:solidFill>
          <a:ln w="12700">
            <a:solidFill>
              <a:srgbClr val="D97706"/>
            </a:solidFill>
          </a:ln>
        </p:spPr>
        <p:txBody>
          <a:bodyPr lIns="45719" rIns="45719"/>
          <a:lstStyle/>
          <a:p>
            <a:pPr/>
          </a:p>
        </p:txBody>
      </p:sp>
      <p:sp>
        <p:nvSpPr>
          <p:cNvPr id="21" name="Text 1"/>
          <p:cNvSpPr txBox="1"/>
          <p:nvPr/>
        </p:nvSpPr>
        <p:spPr>
          <a:xfrm>
            <a:off x="822960" y="1414080"/>
            <a:ext cx="109728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800" sz="1400">
                <a:solidFill>
                  <a:srgbClr val="F59E0B"/>
                </a:solidFill>
              </a:defRPr>
            </a:lvl1pPr>
          </a:lstStyle>
          <a:p>
            <a:pPr/>
            <a:r>
              <a:rPr>
                <a:latin typeface="Calibri"/>
                <a:ea typeface="Hiragino Sans"/>
              </a:rPr>
              <a:t>PEARL PRIME · EI</a:t>
            </a:r>
          </a:p>
        </p:txBody>
      </p:sp>
      <p:sp>
        <p:nvSpPr>
          <p:cNvPr id="22" name="Text 2"/>
          <p:cNvSpPr txBox="1"/>
          <p:nvPr/>
        </p:nvSpPr>
        <p:spPr>
          <a:xfrm>
            <a:off x="822960" y="1809750"/>
            <a:ext cx="10972801" cy="952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400">
                <a:solidFill>
                  <a:srgbClr val="FAF6F0"/>
                </a:solidFill>
                <a:latin typeface="Cambria"/>
                <a:ea typeface="Cambria"/>
                <a:cs typeface="Cambria"/>
                <a:sym typeface="Cambria"/>
              </a:defRPr>
            </a:lvl1pPr>
          </a:lstStyle>
          <a:p>
            <a:pPr/>
            <a:r>
              <a:rPr>
                <a:latin typeface="Cambria"/>
                <a:ea typeface="Hiragino Mincho ProN"/>
              </a:rPr>
              <a:t>Pearl Prime</a:t>
            </a:r>
          </a:p>
        </p:txBody>
      </p:sp>
      <p:sp>
        <p:nvSpPr>
          <p:cNvPr id="23" name="Text 3"/>
          <p:cNvSpPr txBox="1"/>
          <p:nvPr/>
        </p:nvSpPr>
        <p:spPr>
          <a:xfrm>
            <a:off x="822960" y="2724150"/>
            <a:ext cx="10972801" cy="952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400">
                <a:solidFill>
                  <a:srgbClr val="F59E0B"/>
                </a:solidFill>
                <a:latin typeface="Cambria"/>
                <a:ea typeface="Cambria"/>
                <a:cs typeface="Cambria"/>
                <a:sym typeface="Cambria"/>
              </a:defRPr>
            </a:lvl1pPr>
          </a:lstStyle>
          <a:p>
            <a:pPr/>
            <a:r>
              <a:rPr>
                <a:latin typeface="Cambria"/>
                <a:ea typeface="Hiragino Mincho ProN"/>
              </a:rPr>
              <a:t>Music Content</a:t>
            </a:r>
          </a:p>
        </p:txBody>
      </p:sp>
      <p:sp>
        <p:nvSpPr>
          <p:cNvPr id="24" name="Text 4"/>
          <p:cNvSpPr txBox="1"/>
          <p:nvPr/>
        </p:nvSpPr>
        <p:spPr>
          <a:xfrm>
            <a:off x="822960" y="4147383"/>
            <a:ext cx="105156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600">
                <a:solidFill>
                  <a:srgbClr val="9C8A7A"/>
                </a:solidFill>
              </a:defRPr>
            </a:lvl1pPr>
          </a:lstStyle>
          <a:p>
            <a:pPr/>
            <a:r>
              <a:rPr>
                <a:latin typeface="Calibri"/>
                <a:ea typeface="Hiragino Sans"/>
              </a:rPr>
              <a:t>Pearl Prime が、本・オーディオブック・ポッドキャスト・マンガを世界規模で創るしくみ</a:t>
            </a:r>
          </a:p>
        </p:txBody>
      </p:sp>
      <p:sp>
        <p:nvSpPr>
          <p:cNvPr id="25" name="Text 5"/>
          <p:cNvSpPr txBox="1"/>
          <p:nvPr/>
        </p:nvSpPr>
        <p:spPr>
          <a:xfrm>
            <a:off x="822960" y="4671498"/>
            <a:ext cx="105156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defRPr>
            </a:lvl1pPr>
          </a:lstStyle>
          <a:p>
            <a:pPr/>
            <a:r>
              <a:rPr>
                <a:latin typeface="Calibri"/>
                <a:ea typeface="Hiragino Sans"/>
              </a:rPr>
              <a:t>Pearl Prime ブランドディレクター・ネットワークのミュージシャンへ</a:t>
            </a:r>
          </a:p>
        </p:txBody>
      </p:sp>
      <p:sp>
        <p:nvSpPr>
          <p:cNvPr id="26" name="Shape 6"/>
          <p:cNvSpPr/>
          <p:nvPr/>
        </p:nvSpPr>
        <p:spPr>
          <a:xfrm>
            <a:off x="822960" y="5486400"/>
            <a:ext cx="3657601" cy="0"/>
          </a:xfrm>
          <a:prstGeom prst="line">
            <a:avLst/>
          </a:prstGeom>
          <a:ln w="25400">
            <a:solidFill>
              <a:srgbClr val="D97706"/>
            </a:solidFill>
          </a:ln>
        </p:spPr>
        <p:txBody>
          <a:bodyPr lIns="45719" rIns="45719"/>
          <a:lstStyle/>
          <a:p>
            <a:pPr/>
          </a:p>
        </p:txBody>
      </p:sp>
      <p:sp>
        <p:nvSpPr>
          <p:cNvPr id="27" name="Text 7"/>
          <p:cNvSpPr txBox="1"/>
          <p:nvPr/>
        </p:nvSpPr>
        <p:spPr>
          <a:xfrm>
            <a:off x="822960" y="5728007"/>
            <a:ext cx="105156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F59E0B"/>
                </a:solidFill>
              </a:defRPr>
            </a:lvl1pPr>
          </a:lstStyle>
          <a:p>
            <a:pPr/>
            <a:r>
              <a:rPr>
                <a:latin typeface="Calibri"/>
                <a:ea typeface="Hiragino Sans"/>
              </a:rPr>
              <a:t>提供：Pearl Prime · Enlightened Intelligence Publishing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29"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概要</a:t>
            </a:r>
          </a:p>
        </p:txBody>
      </p:sp>
      <p:sp>
        <p:nvSpPr>
          <p:cNvPr id="30"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31"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Music Mode とは？</a:t>
            </a:r>
          </a:p>
        </p:txBody>
      </p:sp>
      <p:sp>
        <p:nvSpPr>
          <p:cNvPr id="32"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Pearl Prime — Enlightened Intelligence — は、AIネイティブの出版システムです。Music mode は、その Platform における第一級のブランド・アーキタイプです。</a:t>
            </a:r>
          </a:p>
        </p:txBody>
      </p:sp>
      <p:sp>
        <p:nvSpPr>
          <p:cNvPr id="33" name="Shape 4"/>
          <p:cNvSpPr/>
          <p:nvPr/>
        </p:nvSpPr>
        <p:spPr>
          <a:xfrm>
            <a:off x="548640" y="1828800"/>
            <a:ext cx="3657601" cy="4297680"/>
          </a:xfrm>
          <a:prstGeom prst="rect">
            <a:avLst/>
          </a:prstGeom>
          <a:solidFill>
            <a:srgbClr val="2A1F17"/>
          </a:solidFill>
          <a:ln w="12700">
            <a:solidFill>
              <a:srgbClr val="D97706"/>
            </a:solidFill>
          </a:ln>
        </p:spPr>
        <p:txBody>
          <a:bodyPr lIns="45719" rIns="45719"/>
          <a:lstStyle/>
          <a:p>
            <a:pPr/>
          </a:p>
        </p:txBody>
      </p:sp>
      <p:sp>
        <p:nvSpPr>
          <p:cNvPr id="34" name="Shape 5"/>
          <p:cNvSpPr/>
          <p:nvPr/>
        </p:nvSpPr>
        <p:spPr>
          <a:xfrm>
            <a:off x="548640" y="1828799"/>
            <a:ext cx="3657601" cy="73154"/>
          </a:xfrm>
          <a:prstGeom prst="rect">
            <a:avLst/>
          </a:prstGeom>
          <a:solidFill>
            <a:srgbClr val="D97706"/>
          </a:solidFill>
          <a:ln w="12700">
            <a:solidFill>
              <a:srgbClr val="D97706"/>
            </a:solidFill>
          </a:ln>
        </p:spPr>
        <p:txBody>
          <a:bodyPr lIns="45719" rIns="45719"/>
          <a:lstStyle/>
          <a:p>
            <a:pPr/>
          </a:p>
        </p:txBody>
      </p:sp>
      <p:sp>
        <p:nvSpPr>
          <p:cNvPr id="35" name="Text 6"/>
          <p:cNvSpPr txBox="1"/>
          <p:nvPr/>
        </p:nvSpPr>
        <p:spPr>
          <a:xfrm>
            <a:off x="731519" y="2084069"/>
            <a:ext cx="731521" cy="495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36" name="Text 7"/>
          <p:cNvSpPr txBox="1"/>
          <p:nvPr/>
        </p:nvSpPr>
        <p:spPr>
          <a:xfrm>
            <a:off x="731519" y="2769869"/>
            <a:ext cx="329184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AF6F0"/>
                </a:solidFill>
                <a:latin typeface="Cambria"/>
                <a:ea typeface="Cambria"/>
                <a:cs typeface="Cambria"/>
                <a:sym typeface="Cambria"/>
              </a:defRPr>
            </a:lvl1pPr>
          </a:lstStyle>
          <a:p>
            <a:pPr/>
            <a:r>
              <a:rPr>
                <a:latin typeface="Cambria"/>
                <a:ea typeface="Hiragino Mincho ProN"/>
              </a:rPr>
              <a:t>何を生み出すか</a:t>
            </a:r>
          </a:p>
        </p:txBody>
      </p:sp>
      <p:sp>
        <p:nvSpPr>
          <p:cNvPr id="37" name="Text 8"/>
          <p:cNvSpPr txBox="1"/>
          <p:nvPr/>
        </p:nvSpPr>
        <p:spPr>
          <a:xfrm>
            <a:off x="731519" y="4220386"/>
            <a:ext cx="3291842" cy="794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400"/>
              </a:spcBef>
              <a:defRPr sz="1100">
                <a:solidFill>
                  <a:srgbClr val="FAF6F0"/>
                </a:solidFill>
              </a:defRPr>
            </a:lvl1pPr>
          </a:lstStyle>
          <a:p>
            <a:pPr/>
            <a:r>
              <a:rPr>
                <a:latin typeface="Calibri"/>
                <a:ea typeface="Hiragino Sans"/>
              </a:rPr>
              <a:t>通常の Pearl Prime の電子書籍＋あなたの音楽スロット。配分はあなたのデータが決めます — 歌詞があれば歌詞の本、なければインスト・リフレクションの本、その両方が一つのブランドに共存します。教えは、あなた自身のバンク（あなたが教える場合）または Pearl Prime のコンポジットから生まれます。あなたの音楽はあなたのチャンネルに置かれ、本がそこへと導きます。</a:t>
            </a:r>
          </a:p>
        </p:txBody>
      </p:sp>
      <p:sp>
        <p:nvSpPr>
          <p:cNvPr id="38" name="Shape 9"/>
          <p:cNvSpPr/>
          <p:nvPr/>
        </p:nvSpPr>
        <p:spPr>
          <a:xfrm>
            <a:off x="4343400" y="1828800"/>
            <a:ext cx="3657600" cy="4297680"/>
          </a:xfrm>
          <a:prstGeom prst="rect">
            <a:avLst/>
          </a:prstGeom>
          <a:solidFill>
            <a:srgbClr val="2A1F17"/>
          </a:solidFill>
          <a:ln w="12700">
            <a:solidFill>
              <a:srgbClr val="D97706"/>
            </a:solidFill>
          </a:ln>
        </p:spPr>
        <p:txBody>
          <a:bodyPr lIns="45719" rIns="45719"/>
          <a:lstStyle/>
          <a:p>
            <a:pPr/>
          </a:p>
        </p:txBody>
      </p:sp>
      <p:sp>
        <p:nvSpPr>
          <p:cNvPr id="39" name="Shape 10"/>
          <p:cNvSpPr/>
          <p:nvPr/>
        </p:nvSpPr>
        <p:spPr>
          <a:xfrm>
            <a:off x="4343400" y="1828799"/>
            <a:ext cx="3657600" cy="73154"/>
          </a:xfrm>
          <a:prstGeom prst="rect">
            <a:avLst/>
          </a:prstGeom>
          <a:solidFill>
            <a:srgbClr val="D97706"/>
          </a:solidFill>
          <a:ln w="12700">
            <a:solidFill>
              <a:srgbClr val="D97706"/>
            </a:solidFill>
          </a:ln>
        </p:spPr>
        <p:txBody>
          <a:bodyPr lIns="45719" rIns="45719"/>
          <a:lstStyle/>
          <a:p>
            <a:pPr/>
          </a:p>
        </p:txBody>
      </p:sp>
      <p:sp>
        <p:nvSpPr>
          <p:cNvPr id="40" name="Text 11"/>
          <p:cNvSpPr txBox="1"/>
          <p:nvPr/>
        </p:nvSpPr>
        <p:spPr>
          <a:xfrm>
            <a:off x="4526279" y="2084069"/>
            <a:ext cx="731521" cy="495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41" name="Text 12"/>
          <p:cNvSpPr txBox="1"/>
          <p:nvPr/>
        </p:nvSpPr>
        <p:spPr>
          <a:xfrm>
            <a:off x="4526279" y="2769869"/>
            <a:ext cx="32918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AF6F0"/>
                </a:solidFill>
                <a:latin typeface="Cambria"/>
                <a:ea typeface="Cambria"/>
                <a:cs typeface="Cambria"/>
                <a:sym typeface="Cambria"/>
              </a:defRPr>
            </a:lvl1pPr>
          </a:lstStyle>
          <a:p>
            <a:pPr/>
            <a:r>
              <a:rPr>
                <a:latin typeface="Cambria"/>
                <a:ea typeface="Hiragino Mincho ProN"/>
              </a:rPr>
              <a:t>誰に届くか</a:t>
            </a:r>
          </a:p>
        </p:txBody>
      </p:sp>
      <p:sp>
        <p:nvSpPr>
          <p:cNvPr id="42" name="Text 13"/>
          <p:cNvSpPr txBox="1"/>
          <p:nvPr/>
        </p:nvSpPr>
        <p:spPr>
          <a:xfrm>
            <a:off x="4526279" y="4220386"/>
            <a:ext cx="3291841" cy="794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400"/>
              </a:spcBef>
              <a:defRPr sz="1100">
                <a:solidFill>
                  <a:srgbClr val="FAF6F0"/>
                </a:solidFill>
              </a:defRPr>
            </a:lvl1pPr>
          </a:lstStyle>
          <a:p>
            <a:pPr/>
            <a:r>
              <a:rPr>
                <a:latin typeface="Calibri"/>
                <a:ea typeface="Hiragino Sans"/>
              </a:rPr>
              <a:t>アメリカ、日本、台湾、中国ほか12の市場にまたがる、Z世代とα世代の読者へ — KDP、Audible、Apple Books、Google Play で。Pearl_Localization により各ロケールで同等の体験を実現。著者の声で、読者に直接語りかけます。</a:t>
            </a:r>
          </a:p>
        </p:txBody>
      </p:sp>
      <p:sp>
        <p:nvSpPr>
          <p:cNvPr id="43" name="Shape 14"/>
          <p:cNvSpPr/>
          <p:nvPr/>
        </p:nvSpPr>
        <p:spPr>
          <a:xfrm>
            <a:off x="8138159" y="1828800"/>
            <a:ext cx="3657601" cy="4297680"/>
          </a:xfrm>
          <a:prstGeom prst="rect">
            <a:avLst/>
          </a:prstGeom>
          <a:solidFill>
            <a:srgbClr val="2A1F17"/>
          </a:solidFill>
          <a:ln w="12700">
            <a:solidFill>
              <a:srgbClr val="D97706"/>
            </a:solidFill>
          </a:ln>
        </p:spPr>
        <p:txBody>
          <a:bodyPr lIns="45719" rIns="45719"/>
          <a:lstStyle/>
          <a:p>
            <a:pPr/>
          </a:p>
        </p:txBody>
      </p:sp>
      <p:sp>
        <p:nvSpPr>
          <p:cNvPr id="44" name="Shape 15"/>
          <p:cNvSpPr/>
          <p:nvPr/>
        </p:nvSpPr>
        <p:spPr>
          <a:xfrm>
            <a:off x="8138159" y="1828799"/>
            <a:ext cx="3657601" cy="73154"/>
          </a:xfrm>
          <a:prstGeom prst="rect">
            <a:avLst/>
          </a:prstGeom>
          <a:solidFill>
            <a:srgbClr val="D97706"/>
          </a:solidFill>
          <a:ln w="12700">
            <a:solidFill>
              <a:srgbClr val="D97706"/>
            </a:solidFill>
          </a:ln>
        </p:spPr>
        <p:txBody>
          <a:bodyPr lIns="45719" rIns="45719"/>
          <a:lstStyle/>
          <a:p>
            <a:pPr/>
          </a:p>
        </p:txBody>
      </p:sp>
      <p:sp>
        <p:nvSpPr>
          <p:cNvPr id="45" name="Text 16"/>
          <p:cNvSpPr txBox="1"/>
          <p:nvPr/>
        </p:nvSpPr>
        <p:spPr>
          <a:xfrm>
            <a:off x="8321040" y="2084069"/>
            <a:ext cx="731521" cy="495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46" name="Text 17"/>
          <p:cNvSpPr txBox="1"/>
          <p:nvPr/>
        </p:nvSpPr>
        <p:spPr>
          <a:xfrm>
            <a:off x="8321040" y="2769869"/>
            <a:ext cx="32918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FAF6F0"/>
                </a:solidFill>
                <a:latin typeface="Cambria"/>
                <a:ea typeface="Cambria"/>
                <a:cs typeface="Cambria"/>
                <a:sym typeface="Cambria"/>
              </a:defRPr>
            </a:lvl1pPr>
          </a:lstStyle>
          <a:p>
            <a:pPr/>
            <a:r>
              <a:rPr>
                <a:latin typeface="Cambria"/>
                <a:ea typeface="Hiragino Mincho ProN"/>
              </a:rPr>
              <a:t>どう機能するか</a:t>
            </a:r>
          </a:p>
        </p:txBody>
      </p:sp>
      <p:sp>
        <p:nvSpPr>
          <p:cNvPr id="47" name="Text 18"/>
          <p:cNvSpPr txBox="1"/>
          <p:nvPr/>
        </p:nvSpPr>
        <p:spPr>
          <a:xfrm>
            <a:off x="8321040" y="4220386"/>
            <a:ext cx="3291841" cy="794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spcBef>
                <a:spcPts val="400"/>
              </a:spcBef>
              <a:defRPr sz="1100">
                <a:solidFill>
                  <a:srgbClr val="FAF6F0"/>
                </a:solidFill>
              </a:defRPr>
            </a:lvl1pPr>
          </a:lstStyle>
          <a:p>
            <a:pPr/>
            <a:r>
              <a:rPr>
                <a:latin typeface="Calibri"/>
                <a:ea typeface="Hiragino Sans"/>
              </a:rPr>
              <a:t>決定論的な組み立て：あなたのアンケート＋原点となる楽曲＋声・表現のプロフィールが、atom-bank パイプラインに入力されます。Pearl_Editor と Pearl_Writer が、6つの新しいスロットプールに紐づけて atom を執筆します。ハルシネーションではありません — あなたのテーマと声が、システムの恒久的な記憶になるのです。</a:t>
            </a:r>
          </a:p>
        </p:txBody>
      </p:sp>
      <p:sp>
        <p:nvSpPr>
          <p:cNvPr id="48" name="Shape 19"/>
          <p:cNvSpPr/>
          <p:nvPr/>
        </p:nvSpPr>
        <p:spPr>
          <a:xfrm>
            <a:off x="548639" y="6446520"/>
            <a:ext cx="11064242" cy="1"/>
          </a:xfrm>
          <a:prstGeom prst="line">
            <a:avLst/>
          </a:prstGeom>
          <a:ln w="12700">
            <a:solidFill>
              <a:srgbClr val="2A1F17"/>
            </a:solidFill>
          </a:ln>
        </p:spPr>
        <p:txBody>
          <a:bodyPr lIns="45719" rIns="45719"/>
          <a:lstStyle/>
          <a:p>
            <a:pPr/>
          </a:p>
        </p:txBody>
      </p:sp>
      <p:sp>
        <p:nvSpPr>
          <p:cNvPr id="49" name="Text 20"/>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50" name="Text 21"/>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2 / 15</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52"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ナレッジベース</a:t>
            </a:r>
          </a:p>
        </p:txBody>
      </p:sp>
      <p:sp>
        <p:nvSpPr>
          <p:cNvPr id="53"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54"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あなたの声を、atom として書き起こす</a:t>
            </a:r>
          </a:p>
        </p:txBody>
      </p:sp>
      <p:sp>
        <p:nvSpPr>
          <p:cNvPr id="55" name="Text 3"/>
          <p:cNvSpPr txBox="1"/>
          <p:nvPr/>
        </p:nvSpPr>
        <p:spPr>
          <a:xfrm>
            <a:off x="548639" y="1254060"/>
            <a:ext cx="11064242"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Pearl Prime は、ミュージシャンごとに musician_bank を構築します — あなたのテーマ、声のレジスター、癒しの意図、特徴的な技法、原点となる楽曲。そのバンクから、本が書かれます。</a:t>
            </a:r>
          </a:p>
        </p:txBody>
      </p:sp>
      <p:sp>
        <p:nvSpPr>
          <p:cNvPr id="56" name="Shape 4"/>
          <p:cNvSpPr/>
          <p:nvPr/>
        </p:nvSpPr>
        <p:spPr>
          <a:xfrm>
            <a:off x="548640" y="1828800"/>
            <a:ext cx="5486401" cy="4297680"/>
          </a:xfrm>
          <a:prstGeom prst="rect">
            <a:avLst/>
          </a:prstGeom>
          <a:solidFill>
            <a:srgbClr val="2A1F17"/>
          </a:solidFill>
          <a:ln w="12700">
            <a:solidFill>
              <a:srgbClr val="D97706"/>
            </a:solidFill>
          </a:ln>
        </p:spPr>
        <p:txBody>
          <a:bodyPr lIns="45719" rIns="45719"/>
          <a:lstStyle/>
          <a:p>
            <a:pPr/>
          </a:p>
        </p:txBody>
      </p:sp>
      <p:sp>
        <p:nvSpPr>
          <p:cNvPr id="57" name="Shape 5"/>
          <p:cNvSpPr/>
          <p:nvPr/>
        </p:nvSpPr>
        <p:spPr>
          <a:xfrm>
            <a:off x="548640" y="1828800"/>
            <a:ext cx="73153" cy="4297680"/>
          </a:xfrm>
          <a:prstGeom prst="rect">
            <a:avLst/>
          </a:prstGeom>
          <a:solidFill>
            <a:srgbClr val="D97706"/>
          </a:solidFill>
          <a:ln w="12700">
            <a:solidFill>
              <a:srgbClr val="D97706"/>
            </a:solidFill>
          </a:ln>
        </p:spPr>
        <p:txBody>
          <a:bodyPr lIns="45719" rIns="45719"/>
          <a:lstStyle/>
          <a:p>
            <a:pPr/>
          </a:p>
        </p:txBody>
      </p:sp>
      <p:sp>
        <p:nvSpPr>
          <p:cNvPr id="58" name="Text 6"/>
          <p:cNvSpPr txBox="1"/>
          <p:nvPr/>
        </p:nvSpPr>
        <p:spPr>
          <a:xfrm>
            <a:off x="777239" y="2081706"/>
            <a:ext cx="51206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F59E0B"/>
                </a:solidFill>
              </a:defRPr>
            </a:lvl1pPr>
          </a:lstStyle>
          <a:p>
            <a:pPr/>
            <a:r>
              <a:rPr>
                <a:latin typeface="Calibri"/>
                <a:ea typeface="Hiragino Sans"/>
              </a:rPr>
              <a:t>6つのスロットプールが、すべての章を形づくる</a:t>
            </a:r>
          </a:p>
        </p:txBody>
      </p:sp>
      <p:sp>
        <p:nvSpPr>
          <p:cNvPr id="59" name="Text 7"/>
          <p:cNvSpPr txBox="1"/>
          <p:nvPr/>
        </p:nvSpPr>
        <p:spPr>
          <a:xfrm>
            <a:off x="777239" y="3021506"/>
            <a:ext cx="5120642" cy="2369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spcBef>
                <a:spcPts val="300"/>
              </a:spcBef>
              <a:defRPr i="1" sz="1100">
                <a:solidFill>
                  <a:srgbClr val="F59E0B"/>
                </a:solidFill>
              </a:defRPr>
            </a:pPr>
            <a:r>
              <a:rPr>
                <a:latin typeface="Calibri"/>
                <a:ea typeface="Hiragino Sans"/>
              </a:rPr>
              <a:t>歌詞ありバリアント：</a:t>
            </a:r>
          </a:p>
          <a:p>
            <a:pPr marL="342900" indent="-342900">
              <a:spcBef>
                <a:spcPts val="300"/>
              </a:spcBef>
              <a:buSzPct val="100000"/>
              <a:buChar char="■"/>
              <a:defRPr sz="1100">
                <a:solidFill>
                  <a:srgbClr val="FAF6F0"/>
                </a:solidFill>
              </a:defRPr>
            </a:pPr>
            <a:r>
              <a:rPr>
                <a:latin typeface="Calibri"/>
                <a:ea typeface="Hiragino Sans"/>
              </a:rPr>
              <a:t>LYRIC_OPENING  — 章の冒頭に置く、あなたの歌詞の声</a:t>
            </a:r>
          </a:p>
          <a:p>
            <a:pPr marL="342900" indent="-342900">
              <a:spcBef>
                <a:spcPts val="300"/>
              </a:spcBef>
              <a:buSzPct val="100000"/>
              <a:buChar char="■"/>
              <a:defRPr sz="1100">
                <a:solidFill>
                  <a:srgbClr val="FAF6F0"/>
                </a:solidFill>
              </a:defRPr>
            </a:pPr>
            <a:r>
              <a:rPr>
                <a:latin typeface="Calibri"/>
                <a:ea typeface="Hiragino Sans"/>
              </a:rPr>
              <a:t>LYRIC_CLOSING  — 章の終わりに置く、あなたの歌詞の声</a:t>
            </a:r>
          </a:p>
          <a:p>
            <a:pPr marL="342900" indent="-342900">
              <a:spcBef>
                <a:spcPts val="300"/>
              </a:spcBef>
              <a:buSzPct val="100000"/>
              <a:buChar char="■"/>
              <a:defRPr sz="1100">
                <a:solidFill>
                  <a:srgbClr val="FAF6F0"/>
                </a:solidFill>
              </a:defRPr>
            </a:pPr>
            <a:r>
              <a:rPr>
                <a:latin typeface="Calibri"/>
                <a:ea typeface="Hiragino Sans"/>
              </a:rPr>
              <a:t>LYRIC_BESTSELLER_BEAT  — 章の中ほどに置く、歌詞のひと拍</a:t>
            </a:r>
          </a:p>
          <a:p>
            <a:pPr>
              <a:spcBef>
                <a:spcPts val="300"/>
              </a:spcBef>
              <a:defRPr sz="1100"/>
            </a:pPr>
            <a:r>
              <a:t> </a:t>
            </a:r>
          </a:p>
          <a:p>
            <a:pPr>
              <a:spcBef>
                <a:spcPts val="300"/>
              </a:spcBef>
              <a:defRPr i="1" sz="1100">
                <a:solidFill>
                  <a:srgbClr val="F59E0B"/>
                </a:solidFill>
              </a:defRPr>
            </a:pPr>
            <a:r>
              <a:rPr>
                <a:latin typeface="Calibri"/>
                <a:ea typeface="Hiragino Sans"/>
              </a:rPr>
              <a:t>歌詞なしバリアント：</a:t>
            </a:r>
          </a:p>
          <a:p>
            <a:pPr marL="342900" indent="-342900">
              <a:spcBef>
                <a:spcPts val="300"/>
              </a:spcBef>
              <a:buSzPct val="100000"/>
              <a:buChar char="■"/>
              <a:defRPr sz="1100">
                <a:solidFill>
                  <a:srgbClr val="FAF6F0"/>
                </a:solidFill>
              </a:defRPr>
            </a:pPr>
            <a:r>
              <a:rPr>
                <a:latin typeface="Calibri"/>
                <a:ea typeface="Hiragino Sans"/>
              </a:rPr>
              <a:t>MUSIC_REFLECTION_OPENING  — リフレクションで開く</a:t>
            </a:r>
          </a:p>
          <a:p>
            <a:pPr marL="342900" indent="-342900">
              <a:spcBef>
                <a:spcPts val="300"/>
              </a:spcBef>
              <a:buSzPct val="100000"/>
              <a:buChar char="■"/>
              <a:defRPr sz="1100">
                <a:solidFill>
                  <a:srgbClr val="FAF6F0"/>
                </a:solidFill>
              </a:defRPr>
            </a:pPr>
            <a:r>
              <a:rPr>
                <a:latin typeface="Calibri"/>
                <a:ea typeface="Hiragino Sans"/>
              </a:rPr>
              <a:t>MUSIC_REFLECTION_CLOSING  — リフレクションで閉じる</a:t>
            </a:r>
          </a:p>
          <a:p>
            <a:pPr marL="342900" indent="-342900">
              <a:spcBef>
                <a:spcPts val="300"/>
              </a:spcBef>
              <a:buSzPct val="100000"/>
              <a:buChar char="■"/>
              <a:defRPr sz="1100">
                <a:solidFill>
                  <a:srgbClr val="FAF6F0"/>
                </a:solidFill>
              </a:defRPr>
            </a:pPr>
            <a:r>
              <a:rPr>
                <a:latin typeface="Calibri"/>
                <a:ea typeface="Hiragino Sans"/>
              </a:rPr>
              <a:t>MUSIC_REFLECTION_BESTSELLER_BEAT  — 章の中ほどのひと拍</a:t>
            </a:r>
          </a:p>
          <a:p>
            <a:pPr>
              <a:spcBef>
                <a:spcPts val="300"/>
              </a:spcBef>
              <a:defRPr sz="1100"/>
            </a:pPr>
            <a:r>
              <a:t> </a:t>
            </a:r>
          </a:p>
          <a:p>
            <a:pPr>
              <a:spcBef>
                <a:spcPts val="300"/>
              </a:spcBef>
              <a:defRPr i="1" sz="1100">
                <a:solidFill>
                  <a:srgbClr val="F59E0B"/>
                </a:solidFill>
              </a:defRPr>
            </a:pPr>
            <a:r>
              <a:rPr>
                <a:latin typeface="Calibri"/>
                <a:ea typeface="Hiragino Sans"/>
              </a:rPr>
              <a:t>+ INTRO_2P_TEMPLATE + CONCLUSION_2P_TEMPLATE</a:t>
            </a:r>
          </a:p>
          <a:p>
            <a:pPr>
              <a:spcBef>
                <a:spcPts val="300"/>
              </a:spcBef>
              <a:defRPr i="1" sz="1100">
                <a:solidFill>
                  <a:srgbClr val="9C8A7A"/>
                </a:solidFill>
              </a:defRPr>
            </a:pPr>
            <a:r>
              <a:rPr>
                <a:latin typeface="Calibri"/>
                <a:ea typeface="Hiragino Sans"/>
              </a:rPr>
              <a:t>（二人称のフレーミングが冒頭と結びを開く）＋ すべての音楽スロットに、一人称で音楽に帰属を示すラッパー</a:t>
            </a:r>
          </a:p>
        </p:txBody>
      </p:sp>
      <p:sp>
        <p:nvSpPr>
          <p:cNvPr id="60" name="Shape 8"/>
          <p:cNvSpPr/>
          <p:nvPr/>
        </p:nvSpPr>
        <p:spPr>
          <a:xfrm>
            <a:off x="6309359" y="1828800"/>
            <a:ext cx="5303521" cy="4297680"/>
          </a:xfrm>
          <a:prstGeom prst="rect">
            <a:avLst/>
          </a:prstGeom>
          <a:solidFill>
            <a:srgbClr val="1A1108"/>
          </a:solidFill>
          <a:ln w="12700">
            <a:solidFill>
              <a:srgbClr val="D97706"/>
            </a:solidFill>
          </a:ln>
        </p:spPr>
        <p:txBody>
          <a:bodyPr lIns="45719" rIns="45719"/>
          <a:lstStyle/>
          <a:p>
            <a:pPr/>
          </a:p>
        </p:txBody>
      </p:sp>
      <p:sp>
        <p:nvSpPr>
          <p:cNvPr id="61" name="Shape 9"/>
          <p:cNvSpPr/>
          <p:nvPr/>
        </p:nvSpPr>
        <p:spPr>
          <a:xfrm>
            <a:off x="6309359" y="1828800"/>
            <a:ext cx="73153" cy="4297680"/>
          </a:xfrm>
          <a:prstGeom prst="rect">
            <a:avLst/>
          </a:prstGeom>
          <a:solidFill>
            <a:srgbClr val="D97706"/>
          </a:solidFill>
          <a:ln w="12700">
            <a:solidFill>
              <a:srgbClr val="D97706"/>
            </a:solidFill>
          </a:ln>
        </p:spPr>
        <p:txBody>
          <a:bodyPr lIns="45719" rIns="45719"/>
          <a:lstStyle/>
          <a:p>
            <a:pPr/>
          </a:p>
        </p:txBody>
      </p:sp>
      <p:sp>
        <p:nvSpPr>
          <p:cNvPr id="62" name="Text 10"/>
          <p:cNvSpPr txBox="1"/>
          <p:nvPr/>
        </p:nvSpPr>
        <p:spPr>
          <a:xfrm>
            <a:off x="6537959" y="2081706"/>
            <a:ext cx="493776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F59E0B"/>
                </a:solidFill>
              </a:defRPr>
            </a:lvl1pPr>
          </a:lstStyle>
          <a:p>
            <a:pPr/>
            <a:r>
              <a:rPr>
                <a:latin typeface="Calibri"/>
                <a:ea typeface="Hiragino Sans"/>
              </a:rPr>
              <a:t>しくみ</a:t>
            </a:r>
          </a:p>
        </p:txBody>
      </p:sp>
      <p:sp>
        <p:nvSpPr>
          <p:cNvPr id="63" name="Shape 11"/>
          <p:cNvSpPr/>
          <p:nvPr/>
        </p:nvSpPr>
        <p:spPr>
          <a:xfrm>
            <a:off x="6537959" y="2468879"/>
            <a:ext cx="411481" cy="411481"/>
          </a:xfrm>
          <a:prstGeom prst="ellipse">
            <a:avLst/>
          </a:prstGeom>
          <a:solidFill>
            <a:srgbClr val="D97706"/>
          </a:solidFill>
          <a:ln w="12700">
            <a:solidFill>
              <a:srgbClr val="D97706"/>
            </a:solidFill>
          </a:ln>
        </p:spPr>
        <p:txBody>
          <a:bodyPr lIns="45719" rIns="45719"/>
          <a:lstStyle/>
          <a:p>
            <a:pPr/>
          </a:p>
        </p:txBody>
      </p:sp>
      <p:sp>
        <p:nvSpPr>
          <p:cNvPr id="64" name="Text 12"/>
          <p:cNvSpPr txBox="1"/>
          <p:nvPr/>
        </p:nvSpPr>
        <p:spPr>
          <a:xfrm>
            <a:off x="6537959" y="2553969"/>
            <a:ext cx="41148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1</a:t>
            </a:r>
          </a:p>
        </p:txBody>
      </p:sp>
      <p:sp>
        <p:nvSpPr>
          <p:cNvPr id="65" name="Text 13"/>
          <p:cNvSpPr txBox="1"/>
          <p:nvPr/>
        </p:nvSpPr>
        <p:spPr>
          <a:xfrm>
            <a:off x="7086600" y="2465069"/>
            <a:ext cx="448056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オンボーディング・インテーク</a:t>
            </a:r>
          </a:p>
        </p:txBody>
      </p:sp>
      <p:sp>
        <p:nvSpPr>
          <p:cNvPr id="66" name="Text 14"/>
          <p:cNvSpPr txBox="1"/>
          <p:nvPr/>
        </p:nvSpPr>
        <p:spPr>
          <a:xfrm>
            <a:off x="7086600" y="2866434"/>
            <a:ext cx="4480560"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アイデンティティ、テーマ、声・表現の作法、原点となる楽曲、癒しの意図、楽器、出力の希望、Music-Format（データから導出）</a:t>
            </a:r>
          </a:p>
        </p:txBody>
      </p:sp>
      <p:sp>
        <p:nvSpPr>
          <p:cNvPr id="67" name="Shape 15"/>
          <p:cNvSpPr/>
          <p:nvPr/>
        </p:nvSpPr>
        <p:spPr>
          <a:xfrm>
            <a:off x="6537959" y="3383279"/>
            <a:ext cx="411481" cy="411481"/>
          </a:xfrm>
          <a:prstGeom prst="ellipse">
            <a:avLst/>
          </a:prstGeom>
          <a:solidFill>
            <a:srgbClr val="D97706"/>
          </a:solidFill>
          <a:ln w="12700">
            <a:solidFill>
              <a:srgbClr val="D97706"/>
            </a:solidFill>
          </a:ln>
        </p:spPr>
        <p:txBody>
          <a:bodyPr lIns="45719" rIns="45719"/>
          <a:lstStyle/>
          <a:p>
            <a:pPr/>
          </a:p>
        </p:txBody>
      </p:sp>
      <p:sp>
        <p:nvSpPr>
          <p:cNvPr id="68" name="Text 16"/>
          <p:cNvSpPr txBox="1"/>
          <p:nvPr/>
        </p:nvSpPr>
        <p:spPr>
          <a:xfrm>
            <a:off x="6537959" y="3468369"/>
            <a:ext cx="41148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2</a:t>
            </a:r>
          </a:p>
        </p:txBody>
      </p:sp>
      <p:sp>
        <p:nvSpPr>
          <p:cNvPr id="69" name="Text 17"/>
          <p:cNvSpPr txBox="1"/>
          <p:nvPr/>
        </p:nvSpPr>
        <p:spPr>
          <a:xfrm>
            <a:off x="7086600" y="3379470"/>
            <a:ext cx="448056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Song-Kit の生成</a:t>
            </a:r>
          </a:p>
        </p:txBody>
      </p:sp>
      <p:sp>
        <p:nvSpPr>
          <p:cNvPr id="70" name="Text 18"/>
          <p:cNvSpPr txBox="1"/>
          <p:nvPr/>
        </p:nvSpPr>
        <p:spPr>
          <a:xfrm>
            <a:off x="7086600" y="3780834"/>
            <a:ext cx="4480560"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Song-Kit ジェネレーターがインテークから atom を起草し、Pearl_Editor がレビューして昇格させます（Tier 1）</a:t>
            </a:r>
          </a:p>
        </p:txBody>
      </p:sp>
      <p:sp>
        <p:nvSpPr>
          <p:cNvPr id="71" name="Shape 19"/>
          <p:cNvSpPr/>
          <p:nvPr/>
        </p:nvSpPr>
        <p:spPr>
          <a:xfrm>
            <a:off x="6537959" y="4297679"/>
            <a:ext cx="411481" cy="411481"/>
          </a:xfrm>
          <a:prstGeom prst="ellipse">
            <a:avLst/>
          </a:prstGeom>
          <a:solidFill>
            <a:srgbClr val="D97706"/>
          </a:solidFill>
          <a:ln w="12700">
            <a:solidFill>
              <a:srgbClr val="D97706"/>
            </a:solidFill>
          </a:ln>
        </p:spPr>
        <p:txBody>
          <a:bodyPr lIns="45719" rIns="45719"/>
          <a:lstStyle/>
          <a:p>
            <a:pPr/>
          </a:p>
        </p:txBody>
      </p:sp>
      <p:sp>
        <p:nvSpPr>
          <p:cNvPr id="72" name="Text 20"/>
          <p:cNvSpPr txBox="1"/>
          <p:nvPr/>
        </p:nvSpPr>
        <p:spPr>
          <a:xfrm>
            <a:off x="6537959" y="4382769"/>
            <a:ext cx="41148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3</a:t>
            </a:r>
          </a:p>
        </p:txBody>
      </p:sp>
      <p:sp>
        <p:nvSpPr>
          <p:cNvPr id="73" name="Text 21"/>
          <p:cNvSpPr txBox="1"/>
          <p:nvPr/>
        </p:nvSpPr>
        <p:spPr>
          <a:xfrm>
            <a:off x="7086600" y="4293870"/>
            <a:ext cx="448056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本の組み立て</a:t>
            </a:r>
          </a:p>
        </p:txBody>
      </p:sp>
      <p:sp>
        <p:nvSpPr>
          <p:cNvPr id="74" name="Text 22"/>
          <p:cNvSpPr txBox="1"/>
          <p:nvPr/>
        </p:nvSpPr>
        <p:spPr>
          <a:xfrm>
            <a:off x="7086600" y="4695234"/>
            <a:ext cx="4480560"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atom は決定論的なルールに従って章へと混ぜ込まれます。二人称の文章が読者に語りかけ、どの本も出荷前に品質ゲートを通過します。</a:t>
            </a:r>
          </a:p>
        </p:txBody>
      </p:sp>
      <p:sp>
        <p:nvSpPr>
          <p:cNvPr id="75" name="Shape 23"/>
          <p:cNvSpPr/>
          <p:nvPr/>
        </p:nvSpPr>
        <p:spPr>
          <a:xfrm>
            <a:off x="6537959" y="5212079"/>
            <a:ext cx="411481" cy="411481"/>
          </a:xfrm>
          <a:prstGeom prst="ellipse">
            <a:avLst/>
          </a:prstGeom>
          <a:solidFill>
            <a:srgbClr val="D97706"/>
          </a:solidFill>
          <a:ln w="12700">
            <a:solidFill>
              <a:srgbClr val="D97706"/>
            </a:solidFill>
          </a:ln>
        </p:spPr>
        <p:txBody>
          <a:bodyPr lIns="45719" rIns="45719"/>
          <a:lstStyle/>
          <a:p>
            <a:pPr/>
          </a:p>
        </p:txBody>
      </p:sp>
      <p:sp>
        <p:nvSpPr>
          <p:cNvPr id="76" name="Text 24"/>
          <p:cNvSpPr txBox="1"/>
          <p:nvPr/>
        </p:nvSpPr>
        <p:spPr>
          <a:xfrm>
            <a:off x="6537959" y="5297169"/>
            <a:ext cx="41148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4</a:t>
            </a:r>
          </a:p>
        </p:txBody>
      </p:sp>
      <p:sp>
        <p:nvSpPr>
          <p:cNvPr id="77" name="Text 25"/>
          <p:cNvSpPr txBox="1"/>
          <p:nvPr/>
        </p:nvSpPr>
        <p:spPr>
          <a:xfrm>
            <a:off x="7086600" y="5208270"/>
            <a:ext cx="448056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コンパニオン・プロンプト（任意）</a:t>
            </a:r>
          </a:p>
        </p:txBody>
      </p:sp>
      <p:sp>
        <p:nvSpPr>
          <p:cNvPr id="78" name="Text 26"/>
          <p:cNvSpPr txBox="1"/>
          <p:nvPr/>
        </p:nvSpPr>
        <p:spPr>
          <a:xfrm>
            <a:off x="7086600" y="5609634"/>
            <a:ext cx="4480560"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本ごとに、ブランド管理者向けバンドル用の内部 MusicGen ムードプロンプトを1つ — 読者への配布物ではありません。音源のレンダリングは Phase-B でゲートされ、あなたの音楽がファイルとして配布されることは決してありません。</a:t>
            </a:r>
          </a:p>
        </p:txBody>
      </p:sp>
      <p:sp>
        <p:nvSpPr>
          <p:cNvPr id="79" name="Shape 27"/>
          <p:cNvSpPr/>
          <p:nvPr/>
        </p:nvSpPr>
        <p:spPr>
          <a:xfrm>
            <a:off x="548639" y="6446520"/>
            <a:ext cx="11064242" cy="1"/>
          </a:xfrm>
          <a:prstGeom prst="line">
            <a:avLst/>
          </a:prstGeom>
          <a:ln w="12700">
            <a:solidFill>
              <a:srgbClr val="2A1F17"/>
            </a:solidFill>
          </a:ln>
        </p:spPr>
        <p:txBody>
          <a:bodyPr lIns="45719" rIns="45719"/>
          <a:lstStyle/>
          <a:p>
            <a:pPr/>
          </a:p>
        </p:txBody>
      </p:sp>
      <p:sp>
        <p:nvSpPr>
          <p:cNvPr id="80" name="Text 28"/>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81" name="Text 29"/>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3 / 15</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83"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Song-Kit ジェネレーター</a:t>
            </a:r>
          </a:p>
        </p:txBody>
      </p:sp>
      <p:sp>
        <p:nvSpPr>
          <p:cNvPr id="84"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85" name="Text 2"/>
          <p:cNvSpPr txBox="1"/>
          <p:nvPr/>
        </p:nvSpPr>
        <p:spPr>
          <a:xfrm>
            <a:off x="548639" y="725169"/>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Song-Kit ジェネレーター</a:t>
            </a:r>
          </a:p>
        </p:txBody>
      </p:sp>
      <p:sp>
        <p:nvSpPr>
          <p:cNvPr id="86"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記入を終えたインテークが、ミュージシャン最初の draft atom キット（歌詞ありも、インストも）になるまで。</a:t>
            </a:r>
          </a:p>
        </p:txBody>
      </p:sp>
      <p:sp>
        <p:nvSpPr>
          <p:cNvPr id="87" name="Shape 4"/>
          <p:cNvSpPr/>
          <p:nvPr/>
        </p:nvSpPr>
        <p:spPr>
          <a:xfrm>
            <a:off x="548640" y="1828800"/>
            <a:ext cx="5486401" cy="1188720"/>
          </a:xfrm>
          <a:prstGeom prst="rect">
            <a:avLst/>
          </a:prstGeom>
          <a:solidFill>
            <a:srgbClr val="2A1F17"/>
          </a:solidFill>
          <a:ln w="12700">
            <a:solidFill>
              <a:srgbClr val="D97706"/>
            </a:solidFill>
          </a:ln>
        </p:spPr>
        <p:txBody>
          <a:bodyPr lIns="45719" rIns="45719"/>
          <a:lstStyle/>
          <a:p>
            <a:pPr/>
          </a:p>
        </p:txBody>
      </p:sp>
      <p:sp>
        <p:nvSpPr>
          <p:cNvPr id="88" name="Shape 5"/>
          <p:cNvSpPr/>
          <p:nvPr/>
        </p:nvSpPr>
        <p:spPr>
          <a:xfrm>
            <a:off x="685800" y="2148839"/>
            <a:ext cx="502921" cy="502921"/>
          </a:xfrm>
          <a:prstGeom prst="ellipse">
            <a:avLst/>
          </a:prstGeom>
          <a:solidFill>
            <a:srgbClr val="D97706"/>
          </a:solidFill>
          <a:ln w="12700">
            <a:solidFill>
              <a:srgbClr val="D97706"/>
            </a:solidFill>
          </a:ln>
        </p:spPr>
        <p:txBody>
          <a:bodyPr lIns="45719" rIns="45719"/>
          <a:lstStyle/>
          <a:p>
            <a:pPr/>
          </a:p>
        </p:txBody>
      </p:sp>
      <p:sp>
        <p:nvSpPr>
          <p:cNvPr id="89" name="Text 6"/>
          <p:cNvSpPr txBox="1"/>
          <p:nvPr/>
        </p:nvSpPr>
        <p:spPr>
          <a:xfrm>
            <a:off x="685800" y="225424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1</a:t>
            </a:r>
          </a:p>
        </p:txBody>
      </p:sp>
      <p:sp>
        <p:nvSpPr>
          <p:cNvPr id="90" name="Text 7"/>
          <p:cNvSpPr txBox="1"/>
          <p:nvPr/>
        </p:nvSpPr>
        <p:spPr>
          <a:xfrm>
            <a:off x="1325880" y="2059939"/>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インテーク</a:t>
            </a:r>
          </a:p>
        </p:txBody>
      </p:sp>
      <p:sp>
        <p:nvSpPr>
          <p:cNvPr id="91" name="Text 8"/>
          <p:cNvSpPr txBox="1"/>
          <p:nvPr/>
        </p:nvSpPr>
        <p:spPr>
          <a:xfrm>
            <a:off x="1325880" y="250067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ミュージシャンが Music Reflections インテークに記入します：テーマ、声・表現の作法、原点となる楽曲、癒しの意図、楽器、出力の希望。</a:t>
            </a:r>
          </a:p>
        </p:txBody>
      </p:sp>
      <p:sp>
        <p:nvSpPr>
          <p:cNvPr id="92" name="Shape 9"/>
          <p:cNvSpPr/>
          <p:nvPr/>
        </p:nvSpPr>
        <p:spPr>
          <a:xfrm>
            <a:off x="6217920" y="1828800"/>
            <a:ext cx="5486401" cy="1188720"/>
          </a:xfrm>
          <a:prstGeom prst="rect">
            <a:avLst/>
          </a:prstGeom>
          <a:solidFill>
            <a:srgbClr val="2A1F17"/>
          </a:solidFill>
          <a:ln w="12700">
            <a:solidFill>
              <a:srgbClr val="D97706"/>
            </a:solidFill>
          </a:ln>
        </p:spPr>
        <p:txBody>
          <a:bodyPr lIns="45719" rIns="45719"/>
          <a:lstStyle/>
          <a:p>
            <a:pPr/>
          </a:p>
        </p:txBody>
      </p:sp>
      <p:sp>
        <p:nvSpPr>
          <p:cNvPr id="93" name="Shape 10"/>
          <p:cNvSpPr/>
          <p:nvPr/>
        </p:nvSpPr>
        <p:spPr>
          <a:xfrm>
            <a:off x="6355079" y="2148839"/>
            <a:ext cx="502921" cy="502921"/>
          </a:xfrm>
          <a:prstGeom prst="ellipse">
            <a:avLst/>
          </a:prstGeom>
          <a:solidFill>
            <a:srgbClr val="D97706"/>
          </a:solidFill>
          <a:ln w="12700">
            <a:solidFill>
              <a:srgbClr val="D97706"/>
            </a:solidFill>
          </a:ln>
        </p:spPr>
        <p:txBody>
          <a:bodyPr lIns="45719" rIns="45719"/>
          <a:lstStyle/>
          <a:p>
            <a:pPr/>
          </a:p>
        </p:txBody>
      </p:sp>
      <p:sp>
        <p:nvSpPr>
          <p:cNvPr id="94" name="Text 11"/>
          <p:cNvSpPr txBox="1"/>
          <p:nvPr/>
        </p:nvSpPr>
        <p:spPr>
          <a:xfrm>
            <a:off x="6355079" y="225424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2</a:t>
            </a:r>
          </a:p>
        </p:txBody>
      </p:sp>
      <p:sp>
        <p:nvSpPr>
          <p:cNvPr id="95" name="Text 12"/>
          <p:cNvSpPr txBox="1"/>
          <p:nvPr/>
        </p:nvSpPr>
        <p:spPr>
          <a:xfrm>
            <a:off x="6995159" y="2059939"/>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プロフィールを導出</a:t>
            </a:r>
          </a:p>
        </p:txBody>
      </p:sp>
      <p:sp>
        <p:nvSpPr>
          <p:cNvPr id="96" name="Text 13"/>
          <p:cNvSpPr txBox="1"/>
          <p:nvPr/>
        </p:nvSpPr>
        <p:spPr>
          <a:xfrm>
            <a:off x="6995159" y="250067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survey_derivation.py が、インテークを profile・themes・voice_profile に変換します — ジェネレーターの条件付けコンテキストです。</a:t>
            </a:r>
          </a:p>
        </p:txBody>
      </p:sp>
      <p:sp>
        <p:nvSpPr>
          <p:cNvPr id="97" name="Shape 14"/>
          <p:cNvSpPr/>
          <p:nvPr/>
        </p:nvSpPr>
        <p:spPr>
          <a:xfrm>
            <a:off x="548640" y="3154679"/>
            <a:ext cx="5486401" cy="1188721"/>
          </a:xfrm>
          <a:prstGeom prst="rect">
            <a:avLst/>
          </a:prstGeom>
          <a:solidFill>
            <a:srgbClr val="2A1F17"/>
          </a:solidFill>
          <a:ln w="12700">
            <a:solidFill>
              <a:srgbClr val="D97706"/>
            </a:solidFill>
          </a:ln>
        </p:spPr>
        <p:txBody>
          <a:bodyPr lIns="45719" rIns="45719"/>
          <a:lstStyle/>
          <a:p>
            <a:pPr/>
          </a:p>
        </p:txBody>
      </p:sp>
      <p:sp>
        <p:nvSpPr>
          <p:cNvPr id="98" name="Shape 15"/>
          <p:cNvSpPr/>
          <p:nvPr/>
        </p:nvSpPr>
        <p:spPr>
          <a:xfrm>
            <a:off x="685800" y="3474720"/>
            <a:ext cx="502921" cy="502921"/>
          </a:xfrm>
          <a:prstGeom prst="ellipse">
            <a:avLst/>
          </a:prstGeom>
          <a:solidFill>
            <a:srgbClr val="D97706"/>
          </a:solidFill>
          <a:ln w="12700">
            <a:solidFill>
              <a:srgbClr val="D97706"/>
            </a:solidFill>
          </a:ln>
        </p:spPr>
        <p:txBody>
          <a:bodyPr lIns="45719" rIns="45719"/>
          <a:lstStyle/>
          <a:p>
            <a:pPr/>
          </a:p>
        </p:txBody>
      </p:sp>
      <p:sp>
        <p:nvSpPr>
          <p:cNvPr id="99" name="Text 16"/>
          <p:cNvSpPr txBox="1"/>
          <p:nvPr/>
        </p:nvSpPr>
        <p:spPr>
          <a:xfrm>
            <a:off x="685800" y="358012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3</a:t>
            </a:r>
          </a:p>
        </p:txBody>
      </p:sp>
      <p:sp>
        <p:nvSpPr>
          <p:cNvPr id="100" name="Text 17"/>
          <p:cNvSpPr txBox="1"/>
          <p:nvPr/>
        </p:nvSpPr>
        <p:spPr>
          <a:xfrm>
            <a:off x="1325880" y="3385820"/>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トピックファミリーに対応づけ</a:t>
            </a:r>
          </a:p>
        </p:txBody>
      </p:sp>
      <p:sp>
        <p:nvSpPr>
          <p:cNvPr id="101" name="Text 18"/>
          <p:cNvSpPr txBox="1"/>
          <p:nvPr/>
        </p:nvSpPr>
        <p:spPr>
          <a:xfrm>
            <a:off x="1325880" y="382655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調査で挙がったテーマを、8つのファミリーの一つ以上に対応づけます。各ファミリーが歌詞のレジスターと、インストのムードのヒントを与えます。</a:t>
            </a:r>
          </a:p>
        </p:txBody>
      </p:sp>
      <p:sp>
        <p:nvSpPr>
          <p:cNvPr id="102" name="Shape 19"/>
          <p:cNvSpPr/>
          <p:nvPr/>
        </p:nvSpPr>
        <p:spPr>
          <a:xfrm>
            <a:off x="6217920" y="3154679"/>
            <a:ext cx="5486401" cy="1188721"/>
          </a:xfrm>
          <a:prstGeom prst="rect">
            <a:avLst/>
          </a:prstGeom>
          <a:solidFill>
            <a:srgbClr val="2A1F17"/>
          </a:solidFill>
          <a:ln w="12700">
            <a:solidFill>
              <a:srgbClr val="D97706"/>
            </a:solidFill>
          </a:ln>
        </p:spPr>
        <p:txBody>
          <a:bodyPr lIns="45719" rIns="45719"/>
          <a:lstStyle/>
          <a:p>
            <a:pPr/>
          </a:p>
        </p:txBody>
      </p:sp>
      <p:sp>
        <p:nvSpPr>
          <p:cNvPr id="103" name="Shape 20"/>
          <p:cNvSpPr/>
          <p:nvPr/>
        </p:nvSpPr>
        <p:spPr>
          <a:xfrm>
            <a:off x="6355079" y="3474720"/>
            <a:ext cx="502921" cy="502921"/>
          </a:xfrm>
          <a:prstGeom prst="ellipse">
            <a:avLst/>
          </a:prstGeom>
          <a:solidFill>
            <a:srgbClr val="D97706"/>
          </a:solidFill>
          <a:ln w="12700">
            <a:solidFill>
              <a:srgbClr val="D97706"/>
            </a:solidFill>
          </a:ln>
        </p:spPr>
        <p:txBody>
          <a:bodyPr lIns="45719" rIns="45719"/>
          <a:lstStyle/>
          <a:p>
            <a:pPr/>
          </a:p>
        </p:txBody>
      </p:sp>
      <p:sp>
        <p:nvSpPr>
          <p:cNvPr id="104" name="Text 21"/>
          <p:cNvSpPr txBox="1"/>
          <p:nvPr/>
        </p:nvSpPr>
        <p:spPr>
          <a:xfrm>
            <a:off x="6355079" y="358012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4</a:t>
            </a:r>
          </a:p>
        </p:txBody>
      </p:sp>
      <p:sp>
        <p:nvSpPr>
          <p:cNvPr id="105" name="Text 22"/>
          <p:cNvSpPr txBox="1"/>
          <p:nvPr/>
        </p:nvSpPr>
        <p:spPr>
          <a:xfrm>
            <a:off x="6995159" y="3385820"/>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分岐：歌詞あり ＋ インスト</a:t>
            </a:r>
          </a:p>
        </p:txBody>
      </p:sp>
      <p:sp>
        <p:nvSpPr>
          <p:cNvPr id="106" name="Text 23"/>
          <p:cNvSpPr txBox="1"/>
          <p:nvPr/>
        </p:nvSpPr>
        <p:spPr>
          <a:xfrm>
            <a:off x="6995159" y="382655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配分はあなたのデータが決めます — 両方が一つのカタログに共存します。歌詞あり → lyric atom（Pearl_Writer）。歌詞なし → MusicGen 向けのムード指示テキスト。V1では音源のレンダリングは行いません。</a:t>
            </a:r>
          </a:p>
        </p:txBody>
      </p:sp>
      <p:sp>
        <p:nvSpPr>
          <p:cNvPr id="107" name="Shape 24"/>
          <p:cNvSpPr/>
          <p:nvPr/>
        </p:nvSpPr>
        <p:spPr>
          <a:xfrm>
            <a:off x="548640" y="4480559"/>
            <a:ext cx="5486401" cy="1188721"/>
          </a:xfrm>
          <a:prstGeom prst="rect">
            <a:avLst/>
          </a:prstGeom>
          <a:solidFill>
            <a:srgbClr val="2A1F17"/>
          </a:solidFill>
          <a:ln w="12700">
            <a:solidFill>
              <a:srgbClr val="D97706"/>
            </a:solidFill>
          </a:ln>
        </p:spPr>
        <p:txBody>
          <a:bodyPr lIns="45719" rIns="45719"/>
          <a:lstStyle/>
          <a:p>
            <a:pPr/>
          </a:p>
        </p:txBody>
      </p:sp>
      <p:sp>
        <p:nvSpPr>
          <p:cNvPr id="108" name="Shape 25"/>
          <p:cNvSpPr/>
          <p:nvPr/>
        </p:nvSpPr>
        <p:spPr>
          <a:xfrm>
            <a:off x="685800" y="4800600"/>
            <a:ext cx="502921" cy="502921"/>
          </a:xfrm>
          <a:prstGeom prst="ellipse">
            <a:avLst/>
          </a:prstGeom>
          <a:solidFill>
            <a:srgbClr val="D97706"/>
          </a:solidFill>
          <a:ln w="12700">
            <a:solidFill>
              <a:srgbClr val="D97706"/>
            </a:solidFill>
          </a:ln>
        </p:spPr>
        <p:txBody>
          <a:bodyPr lIns="45719" rIns="45719"/>
          <a:lstStyle/>
          <a:p>
            <a:pPr/>
          </a:p>
        </p:txBody>
      </p:sp>
      <p:sp>
        <p:nvSpPr>
          <p:cNvPr id="109" name="Text 26"/>
          <p:cNvSpPr txBox="1"/>
          <p:nvPr/>
        </p:nvSpPr>
        <p:spPr>
          <a:xfrm>
            <a:off x="685800" y="490600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5</a:t>
            </a:r>
          </a:p>
        </p:txBody>
      </p:sp>
      <p:sp>
        <p:nvSpPr>
          <p:cNvPr id="110" name="Text 27"/>
          <p:cNvSpPr txBox="1"/>
          <p:nvPr/>
        </p:nvSpPr>
        <p:spPr>
          <a:xfrm>
            <a:off x="1325880" y="4711699"/>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各プールに3つ以上のバリアントを起草</a:t>
            </a:r>
          </a:p>
        </p:txBody>
      </p:sp>
      <p:sp>
        <p:nvSpPr>
          <p:cNvPr id="111" name="Text 28"/>
          <p:cNvSpPr txBox="1"/>
          <p:nvPr/>
        </p:nvSpPr>
        <p:spPr>
          <a:xfrm>
            <a:off x="1325880" y="515243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atom は既存の6つのスロットプールに起草されます。各プールにつき3つ以上という SPEC-739 の下限を満たした時点で、セルは完成です。</a:t>
            </a:r>
          </a:p>
        </p:txBody>
      </p:sp>
      <p:sp>
        <p:nvSpPr>
          <p:cNvPr id="112" name="Shape 29"/>
          <p:cNvSpPr/>
          <p:nvPr/>
        </p:nvSpPr>
        <p:spPr>
          <a:xfrm>
            <a:off x="6217920" y="4480559"/>
            <a:ext cx="5486401" cy="1188721"/>
          </a:xfrm>
          <a:prstGeom prst="rect">
            <a:avLst/>
          </a:prstGeom>
          <a:solidFill>
            <a:srgbClr val="2A1F17"/>
          </a:solidFill>
          <a:ln w="12700">
            <a:solidFill>
              <a:srgbClr val="D97706"/>
            </a:solidFill>
          </a:ln>
        </p:spPr>
        <p:txBody>
          <a:bodyPr lIns="45719" rIns="45719"/>
          <a:lstStyle/>
          <a:p>
            <a:pPr/>
          </a:p>
        </p:txBody>
      </p:sp>
      <p:sp>
        <p:nvSpPr>
          <p:cNvPr id="113" name="Shape 30"/>
          <p:cNvSpPr/>
          <p:nvPr/>
        </p:nvSpPr>
        <p:spPr>
          <a:xfrm>
            <a:off x="6355079" y="4800600"/>
            <a:ext cx="502921" cy="502921"/>
          </a:xfrm>
          <a:prstGeom prst="ellipse">
            <a:avLst/>
          </a:prstGeom>
          <a:solidFill>
            <a:srgbClr val="D97706"/>
          </a:solidFill>
          <a:ln w="12700">
            <a:solidFill>
              <a:srgbClr val="D97706"/>
            </a:solidFill>
          </a:ln>
        </p:spPr>
        <p:txBody>
          <a:bodyPr lIns="45719" rIns="45719"/>
          <a:lstStyle/>
          <a:p>
            <a:pPr/>
          </a:p>
        </p:txBody>
      </p:sp>
      <p:sp>
        <p:nvSpPr>
          <p:cNvPr id="114" name="Text 31"/>
          <p:cNvSpPr txBox="1"/>
          <p:nvPr/>
        </p:nvSpPr>
        <p:spPr>
          <a:xfrm>
            <a:off x="6355079" y="490600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6</a:t>
            </a:r>
          </a:p>
        </p:txBody>
      </p:sp>
      <p:sp>
        <p:nvSpPr>
          <p:cNvPr id="115" name="Text 32"/>
          <p:cNvSpPr txBox="1"/>
          <p:nvPr/>
        </p:nvSpPr>
        <p:spPr>
          <a:xfrm>
            <a:off x="6995159" y="4711700"/>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EI レビュー → 稼働</a:t>
            </a:r>
          </a:p>
        </p:txBody>
      </p:sp>
      <p:sp>
        <p:nvSpPr>
          <p:cNvPr id="116" name="Text 33"/>
          <p:cNvSpPr txBox="1"/>
          <p:nvPr/>
        </p:nvSpPr>
        <p:spPr>
          <a:xfrm>
            <a:off x="6995159" y="515243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Pearl_Editor がレビューして昇格させ（Tier 1）、G1–G8 の多様性ゲートと、音楽帰属／声の lint が走ります。章への挿入のしくみは変わりません。</a:t>
            </a:r>
          </a:p>
        </p:txBody>
      </p:sp>
      <p:sp>
        <p:nvSpPr>
          <p:cNvPr id="117" name="Shape 34"/>
          <p:cNvSpPr/>
          <p:nvPr/>
        </p:nvSpPr>
        <p:spPr>
          <a:xfrm>
            <a:off x="548639" y="5897879"/>
            <a:ext cx="11064242" cy="365761"/>
          </a:xfrm>
          <a:prstGeom prst="rect">
            <a:avLst/>
          </a:prstGeom>
          <a:solidFill>
            <a:srgbClr val="0E0A06"/>
          </a:solidFill>
          <a:ln w="12700">
            <a:solidFill>
              <a:srgbClr val="D97706"/>
            </a:solidFill>
          </a:ln>
        </p:spPr>
        <p:txBody>
          <a:bodyPr lIns="45719" rIns="45719"/>
          <a:lstStyle/>
          <a:p>
            <a:pPr/>
          </a:p>
        </p:txBody>
      </p:sp>
      <p:sp>
        <p:nvSpPr>
          <p:cNvPr id="118" name="Text 35"/>
          <p:cNvSpPr txBox="1"/>
          <p:nvPr/>
        </p:nvSpPr>
        <p:spPr>
          <a:xfrm>
            <a:off x="548639" y="6012224"/>
            <a:ext cx="110642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F59E0B"/>
                </a:solidFill>
              </a:defRPr>
            </a:lvl1pPr>
          </a:lstStyle>
          <a:p>
            <a:pPr/>
            <a:r>
              <a:rPr>
                <a:latin typeface="Calibri"/>
                <a:ea typeface="Hiragino Sans"/>
              </a:rPr>
              <a:t>YouTube → 無料特典への橋渡し（仕様）：楽曲動画をメールゲート経由で既存の m1–m5 無料特典へ誘導します — 集客の配線です。実際のアップロードは後日対応。</a:t>
            </a:r>
          </a:p>
        </p:txBody>
      </p:sp>
      <p:sp>
        <p:nvSpPr>
          <p:cNvPr id="119" name="Shape 36"/>
          <p:cNvSpPr/>
          <p:nvPr/>
        </p:nvSpPr>
        <p:spPr>
          <a:xfrm>
            <a:off x="548639" y="6446520"/>
            <a:ext cx="11064242" cy="1"/>
          </a:xfrm>
          <a:prstGeom prst="line">
            <a:avLst/>
          </a:prstGeom>
          <a:ln w="12700">
            <a:solidFill>
              <a:srgbClr val="2A1F17"/>
            </a:solidFill>
          </a:ln>
        </p:spPr>
        <p:txBody>
          <a:bodyPr lIns="45719" rIns="45719"/>
          <a:lstStyle/>
          <a:p>
            <a:pPr/>
          </a:p>
        </p:txBody>
      </p:sp>
      <p:sp>
        <p:nvSpPr>
          <p:cNvPr id="120" name="Text 37"/>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121" name="Text 38"/>
          <p:cNvSpPr txBox="1"/>
          <p:nvPr/>
        </p:nvSpPr>
        <p:spPr>
          <a:xfrm>
            <a:off x="10515600" y="6584188"/>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4 / 15</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123"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トピックファミリー</a:t>
            </a:r>
          </a:p>
        </p:txBody>
      </p:sp>
      <p:sp>
        <p:nvSpPr>
          <p:cNvPr id="124"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125"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8つのトピックファミリー</a:t>
            </a:r>
          </a:p>
        </p:txBody>
      </p:sp>
      <p:sp>
        <p:nvSpPr>
          <p:cNvPr id="126" name="Shape 3"/>
          <p:cNvSpPr/>
          <p:nvPr/>
        </p:nvSpPr>
        <p:spPr>
          <a:xfrm>
            <a:off x="548639" y="1783079"/>
            <a:ext cx="5532122" cy="4434841"/>
          </a:xfrm>
          <a:prstGeom prst="rect">
            <a:avLst/>
          </a:prstGeom>
          <a:solidFill>
            <a:srgbClr val="2A1F17"/>
          </a:solidFill>
          <a:ln w="12700">
            <a:solidFill>
              <a:srgbClr val="D97706"/>
            </a:solidFill>
          </a:ln>
        </p:spPr>
        <p:txBody>
          <a:bodyPr lIns="45719" rIns="45719"/>
          <a:lstStyle/>
          <a:p>
            <a:pPr/>
          </a:p>
        </p:txBody>
      </p:sp>
      <p:sp>
        <p:nvSpPr>
          <p:cNvPr id="127" name="Shape 4"/>
          <p:cNvSpPr/>
          <p:nvPr/>
        </p:nvSpPr>
        <p:spPr>
          <a:xfrm>
            <a:off x="548639" y="1783079"/>
            <a:ext cx="5532122" cy="73153"/>
          </a:xfrm>
          <a:prstGeom prst="rect">
            <a:avLst/>
          </a:prstGeom>
          <a:solidFill>
            <a:srgbClr val="D97706"/>
          </a:solidFill>
          <a:ln w="12700">
            <a:solidFill>
              <a:srgbClr val="D97706"/>
            </a:solidFill>
          </a:ln>
        </p:spPr>
        <p:txBody>
          <a:bodyPr lIns="45719" rIns="45719"/>
          <a:lstStyle/>
          <a:p>
            <a:pPr/>
          </a:p>
        </p:txBody>
      </p:sp>
      <p:sp>
        <p:nvSpPr>
          <p:cNvPr id="128" name="Text 5"/>
          <p:cNvSpPr txBox="1"/>
          <p:nvPr/>
        </p:nvSpPr>
        <p:spPr>
          <a:xfrm>
            <a:off x="777239" y="2058846"/>
            <a:ext cx="51206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500" sz="1100">
                <a:solidFill>
                  <a:srgbClr val="F59E0B"/>
                </a:solidFill>
              </a:defRPr>
            </a:lvl1pPr>
          </a:lstStyle>
          <a:p>
            <a:pPr/>
            <a:r>
              <a:rPr>
                <a:latin typeface="Calibri"/>
                <a:ea typeface="Hiragino Sans"/>
              </a:rPr>
              <a:t>くぐり抜ける</a:t>
            </a:r>
          </a:p>
        </p:txBody>
      </p:sp>
      <p:sp>
        <p:nvSpPr>
          <p:cNvPr id="129" name="Text 6"/>
          <p:cNvSpPr txBox="1"/>
          <p:nvPr/>
        </p:nvSpPr>
        <p:spPr>
          <a:xfrm>
            <a:off x="777239" y="2350769"/>
            <a:ext cx="512064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rPr>
                <a:latin typeface="Cambria"/>
                <a:ea typeface="Hiragino Mincho ProN"/>
              </a:rPr>
              <a:t>つらい季節</a:t>
            </a:r>
          </a:p>
        </p:txBody>
      </p:sp>
      <p:sp>
        <p:nvSpPr>
          <p:cNvPr id="130" name="Text 7"/>
          <p:cNvSpPr txBox="1"/>
          <p:nvPr/>
        </p:nvSpPr>
        <p:spPr>
          <a:xfrm>
            <a:off x="777239" y="3278177"/>
            <a:ext cx="512064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C8A7A"/>
                </a:solidFill>
              </a:defRPr>
            </a:lvl1pPr>
          </a:lstStyle>
          <a:p>
            <a:pPr/>
            <a:r>
              <a:rPr>
                <a:latin typeface="Calibri"/>
                <a:ea typeface="Hiragino Sans"/>
              </a:rPr>
              <a:t>もっとも重い時期をくぐり抜けるための音楽。ミュージシャンが調査で挙げたテーマは、まずここへ振り分けられます。</a:t>
            </a:r>
          </a:p>
        </p:txBody>
      </p:sp>
      <p:sp>
        <p:nvSpPr>
          <p:cNvPr id="131" name="Text 8"/>
          <p:cNvSpPr txBox="1"/>
          <p:nvPr/>
        </p:nvSpPr>
        <p:spPr>
          <a:xfrm>
            <a:off x="777239" y="4729655"/>
            <a:ext cx="5120642" cy="781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400"/>
              </a:spcBef>
              <a:buSzPct val="100000"/>
              <a:buFont typeface="Calibri"/>
              <a:buChar char="✦"/>
              <a:defRPr sz="1100">
                <a:solidFill>
                  <a:srgbClr val="FAF6F0"/>
                </a:solidFill>
              </a:defRPr>
            </a:pPr>
            <a:r>
              <a:rPr>
                <a:latin typeface="Calibri"/>
                <a:ea typeface="Hiragino Sans"/>
              </a:rPr>
              <a:t>回復と修復 — 消耗のあとに、立て直す</a:t>
            </a:r>
          </a:p>
          <a:p>
            <a:pPr marL="342900" indent="-342900">
              <a:spcBef>
                <a:spcPts val="400"/>
              </a:spcBef>
              <a:buSzPct val="100000"/>
              <a:buFont typeface="Calibri"/>
              <a:buChar char="✦"/>
              <a:defRPr sz="1100">
                <a:solidFill>
                  <a:srgbClr val="FAF6F0"/>
                </a:solidFill>
              </a:defRPr>
            </a:pPr>
            <a:r>
              <a:rPr>
                <a:latin typeface="Calibri"/>
                <a:ea typeface="Hiragino Sans"/>
              </a:rPr>
              <a:t>不安と重圧 — 走り出す心に、落ち着いたリズムを</a:t>
            </a:r>
          </a:p>
          <a:p>
            <a:pPr marL="342900" indent="-342900">
              <a:spcBef>
                <a:spcPts val="400"/>
              </a:spcBef>
              <a:buSzPct val="100000"/>
              <a:buFont typeface="Calibri"/>
              <a:buChar char="✦"/>
              <a:defRPr sz="1100">
                <a:solidFill>
                  <a:srgbClr val="FAF6F0"/>
                </a:solidFill>
              </a:defRPr>
            </a:pPr>
            <a:r>
              <a:rPr>
                <a:latin typeface="Calibri"/>
                <a:ea typeface="Hiragino Sans"/>
              </a:rPr>
              <a:t>悲しみと手放し — 失ったものを、そっと抱えて</a:t>
            </a:r>
          </a:p>
          <a:p>
            <a:pPr marL="342900" indent="-342900">
              <a:spcBef>
                <a:spcPts val="400"/>
              </a:spcBef>
              <a:buSzPct val="100000"/>
              <a:buFont typeface="Calibri"/>
              <a:buChar char="✦"/>
              <a:defRPr sz="1100">
                <a:solidFill>
                  <a:srgbClr val="FAF6F0"/>
                </a:solidFill>
              </a:defRPr>
            </a:pPr>
            <a:r>
              <a:rPr>
                <a:latin typeface="Calibri"/>
                <a:ea typeface="Hiragino Sans"/>
              </a:rPr>
              <a:t>自尊と羞恥 — 内なる断罪を、手放していく</a:t>
            </a:r>
          </a:p>
        </p:txBody>
      </p:sp>
      <p:sp>
        <p:nvSpPr>
          <p:cNvPr id="132" name="Shape 9"/>
          <p:cNvSpPr/>
          <p:nvPr/>
        </p:nvSpPr>
        <p:spPr>
          <a:xfrm>
            <a:off x="6263640" y="1783079"/>
            <a:ext cx="5532121" cy="4434841"/>
          </a:xfrm>
          <a:prstGeom prst="rect">
            <a:avLst/>
          </a:prstGeom>
          <a:solidFill>
            <a:srgbClr val="2A1F17"/>
          </a:solidFill>
          <a:ln w="12700">
            <a:solidFill>
              <a:srgbClr val="D97706"/>
            </a:solidFill>
          </a:ln>
        </p:spPr>
        <p:txBody>
          <a:bodyPr lIns="45719" rIns="45719"/>
          <a:lstStyle/>
          <a:p>
            <a:pPr/>
          </a:p>
        </p:txBody>
      </p:sp>
      <p:sp>
        <p:nvSpPr>
          <p:cNvPr id="133" name="Shape 10"/>
          <p:cNvSpPr/>
          <p:nvPr/>
        </p:nvSpPr>
        <p:spPr>
          <a:xfrm>
            <a:off x="6263640" y="1783079"/>
            <a:ext cx="5532121" cy="73153"/>
          </a:xfrm>
          <a:prstGeom prst="rect">
            <a:avLst/>
          </a:prstGeom>
          <a:solidFill>
            <a:srgbClr val="D97706"/>
          </a:solidFill>
          <a:ln w="12700">
            <a:solidFill>
              <a:srgbClr val="D97706"/>
            </a:solidFill>
          </a:ln>
        </p:spPr>
        <p:txBody>
          <a:bodyPr lIns="45719" rIns="45719"/>
          <a:lstStyle/>
          <a:p>
            <a:pPr/>
          </a:p>
        </p:txBody>
      </p:sp>
      <p:sp>
        <p:nvSpPr>
          <p:cNvPr id="134" name="Text 11"/>
          <p:cNvSpPr txBox="1"/>
          <p:nvPr/>
        </p:nvSpPr>
        <p:spPr>
          <a:xfrm>
            <a:off x="6492240" y="2058846"/>
            <a:ext cx="51206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500" sz="1100">
                <a:solidFill>
                  <a:srgbClr val="F59E0B"/>
                </a:solidFill>
              </a:defRPr>
            </a:lvl1pPr>
          </a:lstStyle>
          <a:p>
            <a:pPr/>
            <a:r>
              <a:rPr>
                <a:latin typeface="Calibri"/>
                <a:ea typeface="Hiragino Sans"/>
              </a:rPr>
              <a:t>足場を取り戻す</a:t>
            </a:r>
          </a:p>
        </p:txBody>
      </p:sp>
      <p:sp>
        <p:nvSpPr>
          <p:cNvPr id="135" name="Text 12"/>
          <p:cNvSpPr txBox="1"/>
          <p:nvPr/>
        </p:nvSpPr>
        <p:spPr>
          <a:xfrm>
            <a:off x="6492240" y="2350769"/>
            <a:ext cx="512064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rPr>
                <a:latin typeface="Cambria"/>
                <a:ea typeface="Hiragino Mincho ProN"/>
              </a:rPr>
              <a:t>回帰と希望</a:t>
            </a:r>
          </a:p>
        </p:txBody>
      </p:sp>
      <p:sp>
        <p:nvSpPr>
          <p:cNvPr id="136" name="Text 13"/>
          <p:cNvSpPr txBox="1"/>
          <p:nvPr/>
        </p:nvSpPr>
        <p:spPr>
          <a:xfrm>
            <a:off x="6492240" y="3278177"/>
            <a:ext cx="512064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C8A7A"/>
                </a:solidFill>
              </a:defRPr>
            </a:lvl1pPr>
          </a:lstStyle>
          <a:p>
            <a:pPr/>
            <a:r>
              <a:rPr>
                <a:latin typeface="Calibri"/>
                <a:ea typeface="Hiragino Sans"/>
              </a:rPr>
              <a:t>足場を取り戻し、戻ってくるための音楽。同じ8つのファミリーが、すべてのミュージシャンを振り分けます。</a:t>
            </a:r>
          </a:p>
        </p:txBody>
      </p:sp>
      <p:sp>
        <p:nvSpPr>
          <p:cNvPr id="137" name="Text 14"/>
          <p:cNvSpPr txBox="1"/>
          <p:nvPr/>
        </p:nvSpPr>
        <p:spPr>
          <a:xfrm>
            <a:off x="6492240" y="4729655"/>
            <a:ext cx="5120641" cy="781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400"/>
              </a:spcBef>
              <a:buSzPct val="100000"/>
              <a:buFont typeface="Calibri"/>
              <a:buChar char="✦"/>
              <a:defRPr sz="1100">
                <a:solidFill>
                  <a:srgbClr val="FAF6F0"/>
                </a:solidFill>
              </a:defRPr>
            </a:pPr>
            <a:r>
              <a:rPr>
                <a:latin typeface="Calibri"/>
                <a:ea typeface="Hiragino Sans"/>
              </a:rPr>
              <a:t>静かな勇気 — 小さな勇気の一歩。境界線は、自分を大切にすること</a:t>
            </a:r>
          </a:p>
          <a:p>
            <a:pPr marL="342900" indent="-342900">
              <a:spcBef>
                <a:spcPts val="400"/>
              </a:spcBef>
              <a:buSzPct val="100000"/>
              <a:buFont typeface="Calibri"/>
              <a:buChar char="✦"/>
              <a:defRPr sz="1100">
                <a:solidFill>
                  <a:srgbClr val="FAF6F0"/>
                </a:solidFill>
              </a:defRPr>
            </a:pPr>
            <a:r>
              <a:rPr>
                <a:latin typeface="Calibri"/>
                <a:ea typeface="Hiragino Sans"/>
              </a:rPr>
              <a:t>存在と静けさ — ひと呼吸ごとに、身体へ還る</a:t>
            </a:r>
          </a:p>
          <a:p>
            <a:pPr marL="342900" indent="-342900">
              <a:spcBef>
                <a:spcPts val="400"/>
              </a:spcBef>
              <a:buSzPct val="100000"/>
              <a:buFont typeface="Calibri"/>
              <a:buChar char="✦"/>
              <a:defRPr sz="1100">
                <a:solidFill>
                  <a:srgbClr val="FAF6F0"/>
                </a:solidFill>
              </a:defRPr>
            </a:pPr>
            <a:r>
              <a:rPr>
                <a:latin typeface="Calibri"/>
                <a:ea typeface="Hiragino Sans"/>
              </a:rPr>
              <a:t>つながりと居場所 — 知られることを、おそれない勇気</a:t>
            </a:r>
          </a:p>
          <a:p>
            <a:pPr marL="342900" indent="-342900">
              <a:spcBef>
                <a:spcPts val="400"/>
              </a:spcBef>
              <a:buSzPct val="100000"/>
              <a:buFont typeface="Calibri"/>
              <a:buChar char="✦"/>
              <a:defRPr sz="1100">
                <a:solidFill>
                  <a:srgbClr val="FAF6F0"/>
                </a:solidFill>
              </a:defRPr>
            </a:pPr>
            <a:r>
              <a:rPr>
                <a:latin typeface="Calibri"/>
                <a:ea typeface="Hiragino Sans"/>
              </a:rPr>
              <a:t>希望と再生 — 長い闇のあとの、最初の光</a:t>
            </a:r>
          </a:p>
        </p:txBody>
      </p:sp>
      <p:sp>
        <p:nvSpPr>
          <p:cNvPr id="138" name="Shape 15"/>
          <p:cNvSpPr/>
          <p:nvPr/>
        </p:nvSpPr>
        <p:spPr>
          <a:xfrm>
            <a:off x="548639" y="6446520"/>
            <a:ext cx="11064242" cy="1"/>
          </a:xfrm>
          <a:prstGeom prst="line">
            <a:avLst/>
          </a:prstGeom>
          <a:ln w="12700">
            <a:solidFill>
              <a:srgbClr val="2A1F17"/>
            </a:solidFill>
          </a:ln>
        </p:spPr>
        <p:txBody>
          <a:bodyPr lIns="45719" rIns="45719"/>
          <a:lstStyle/>
          <a:p>
            <a:pPr/>
          </a:p>
        </p:txBody>
      </p:sp>
      <p:sp>
        <p:nvSpPr>
          <p:cNvPr id="139" name="Text 16"/>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140" name="Text 17"/>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5 / 15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142"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リファレンスキット</a:t>
            </a:r>
          </a:p>
        </p:txBody>
      </p:sp>
      <p:sp>
        <p:nvSpPr>
          <p:cNvPr id="143"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144"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Ahjan — リファレンスキット</a:t>
            </a:r>
          </a:p>
        </p:txBody>
      </p:sp>
      <p:sp>
        <p:nvSpPr>
          <p:cNvPr id="145" name="Shape 3"/>
          <p:cNvSpPr/>
          <p:nvPr/>
        </p:nvSpPr>
        <p:spPr>
          <a:xfrm>
            <a:off x="548639" y="1783079"/>
            <a:ext cx="5532122" cy="4434841"/>
          </a:xfrm>
          <a:prstGeom prst="rect">
            <a:avLst/>
          </a:prstGeom>
          <a:solidFill>
            <a:srgbClr val="2A1F17"/>
          </a:solidFill>
          <a:ln w="12700">
            <a:solidFill>
              <a:srgbClr val="D97706"/>
            </a:solidFill>
          </a:ln>
        </p:spPr>
        <p:txBody>
          <a:bodyPr lIns="45719" rIns="45719"/>
          <a:lstStyle/>
          <a:p>
            <a:pPr/>
          </a:p>
        </p:txBody>
      </p:sp>
      <p:sp>
        <p:nvSpPr>
          <p:cNvPr id="146" name="Shape 4"/>
          <p:cNvSpPr/>
          <p:nvPr/>
        </p:nvSpPr>
        <p:spPr>
          <a:xfrm>
            <a:off x="548639" y="1783079"/>
            <a:ext cx="5532122" cy="73153"/>
          </a:xfrm>
          <a:prstGeom prst="rect">
            <a:avLst/>
          </a:prstGeom>
          <a:solidFill>
            <a:srgbClr val="D97706"/>
          </a:solidFill>
          <a:ln w="12700">
            <a:solidFill>
              <a:srgbClr val="D97706"/>
            </a:solidFill>
          </a:ln>
        </p:spPr>
        <p:txBody>
          <a:bodyPr lIns="45719" rIns="45719"/>
          <a:lstStyle/>
          <a:p>
            <a:pPr/>
          </a:p>
        </p:txBody>
      </p:sp>
      <p:sp>
        <p:nvSpPr>
          <p:cNvPr id="147" name="Text 5"/>
          <p:cNvSpPr txBox="1"/>
          <p:nvPr/>
        </p:nvSpPr>
        <p:spPr>
          <a:xfrm>
            <a:off x="777239" y="2058846"/>
            <a:ext cx="51206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500" sz="1100">
                <a:solidFill>
                  <a:srgbClr val="F59E0B"/>
                </a:solidFill>
              </a:defRPr>
            </a:lvl1pPr>
          </a:lstStyle>
          <a:p>
            <a:pPr/>
            <a:r>
              <a:rPr>
                <a:latin typeface="Calibri"/>
                <a:ea typeface="Hiragino Sans"/>
              </a:rPr>
              <a:t>これは何か</a:t>
            </a:r>
          </a:p>
        </p:txBody>
      </p:sp>
      <p:sp>
        <p:nvSpPr>
          <p:cNvPr id="148" name="Text 6"/>
          <p:cNvSpPr txBox="1"/>
          <p:nvPr/>
        </p:nvSpPr>
        <p:spPr>
          <a:xfrm>
            <a:off x="777239" y="2350769"/>
            <a:ext cx="512064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rPr>
                <a:latin typeface="Cambria"/>
                <a:ea typeface="Hiragino Mincho ProN"/>
              </a:rPr>
              <a:t>第0号キット</a:t>
            </a:r>
          </a:p>
        </p:txBody>
      </p:sp>
      <p:sp>
        <p:nvSpPr>
          <p:cNvPr id="149" name="Text 7"/>
          <p:cNvSpPr txBox="1"/>
          <p:nvPr/>
        </p:nvSpPr>
        <p:spPr>
          <a:xfrm>
            <a:off x="777239" y="3278177"/>
            <a:ext cx="512064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C8A7A"/>
                </a:solidFill>
              </a:defRPr>
            </a:lvl1pPr>
          </a:lstStyle>
          <a:p>
            <a:pPr/>
            <a:r>
              <a:rPr>
                <a:latin typeface="Calibri"/>
                <a:ea typeface="Hiragino Sans"/>
              </a:rPr>
              <a:t>今後のすべてのミュージシャンキットが基準とする、ゴールドスタンダードの手本。Brand id: ahjan_music。</a:t>
            </a:r>
          </a:p>
        </p:txBody>
      </p:sp>
      <p:sp>
        <p:nvSpPr>
          <p:cNvPr id="150" name="Text 8"/>
          <p:cNvSpPr txBox="1"/>
          <p:nvPr/>
        </p:nvSpPr>
        <p:spPr>
          <a:xfrm>
            <a:off x="777239" y="4729655"/>
            <a:ext cx="5120642" cy="781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400"/>
              </a:spcBef>
              <a:buSzPct val="100000"/>
              <a:buFont typeface="Calibri"/>
              <a:buChar char="✦"/>
              <a:defRPr sz="1100">
                <a:solidFill>
                  <a:srgbClr val="FAF6F0"/>
                </a:solidFill>
              </a:defRPr>
            </a:pPr>
            <a:r>
              <a:rPr>
                <a:latin typeface="Calibri"/>
                <a:ea typeface="Hiragino Sans"/>
              </a:rPr>
              <a:t>バンクは SOURCE_OF_TRUTH/musician_banks/ahjan/ に配置</a:t>
            </a:r>
          </a:p>
          <a:p>
            <a:pPr marL="342900" indent="-342900">
              <a:spcBef>
                <a:spcPts val="400"/>
              </a:spcBef>
              <a:buSzPct val="100000"/>
              <a:buFont typeface="Calibri"/>
              <a:buChar char="✦"/>
              <a:defRPr sz="1100">
                <a:solidFill>
                  <a:srgbClr val="FAF6F0"/>
                </a:solidFill>
              </a:defRPr>
            </a:pPr>
            <a:r>
              <a:rPr>
                <a:latin typeface="Calibri"/>
                <a:ea typeface="Hiragino Sans"/>
              </a:rPr>
              <a:t>music_brand_registry.yaml に music-mode ブランド（38+）として登録</a:t>
            </a:r>
          </a:p>
          <a:p>
            <a:pPr marL="342900" indent="-342900">
              <a:spcBef>
                <a:spcPts val="400"/>
              </a:spcBef>
              <a:buSzPct val="100000"/>
              <a:buFont typeface="Calibri"/>
              <a:buChar char="✦"/>
              <a:defRPr sz="1100">
                <a:solidFill>
                  <a:srgbClr val="FAF6F0"/>
                </a:solidFill>
              </a:defRPr>
            </a:pPr>
            <a:r>
              <a:rPr>
                <a:latin typeface="Calibri"/>
                <a:ea typeface="Hiragino Sans"/>
              </a:rPr>
              <a:t>インテーク → ジェネレーター → 6プールの全フローを、端から端まで実証</a:t>
            </a:r>
          </a:p>
          <a:p>
            <a:pPr marL="342900" indent="-342900">
              <a:spcBef>
                <a:spcPts val="400"/>
              </a:spcBef>
              <a:buSzPct val="100000"/>
              <a:buFont typeface="Calibri"/>
              <a:buChar char="✦"/>
              <a:defRPr sz="1100">
                <a:solidFill>
                  <a:srgbClr val="FAF6F0"/>
                </a:solidFill>
              </a:defRPr>
            </a:pPr>
            <a:r>
              <a:rPr>
                <a:latin typeface="Calibri"/>
                <a:ea typeface="Hiragino Sans"/>
              </a:rPr>
              <a:t>今後のすべてのミュージシャンキットの基準となる存在。</a:t>
            </a:r>
          </a:p>
        </p:txBody>
      </p:sp>
      <p:sp>
        <p:nvSpPr>
          <p:cNvPr id="151" name="Shape 9"/>
          <p:cNvSpPr/>
          <p:nvPr/>
        </p:nvSpPr>
        <p:spPr>
          <a:xfrm>
            <a:off x="6263640" y="1783079"/>
            <a:ext cx="5532121" cy="4434841"/>
          </a:xfrm>
          <a:prstGeom prst="rect">
            <a:avLst/>
          </a:prstGeom>
          <a:solidFill>
            <a:srgbClr val="2A1F17"/>
          </a:solidFill>
          <a:ln w="12700">
            <a:solidFill>
              <a:srgbClr val="D97706"/>
            </a:solidFill>
          </a:ln>
        </p:spPr>
        <p:txBody>
          <a:bodyPr lIns="45719" rIns="45719"/>
          <a:lstStyle/>
          <a:p>
            <a:pPr/>
          </a:p>
        </p:txBody>
      </p:sp>
      <p:sp>
        <p:nvSpPr>
          <p:cNvPr id="152" name="Shape 10"/>
          <p:cNvSpPr/>
          <p:nvPr/>
        </p:nvSpPr>
        <p:spPr>
          <a:xfrm>
            <a:off x="6263640" y="1783079"/>
            <a:ext cx="5532121" cy="73153"/>
          </a:xfrm>
          <a:prstGeom prst="rect">
            <a:avLst/>
          </a:prstGeom>
          <a:solidFill>
            <a:srgbClr val="D97706"/>
          </a:solidFill>
          <a:ln w="12700">
            <a:solidFill>
              <a:srgbClr val="D97706"/>
            </a:solidFill>
          </a:ln>
        </p:spPr>
        <p:txBody>
          <a:bodyPr lIns="45719" rIns="45719"/>
          <a:lstStyle/>
          <a:p>
            <a:pPr/>
          </a:p>
        </p:txBody>
      </p:sp>
      <p:sp>
        <p:nvSpPr>
          <p:cNvPr id="153" name="Text 11"/>
          <p:cNvSpPr txBox="1"/>
          <p:nvPr/>
        </p:nvSpPr>
        <p:spPr>
          <a:xfrm>
            <a:off x="6492240" y="2058846"/>
            <a:ext cx="51206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500" sz="1100">
                <a:solidFill>
                  <a:srgbClr val="F59E0B"/>
                </a:solidFill>
              </a:defRPr>
            </a:lvl1pPr>
          </a:lstStyle>
          <a:p>
            <a:pPr/>
            <a:r>
              <a:rPr>
                <a:latin typeface="Calibri"/>
                <a:ea typeface="Hiragino Sans"/>
              </a:rPr>
              <a:t>どう種付けされるか</a:t>
            </a:r>
          </a:p>
        </p:txBody>
      </p:sp>
      <p:sp>
        <p:nvSpPr>
          <p:cNvPr id="154" name="Text 12"/>
          <p:cNvSpPr txBox="1"/>
          <p:nvPr/>
        </p:nvSpPr>
        <p:spPr>
          <a:xfrm>
            <a:off x="6492240" y="2350769"/>
            <a:ext cx="512064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rPr>
                <a:latin typeface="Cambria"/>
                <a:ea typeface="Hiragino Mincho ProN"/>
              </a:rPr>
              <a:t>ゼロからではなく、再利用</a:t>
            </a:r>
          </a:p>
        </p:txBody>
      </p:sp>
      <p:sp>
        <p:nvSpPr>
          <p:cNvPr id="155" name="Text 13"/>
          <p:cNvSpPr txBox="1"/>
          <p:nvPr/>
        </p:nvSpPr>
        <p:spPr>
          <a:xfrm>
            <a:off x="6492240" y="3278177"/>
            <a:ext cx="512064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C8A7A"/>
                </a:solidFill>
              </a:defRPr>
            </a:lvl1pPr>
          </a:lstStyle>
          <a:p>
            <a:pPr/>
            <a:r>
              <a:rPr>
                <a:latin typeface="Calibri"/>
                <a:ea typeface="Hiragino Sans"/>
              </a:rPr>
              <a:t>Ahjan はすでにティーチャーとして存在するため、このキットはその声を再利用します — 新しい人物像は作りません。ノンティーチャーのミュージシャンも歓迎です：あなたのものは音楽だけで、教えは Pearl Prime のコンポジットから引き出されます。</a:t>
            </a:r>
          </a:p>
        </p:txBody>
      </p:sp>
      <p:sp>
        <p:nvSpPr>
          <p:cNvPr id="156" name="Text 14"/>
          <p:cNvSpPr txBox="1"/>
          <p:nvPr/>
        </p:nvSpPr>
        <p:spPr>
          <a:xfrm>
            <a:off x="6492240" y="4729655"/>
            <a:ext cx="5120641" cy="781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400"/>
              </a:spcBef>
              <a:buSzPct val="100000"/>
              <a:buFont typeface="Calibri"/>
              <a:buChar char="✦"/>
              <a:defRPr sz="1100">
                <a:solidFill>
                  <a:srgbClr val="FAF6F0"/>
                </a:solidFill>
              </a:defRPr>
            </a:pPr>
            <a:r>
              <a:rPr>
                <a:latin typeface="Calibri"/>
                <a:ea typeface="Hiragino Sans"/>
              </a:rPr>
              <a:t>既存の teacher_banks/ahjan/ コーパスから種付け</a:t>
            </a:r>
          </a:p>
          <a:p>
            <a:pPr marL="342900" indent="-342900">
              <a:spcBef>
                <a:spcPts val="400"/>
              </a:spcBef>
              <a:buSzPct val="100000"/>
              <a:buFont typeface="Calibri"/>
              <a:buChar char="✦"/>
              <a:defRPr sz="1100">
                <a:solidFill>
                  <a:srgbClr val="FAF6F0"/>
                </a:solidFill>
              </a:defRPr>
            </a:pPr>
            <a:r>
              <a:rPr>
                <a:latin typeface="Calibri"/>
                <a:ea typeface="Hiragino Sans"/>
              </a:rPr>
              <a:t>13人のティーチャー名簿の起点を、いま音楽へと拡張</a:t>
            </a:r>
          </a:p>
          <a:p>
            <a:pPr marL="342900" indent="-342900">
              <a:spcBef>
                <a:spcPts val="400"/>
              </a:spcBef>
              <a:buSzPct val="100000"/>
              <a:buFont typeface="Calibri"/>
              <a:buChar char="✦"/>
              <a:defRPr sz="1100">
                <a:solidFill>
                  <a:srgbClr val="FAF6F0"/>
                </a:solidFill>
              </a:defRPr>
            </a:pPr>
            <a:r>
              <a:rPr>
                <a:latin typeface="Calibri"/>
                <a:ea typeface="Hiragino Sans"/>
              </a:rPr>
              <a:t>プロフィール・テーマ・声は、Ahjan のインテークから導出</a:t>
            </a:r>
          </a:p>
          <a:p>
            <a:pPr marL="342900" indent="-342900">
              <a:spcBef>
                <a:spcPts val="400"/>
              </a:spcBef>
              <a:buSzPct val="100000"/>
              <a:buFont typeface="Calibri"/>
              <a:buChar char="✦"/>
              <a:defRPr sz="1100">
                <a:solidFill>
                  <a:srgbClr val="FAF6F0"/>
                </a:solidFill>
              </a:defRPr>
            </a:pPr>
            <a:r>
              <a:rPr>
                <a:latin typeface="Calibri"/>
                <a:ea typeface="Hiragino Sans"/>
              </a:rPr>
              <a:t>ジェネレーターが6つの音楽スロットプールを起草</a:t>
            </a:r>
          </a:p>
        </p:txBody>
      </p:sp>
      <p:sp>
        <p:nvSpPr>
          <p:cNvPr id="157" name="Shape 15"/>
          <p:cNvSpPr/>
          <p:nvPr/>
        </p:nvSpPr>
        <p:spPr>
          <a:xfrm>
            <a:off x="548639" y="6446520"/>
            <a:ext cx="11064242" cy="1"/>
          </a:xfrm>
          <a:prstGeom prst="line">
            <a:avLst/>
          </a:prstGeom>
          <a:ln w="12700">
            <a:solidFill>
              <a:srgbClr val="2A1F17"/>
            </a:solidFill>
          </a:ln>
        </p:spPr>
        <p:txBody>
          <a:bodyPr lIns="45719" rIns="45719"/>
          <a:lstStyle/>
          <a:p>
            <a:pPr/>
          </a:p>
        </p:txBody>
      </p:sp>
      <p:sp>
        <p:nvSpPr>
          <p:cNvPr id="158" name="Text 16"/>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159" name="Text 17"/>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6 / 15</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161"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本のバリアント</a:t>
            </a:r>
          </a:p>
        </p:txBody>
      </p:sp>
      <p:sp>
        <p:nvSpPr>
          <p:cNvPr id="162"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163"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両バリアントが共存 — 配分はあなたのデータが決める</a:t>
            </a:r>
          </a:p>
        </p:txBody>
      </p:sp>
      <p:sp>
        <p:nvSpPr>
          <p:cNvPr id="164" name="Shape 3"/>
          <p:cNvSpPr/>
          <p:nvPr/>
        </p:nvSpPr>
        <p:spPr>
          <a:xfrm>
            <a:off x="548639" y="1783079"/>
            <a:ext cx="5532122" cy="4434841"/>
          </a:xfrm>
          <a:prstGeom prst="rect">
            <a:avLst/>
          </a:prstGeom>
          <a:solidFill>
            <a:srgbClr val="2A1F17"/>
          </a:solidFill>
          <a:ln w="12700">
            <a:solidFill>
              <a:srgbClr val="D97706"/>
            </a:solidFill>
          </a:ln>
        </p:spPr>
        <p:txBody>
          <a:bodyPr lIns="45719" rIns="45719"/>
          <a:lstStyle/>
          <a:p>
            <a:pPr/>
          </a:p>
        </p:txBody>
      </p:sp>
      <p:sp>
        <p:nvSpPr>
          <p:cNvPr id="165" name="Shape 4"/>
          <p:cNvSpPr/>
          <p:nvPr/>
        </p:nvSpPr>
        <p:spPr>
          <a:xfrm>
            <a:off x="548639" y="1783079"/>
            <a:ext cx="5532122" cy="73153"/>
          </a:xfrm>
          <a:prstGeom prst="rect">
            <a:avLst/>
          </a:prstGeom>
          <a:solidFill>
            <a:srgbClr val="D97706"/>
          </a:solidFill>
          <a:ln w="12700">
            <a:solidFill>
              <a:srgbClr val="D97706"/>
            </a:solidFill>
          </a:ln>
        </p:spPr>
        <p:txBody>
          <a:bodyPr lIns="45719" rIns="45719"/>
          <a:lstStyle/>
          <a:p>
            <a:pPr/>
          </a:p>
        </p:txBody>
      </p:sp>
      <p:sp>
        <p:nvSpPr>
          <p:cNvPr id="166" name="Text 5"/>
          <p:cNvSpPr txBox="1"/>
          <p:nvPr/>
        </p:nvSpPr>
        <p:spPr>
          <a:xfrm>
            <a:off x="777239" y="2058846"/>
            <a:ext cx="51206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500" sz="1100">
                <a:solidFill>
                  <a:srgbClr val="F59E0B"/>
                </a:solidFill>
              </a:defRPr>
            </a:lvl1pPr>
          </a:lstStyle>
          <a:p>
            <a:pPr/>
            <a:r>
              <a:rPr>
                <a:latin typeface="Calibri"/>
                <a:ea typeface="Hiragino Sans"/>
              </a:rPr>
              <a:t>バリアント1</a:t>
            </a:r>
          </a:p>
        </p:txBody>
      </p:sp>
      <p:sp>
        <p:nvSpPr>
          <p:cNvPr id="167" name="Text 6"/>
          <p:cNvSpPr txBox="1"/>
          <p:nvPr/>
        </p:nvSpPr>
        <p:spPr>
          <a:xfrm>
            <a:off x="777239" y="2350769"/>
            <a:ext cx="512064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rPr>
                <a:latin typeface="Cambria"/>
                <a:ea typeface="Hiragino Mincho ProN"/>
              </a:rPr>
              <a:t>歌詞あり</a:t>
            </a:r>
          </a:p>
        </p:txBody>
      </p:sp>
      <p:sp>
        <p:nvSpPr>
          <p:cNvPr id="168" name="Text 7"/>
          <p:cNvSpPr txBox="1"/>
          <p:nvPr/>
        </p:nvSpPr>
        <p:spPr>
          <a:xfrm>
            <a:off x="777239" y="3278177"/>
            <a:ext cx="512064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C8A7A"/>
                </a:solidFill>
              </a:defRPr>
            </a:lvl1pPr>
          </a:lstStyle>
          <a:p>
            <a:pPr/>
            <a:r>
              <a:rPr>
                <a:latin typeface="Calibri"/>
                <a:ea typeface="Hiragino Sans"/>
              </a:rPr>
              <a:t>章の冒頭・結び・そして中ほどのひと拍に、歌詞の内容を配置。あなたのデータに歌詞素材が多いほど、カタログに占めるこの割合は大きくなります。</a:t>
            </a:r>
          </a:p>
        </p:txBody>
      </p:sp>
      <p:sp>
        <p:nvSpPr>
          <p:cNvPr id="169" name="Text 8"/>
          <p:cNvSpPr txBox="1"/>
          <p:nvPr/>
        </p:nvSpPr>
        <p:spPr>
          <a:xfrm>
            <a:off x="777239" y="4729655"/>
            <a:ext cx="5120642" cy="781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400"/>
              </a:spcBef>
              <a:buSzPct val="100000"/>
              <a:buFont typeface="Calibri"/>
              <a:buChar char="✦"/>
              <a:defRPr sz="1100">
                <a:solidFill>
                  <a:srgbClr val="FAF6F0"/>
                </a:solidFill>
              </a:defRPr>
            </a:pPr>
            <a:r>
              <a:rPr>
                <a:latin typeface="Calibri"/>
                <a:ea typeface="Hiragino Sans"/>
              </a:rPr>
              <a:t>各章の感情の起伏に合わせて、歌詞ブロックを配置</a:t>
            </a:r>
          </a:p>
          <a:p>
            <a:pPr marL="342900" indent="-342900">
              <a:spcBef>
                <a:spcPts val="400"/>
              </a:spcBef>
              <a:buSzPct val="100000"/>
              <a:buFont typeface="Calibri"/>
              <a:buChar char="✦"/>
              <a:defRPr sz="1100">
                <a:solidFill>
                  <a:srgbClr val="FAF6F0"/>
                </a:solidFill>
              </a:defRPr>
            </a:pPr>
            <a:r>
              <a:rPr>
                <a:latin typeface="Calibri"/>
                <a:ea typeface="Hiragino Sans"/>
              </a:rPr>
              <a:t>あなたの lyric_form の希望を尊重（自由詩 / 押韻 / ヴァース・コーラス）</a:t>
            </a:r>
          </a:p>
          <a:p>
            <a:pPr marL="342900" indent="-342900">
              <a:spcBef>
                <a:spcPts val="400"/>
              </a:spcBef>
              <a:buSzPct val="100000"/>
              <a:buFont typeface="Calibri"/>
              <a:buChar char="✦"/>
              <a:defRPr sz="1100">
                <a:solidFill>
                  <a:srgbClr val="FAF6F0"/>
                </a:solidFill>
              </a:defRPr>
            </a:pPr>
            <a:r>
              <a:rPr>
                <a:latin typeface="Calibri"/>
                <a:ea typeface="Hiragino Sans"/>
              </a:rPr>
              <a:t>あなたの explicit_content_ok ゲートを尊重</a:t>
            </a:r>
          </a:p>
          <a:p>
            <a:pPr marL="342900" indent="-342900">
              <a:spcBef>
                <a:spcPts val="400"/>
              </a:spcBef>
              <a:buSzPct val="100000"/>
              <a:buFont typeface="Calibri"/>
              <a:buChar char="✦"/>
              <a:defRPr sz="1100">
                <a:solidFill>
                  <a:srgbClr val="FAF6F0"/>
                </a:solidFill>
              </a:defRPr>
            </a:pPr>
            <a:r>
              <a:rPr>
                <a:latin typeface="Calibri"/>
                <a:ea typeface="Hiragino Sans"/>
              </a:rPr>
              <a:t>あなたの声がもつ、感じられるリズムを捉える</a:t>
            </a:r>
          </a:p>
        </p:txBody>
      </p:sp>
      <p:sp>
        <p:nvSpPr>
          <p:cNvPr id="170" name="Shape 9"/>
          <p:cNvSpPr/>
          <p:nvPr/>
        </p:nvSpPr>
        <p:spPr>
          <a:xfrm>
            <a:off x="6263640" y="1783079"/>
            <a:ext cx="5532121" cy="4434841"/>
          </a:xfrm>
          <a:prstGeom prst="rect">
            <a:avLst/>
          </a:prstGeom>
          <a:solidFill>
            <a:srgbClr val="2A1F17"/>
          </a:solidFill>
          <a:ln w="12700">
            <a:solidFill>
              <a:srgbClr val="D97706"/>
            </a:solidFill>
          </a:ln>
        </p:spPr>
        <p:txBody>
          <a:bodyPr lIns="45719" rIns="45719"/>
          <a:lstStyle/>
          <a:p>
            <a:pPr/>
          </a:p>
        </p:txBody>
      </p:sp>
      <p:sp>
        <p:nvSpPr>
          <p:cNvPr id="171" name="Shape 10"/>
          <p:cNvSpPr/>
          <p:nvPr/>
        </p:nvSpPr>
        <p:spPr>
          <a:xfrm>
            <a:off x="6263640" y="1783079"/>
            <a:ext cx="5532121" cy="73153"/>
          </a:xfrm>
          <a:prstGeom prst="rect">
            <a:avLst/>
          </a:prstGeom>
          <a:solidFill>
            <a:srgbClr val="D97706"/>
          </a:solidFill>
          <a:ln w="12700">
            <a:solidFill>
              <a:srgbClr val="D97706"/>
            </a:solidFill>
          </a:ln>
        </p:spPr>
        <p:txBody>
          <a:bodyPr lIns="45719" rIns="45719"/>
          <a:lstStyle/>
          <a:p>
            <a:pPr/>
          </a:p>
        </p:txBody>
      </p:sp>
      <p:sp>
        <p:nvSpPr>
          <p:cNvPr id="172" name="Text 11"/>
          <p:cNvSpPr txBox="1"/>
          <p:nvPr/>
        </p:nvSpPr>
        <p:spPr>
          <a:xfrm>
            <a:off x="6492240" y="2058846"/>
            <a:ext cx="51206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500" sz="1100">
                <a:solidFill>
                  <a:srgbClr val="F59E0B"/>
                </a:solidFill>
              </a:defRPr>
            </a:lvl1pPr>
          </a:lstStyle>
          <a:p>
            <a:pPr/>
            <a:r>
              <a:rPr>
                <a:latin typeface="Calibri"/>
                <a:ea typeface="Hiragino Sans"/>
              </a:rPr>
              <a:t>バリアント2</a:t>
            </a:r>
          </a:p>
        </p:txBody>
      </p:sp>
      <p:sp>
        <p:nvSpPr>
          <p:cNvPr id="173" name="Text 12"/>
          <p:cNvSpPr txBox="1"/>
          <p:nvPr/>
        </p:nvSpPr>
        <p:spPr>
          <a:xfrm>
            <a:off x="6492240" y="2350769"/>
            <a:ext cx="512064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rPr>
                <a:latin typeface="Cambria"/>
                <a:ea typeface="Hiragino Mincho ProN"/>
              </a:rPr>
              <a:t>歌詞なし</a:t>
            </a:r>
          </a:p>
        </p:txBody>
      </p:sp>
      <p:sp>
        <p:nvSpPr>
          <p:cNvPr id="174" name="Text 13"/>
          <p:cNvSpPr txBox="1"/>
          <p:nvPr/>
        </p:nvSpPr>
        <p:spPr>
          <a:xfrm>
            <a:off x="6492240" y="3278177"/>
            <a:ext cx="512064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C8A7A"/>
                </a:solidFill>
              </a:defRPr>
            </a:lvl1pPr>
          </a:lstStyle>
          <a:p>
            <a:pPr/>
            <a:r>
              <a:rPr>
                <a:latin typeface="Calibri"/>
                <a:ea typeface="Hiragino Sans"/>
              </a:rPr>
              <a:t>同じ位置に、あなたの音楽についてのリフレクション・エッセイ、日記、または瞑想文を配置。ほぼインストのミュージシャンは、これらを中心に — 加えて数冊の歌詞の本を — 一つのブランドで手にします。</a:t>
            </a:r>
          </a:p>
        </p:txBody>
      </p:sp>
      <p:sp>
        <p:nvSpPr>
          <p:cNvPr id="175" name="Text 14"/>
          <p:cNvSpPr txBox="1"/>
          <p:nvPr/>
        </p:nvSpPr>
        <p:spPr>
          <a:xfrm>
            <a:off x="6492240" y="4729655"/>
            <a:ext cx="5120641" cy="7819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400"/>
              </a:spcBef>
              <a:buSzPct val="100000"/>
              <a:buFont typeface="Calibri"/>
              <a:buChar char="✦"/>
              <a:defRPr sz="1100">
                <a:solidFill>
                  <a:srgbClr val="FAF6F0"/>
                </a:solidFill>
              </a:defRPr>
            </a:pPr>
            <a:r>
              <a:rPr>
                <a:latin typeface="Calibri"/>
                <a:ea typeface="Hiragino Sans"/>
              </a:rPr>
              <a:t>リフレクションの形式：エッセイ / 日記 / 瞑想 / ミックス</a:t>
            </a:r>
          </a:p>
          <a:p>
            <a:pPr marL="342900" indent="-342900">
              <a:spcBef>
                <a:spcPts val="400"/>
              </a:spcBef>
              <a:buSzPct val="100000"/>
              <a:buFont typeface="Calibri"/>
              <a:buChar char="✦"/>
              <a:defRPr sz="1100">
                <a:solidFill>
                  <a:srgbClr val="FAF6F0"/>
                </a:solidFill>
              </a:defRPr>
            </a:pPr>
            <a:r>
              <a:rPr>
                <a:latin typeface="Calibri"/>
                <a:ea typeface="Hiragino Sans"/>
              </a:rPr>
              <a:t>視点：ミュージシャン / リスナー / 批評家 / ミックス</a:t>
            </a:r>
          </a:p>
          <a:p>
            <a:pPr marL="342900" indent="-342900">
              <a:spcBef>
                <a:spcPts val="400"/>
              </a:spcBef>
              <a:buSzPct val="100000"/>
              <a:buFont typeface="Calibri"/>
              <a:buChar char="✦"/>
              <a:defRPr sz="1100">
                <a:solidFill>
                  <a:srgbClr val="FAF6F0"/>
                </a:solidFill>
              </a:defRPr>
            </a:pPr>
            <a:r>
              <a:rPr>
                <a:latin typeface="Calibri"/>
                <a:ea typeface="Hiragino Sans"/>
              </a:rPr>
              <a:t>言葉ではなく、その感覚を求めて来た読者に届く</a:t>
            </a:r>
          </a:p>
          <a:p>
            <a:pPr marL="342900" indent="-342900">
              <a:spcBef>
                <a:spcPts val="400"/>
              </a:spcBef>
              <a:buSzPct val="100000"/>
              <a:buFont typeface="Calibri"/>
              <a:buChar char="✦"/>
              <a:defRPr sz="1100">
                <a:solidFill>
                  <a:srgbClr val="FAF6F0"/>
                </a:solidFill>
              </a:defRPr>
            </a:pPr>
            <a:r>
              <a:rPr>
                <a:latin typeface="Calibri"/>
                <a:ea typeface="Hiragino Sans"/>
              </a:rPr>
              <a:t>あなたの音楽が — あなたのチャンネルで — 残りを引き受ける</a:t>
            </a:r>
          </a:p>
        </p:txBody>
      </p:sp>
      <p:sp>
        <p:nvSpPr>
          <p:cNvPr id="176" name="Shape 15"/>
          <p:cNvSpPr/>
          <p:nvPr/>
        </p:nvSpPr>
        <p:spPr>
          <a:xfrm>
            <a:off x="548639" y="6446520"/>
            <a:ext cx="11064242" cy="1"/>
          </a:xfrm>
          <a:prstGeom prst="line">
            <a:avLst/>
          </a:prstGeom>
          <a:ln w="12700">
            <a:solidFill>
              <a:srgbClr val="2A1F17"/>
            </a:solidFill>
          </a:ln>
        </p:spPr>
        <p:txBody>
          <a:bodyPr lIns="45719" rIns="45719"/>
          <a:lstStyle/>
          <a:p>
            <a:pPr/>
          </a:p>
        </p:txBody>
      </p:sp>
      <p:sp>
        <p:nvSpPr>
          <p:cNvPr id="177" name="Text 16"/>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178" name="Text 17"/>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7 / 15</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180"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オーサーシップ</a:t>
            </a:r>
          </a:p>
        </p:txBody>
      </p:sp>
      <p:sp>
        <p:nvSpPr>
          <p:cNvPr id="181"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182"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著者の声。つねに、あなたの音楽に帰属。</a:t>
            </a:r>
          </a:p>
        </p:txBody>
      </p:sp>
      <p:sp>
        <p:nvSpPr>
          <p:cNvPr id="183"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著者ペルソナ — ペンネーム、または EI — が、あなたの音楽を自らの声で参照します。つねに帰属を示し、決してあなたになりすましません。新しい音楽スロットはデフォルトで一人称、既存の二人称の文章はそのまま保たれます。</a:t>
            </a:r>
          </a:p>
        </p:txBody>
      </p:sp>
      <p:sp>
        <p:nvSpPr>
          <p:cNvPr id="184" name="Shape 4"/>
          <p:cNvSpPr/>
          <p:nvPr/>
        </p:nvSpPr>
        <p:spPr>
          <a:xfrm>
            <a:off x="548640" y="1874520"/>
            <a:ext cx="5486401" cy="1828801"/>
          </a:xfrm>
          <a:prstGeom prst="rect">
            <a:avLst/>
          </a:prstGeom>
          <a:solidFill>
            <a:srgbClr val="2A1F17"/>
          </a:solidFill>
          <a:ln w="12700">
            <a:solidFill>
              <a:srgbClr val="D97706"/>
            </a:solidFill>
          </a:ln>
        </p:spPr>
        <p:txBody>
          <a:bodyPr lIns="45719" rIns="45719"/>
          <a:lstStyle/>
          <a:p>
            <a:pPr/>
          </a:p>
        </p:txBody>
      </p:sp>
      <p:sp>
        <p:nvSpPr>
          <p:cNvPr id="185" name="Shape 5"/>
          <p:cNvSpPr/>
          <p:nvPr/>
        </p:nvSpPr>
        <p:spPr>
          <a:xfrm>
            <a:off x="548640" y="1874520"/>
            <a:ext cx="73153" cy="1828801"/>
          </a:xfrm>
          <a:prstGeom prst="rect">
            <a:avLst/>
          </a:prstGeom>
          <a:solidFill>
            <a:srgbClr val="D97706"/>
          </a:solidFill>
          <a:ln w="12700">
            <a:solidFill>
              <a:srgbClr val="D97706"/>
            </a:solidFill>
          </a:ln>
        </p:spPr>
        <p:txBody>
          <a:bodyPr lIns="45719" rIns="45719"/>
          <a:lstStyle/>
          <a:p>
            <a:pPr/>
          </a:p>
        </p:txBody>
      </p:sp>
      <p:sp>
        <p:nvSpPr>
          <p:cNvPr id="186" name="Text 6"/>
          <p:cNvSpPr txBox="1"/>
          <p:nvPr/>
        </p:nvSpPr>
        <p:spPr>
          <a:xfrm>
            <a:off x="777239" y="2080304"/>
            <a:ext cx="51206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F59E0B"/>
                </a:solidFill>
              </a:defRPr>
            </a:lvl1pPr>
          </a:lstStyle>
          <a:p>
            <a:pPr/>
            <a:r>
              <a:rPr>
                <a:latin typeface="Calibri"/>
                <a:ea typeface="Hiragino Sans"/>
              </a:rPr>
              <a:t>例 — 一人称（新規文章のデフォルト）</a:t>
            </a:r>
          </a:p>
        </p:txBody>
      </p:sp>
      <p:sp>
        <p:nvSpPr>
          <p:cNvPr id="187" name="Text 7"/>
          <p:cNvSpPr txBox="1"/>
          <p:nvPr/>
        </p:nvSpPr>
        <p:spPr>
          <a:xfrm>
            <a:off x="777239" y="2590800"/>
            <a:ext cx="5120642" cy="762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FAF6F0"/>
                </a:solidFill>
                <a:latin typeface="Cambria"/>
                <a:ea typeface="Cambria"/>
                <a:cs typeface="Cambria"/>
                <a:sym typeface="Cambria"/>
              </a:defRPr>
            </a:lvl1pPr>
          </a:lstStyle>
          <a:p>
            <a:pPr/>
            <a:r>
              <a:rPr>
                <a:latin typeface="Cambria"/>
                <a:ea typeface="Hiragino Mincho ProN"/>
              </a:rPr>
              <a:t>"Ahjan の音楽から — そのギターで、一つの持続するコード、そして立ちのぼる旋律。音を通したその小さな魂の高まりこそ、あなたの重荷へと向かいながら、私があなたと共に座って見つめたいものなのです。"</a:t>
            </a:r>
          </a:p>
        </p:txBody>
      </p:sp>
      <p:sp>
        <p:nvSpPr>
          <p:cNvPr id="188" name="Shape 8"/>
          <p:cNvSpPr/>
          <p:nvPr/>
        </p:nvSpPr>
        <p:spPr>
          <a:xfrm>
            <a:off x="6309359" y="1874520"/>
            <a:ext cx="5303521" cy="1325881"/>
          </a:xfrm>
          <a:prstGeom prst="rect">
            <a:avLst/>
          </a:prstGeom>
          <a:solidFill>
            <a:srgbClr val="1A1108"/>
          </a:solidFill>
          <a:ln w="12700">
            <a:solidFill>
              <a:srgbClr val="2A1F17"/>
            </a:solidFill>
          </a:ln>
        </p:spPr>
        <p:txBody>
          <a:bodyPr lIns="45719" rIns="45719"/>
          <a:lstStyle/>
          <a:p>
            <a:pPr/>
          </a:p>
        </p:txBody>
      </p:sp>
      <p:sp>
        <p:nvSpPr>
          <p:cNvPr id="189" name="Text 9"/>
          <p:cNvSpPr txBox="1"/>
          <p:nvPr/>
        </p:nvSpPr>
        <p:spPr>
          <a:xfrm>
            <a:off x="6446520" y="2141220"/>
            <a:ext cx="54864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190" name="Text 10"/>
          <p:cNvSpPr txBox="1"/>
          <p:nvPr/>
        </p:nvSpPr>
        <p:spPr>
          <a:xfrm>
            <a:off x="7040880" y="2126741"/>
            <a:ext cx="448056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つねに帰属を示す</a:t>
            </a:r>
          </a:p>
        </p:txBody>
      </p:sp>
      <p:sp>
        <p:nvSpPr>
          <p:cNvPr id="191" name="Text 11"/>
          <p:cNvSpPr txBox="1"/>
          <p:nvPr/>
        </p:nvSpPr>
        <p:spPr>
          <a:xfrm>
            <a:off x="7040880" y="2660694"/>
            <a:ext cx="448056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どの音楽スロットも、あなたの音楽とその出典を名指しし — 「Ahjan の音楽から」 — 真の構造と真の効能を述べます。</a:t>
            </a:r>
          </a:p>
        </p:txBody>
      </p:sp>
      <p:sp>
        <p:nvSpPr>
          <p:cNvPr id="192" name="Shape 12"/>
          <p:cNvSpPr/>
          <p:nvPr/>
        </p:nvSpPr>
        <p:spPr>
          <a:xfrm>
            <a:off x="6309359" y="3291840"/>
            <a:ext cx="5303521" cy="1325881"/>
          </a:xfrm>
          <a:prstGeom prst="rect">
            <a:avLst/>
          </a:prstGeom>
          <a:solidFill>
            <a:srgbClr val="1A1108"/>
          </a:solidFill>
          <a:ln w="12700">
            <a:solidFill>
              <a:srgbClr val="2A1F17"/>
            </a:solidFill>
          </a:ln>
        </p:spPr>
        <p:txBody>
          <a:bodyPr lIns="45719" rIns="45719"/>
          <a:lstStyle/>
          <a:p>
            <a:pPr/>
          </a:p>
        </p:txBody>
      </p:sp>
      <p:sp>
        <p:nvSpPr>
          <p:cNvPr id="193" name="Text 13"/>
          <p:cNvSpPr txBox="1"/>
          <p:nvPr/>
        </p:nvSpPr>
        <p:spPr>
          <a:xfrm>
            <a:off x="6446520" y="3558540"/>
            <a:ext cx="54864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194" name="Text 14"/>
          <p:cNvSpPr txBox="1"/>
          <p:nvPr/>
        </p:nvSpPr>
        <p:spPr>
          <a:xfrm>
            <a:off x="7040880" y="3544062"/>
            <a:ext cx="448056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二人称 — 保たれる</a:t>
            </a:r>
          </a:p>
        </p:txBody>
      </p:sp>
      <p:sp>
        <p:nvSpPr>
          <p:cNvPr id="195" name="Text 15"/>
          <p:cNvSpPr txBox="1"/>
          <p:nvPr/>
        </p:nvSpPr>
        <p:spPr>
          <a:xfrm>
            <a:off x="7040880" y="4078014"/>
            <a:ext cx="448056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"あなたは Ahjan の曲をかける。部屋が小さくなり、やがて開ける。コードが持続する。" すでに二人称で読める文章は、そのまま保たれます — それでも帰属は示されます。</a:t>
            </a:r>
          </a:p>
        </p:txBody>
      </p:sp>
      <p:sp>
        <p:nvSpPr>
          <p:cNvPr id="196" name="Shape 16"/>
          <p:cNvSpPr/>
          <p:nvPr/>
        </p:nvSpPr>
        <p:spPr>
          <a:xfrm>
            <a:off x="6309359" y="4709159"/>
            <a:ext cx="5303521" cy="1325881"/>
          </a:xfrm>
          <a:prstGeom prst="rect">
            <a:avLst/>
          </a:prstGeom>
          <a:solidFill>
            <a:srgbClr val="1A1108"/>
          </a:solidFill>
          <a:ln w="12700">
            <a:solidFill>
              <a:srgbClr val="2A1F17"/>
            </a:solidFill>
          </a:ln>
        </p:spPr>
        <p:txBody>
          <a:bodyPr lIns="45719" rIns="45719"/>
          <a:lstStyle/>
          <a:p>
            <a:pPr/>
          </a:p>
        </p:txBody>
      </p:sp>
      <p:sp>
        <p:nvSpPr>
          <p:cNvPr id="197" name="Text 17"/>
          <p:cNvSpPr txBox="1"/>
          <p:nvPr/>
        </p:nvSpPr>
        <p:spPr>
          <a:xfrm>
            <a:off x="6446520" y="4975860"/>
            <a:ext cx="54864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198" name="Text 18"/>
          <p:cNvSpPr txBox="1"/>
          <p:nvPr/>
        </p:nvSpPr>
        <p:spPr>
          <a:xfrm>
            <a:off x="7040880" y="4961382"/>
            <a:ext cx="448056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時とともに磨かれる</a:t>
            </a:r>
          </a:p>
        </p:txBody>
      </p:sp>
      <p:sp>
        <p:nvSpPr>
          <p:cNvPr id="199" name="Text 19"/>
          <p:cNvSpPr txBox="1"/>
          <p:nvPr/>
        </p:nvSpPr>
        <p:spPr>
          <a:xfrm>
            <a:off x="7040880" y="5495334"/>
            <a:ext cx="448056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アンケートが増え、atom が増え、原点となる楽曲が増えるほど、あなたの音楽とその周りの文章はより近づきます。カタログは育つにつれ、ますます「あなたのもの」だと分かるようになります。</a:t>
            </a:r>
          </a:p>
        </p:txBody>
      </p:sp>
      <p:sp>
        <p:nvSpPr>
          <p:cNvPr id="200" name="Shape 20"/>
          <p:cNvSpPr/>
          <p:nvPr/>
        </p:nvSpPr>
        <p:spPr>
          <a:xfrm>
            <a:off x="548640" y="3840479"/>
            <a:ext cx="5486401" cy="2240281"/>
          </a:xfrm>
          <a:prstGeom prst="rect">
            <a:avLst/>
          </a:prstGeom>
          <a:solidFill>
            <a:srgbClr val="1A1108"/>
          </a:solidFill>
          <a:ln w="12700">
            <a:solidFill>
              <a:srgbClr val="2A1F17"/>
            </a:solidFill>
          </a:ln>
        </p:spPr>
        <p:txBody>
          <a:bodyPr lIns="45719" rIns="45719"/>
          <a:lstStyle/>
          <a:p>
            <a:pPr/>
          </a:p>
        </p:txBody>
      </p:sp>
      <p:sp>
        <p:nvSpPr>
          <p:cNvPr id="201" name="Text 21"/>
          <p:cNvSpPr txBox="1"/>
          <p:nvPr/>
        </p:nvSpPr>
        <p:spPr>
          <a:xfrm>
            <a:off x="777239" y="4046264"/>
            <a:ext cx="51206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F59E0B"/>
                </a:solidFill>
              </a:defRPr>
            </a:lvl1pPr>
          </a:lstStyle>
          <a:p>
            <a:pPr/>
            <a:r>
              <a:rPr>
                <a:latin typeface="Calibri"/>
                <a:ea typeface="Hiragino Sans"/>
              </a:rPr>
              <a:t>著者ペルソナが、それを包む</a:t>
            </a:r>
          </a:p>
        </p:txBody>
      </p:sp>
      <p:sp>
        <p:nvSpPr>
          <p:cNvPr id="202" name="Text 22"/>
          <p:cNvSpPr txBox="1"/>
          <p:nvPr/>
        </p:nvSpPr>
        <p:spPr>
          <a:xfrm>
            <a:off x="777239" y="4706927"/>
            <a:ext cx="5120642" cy="918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i="1" sz="1200">
                <a:solidFill>
                  <a:srgbClr val="FAF6F0"/>
                </a:solidFill>
              </a:defRPr>
            </a:pPr>
            <a:r>
              <a:rPr>
                <a:latin typeface="Calibri"/>
                <a:ea typeface="Hiragino Sans"/>
              </a:rPr>
              <a:t>人間のペンネーム著者、または EI 著者が本に署名します。</a:t>
            </a:r>
          </a:p>
          <a:p>
            <a:pPr>
              <a:defRPr i="1" sz="1200">
                <a:solidFill>
                  <a:srgbClr val="FAF6F0"/>
                </a:solidFill>
              </a:defRPr>
            </a:pPr>
            <a:r>
              <a:rPr>
                <a:latin typeface="Calibri"/>
                <a:ea typeface="Hiragino Sans"/>
              </a:rPr>
              <a:t>あなたの音楽が、文章を形づくる。</a:t>
            </a:r>
          </a:p>
          <a:p>
            <a:pPr>
              <a:defRPr i="1" sz="1200">
                <a:solidFill>
                  <a:srgbClr val="FAF6F0"/>
                </a:solidFill>
              </a:defRPr>
            </a:pPr>
            <a:r>
              <a:rPr>
                <a:latin typeface="Calibri"/>
                <a:ea typeface="Hiragino Sans"/>
              </a:rPr>
              <a:t>読者は、あなたの音楽がつくった部屋を受け取る。</a:t>
            </a:r>
          </a:p>
          <a:p>
            <a:pPr>
              <a:defRPr sz="1200"/>
            </a:pPr>
          </a:p>
          <a:p>
            <a:pPr>
              <a:defRPr i="1" sz="1200">
                <a:solidFill>
                  <a:srgbClr val="FAF6F0"/>
                </a:solidFill>
              </a:defRPr>
            </a:pPr>
            <a:r>
              <a:rPr>
                <a:latin typeface="Calibri"/>
                <a:ea typeface="Hiragino Sans"/>
              </a:rPr>
              <a:t>音楽はあなたのもの。本は、その架け橋になる。</a:t>
            </a:r>
          </a:p>
        </p:txBody>
      </p:sp>
      <p:sp>
        <p:nvSpPr>
          <p:cNvPr id="203" name="Shape 23"/>
          <p:cNvSpPr/>
          <p:nvPr/>
        </p:nvSpPr>
        <p:spPr>
          <a:xfrm>
            <a:off x="548639" y="6446520"/>
            <a:ext cx="11064242" cy="1"/>
          </a:xfrm>
          <a:prstGeom prst="line">
            <a:avLst/>
          </a:prstGeom>
          <a:ln w="12700">
            <a:solidFill>
              <a:srgbClr val="2A1F17"/>
            </a:solidFill>
          </a:ln>
        </p:spPr>
        <p:txBody>
          <a:bodyPr lIns="45719" rIns="45719"/>
          <a:lstStyle/>
          <a:p>
            <a:pPr/>
          </a:p>
        </p:txBody>
      </p:sp>
      <p:sp>
        <p:nvSpPr>
          <p:cNvPr id="204" name="Text 24"/>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205" name="Text 25"/>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8 / 15</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207"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著者のタイプ</a:t>
            </a:r>
          </a:p>
        </p:txBody>
      </p:sp>
      <p:sp>
        <p:nvSpPr>
          <p:cNvPr id="208"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209"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Pearl Prime Music-Mode の著者、2つのタイプ</a:t>
            </a:r>
          </a:p>
        </p:txBody>
      </p:sp>
      <p:sp>
        <p:nvSpPr>
          <p:cNvPr id="210"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ペンネームは、出版の世界で長く続く慣習です。Pearl Prime は2つの道を用います。</a:t>
            </a:r>
          </a:p>
        </p:txBody>
      </p:sp>
      <p:sp>
        <p:nvSpPr>
          <p:cNvPr id="211" name="Shape 4"/>
          <p:cNvSpPr/>
          <p:nvPr/>
        </p:nvSpPr>
        <p:spPr>
          <a:xfrm>
            <a:off x="548639" y="1828799"/>
            <a:ext cx="5532122" cy="4389122"/>
          </a:xfrm>
          <a:prstGeom prst="rect">
            <a:avLst/>
          </a:prstGeom>
          <a:solidFill>
            <a:srgbClr val="2A1F17"/>
          </a:solidFill>
          <a:ln w="12700">
            <a:solidFill>
              <a:srgbClr val="D97706"/>
            </a:solidFill>
          </a:ln>
        </p:spPr>
        <p:txBody>
          <a:bodyPr lIns="45719" rIns="45719"/>
          <a:lstStyle/>
          <a:p>
            <a:pPr/>
          </a:p>
        </p:txBody>
      </p:sp>
      <p:sp>
        <p:nvSpPr>
          <p:cNvPr id="212" name="Shape 5"/>
          <p:cNvSpPr/>
          <p:nvPr/>
        </p:nvSpPr>
        <p:spPr>
          <a:xfrm>
            <a:off x="548639" y="1828799"/>
            <a:ext cx="5532122" cy="73154"/>
          </a:xfrm>
          <a:prstGeom prst="rect">
            <a:avLst/>
          </a:prstGeom>
          <a:solidFill>
            <a:srgbClr val="D97706"/>
          </a:solidFill>
          <a:ln w="12700">
            <a:solidFill>
              <a:srgbClr val="D97706"/>
            </a:solidFill>
          </a:ln>
        </p:spPr>
        <p:txBody>
          <a:bodyPr lIns="45719" rIns="45719"/>
          <a:lstStyle/>
          <a:p>
            <a:pPr/>
          </a:p>
        </p:txBody>
      </p:sp>
      <p:sp>
        <p:nvSpPr>
          <p:cNvPr id="213" name="Text 6"/>
          <p:cNvSpPr txBox="1"/>
          <p:nvPr/>
        </p:nvSpPr>
        <p:spPr>
          <a:xfrm>
            <a:off x="777239" y="2103164"/>
            <a:ext cx="51206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F59E0B"/>
                </a:solidFill>
              </a:defRPr>
            </a:lvl1pPr>
          </a:lstStyle>
          <a:p>
            <a:pPr/>
            <a:r>
              <a:rPr>
                <a:latin typeface="Calibri"/>
                <a:ea typeface="Hiragino Sans"/>
              </a:rPr>
              <a:t>人間のペンネーム著者</a:t>
            </a:r>
          </a:p>
        </p:txBody>
      </p:sp>
      <p:sp>
        <p:nvSpPr>
          <p:cNvPr id="214" name="Text 7"/>
          <p:cNvSpPr txBox="1"/>
          <p:nvPr/>
        </p:nvSpPr>
        <p:spPr>
          <a:xfrm>
            <a:off x="777239" y="2405379"/>
            <a:ext cx="5120642"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FAF6F0"/>
                </a:solidFill>
                <a:latin typeface="Cambria"/>
                <a:ea typeface="Cambria"/>
                <a:cs typeface="Cambria"/>
                <a:sym typeface="Cambria"/>
              </a:defRPr>
            </a:lvl1pPr>
          </a:lstStyle>
          <a:p>
            <a:pPr/>
            <a:r>
              <a:rPr>
                <a:latin typeface="Cambria"/>
                <a:ea typeface="Hiragino Mincho ProN"/>
              </a:rPr>
              <a:t>リスナーのペルソナ</a:t>
            </a:r>
          </a:p>
        </p:txBody>
      </p:sp>
      <p:sp>
        <p:nvSpPr>
          <p:cNvPr id="215" name="Text 8"/>
          <p:cNvSpPr txBox="1"/>
          <p:nvPr/>
        </p:nvSpPr>
        <p:spPr>
          <a:xfrm>
            <a:off x="777239" y="3301037"/>
            <a:ext cx="512064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C8A7A"/>
                </a:solidFill>
              </a:defRPr>
            </a:lvl1pPr>
          </a:lstStyle>
          <a:p>
            <a:pPr/>
            <a:r>
              <a:rPr>
                <a:latin typeface="Calibri"/>
                <a:ea typeface="Hiragino Sans"/>
              </a:rPr>
              <a:t>信頼できる、人間のリスナーとしてのプロフィール。読者に向けたもの。標準的な出版の慣習です。あなたの音と出会い、それによって変わった一人として書きます。</a:t>
            </a:r>
          </a:p>
        </p:txBody>
      </p:sp>
      <p:sp>
        <p:nvSpPr>
          <p:cNvPr id="216" name="Text 9"/>
          <p:cNvSpPr txBox="1"/>
          <p:nvPr/>
        </p:nvSpPr>
        <p:spPr>
          <a:xfrm>
            <a:off x="777239" y="4752516"/>
            <a:ext cx="5120642" cy="7819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400"/>
              </a:spcBef>
              <a:buSzPct val="100000"/>
              <a:buFont typeface="Calibri"/>
              <a:buChar char="✦"/>
              <a:defRPr sz="1100">
                <a:solidFill>
                  <a:srgbClr val="FAF6F0"/>
                </a:solidFill>
              </a:defRPr>
            </a:pPr>
            <a:r>
              <a:rPr>
                <a:latin typeface="Calibri"/>
                <a:ea typeface="Hiragino Sans"/>
              </a:rPr>
              <a:t>名前を持つ、実在感のある著者の身元とプロフィール</a:t>
            </a:r>
          </a:p>
          <a:p>
            <a:pPr marL="342900" indent="-342900">
              <a:spcBef>
                <a:spcPts val="400"/>
              </a:spcBef>
              <a:buSzPct val="100000"/>
              <a:buFont typeface="Calibri"/>
              <a:buChar char="✦"/>
              <a:defRPr sz="1100">
                <a:solidFill>
                  <a:srgbClr val="FAF6F0"/>
                </a:solidFill>
              </a:defRPr>
            </a:pPr>
            <a:r>
              <a:rPr>
                <a:latin typeface="Calibri"/>
                <a:ea typeface="Hiragino Sans"/>
              </a:rPr>
              <a:t>広く受け入れられている出版の慣習</a:t>
            </a:r>
          </a:p>
          <a:p>
            <a:pPr marL="342900" indent="-342900">
              <a:spcBef>
                <a:spcPts val="400"/>
              </a:spcBef>
              <a:buSzPct val="100000"/>
              <a:buFont typeface="Calibri"/>
              <a:buChar char="✦"/>
              <a:defRPr sz="1100">
                <a:solidFill>
                  <a:srgbClr val="FAF6F0"/>
                </a:solidFill>
              </a:defRPr>
            </a:pPr>
            <a:r>
              <a:rPr>
                <a:latin typeface="Calibri"/>
                <a:ea typeface="Hiragino Sans"/>
              </a:rPr>
              <a:t>読者は、親しみのある人間の声とつながる</a:t>
            </a:r>
          </a:p>
          <a:p>
            <a:pPr marL="342900" indent="-342900">
              <a:spcBef>
                <a:spcPts val="400"/>
              </a:spcBef>
              <a:buSzPct val="100000"/>
              <a:buFont typeface="Calibri"/>
              <a:buChar char="✦"/>
              <a:defRPr sz="1100">
                <a:solidFill>
                  <a:srgbClr val="FAF6F0"/>
                </a:solidFill>
              </a:defRPr>
            </a:pPr>
            <a:r>
              <a:rPr>
                <a:latin typeface="Calibri"/>
                <a:ea typeface="Hiragino Sans"/>
              </a:rPr>
              <a:t>標準の書籍プラットフォーム：KDP、Audible、Apple、Google</a:t>
            </a:r>
          </a:p>
        </p:txBody>
      </p:sp>
      <p:sp>
        <p:nvSpPr>
          <p:cNvPr id="217" name="Shape 10"/>
          <p:cNvSpPr/>
          <p:nvPr/>
        </p:nvSpPr>
        <p:spPr>
          <a:xfrm>
            <a:off x="6263640" y="1828799"/>
            <a:ext cx="5532121" cy="4389122"/>
          </a:xfrm>
          <a:prstGeom prst="rect">
            <a:avLst/>
          </a:prstGeom>
          <a:solidFill>
            <a:srgbClr val="2A1F17"/>
          </a:solidFill>
          <a:ln w="12700">
            <a:solidFill>
              <a:srgbClr val="D97706"/>
            </a:solidFill>
          </a:ln>
        </p:spPr>
        <p:txBody>
          <a:bodyPr lIns="45719" rIns="45719"/>
          <a:lstStyle/>
          <a:p>
            <a:pPr/>
          </a:p>
        </p:txBody>
      </p:sp>
      <p:sp>
        <p:nvSpPr>
          <p:cNvPr id="218" name="Shape 11"/>
          <p:cNvSpPr/>
          <p:nvPr/>
        </p:nvSpPr>
        <p:spPr>
          <a:xfrm>
            <a:off x="6263640" y="1828799"/>
            <a:ext cx="5532121" cy="73154"/>
          </a:xfrm>
          <a:prstGeom prst="rect">
            <a:avLst/>
          </a:prstGeom>
          <a:solidFill>
            <a:srgbClr val="D97706"/>
          </a:solidFill>
          <a:ln w="12700">
            <a:solidFill>
              <a:srgbClr val="D97706"/>
            </a:solidFill>
          </a:ln>
        </p:spPr>
        <p:txBody>
          <a:bodyPr lIns="45719" rIns="45719"/>
          <a:lstStyle/>
          <a:p>
            <a:pPr/>
          </a:p>
        </p:txBody>
      </p:sp>
      <p:sp>
        <p:nvSpPr>
          <p:cNvPr id="219" name="Text 12"/>
          <p:cNvSpPr txBox="1"/>
          <p:nvPr/>
        </p:nvSpPr>
        <p:spPr>
          <a:xfrm>
            <a:off x="6492240" y="2103164"/>
            <a:ext cx="5120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F59E0B"/>
                </a:solidFill>
              </a:defRPr>
            </a:lvl1pPr>
          </a:lstStyle>
          <a:p>
            <a:pPr/>
            <a:r>
              <a:rPr>
                <a:latin typeface="Calibri"/>
                <a:ea typeface="Hiragino Sans"/>
              </a:rPr>
              <a:t>EI · ENLIGHTENED INTELLIGENCE 著者</a:t>
            </a:r>
          </a:p>
        </p:txBody>
      </p:sp>
      <p:sp>
        <p:nvSpPr>
          <p:cNvPr id="220" name="Text 13"/>
          <p:cNvSpPr txBox="1"/>
          <p:nvPr/>
        </p:nvSpPr>
        <p:spPr>
          <a:xfrm>
            <a:off x="6492240" y="2405379"/>
            <a:ext cx="512064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FAF6F0"/>
                </a:solidFill>
                <a:latin typeface="Cambria"/>
                <a:ea typeface="Cambria"/>
                <a:cs typeface="Cambria"/>
                <a:sym typeface="Cambria"/>
              </a:defRPr>
            </a:lvl1pPr>
          </a:lstStyle>
          <a:p>
            <a:pPr/>
            <a:r>
              <a:rPr>
                <a:latin typeface="Cambria"/>
                <a:ea typeface="Hiragino Mincho ProN"/>
              </a:rPr>
              <a:t>AIのペルソナ</a:t>
            </a:r>
          </a:p>
        </p:txBody>
      </p:sp>
      <p:sp>
        <p:nvSpPr>
          <p:cNvPr id="221" name="Text 14"/>
          <p:cNvSpPr txBox="1"/>
          <p:nvPr/>
        </p:nvSpPr>
        <p:spPr>
          <a:xfrm>
            <a:off x="6492240" y="3301037"/>
            <a:ext cx="512064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9C8A7A"/>
                </a:solidFill>
              </a:defRPr>
            </a:lvl1pPr>
          </a:lstStyle>
          <a:p>
            <a:pPr/>
            <a:r>
              <a:rPr>
                <a:latin typeface="Calibri"/>
                <a:ea typeface="Hiragino Sans"/>
              </a:rPr>
              <a:t>AIのペルソナ。透明性を保ちます。出版の最前線での実験として位置づけられます。署名は明示的です：この本はAIのリスナーによって書かれました。</a:t>
            </a:r>
          </a:p>
        </p:txBody>
      </p:sp>
      <p:sp>
        <p:nvSpPr>
          <p:cNvPr id="222" name="Text 15"/>
          <p:cNvSpPr txBox="1"/>
          <p:nvPr/>
        </p:nvSpPr>
        <p:spPr>
          <a:xfrm>
            <a:off x="6492240" y="4752516"/>
            <a:ext cx="5120641" cy="7819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400"/>
              </a:spcBef>
              <a:buSzPct val="100000"/>
              <a:buFont typeface="Calibri"/>
              <a:buChar char="✦"/>
              <a:defRPr sz="1100">
                <a:solidFill>
                  <a:srgbClr val="FAF6F0"/>
                </a:solidFill>
              </a:defRPr>
            </a:pPr>
            <a:r>
              <a:rPr>
                <a:latin typeface="Calibri"/>
                <a:ea typeface="Hiragino Sans"/>
              </a:rPr>
              <a:t>透明：読者は、AIの著者だと分かっている</a:t>
            </a:r>
          </a:p>
          <a:p>
            <a:pPr marL="342900" indent="-342900">
              <a:spcBef>
                <a:spcPts val="400"/>
              </a:spcBef>
              <a:buSzPct val="100000"/>
              <a:buFont typeface="Calibri"/>
              <a:buChar char="✦"/>
              <a:defRPr sz="1100">
                <a:solidFill>
                  <a:srgbClr val="FAF6F0"/>
                </a:solidFill>
              </a:defRPr>
            </a:pPr>
            <a:r>
              <a:rPr>
                <a:latin typeface="Calibri"/>
                <a:ea typeface="Hiragino Sans"/>
              </a:rPr>
              <a:t>あなたの atom-bank ＋ 身体的ヒューリスティクスから構築</a:t>
            </a:r>
          </a:p>
          <a:p>
            <a:pPr marL="342900" indent="-342900">
              <a:spcBef>
                <a:spcPts val="400"/>
              </a:spcBef>
              <a:buSzPct val="100000"/>
              <a:buFont typeface="Calibri"/>
              <a:buChar char="✦"/>
              <a:defRPr sz="1100">
                <a:solidFill>
                  <a:srgbClr val="FAF6F0"/>
                </a:solidFill>
              </a:defRPr>
            </a:pPr>
            <a:r>
              <a:rPr>
                <a:latin typeface="Calibri"/>
                <a:ea typeface="Hiragino Sans"/>
              </a:rPr>
              <a:t>AIと音楽への、Z世代の関心に響く</a:t>
            </a:r>
          </a:p>
          <a:p>
            <a:pPr marL="342900" indent="-342900">
              <a:spcBef>
                <a:spcPts val="400"/>
              </a:spcBef>
              <a:buSzPct val="100000"/>
              <a:buFont typeface="Calibri"/>
              <a:buChar char="✦"/>
              <a:defRPr sz="1100">
                <a:solidFill>
                  <a:srgbClr val="FAF6F0"/>
                </a:solidFill>
              </a:defRPr>
            </a:pPr>
            <a:r>
              <a:rPr>
                <a:latin typeface="Calibri"/>
                <a:ea typeface="Hiragino Sans"/>
              </a:rPr>
              <a:t>読者リーチの、新たな最前線</a:t>
            </a:r>
          </a:p>
        </p:txBody>
      </p:sp>
      <p:sp>
        <p:nvSpPr>
          <p:cNvPr id="223" name="Shape 16"/>
          <p:cNvSpPr/>
          <p:nvPr/>
        </p:nvSpPr>
        <p:spPr>
          <a:xfrm>
            <a:off x="548639" y="6446520"/>
            <a:ext cx="11064242" cy="1"/>
          </a:xfrm>
          <a:prstGeom prst="line">
            <a:avLst/>
          </a:prstGeom>
          <a:ln w="12700">
            <a:solidFill>
              <a:srgbClr val="2A1F17"/>
            </a:solidFill>
          </a:ln>
        </p:spPr>
        <p:txBody>
          <a:bodyPr lIns="45719" rIns="45719"/>
          <a:lstStyle/>
          <a:p>
            <a:pPr/>
          </a:p>
        </p:txBody>
      </p:sp>
      <p:sp>
        <p:nvSpPr>
          <p:cNvPr id="224" name="Text 17"/>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225" name="Text 18"/>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9 / 15</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227"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品質 · プラットフォーム · 展開</a:t>
            </a:r>
          </a:p>
        </p:txBody>
      </p:sp>
      <p:sp>
        <p:nvSpPr>
          <p:cNvPr id="228"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229"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本物の本。賢いプラットフォーム戦略。</a:t>
            </a:r>
          </a:p>
        </p:txBody>
      </p:sp>
      <p:sp>
        <p:nvSpPr>
          <p:cNvPr id="230"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AIの粗製乱造ではありません。あなたの atom bank の上に築かれる、決定論的な本。どのブランドも約800冊を目指し — 長さに応じて、それが勝てるプラットフォームへと振り分けられます。</a:t>
            </a:r>
          </a:p>
        </p:txBody>
      </p:sp>
      <p:sp>
        <p:nvSpPr>
          <p:cNvPr id="231" name="Shape 4"/>
          <p:cNvSpPr/>
          <p:nvPr/>
        </p:nvSpPr>
        <p:spPr>
          <a:xfrm>
            <a:off x="548639" y="1828799"/>
            <a:ext cx="5303522" cy="4389122"/>
          </a:xfrm>
          <a:prstGeom prst="rect">
            <a:avLst/>
          </a:prstGeom>
          <a:solidFill>
            <a:srgbClr val="2A1F17"/>
          </a:solidFill>
          <a:ln w="12700">
            <a:solidFill>
              <a:srgbClr val="D97706"/>
            </a:solidFill>
          </a:ln>
        </p:spPr>
        <p:txBody>
          <a:bodyPr lIns="45719" rIns="45719"/>
          <a:lstStyle/>
          <a:p>
            <a:pPr/>
          </a:p>
        </p:txBody>
      </p:sp>
      <p:sp>
        <p:nvSpPr>
          <p:cNvPr id="232" name="Shape 5"/>
          <p:cNvSpPr/>
          <p:nvPr/>
        </p:nvSpPr>
        <p:spPr>
          <a:xfrm>
            <a:off x="548640" y="1828799"/>
            <a:ext cx="73153" cy="4389122"/>
          </a:xfrm>
          <a:prstGeom prst="rect">
            <a:avLst/>
          </a:prstGeom>
          <a:solidFill>
            <a:srgbClr val="D97706"/>
          </a:solidFill>
          <a:ln w="12700">
            <a:solidFill>
              <a:srgbClr val="D97706"/>
            </a:solidFill>
          </a:ln>
        </p:spPr>
        <p:txBody>
          <a:bodyPr lIns="45719" rIns="45719"/>
          <a:lstStyle/>
          <a:p>
            <a:pPr/>
          </a:p>
        </p:txBody>
      </p:sp>
      <p:sp>
        <p:nvSpPr>
          <p:cNvPr id="233" name="Text 6"/>
          <p:cNvSpPr txBox="1"/>
          <p:nvPr/>
        </p:nvSpPr>
        <p:spPr>
          <a:xfrm>
            <a:off x="777239" y="2081706"/>
            <a:ext cx="49377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F59E0B"/>
                </a:solidFill>
              </a:defRPr>
            </a:lvl1pPr>
          </a:lstStyle>
          <a:p>
            <a:pPr/>
            <a:r>
              <a:rPr>
                <a:latin typeface="Calibri"/>
                <a:ea typeface="Hiragino Sans"/>
              </a:rPr>
              <a:t>AIの粗製乱造ではない — 決定論的な本</a:t>
            </a:r>
          </a:p>
        </p:txBody>
      </p:sp>
      <p:sp>
        <p:nvSpPr>
          <p:cNvPr id="234" name="Text 7"/>
          <p:cNvSpPr txBox="1"/>
          <p:nvPr/>
        </p:nvSpPr>
        <p:spPr>
          <a:xfrm>
            <a:off x="777239" y="2798117"/>
            <a:ext cx="493776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defRPr>
            </a:lvl1pPr>
          </a:lstStyle>
          <a:p>
            <a:pPr/>
            <a:r>
              <a:rPr>
                <a:latin typeface="Calibri"/>
                <a:ea typeface="Hiragino Sans"/>
              </a:rPr>
              <a:t>Amazon、Google Play、Apple Books をはじめ、いまや主要なプラットフォームはどこも、AI検出を用いて、テンプレートを差し替えただけの低品質コンテンツを排除しています。</a:t>
            </a:r>
          </a:p>
        </p:txBody>
      </p:sp>
      <p:sp>
        <p:nvSpPr>
          <p:cNvPr id="235" name="Text 8"/>
          <p:cNvSpPr txBox="1"/>
          <p:nvPr/>
        </p:nvSpPr>
        <p:spPr>
          <a:xfrm>
            <a:off x="777239" y="4202606"/>
            <a:ext cx="4937762"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9C8A7A"/>
                </a:solidFill>
              </a:defRPr>
            </a:lvl1pPr>
          </a:lstStyle>
          <a:p>
            <a:pPr/>
            <a:r>
              <a:rPr>
                <a:latin typeface="Calibri"/>
                <a:ea typeface="Hiragino Sans"/>
              </a:rPr>
              <a:t>Pearl Prime は、それを通過するよう設計されています — 本そのものが本当に良いからです。atom は、何が本を成り立たせるかを深く理解する Pearl_Editor と Pearl_Writer が、人の手で執筆します。組み立ては、研究に基づくルールによって決定論的に行われます。</a:t>
            </a:r>
          </a:p>
        </p:txBody>
      </p:sp>
      <p:sp>
        <p:nvSpPr>
          <p:cNvPr id="236" name="Text 9"/>
          <p:cNvSpPr txBox="1"/>
          <p:nvPr/>
        </p:nvSpPr>
        <p:spPr>
          <a:xfrm>
            <a:off x="777239" y="5602146"/>
            <a:ext cx="49377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59E0B"/>
                </a:solidFill>
              </a:defRPr>
            </a:lvl1pPr>
          </a:lstStyle>
          <a:p>
            <a:pPr/>
            <a:r>
              <a:rPr>
                <a:latin typeface="Calibri"/>
                <a:ea typeface="Hiragino Sans"/>
              </a:rPr>
              <a:t>プラットフォーム：KDP · Audible · Apple Books · Google Play</a:t>
            </a:r>
          </a:p>
        </p:txBody>
      </p:sp>
      <p:sp>
        <p:nvSpPr>
          <p:cNvPr id="237" name="Shape 10"/>
          <p:cNvSpPr/>
          <p:nvPr/>
        </p:nvSpPr>
        <p:spPr>
          <a:xfrm>
            <a:off x="6126479" y="1828799"/>
            <a:ext cx="5486401" cy="4389122"/>
          </a:xfrm>
          <a:prstGeom prst="rect">
            <a:avLst/>
          </a:prstGeom>
          <a:solidFill>
            <a:srgbClr val="1A1108"/>
          </a:solidFill>
          <a:ln w="12700">
            <a:solidFill>
              <a:srgbClr val="D97706"/>
            </a:solidFill>
          </a:ln>
        </p:spPr>
        <p:txBody>
          <a:bodyPr lIns="45719" rIns="45719"/>
          <a:lstStyle/>
          <a:p>
            <a:pPr/>
          </a:p>
        </p:txBody>
      </p:sp>
      <p:sp>
        <p:nvSpPr>
          <p:cNvPr id="238" name="Shape 11"/>
          <p:cNvSpPr/>
          <p:nvPr/>
        </p:nvSpPr>
        <p:spPr>
          <a:xfrm>
            <a:off x="6126479" y="1828799"/>
            <a:ext cx="73153" cy="4389122"/>
          </a:xfrm>
          <a:prstGeom prst="rect">
            <a:avLst/>
          </a:prstGeom>
          <a:solidFill>
            <a:srgbClr val="D97706"/>
          </a:solidFill>
          <a:ln w="12700">
            <a:solidFill>
              <a:srgbClr val="D97706"/>
            </a:solidFill>
          </a:ln>
        </p:spPr>
        <p:txBody>
          <a:bodyPr lIns="45719" rIns="45719"/>
          <a:lstStyle/>
          <a:p>
            <a:pPr/>
          </a:p>
        </p:txBody>
      </p:sp>
      <p:sp>
        <p:nvSpPr>
          <p:cNvPr id="239" name="Text 12"/>
          <p:cNvSpPr txBox="1"/>
          <p:nvPr/>
        </p:nvSpPr>
        <p:spPr>
          <a:xfrm>
            <a:off x="6355079" y="2081706"/>
            <a:ext cx="51206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F59E0B"/>
                </a:solidFill>
              </a:defRPr>
            </a:lvl1pPr>
          </a:lstStyle>
          <a:p>
            <a:pPr/>
            <a:r>
              <a:rPr>
                <a:latin typeface="Calibri"/>
                <a:ea typeface="Hiragino Sans"/>
              </a:rPr>
              <a:t>プラットフォーム別の展開</a:t>
            </a:r>
          </a:p>
        </p:txBody>
      </p:sp>
      <p:sp>
        <p:nvSpPr>
          <p:cNvPr id="240" name="Shape 13"/>
          <p:cNvSpPr/>
          <p:nvPr/>
        </p:nvSpPr>
        <p:spPr>
          <a:xfrm>
            <a:off x="6355079" y="2423160"/>
            <a:ext cx="5074921" cy="1097281"/>
          </a:xfrm>
          <a:prstGeom prst="rect">
            <a:avLst/>
          </a:prstGeom>
          <a:solidFill>
            <a:srgbClr val="0E0A06"/>
          </a:solidFill>
          <a:ln w="12700">
            <a:solidFill>
              <a:srgbClr val="D97706"/>
            </a:solidFill>
          </a:ln>
        </p:spPr>
        <p:txBody>
          <a:bodyPr lIns="45719" rIns="45719"/>
          <a:lstStyle/>
          <a:p>
            <a:pPr/>
          </a:p>
        </p:txBody>
      </p:sp>
      <p:sp>
        <p:nvSpPr>
          <p:cNvPr id="241" name="Text 14"/>
          <p:cNvSpPr txBox="1"/>
          <p:nvPr/>
        </p:nvSpPr>
        <p:spPr>
          <a:xfrm>
            <a:off x="6537959" y="2614099"/>
            <a:ext cx="146304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300">
                <a:solidFill>
                  <a:srgbClr val="F59E0B"/>
                </a:solidFill>
              </a:defRPr>
            </a:lvl1pPr>
          </a:lstStyle>
          <a:p>
            <a:pPr/>
            <a:r>
              <a:rPr>
                <a:latin typeface="Calibri"/>
                <a:ea typeface="Hiragino Sans"/>
              </a:rPr>
              <a:t>フラッグシップ</a:t>
            </a:r>
          </a:p>
        </p:txBody>
      </p:sp>
      <p:sp>
        <p:nvSpPr>
          <p:cNvPr id="242" name="Text 15"/>
          <p:cNvSpPr txBox="1"/>
          <p:nvPr/>
        </p:nvSpPr>
        <p:spPr>
          <a:xfrm>
            <a:off x="6537959" y="2945129"/>
            <a:ext cx="146304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rPr>
                <a:latin typeface="Cambria"/>
                <a:ea typeface="Hiragino Mincho ProN"/>
              </a:rPr>
              <a:t>T7</a:t>
            </a:r>
          </a:p>
        </p:txBody>
      </p:sp>
      <p:sp>
        <p:nvSpPr>
          <p:cNvPr id="243" name="Text 16"/>
          <p:cNvSpPr txBox="1"/>
          <p:nvPr/>
        </p:nvSpPr>
        <p:spPr>
          <a:xfrm>
            <a:off x="8092440" y="2866434"/>
            <a:ext cx="324612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AF6F0"/>
                </a:solidFill>
              </a:defRPr>
            </a:lvl1pPr>
          </a:lstStyle>
          <a:p>
            <a:pPr/>
            <a:r>
              <a:rPr>
                <a:latin typeface="Calibri"/>
                <a:ea typeface="Hiragino Sans"/>
              </a:rPr>
              <a:t>約52,000語。KDP電子書籍＋Audible＋Spotify オーディオブックを一度に勝ち取る — 有料書籍の面を勝ち取れる唯一のティアです。</a:t>
            </a:r>
          </a:p>
        </p:txBody>
      </p:sp>
      <p:sp>
        <p:nvSpPr>
          <p:cNvPr id="244" name="Shape 17"/>
          <p:cNvSpPr/>
          <p:nvPr/>
        </p:nvSpPr>
        <p:spPr>
          <a:xfrm>
            <a:off x="6355079" y="3657599"/>
            <a:ext cx="5074921" cy="1097282"/>
          </a:xfrm>
          <a:prstGeom prst="rect">
            <a:avLst/>
          </a:prstGeom>
          <a:solidFill>
            <a:srgbClr val="0E0A06"/>
          </a:solidFill>
          <a:ln w="12700">
            <a:solidFill>
              <a:srgbClr val="D97706"/>
            </a:solidFill>
          </a:ln>
        </p:spPr>
        <p:txBody>
          <a:bodyPr lIns="45719" rIns="45719"/>
          <a:lstStyle/>
          <a:p>
            <a:pPr/>
          </a:p>
        </p:txBody>
      </p:sp>
      <p:sp>
        <p:nvSpPr>
          <p:cNvPr id="245" name="Text 18"/>
          <p:cNvSpPr txBox="1"/>
          <p:nvPr/>
        </p:nvSpPr>
        <p:spPr>
          <a:xfrm>
            <a:off x="6537959" y="3848539"/>
            <a:ext cx="14630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300">
                <a:solidFill>
                  <a:srgbClr val="F59E0B"/>
                </a:solidFill>
              </a:defRPr>
            </a:lvl1pPr>
          </a:lstStyle>
          <a:p>
            <a:pPr/>
            <a:r>
              <a:rPr>
                <a:latin typeface="Calibri"/>
                <a:ea typeface="Hiragino Sans"/>
              </a:rPr>
              <a:t>ファネル</a:t>
            </a:r>
          </a:p>
        </p:txBody>
      </p:sp>
      <p:sp>
        <p:nvSpPr>
          <p:cNvPr id="246" name="Text 19"/>
          <p:cNvSpPr txBox="1"/>
          <p:nvPr/>
        </p:nvSpPr>
        <p:spPr>
          <a:xfrm>
            <a:off x="6537959" y="4179569"/>
            <a:ext cx="146304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rPr>
                <a:latin typeface="Cambria"/>
                <a:ea typeface="Hiragino Mincho ProN"/>
              </a:rPr>
              <a:t>T1–T5</a:t>
            </a:r>
          </a:p>
        </p:txBody>
      </p:sp>
      <p:sp>
        <p:nvSpPr>
          <p:cNvPr id="247" name="Text 20"/>
          <p:cNvSpPr txBox="1"/>
          <p:nvPr/>
        </p:nvSpPr>
        <p:spPr>
          <a:xfrm>
            <a:off x="8092440" y="4100874"/>
            <a:ext cx="324612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AF6F0"/>
                </a:solidFill>
              </a:defRPr>
            </a:lvl1pPr>
          </a:lstStyle>
          <a:p>
            <a:pPr/>
            <a:r>
              <a:rPr>
                <a:latin typeface="Calibri"/>
                <a:ea typeface="Hiragino Sans"/>
              </a:rPr>
              <a:t>ショートリード、ポッドキャストのシーズン、無料のAIナレーション試聴、ソーシャル。入口となるティア — 本として売り出すと誤りですが、ファネルには理想的です。</a:t>
            </a:r>
          </a:p>
        </p:txBody>
      </p:sp>
      <p:sp>
        <p:nvSpPr>
          <p:cNvPr id="248" name="Shape 21"/>
          <p:cNvSpPr/>
          <p:nvPr/>
        </p:nvSpPr>
        <p:spPr>
          <a:xfrm>
            <a:off x="6355079" y="4892040"/>
            <a:ext cx="5074921" cy="1097281"/>
          </a:xfrm>
          <a:prstGeom prst="rect">
            <a:avLst/>
          </a:prstGeom>
          <a:solidFill>
            <a:srgbClr val="0E0A06"/>
          </a:solidFill>
          <a:ln w="12700">
            <a:solidFill>
              <a:srgbClr val="D97706"/>
            </a:solidFill>
          </a:ln>
        </p:spPr>
        <p:txBody>
          <a:bodyPr lIns="45719" rIns="45719"/>
          <a:lstStyle/>
          <a:p>
            <a:pPr/>
          </a:p>
        </p:txBody>
      </p:sp>
      <p:sp>
        <p:nvSpPr>
          <p:cNvPr id="249" name="Text 22"/>
          <p:cNvSpPr txBox="1"/>
          <p:nvPr/>
        </p:nvSpPr>
        <p:spPr>
          <a:xfrm>
            <a:off x="6537959" y="5082978"/>
            <a:ext cx="14630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300">
                <a:solidFill>
                  <a:srgbClr val="F59E0B"/>
                </a:solidFill>
              </a:defRPr>
            </a:lvl1pPr>
          </a:lstStyle>
          <a:p>
            <a:pPr/>
            <a:r>
              <a:rPr>
                <a:latin typeface="Calibri"/>
                <a:ea typeface="Hiragino Sans"/>
              </a:rPr>
              <a:t>シーケンス</a:t>
            </a:r>
          </a:p>
        </p:txBody>
      </p:sp>
      <p:sp>
        <p:nvSpPr>
          <p:cNvPr id="250" name="Text 23"/>
          <p:cNvSpPr txBox="1"/>
          <p:nvPr/>
        </p:nvSpPr>
        <p:spPr>
          <a:xfrm>
            <a:off x="6537959" y="5414010"/>
            <a:ext cx="1463041"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FAF6F0"/>
                </a:solidFill>
                <a:latin typeface="Cambria"/>
                <a:ea typeface="Cambria"/>
                <a:cs typeface="Cambria"/>
                <a:sym typeface="Cambria"/>
              </a:defRPr>
            </a:lvl1pPr>
          </a:lstStyle>
          <a:p>
            <a:pPr/>
            <a:r>
              <a:t>→</a:t>
            </a:r>
          </a:p>
        </p:txBody>
      </p:sp>
      <p:sp>
        <p:nvSpPr>
          <p:cNvPr id="251" name="Text 24"/>
          <p:cNvSpPr txBox="1"/>
          <p:nvPr/>
        </p:nvSpPr>
        <p:spPr>
          <a:xfrm>
            <a:off x="8092440" y="5335314"/>
            <a:ext cx="324612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FAF6F0"/>
                </a:solidFill>
              </a:defRPr>
            </a:lvl1pPr>
          </a:lstStyle>
          <a:p>
            <a:pPr/>
            <a:r>
              <a:rPr>
                <a:latin typeface="Calibri"/>
                <a:ea typeface="Hiragino Sans"/>
              </a:rPr>
              <a:t>まずフラッグシップ（KDP＋Audible）、続いてファネルのティアがポッドキャスト／ショートリード／ソーシャルへと広がります。物量は Pearl Prime に従います：約800の高確度コンフィグ。</a:t>
            </a:r>
          </a:p>
        </p:txBody>
      </p:sp>
      <p:sp>
        <p:nvSpPr>
          <p:cNvPr id="252" name="Shape 25"/>
          <p:cNvSpPr/>
          <p:nvPr/>
        </p:nvSpPr>
        <p:spPr>
          <a:xfrm>
            <a:off x="548639" y="6446520"/>
            <a:ext cx="11064242" cy="1"/>
          </a:xfrm>
          <a:prstGeom prst="line">
            <a:avLst/>
          </a:prstGeom>
          <a:ln w="12700">
            <a:solidFill>
              <a:srgbClr val="2A1F17"/>
            </a:solidFill>
          </a:ln>
        </p:spPr>
        <p:txBody>
          <a:bodyPr lIns="45719" rIns="45719"/>
          <a:lstStyle/>
          <a:p>
            <a:pPr/>
          </a:p>
        </p:txBody>
      </p:sp>
      <p:sp>
        <p:nvSpPr>
          <p:cNvPr id="253" name="Text 26"/>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254" name="Text 27"/>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10 / 15</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256"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ブランドシステム</a:t>
            </a:r>
          </a:p>
        </p:txBody>
      </p:sp>
      <p:sp>
        <p:nvSpPr>
          <p:cNvPr id="257"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258"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Music-Mode ブランド。あなただけの音のレーン。</a:t>
            </a:r>
          </a:p>
        </p:txBody>
      </p:sp>
      <p:sp>
        <p:nvSpPr>
          <p:cNvPr id="259"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第一級のアーキタイプ。37の Path X ティーチャー／マンガ・ブランドとは、アーキテクチャ上で分離されています。brand_id は ID空間の 38+ から始まり、上限はありません。</a:t>
            </a:r>
          </a:p>
        </p:txBody>
      </p:sp>
      <p:sp>
        <p:nvSpPr>
          <p:cNvPr id="260" name="Shape 4"/>
          <p:cNvSpPr/>
          <p:nvPr/>
        </p:nvSpPr>
        <p:spPr>
          <a:xfrm>
            <a:off x="548640" y="1828800"/>
            <a:ext cx="3657601" cy="1371600"/>
          </a:xfrm>
          <a:prstGeom prst="rect">
            <a:avLst/>
          </a:prstGeom>
          <a:solidFill>
            <a:srgbClr val="2A1F17"/>
          </a:solidFill>
          <a:ln w="12700">
            <a:solidFill>
              <a:srgbClr val="D97706"/>
            </a:solidFill>
          </a:ln>
        </p:spPr>
        <p:txBody>
          <a:bodyPr lIns="45719" rIns="45719"/>
          <a:lstStyle/>
          <a:p>
            <a:pPr/>
          </a:p>
        </p:txBody>
      </p:sp>
      <p:sp>
        <p:nvSpPr>
          <p:cNvPr id="261" name="Shape 5"/>
          <p:cNvSpPr/>
          <p:nvPr/>
        </p:nvSpPr>
        <p:spPr>
          <a:xfrm>
            <a:off x="548640" y="1828800"/>
            <a:ext cx="54865" cy="1371600"/>
          </a:xfrm>
          <a:prstGeom prst="rect">
            <a:avLst/>
          </a:prstGeom>
          <a:solidFill>
            <a:srgbClr val="D97706"/>
          </a:solidFill>
          <a:ln w="12700">
            <a:solidFill>
              <a:srgbClr val="D97706"/>
            </a:solidFill>
          </a:ln>
        </p:spPr>
        <p:txBody>
          <a:bodyPr lIns="45719" rIns="45719"/>
          <a:lstStyle/>
          <a:p>
            <a:pPr/>
          </a:p>
        </p:txBody>
      </p:sp>
      <p:sp>
        <p:nvSpPr>
          <p:cNvPr id="262" name="Text 6"/>
          <p:cNvSpPr txBox="1"/>
          <p:nvPr/>
        </p:nvSpPr>
        <p:spPr>
          <a:xfrm>
            <a:off x="731519" y="2004060"/>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263" name="Text 7"/>
          <p:cNvSpPr txBox="1"/>
          <p:nvPr/>
        </p:nvSpPr>
        <p:spPr>
          <a:xfrm>
            <a:off x="1280160" y="2014219"/>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1ブランドにつき、1ミュージシャン</a:t>
            </a:r>
          </a:p>
        </p:txBody>
      </p:sp>
      <p:sp>
        <p:nvSpPr>
          <p:cNvPr id="264" name="Text 8"/>
          <p:cNvSpPr txBox="1"/>
          <p:nvPr/>
        </p:nvSpPr>
        <p:spPr>
          <a:xfrm>
            <a:off x="1280160" y="2592114"/>
            <a:ext cx="27432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あなたのブランドは、あなただけのもの。一つの brand id に複数を混在させることはありません。</a:t>
            </a:r>
          </a:p>
        </p:txBody>
      </p:sp>
      <p:sp>
        <p:nvSpPr>
          <p:cNvPr id="265" name="Shape 9"/>
          <p:cNvSpPr/>
          <p:nvPr/>
        </p:nvSpPr>
        <p:spPr>
          <a:xfrm>
            <a:off x="4343400" y="1828800"/>
            <a:ext cx="3657600" cy="1371600"/>
          </a:xfrm>
          <a:prstGeom prst="rect">
            <a:avLst/>
          </a:prstGeom>
          <a:solidFill>
            <a:srgbClr val="2A1F17"/>
          </a:solidFill>
          <a:ln w="12700">
            <a:solidFill>
              <a:srgbClr val="D97706"/>
            </a:solidFill>
          </a:ln>
        </p:spPr>
        <p:txBody>
          <a:bodyPr lIns="45719" rIns="45719"/>
          <a:lstStyle/>
          <a:p>
            <a:pPr/>
          </a:p>
        </p:txBody>
      </p:sp>
      <p:sp>
        <p:nvSpPr>
          <p:cNvPr id="266" name="Shape 10"/>
          <p:cNvSpPr/>
          <p:nvPr/>
        </p:nvSpPr>
        <p:spPr>
          <a:xfrm>
            <a:off x="4343400" y="1828800"/>
            <a:ext cx="54864" cy="1371600"/>
          </a:xfrm>
          <a:prstGeom prst="rect">
            <a:avLst/>
          </a:prstGeom>
          <a:solidFill>
            <a:srgbClr val="D97706"/>
          </a:solidFill>
          <a:ln w="12700">
            <a:solidFill>
              <a:srgbClr val="D97706"/>
            </a:solidFill>
          </a:ln>
        </p:spPr>
        <p:txBody>
          <a:bodyPr lIns="45719" rIns="45719"/>
          <a:lstStyle/>
          <a:p>
            <a:pPr/>
          </a:p>
        </p:txBody>
      </p:sp>
      <p:sp>
        <p:nvSpPr>
          <p:cNvPr id="267" name="Text 11"/>
          <p:cNvSpPr txBox="1"/>
          <p:nvPr/>
        </p:nvSpPr>
        <p:spPr>
          <a:xfrm>
            <a:off x="4526279" y="2004060"/>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268" name="Text 12"/>
          <p:cNvSpPr txBox="1"/>
          <p:nvPr/>
        </p:nvSpPr>
        <p:spPr>
          <a:xfrm>
            <a:off x="5074920" y="2014219"/>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ブランドディレクター</a:t>
            </a:r>
          </a:p>
        </p:txBody>
      </p:sp>
      <p:sp>
        <p:nvSpPr>
          <p:cNvPr id="269" name="Text 13"/>
          <p:cNvSpPr txBox="1"/>
          <p:nvPr/>
        </p:nvSpPr>
        <p:spPr>
          <a:xfrm>
            <a:off x="5074920" y="2592114"/>
            <a:ext cx="27432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あなた自身、または熱心なリスナーがウィザードからオンボーディングし、アンケート・レビュー・修正を担います。</a:t>
            </a:r>
          </a:p>
        </p:txBody>
      </p:sp>
      <p:sp>
        <p:nvSpPr>
          <p:cNvPr id="270" name="Shape 14"/>
          <p:cNvSpPr/>
          <p:nvPr/>
        </p:nvSpPr>
        <p:spPr>
          <a:xfrm>
            <a:off x="8138159" y="1828800"/>
            <a:ext cx="3657601" cy="1371600"/>
          </a:xfrm>
          <a:prstGeom prst="rect">
            <a:avLst/>
          </a:prstGeom>
          <a:solidFill>
            <a:srgbClr val="2A1F17"/>
          </a:solidFill>
          <a:ln w="12700">
            <a:solidFill>
              <a:srgbClr val="D97706"/>
            </a:solidFill>
          </a:ln>
        </p:spPr>
        <p:txBody>
          <a:bodyPr lIns="45719" rIns="45719"/>
          <a:lstStyle/>
          <a:p>
            <a:pPr/>
          </a:p>
        </p:txBody>
      </p:sp>
      <p:sp>
        <p:nvSpPr>
          <p:cNvPr id="271" name="Shape 15"/>
          <p:cNvSpPr/>
          <p:nvPr/>
        </p:nvSpPr>
        <p:spPr>
          <a:xfrm>
            <a:off x="8138159" y="1828800"/>
            <a:ext cx="54865" cy="1371600"/>
          </a:xfrm>
          <a:prstGeom prst="rect">
            <a:avLst/>
          </a:prstGeom>
          <a:solidFill>
            <a:srgbClr val="D97706"/>
          </a:solidFill>
          <a:ln w="12700">
            <a:solidFill>
              <a:srgbClr val="D97706"/>
            </a:solidFill>
          </a:ln>
        </p:spPr>
        <p:txBody>
          <a:bodyPr lIns="45719" rIns="45719"/>
          <a:lstStyle/>
          <a:p>
            <a:pPr/>
          </a:p>
        </p:txBody>
      </p:sp>
      <p:sp>
        <p:nvSpPr>
          <p:cNvPr id="272" name="Text 16"/>
          <p:cNvSpPr txBox="1"/>
          <p:nvPr/>
        </p:nvSpPr>
        <p:spPr>
          <a:xfrm>
            <a:off x="8321040" y="2004060"/>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273" name="Text 17"/>
          <p:cNvSpPr txBox="1"/>
          <p:nvPr/>
        </p:nvSpPr>
        <p:spPr>
          <a:xfrm>
            <a:off x="8869680" y="2014219"/>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約800冊のカタログ</a:t>
            </a:r>
          </a:p>
        </p:txBody>
      </p:sp>
      <p:sp>
        <p:nvSpPr>
          <p:cNvPr id="274" name="Text 18"/>
          <p:cNvSpPr txBox="1"/>
          <p:nvPr/>
        </p:nvSpPr>
        <p:spPr>
          <a:xfrm>
            <a:off x="8869680" y="2674664"/>
            <a:ext cx="27432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標準の800冊カタログ</a:t>
            </a:r>
          </a:p>
        </p:txBody>
      </p:sp>
      <p:sp>
        <p:nvSpPr>
          <p:cNvPr id="275" name="Shape 19"/>
          <p:cNvSpPr/>
          <p:nvPr/>
        </p:nvSpPr>
        <p:spPr>
          <a:xfrm>
            <a:off x="548640" y="3337559"/>
            <a:ext cx="3657601" cy="1371601"/>
          </a:xfrm>
          <a:prstGeom prst="rect">
            <a:avLst/>
          </a:prstGeom>
          <a:solidFill>
            <a:srgbClr val="2A1F17"/>
          </a:solidFill>
          <a:ln w="12700">
            <a:solidFill>
              <a:srgbClr val="D97706"/>
            </a:solidFill>
          </a:ln>
        </p:spPr>
        <p:txBody>
          <a:bodyPr lIns="45719" rIns="45719"/>
          <a:lstStyle/>
          <a:p>
            <a:pPr/>
          </a:p>
        </p:txBody>
      </p:sp>
      <p:sp>
        <p:nvSpPr>
          <p:cNvPr id="276" name="Shape 20"/>
          <p:cNvSpPr/>
          <p:nvPr/>
        </p:nvSpPr>
        <p:spPr>
          <a:xfrm>
            <a:off x="548640" y="3337559"/>
            <a:ext cx="54865" cy="1371601"/>
          </a:xfrm>
          <a:prstGeom prst="rect">
            <a:avLst/>
          </a:prstGeom>
          <a:solidFill>
            <a:srgbClr val="D97706"/>
          </a:solidFill>
          <a:ln w="12700">
            <a:solidFill>
              <a:srgbClr val="D97706"/>
            </a:solidFill>
          </a:ln>
        </p:spPr>
        <p:txBody>
          <a:bodyPr lIns="45719" rIns="45719"/>
          <a:lstStyle/>
          <a:p>
            <a:pPr/>
          </a:p>
        </p:txBody>
      </p:sp>
      <p:sp>
        <p:nvSpPr>
          <p:cNvPr id="277" name="Text 21"/>
          <p:cNvSpPr txBox="1"/>
          <p:nvPr/>
        </p:nvSpPr>
        <p:spPr>
          <a:xfrm>
            <a:off x="731519" y="3512820"/>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278" name="Text 22"/>
          <p:cNvSpPr txBox="1"/>
          <p:nvPr/>
        </p:nvSpPr>
        <p:spPr>
          <a:xfrm>
            <a:off x="1280160" y="3522979"/>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14の市場が稼働</a:t>
            </a:r>
          </a:p>
        </p:txBody>
      </p:sp>
      <p:sp>
        <p:nvSpPr>
          <p:cNvPr id="279" name="Text 23"/>
          <p:cNvSpPr txBox="1"/>
          <p:nvPr/>
        </p:nvSpPr>
        <p:spPr>
          <a:xfrm>
            <a:off x="1280160" y="4100874"/>
            <a:ext cx="27432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アメリカ、日本、台湾、中国が中心。Pearl_Localization により各ロケールで同等の体験を。</a:t>
            </a:r>
          </a:p>
        </p:txBody>
      </p:sp>
      <p:sp>
        <p:nvSpPr>
          <p:cNvPr id="280" name="Shape 24"/>
          <p:cNvSpPr/>
          <p:nvPr/>
        </p:nvSpPr>
        <p:spPr>
          <a:xfrm>
            <a:off x="4343400" y="3337559"/>
            <a:ext cx="3657600" cy="1371601"/>
          </a:xfrm>
          <a:prstGeom prst="rect">
            <a:avLst/>
          </a:prstGeom>
          <a:solidFill>
            <a:srgbClr val="2A1F17"/>
          </a:solidFill>
          <a:ln w="12700">
            <a:solidFill>
              <a:srgbClr val="D97706"/>
            </a:solidFill>
          </a:ln>
        </p:spPr>
        <p:txBody>
          <a:bodyPr lIns="45719" rIns="45719"/>
          <a:lstStyle/>
          <a:p>
            <a:pPr/>
          </a:p>
        </p:txBody>
      </p:sp>
      <p:sp>
        <p:nvSpPr>
          <p:cNvPr id="281" name="Shape 25"/>
          <p:cNvSpPr/>
          <p:nvPr/>
        </p:nvSpPr>
        <p:spPr>
          <a:xfrm>
            <a:off x="4343400" y="3337559"/>
            <a:ext cx="54864" cy="1371601"/>
          </a:xfrm>
          <a:prstGeom prst="rect">
            <a:avLst/>
          </a:prstGeom>
          <a:solidFill>
            <a:srgbClr val="D97706"/>
          </a:solidFill>
          <a:ln w="12700">
            <a:solidFill>
              <a:srgbClr val="D97706"/>
            </a:solidFill>
          </a:ln>
        </p:spPr>
        <p:txBody>
          <a:bodyPr lIns="45719" rIns="45719"/>
          <a:lstStyle/>
          <a:p>
            <a:pPr/>
          </a:p>
        </p:txBody>
      </p:sp>
      <p:sp>
        <p:nvSpPr>
          <p:cNvPr id="282" name="Text 26"/>
          <p:cNvSpPr txBox="1"/>
          <p:nvPr/>
        </p:nvSpPr>
        <p:spPr>
          <a:xfrm>
            <a:off x="4526279" y="3512820"/>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283" name="Text 27"/>
          <p:cNvSpPr txBox="1"/>
          <p:nvPr/>
        </p:nvSpPr>
        <p:spPr>
          <a:xfrm>
            <a:off x="5074920" y="3522979"/>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音楽はあなたのチャンネルに置かれる</a:t>
            </a:r>
          </a:p>
        </p:txBody>
      </p:sp>
      <p:sp>
        <p:nvSpPr>
          <p:cNvPr id="284" name="Text 28"/>
          <p:cNvSpPr txBox="1"/>
          <p:nvPr/>
        </p:nvSpPr>
        <p:spPr>
          <a:xfrm>
            <a:off x="5074920" y="4100874"/>
            <a:ext cx="27432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私たちがあなたの音楽をファイルとして再配布することは決してありません。各本が読者をそこへとリンクします。内部 MusicGen プロンプトは任意で、ブランド管理者専用です。</a:t>
            </a:r>
          </a:p>
        </p:txBody>
      </p:sp>
      <p:sp>
        <p:nvSpPr>
          <p:cNvPr id="285" name="Shape 29"/>
          <p:cNvSpPr/>
          <p:nvPr/>
        </p:nvSpPr>
        <p:spPr>
          <a:xfrm>
            <a:off x="8138159" y="3337559"/>
            <a:ext cx="3657601" cy="1371601"/>
          </a:xfrm>
          <a:prstGeom prst="rect">
            <a:avLst/>
          </a:prstGeom>
          <a:solidFill>
            <a:srgbClr val="2A1F17"/>
          </a:solidFill>
          <a:ln w="12700">
            <a:solidFill>
              <a:srgbClr val="D97706"/>
            </a:solidFill>
          </a:ln>
        </p:spPr>
        <p:txBody>
          <a:bodyPr lIns="45719" rIns="45719"/>
          <a:lstStyle/>
          <a:p>
            <a:pPr/>
          </a:p>
        </p:txBody>
      </p:sp>
      <p:sp>
        <p:nvSpPr>
          <p:cNvPr id="286" name="Shape 30"/>
          <p:cNvSpPr/>
          <p:nvPr/>
        </p:nvSpPr>
        <p:spPr>
          <a:xfrm>
            <a:off x="8138159" y="3337559"/>
            <a:ext cx="54865" cy="1371601"/>
          </a:xfrm>
          <a:prstGeom prst="rect">
            <a:avLst/>
          </a:prstGeom>
          <a:solidFill>
            <a:srgbClr val="D97706"/>
          </a:solidFill>
          <a:ln w="12700">
            <a:solidFill>
              <a:srgbClr val="D97706"/>
            </a:solidFill>
          </a:ln>
        </p:spPr>
        <p:txBody>
          <a:bodyPr lIns="45719" rIns="45719"/>
          <a:lstStyle/>
          <a:p>
            <a:pPr/>
          </a:p>
        </p:txBody>
      </p:sp>
      <p:sp>
        <p:nvSpPr>
          <p:cNvPr id="287" name="Text 31"/>
          <p:cNvSpPr txBox="1"/>
          <p:nvPr/>
        </p:nvSpPr>
        <p:spPr>
          <a:xfrm>
            <a:off x="8321040" y="3512820"/>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288" name="Text 32"/>
          <p:cNvSpPr txBox="1"/>
          <p:nvPr/>
        </p:nvSpPr>
        <p:spPr>
          <a:xfrm>
            <a:off x="8869680" y="3522979"/>
            <a:ext cx="27432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素材とともに育つ</a:t>
            </a:r>
          </a:p>
        </p:txBody>
      </p:sp>
      <p:sp>
        <p:nvSpPr>
          <p:cNvPr id="289" name="Text 33"/>
          <p:cNvSpPr txBox="1"/>
          <p:nvPr/>
        </p:nvSpPr>
        <p:spPr>
          <a:xfrm>
            <a:off x="8869680" y="4100874"/>
            <a:ext cx="27432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アンケート＋原点となる楽曲＋修正が増えるほど、音の表現はより正確になります。</a:t>
            </a:r>
          </a:p>
        </p:txBody>
      </p:sp>
      <p:sp>
        <p:nvSpPr>
          <p:cNvPr id="290" name="Shape 34"/>
          <p:cNvSpPr/>
          <p:nvPr/>
        </p:nvSpPr>
        <p:spPr>
          <a:xfrm>
            <a:off x="548639" y="4937759"/>
            <a:ext cx="11064242" cy="1188721"/>
          </a:xfrm>
          <a:prstGeom prst="rect">
            <a:avLst/>
          </a:prstGeom>
          <a:solidFill>
            <a:srgbClr val="0E0A06"/>
          </a:solidFill>
          <a:ln w="12700">
            <a:solidFill>
              <a:srgbClr val="D97706"/>
            </a:solidFill>
          </a:ln>
        </p:spPr>
        <p:txBody>
          <a:bodyPr lIns="45719" rIns="45719"/>
          <a:lstStyle/>
          <a:p>
            <a:pPr/>
          </a:p>
        </p:txBody>
      </p:sp>
      <p:sp>
        <p:nvSpPr>
          <p:cNvPr id="291" name="Text 35"/>
          <p:cNvSpPr txBox="1"/>
          <p:nvPr/>
        </p:nvSpPr>
        <p:spPr>
          <a:xfrm>
            <a:off x="777240" y="512068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F59E0B"/>
                </a:solidFill>
              </a:defRPr>
            </a:lvl1pPr>
          </a:lstStyle>
          <a:p>
            <a:pPr/>
            <a:r>
              <a:rPr>
                <a:latin typeface="Calibri"/>
                <a:ea typeface="Hiragino Sans"/>
              </a:rPr>
              <a:t>brand_id のパターン</a:t>
            </a:r>
          </a:p>
        </p:txBody>
      </p:sp>
      <p:sp>
        <p:nvSpPr>
          <p:cNvPr id="292" name="Text 36"/>
          <p:cNvSpPr txBox="1"/>
          <p:nvPr/>
        </p:nvSpPr>
        <p:spPr>
          <a:xfrm>
            <a:off x="777240" y="5393690"/>
            <a:ext cx="5486401"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AF6F0"/>
                </a:solidFill>
                <a:latin typeface="Consolas"/>
                <a:ea typeface="Consolas"/>
                <a:cs typeface="Consolas"/>
                <a:sym typeface="Consolas"/>
              </a:defRPr>
            </a:lvl1pPr>
          </a:lstStyle>
          <a:p>
            <a:pPr/>
            <a:r>
              <a:rPr>
                <a:latin typeface="Calibri"/>
                <a:ea typeface="Hiragino Sans"/>
              </a:rPr>
              <a:t>&lt;musician_handle&gt;_music</a:t>
            </a:r>
          </a:p>
        </p:txBody>
      </p:sp>
      <p:sp>
        <p:nvSpPr>
          <p:cNvPr id="293" name="Text 37"/>
          <p:cNvSpPr txBox="1"/>
          <p:nvPr/>
        </p:nvSpPr>
        <p:spPr>
          <a:xfrm>
            <a:off x="777240" y="5876466"/>
            <a:ext cx="109728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9C8A7A"/>
                </a:solidFill>
              </a:defRPr>
            </a:lvl1pPr>
          </a:lstStyle>
          <a:p>
            <a:pPr/>
            <a:r>
              <a:rPr>
                <a:latin typeface="Calibri"/>
                <a:ea typeface="Hiragino Sans"/>
              </a:rPr>
              <a:t>例：ahjansam_music、junko_music。デフォルトは固定されています。別の形式には AMENDMENT が必要です。</a:t>
            </a:r>
          </a:p>
        </p:txBody>
      </p:sp>
      <p:sp>
        <p:nvSpPr>
          <p:cNvPr id="294" name="Shape 38"/>
          <p:cNvSpPr/>
          <p:nvPr/>
        </p:nvSpPr>
        <p:spPr>
          <a:xfrm>
            <a:off x="548639" y="6446520"/>
            <a:ext cx="11064242" cy="1"/>
          </a:xfrm>
          <a:prstGeom prst="line">
            <a:avLst/>
          </a:prstGeom>
          <a:ln w="12700">
            <a:solidFill>
              <a:srgbClr val="2A1F17"/>
            </a:solidFill>
          </a:ln>
        </p:spPr>
        <p:txBody>
          <a:bodyPr lIns="45719" rIns="45719"/>
          <a:lstStyle/>
          <a:p>
            <a:pPr/>
          </a:p>
        </p:txBody>
      </p:sp>
      <p:sp>
        <p:nvSpPr>
          <p:cNvPr id="295" name="Text 39"/>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296" name="Text 40"/>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11 / 15</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298"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次のステップ</a:t>
            </a:r>
          </a:p>
        </p:txBody>
      </p:sp>
      <p:sp>
        <p:nvSpPr>
          <p:cNvPr id="299"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300" name="Text 2"/>
          <p:cNvSpPr txBox="1"/>
          <p:nvPr/>
        </p:nvSpPr>
        <p:spPr>
          <a:xfrm>
            <a:off x="548639" y="725169"/>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あなたの音楽が、プラットフォームに入るまで</a:t>
            </a:r>
          </a:p>
        </p:txBody>
      </p:sp>
      <p:sp>
        <p:nvSpPr>
          <p:cNvPr id="301"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稼働中のウィザードを通じた、6ステップのオンボーディング。</a:t>
            </a:r>
          </a:p>
        </p:txBody>
      </p:sp>
      <p:sp>
        <p:nvSpPr>
          <p:cNvPr id="302" name="Shape 4"/>
          <p:cNvSpPr/>
          <p:nvPr/>
        </p:nvSpPr>
        <p:spPr>
          <a:xfrm>
            <a:off x="548640" y="1828800"/>
            <a:ext cx="5486401" cy="1188720"/>
          </a:xfrm>
          <a:prstGeom prst="rect">
            <a:avLst/>
          </a:prstGeom>
          <a:solidFill>
            <a:srgbClr val="2A1F17"/>
          </a:solidFill>
          <a:ln w="12700">
            <a:solidFill>
              <a:srgbClr val="D97706"/>
            </a:solidFill>
          </a:ln>
        </p:spPr>
        <p:txBody>
          <a:bodyPr lIns="45719" rIns="45719"/>
          <a:lstStyle/>
          <a:p>
            <a:pPr/>
          </a:p>
        </p:txBody>
      </p:sp>
      <p:sp>
        <p:nvSpPr>
          <p:cNvPr id="303" name="Shape 5"/>
          <p:cNvSpPr/>
          <p:nvPr/>
        </p:nvSpPr>
        <p:spPr>
          <a:xfrm>
            <a:off x="685800" y="2148839"/>
            <a:ext cx="502921" cy="502921"/>
          </a:xfrm>
          <a:prstGeom prst="ellipse">
            <a:avLst/>
          </a:prstGeom>
          <a:solidFill>
            <a:srgbClr val="D97706"/>
          </a:solidFill>
          <a:ln w="12700">
            <a:solidFill>
              <a:srgbClr val="D97706"/>
            </a:solidFill>
          </a:ln>
        </p:spPr>
        <p:txBody>
          <a:bodyPr lIns="45719" rIns="45719"/>
          <a:lstStyle/>
          <a:p>
            <a:pPr/>
          </a:p>
        </p:txBody>
      </p:sp>
      <p:sp>
        <p:nvSpPr>
          <p:cNvPr id="304" name="Text 6"/>
          <p:cNvSpPr txBox="1"/>
          <p:nvPr/>
        </p:nvSpPr>
        <p:spPr>
          <a:xfrm>
            <a:off x="685800" y="225424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1</a:t>
            </a:r>
          </a:p>
        </p:txBody>
      </p:sp>
      <p:sp>
        <p:nvSpPr>
          <p:cNvPr id="305" name="Text 7"/>
          <p:cNvSpPr txBox="1"/>
          <p:nvPr/>
        </p:nvSpPr>
        <p:spPr>
          <a:xfrm>
            <a:off x="1325880" y="2059940"/>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ブランドディレクター</a:t>
            </a:r>
          </a:p>
        </p:txBody>
      </p:sp>
      <p:sp>
        <p:nvSpPr>
          <p:cNvPr id="306" name="Text 8"/>
          <p:cNvSpPr txBox="1"/>
          <p:nvPr/>
        </p:nvSpPr>
        <p:spPr>
          <a:xfrm>
            <a:off x="1325880" y="250067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あなた自身、または熱心なリスナーや生徒が、ウィザードアプリのHTTPルートで Pearl Prime ウィザードから登録します。</a:t>
            </a:r>
          </a:p>
        </p:txBody>
      </p:sp>
      <p:sp>
        <p:nvSpPr>
          <p:cNvPr id="307" name="Shape 9"/>
          <p:cNvSpPr/>
          <p:nvPr/>
        </p:nvSpPr>
        <p:spPr>
          <a:xfrm>
            <a:off x="6217920" y="1828800"/>
            <a:ext cx="5486401" cy="1188720"/>
          </a:xfrm>
          <a:prstGeom prst="rect">
            <a:avLst/>
          </a:prstGeom>
          <a:solidFill>
            <a:srgbClr val="2A1F17"/>
          </a:solidFill>
          <a:ln w="12700">
            <a:solidFill>
              <a:srgbClr val="D97706"/>
            </a:solidFill>
          </a:ln>
        </p:spPr>
        <p:txBody>
          <a:bodyPr lIns="45719" rIns="45719"/>
          <a:lstStyle/>
          <a:p>
            <a:pPr/>
          </a:p>
        </p:txBody>
      </p:sp>
      <p:sp>
        <p:nvSpPr>
          <p:cNvPr id="308" name="Shape 10"/>
          <p:cNvSpPr/>
          <p:nvPr/>
        </p:nvSpPr>
        <p:spPr>
          <a:xfrm>
            <a:off x="6355079" y="2148839"/>
            <a:ext cx="502921" cy="502921"/>
          </a:xfrm>
          <a:prstGeom prst="ellipse">
            <a:avLst/>
          </a:prstGeom>
          <a:solidFill>
            <a:srgbClr val="D97706"/>
          </a:solidFill>
          <a:ln w="12700">
            <a:solidFill>
              <a:srgbClr val="D97706"/>
            </a:solidFill>
          </a:ln>
        </p:spPr>
        <p:txBody>
          <a:bodyPr lIns="45719" rIns="45719"/>
          <a:lstStyle/>
          <a:p>
            <a:pPr/>
          </a:p>
        </p:txBody>
      </p:sp>
      <p:sp>
        <p:nvSpPr>
          <p:cNvPr id="309" name="Text 11"/>
          <p:cNvSpPr txBox="1"/>
          <p:nvPr/>
        </p:nvSpPr>
        <p:spPr>
          <a:xfrm>
            <a:off x="6355079" y="225424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2</a:t>
            </a:r>
          </a:p>
        </p:txBody>
      </p:sp>
      <p:sp>
        <p:nvSpPr>
          <p:cNvPr id="310" name="Text 12"/>
          <p:cNvSpPr txBox="1"/>
          <p:nvPr/>
        </p:nvSpPr>
        <p:spPr>
          <a:xfrm>
            <a:off x="6995159" y="2059939"/>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モードセレクター（ウィザード ステップ1）</a:t>
            </a:r>
          </a:p>
        </p:txBody>
      </p:sp>
      <p:sp>
        <p:nvSpPr>
          <p:cNvPr id="311" name="Text 13"/>
          <p:cNvSpPr txBox="1"/>
          <p:nvPr/>
        </p:nvSpPr>
        <p:spPr>
          <a:xfrm>
            <a:off x="6995159" y="258322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ブランドディレクターが Music Mode を選びます</a:t>
            </a:r>
          </a:p>
        </p:txBody>
      </p:sp>
      <p:sp>
        <p:nvSpPr>
          <p:cNvPr id="312" name="Shape 14"/>
          <p:cNvSpPr/>
          <p:nvPr/>
        </p:nvSpPr>
        <p:spPr>
          <a:xfrm>
            <a:off x="548640" y="3154679"/>
            <a:ext cx="5486401" cy="1188721"/>
          </a:xfrm>
          <a:prstGeom prst="rect">
            <a:avLst/>
          </a:prstGeom>
          <a:solidFill>
            <a:srgbClr val="2A1F17"/>
          </a:solidFill>
          <a:ln w="12700">
            <a:solidFill>
              <a:srgbClr val="D97706"/>
            </a:solidFill>
          </a:ln>
        </p:spPr>
        <p:txBody>
          <a:bodyPr lIns="45719" rIns="45719"/>
          <a:lstStyle/>
          <a:p>
            <a:pPr/>
          </a:p>
        </p:txBody>
      </p:sp>
      <p:sp>
        <p:nvSpPr>
          <p:cNvPr id="313" name="Shape 15"/>
          <p:cNvSpPr/>
          <p:nvPr/>
        </p:nvSpPr>
        <p:spPr>
          <a:xfrm>
            <a:off x="685800" y="3474720"/>
            <a:ext cx="502921" cy="502921"/>
          </a:xfrm>
          <a:prstGeom prst="ellipse">
            <a:avLst/>
          </a:prstGeom>
          <a:solidFill>
            <a:srgbClr val="D97706"/>
          </a:solidFill>
          <a:ln w="12700">
            <a:solidFill>
              <a:srgbClr val="D97706"/>
            </a:solidFill>
          </a:ln>
        </p:spPr>
        <p:txBody>
          <a:bodyPr lIns="45719" rIns="45719"/>
          <a:lstStyle/>
          <a:p>
            <a:pPr/>
          </a:p>
        </p:txBody>
      </p:sp>
      <p:sp>
        <p:nvSpPr>
          <p:cNvPr id="314" name="Text 16"/>
          <p:cNvSpPr txBox="1"/>
          <p:nvPr/>
        </p:nvSpPr>
        <p:spPr>
          <a:xfrm>
            <a:off x="685800" y="358012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3</a:t>
            </a:r>
          </a:p>
        </p:txBody>
      </p:sp>
      <p:sp>
        <p:nvSpPr>
          <p:cNvPr id="315" name="Text 17"/>
          <p:cNvSpPr txBox="1"/>
          <p:nvPr/>
        </p:nvSpPr>
        <p:spPr>
          <a:xfrm>
            <a:off x="1325880" y="3385820"/>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Brand ID の作成</a:t>
            </a:r>
          </a:p>
        </p:txBody>
      </p:sp>
      <p:sp>
        <p:nvSpPr>
          <p:cNvPr id="316" name="Text 18"/>
          <p:cNvSpPr txBox="1"/>
          <p:nvPr/>
        </p:nvSpPr>
        <p:spPr>
          <a:xfrm>
            <a:off x="1325880" y="3909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&lt;musician_handle&gt;_music のスラッグが発行され、music_brand_registry.yaml に登録されます。</a:t>
            </a:r>
          </a:p>
        </p:txBody>
      </p:sp>
      <p:sp>
        <p:nvSpPr>
          <p:cNvPr id="317" name="Shape 19"/>
          <p:cNvSpPr/>
          <p:nvPr/>
        </p:nvSpPr>
        <p:spPr>
          <a:xfrm>
            <a:off x="6217920" y="3154679"/>
            <a:ext cx="5486401" cy="1188721"/>
          </a:xfrm>
          <a:prstGeom prst="rect">
            <a:avLst/>
          </a:prstGeom>
          <a:solidFill>
            <a:srgbClr val="2A1F17"/>
          </a:solidFill>
          <a:ln w="12700">
            <a:solidFill>
              <a:srgbClr val="D97706"/>
            </a:solidFill>
          </a:ln>
        </p:spPr>
        <p:txBody>
          <a:bodyPr lIns="45719" rIns="45719"/>
          <a:lstStyle/>
          <a:p>
            <a:pPr/>
          </a:p>
        </p:txBody>
      </p:sp>
      <p:sp>
        <p:nvSpPr>
          <p:cNvPr id="318" name="Shape 20"/>
          <p:cNvSpPr/>
          <p:nvPr/>
        </p:nvSpPr>
        <p:spPr>
          <a:xfrm>
            <a:off x="6355079" y="3474720"/>
            <a:ext cx="502921" cy="502921"/>
          </a:xfrm>
          <a:prstGeom prst="ellipse">
            <a:avLst/>
          </a:prstGeom>
          <a:solidFill>
            <a:srgbClr val="D97706"/>
          </a:solidFill>
          <a:ln w="12700">
            <a:solidFill>
              <a:srgbClr val="D97706"/>
            </a:solidFill>
          </a:ln>
        </p:spPr>
        <p:txBody>
          <a:bodyPr lIns="45719" rIns="45719"/>
          <a:lstStyle/>
          <a:p>
            <a:pPr/>
          </a:p>
        </p:txBody>
      </p:sp>
      <p:sp>
        <p:nvSpPr>
          <p:cNvPr id="319" name="Text 21"/>
          <p:cNvSpPr txBox="1"/>
          <p:nvPr/>
        </p:nvSpPr>
        <p:spPr>
          <a:xfrm>
            <a:off x="6355079" y="358012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4</a:t>
            </a:r>
          </a:p>
        </p:txBody>
      </p:sp>
      <p:sp>
        <p:nvSpPr>
          <p:cNvPr id="320" name="Text 22"/>
          <p:cNvSpPr txBox="1"/>
          <p:nvPr/>
        </p:nvSpPr>
        <p:spPr>
          <a:xfrm>
            <a:off x="6995159" y="3385820"/>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Music Reflections インテーク（ウィザード ステップ4）</a:t>
            </a:r>
          </a:p>
        </p:txBody>
      </p:sp>
      <p:sp>
        <p:nvSpPr>
          <p:cNvPr id="321" name="Text 23"/>
          <p:cNvSpPr txBox="1"/>
          <p:nvPr/>
        </p:nvSpPr>
        <p:spPr>
          <a:xfrm>
            <a:off x="6995159" y="382655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ここで Music Reflections インテーク：テーマ、楽器（ライアー / クリスタルボウル / 周波数）、そしてデータから導出される Music-Format シグナル。</a:t>
            </a:r>
          </a:p>
        </p:txBody>
      </p:sp>
      <p:sp>
        <p:nvSpPr>
          <p:cNvPr id="322" name="Shape 24"/>
          <p:cNvSpPr/>
          <p:nvPr/>
        </p:nvSpPr>
        <p:spPr>
          <a:xfrm>
            <a:off x="548640" y="4480559"/>
            <a:ext cx="5486401" cy="1188721"/>
          </a:xfrm>
          <a:prstGeom prst="rect">
            <a:avLst/>
          </a:prstGeom>
          <a:solidFill>
            <a:srgbClr val="2A1F17"/>
          </a:solidFill>
          <a:ln w="12700">
            <a:solidFill>
              <a:srgbClr val="D97706"/>
            </a:solidFill>
          </a:ln>
        </p:spPr>
        <p:txBody>
          <a:bodyPr lIns="45719" rIns="45719"/>
          <a:lstStyle/>
          <a:p>
            <a:pPr/>
          </a:p>
        </p:txBody>
      </p:sp>
      <p:sp>
        <p:nvSpPr>
          <p:cNvPr id="323" name="Shape 25"/>
          <p:cNvSpPr/>
          <p:nvPr/>
        </p:nvSpPr>
        <p:spPr>
          <a:xfrm>
            <a:off x="685800" y="4800600"/>
            <a:ext cx="502921" cy="502921"/>
          </a:xfrm>
          <a:prstGeom prst="ellipse">
            <a:avLst/>
          </a:prstGeom>
          <a:solidFill>
            <a:srgbClr val="D97706"/>
          </a:solidFill>
          <a:ln w="12700">
            <a:solidFill>
              <a:srgbClr val="D97706"/>
            </a:solidFill>
          </a:ln>
        </p:spPr>
        <p:txBody>
          <a:bodyPr lIns="45719" rIns="45719"/>
          <a:lstStyle/>
          <a:p>
            <a:pPr/>
          </a:p>
        </p:txBody>
      </p:sp>
      <p:sp>
        <p:nvSpPr>
          <p:cNvPr id="324" name="Text 26"/>
          <p:cNvSpPr txBox="1"/>
          <p:nvPr/>
        </p:nvSpPr>
        <p:spPr>
          <a:xfrm>
            <a:off x="685800" y="490600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5</a:t>
            </a:r>
          </a:p>
        </p:txBody>
      </p:sp>
      <p:sp>
        <p:nvSpPr>
          <p:cNvPr id="325" name="Text 27"/>
          <p:cNvSpPr txBox="1"/>
          <p:nvPr/>
        </p:nvSpPr>
        <p:spPr>
          <a:xfrm>
            <a:off x="1325880" y="4711699"/>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Song-Kit の生成</a:t>
            </a:r>
          </a:p>
        </p:txBody>
      </p:sp>
      <p:sp>
        <p:nvSpPr>
          <p:cNvPr id="326" name="Text 28"/>
          <p:cNvSpPr txBox="1"/>
          <p:nvPr/>
        </p:nvSpPr>
        <p:spPr>
          <a:xfrm>
            <a:off x="1325880" y="515243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Song-Kit ジェネレーターが、インテークから6つのスロットプール全体にわたって atom を起草し、Pearl_Editor がレビューして昇格させます（Tier 1）。</a:t>
            </a:r>
          </a:p>
        </p:txBody>
      </p:sp>
      <p:sp>
        <p:nvSpPr>
          <p:cNvPr id="327" name="Shape 29"/>
          <p:cNvSpPr/>
          <p:nvPr/>
        </p:nvSpPr>
        <p:spPr>
          <a:xfrm>
            <a:off x="6217920" y="4480559"/>
            <a:ext cx="5486401" cy="1188721"/>
          </a:xfrm>
          <a:prstGeom prst="rect">
            <a:avLst/>
          </a:prstGeom>
          <a:solidFill>
            <a:srgbClr val="2A1F17"/>
          </a:solidFill>
          <a:ln w="12700">
            <a:solidFill>
              <a:srgbClr val="D97706"/>
            </a:solidFill>
          </a:ln>
        </p:spPr>
        <p:txBody>
          <a:bodyPr lIns="45719" rIns="45719"/>
          <a:lstStyle/>
          <a:p>
            <a:pPr/>
          </a:p>
        </p:txBody>
      </p:sp>
      <p:sp>
        <p:nvSpPr>
          <p:cNvPr id="328" name="Shape 30"/>
          <p:cNvSpPr/>
          <p:nvPr/>
        </p:nvSpPr>
        <p:spPr>
          <a:xfrm>
            <a:off x="6355079" y="4800600"/>
            <a:ext cx="502921" cy="502921"/>
          </a:xfrm>
          <a:prstGeom prst="ellipse">
            <a:avLst/>
          </a:prstGeom>
          <a:solidFill>
            <a:srgbClr val="D97706"/>
          </a:solidFill>
          <a:ln w="12700">
            <a:solidFill>
              <a:srgbClr val="D97706"/>
            </a:solidFill>
          </a:ln>
        </p:spPr>
        <p:txBody>
          <a:bodyPr lIns="45719" rIns="45719"/>
          <a:lstStyle/>
          <a:p>
            <a:pPr/>
          </a:p>
        </p:txBody>
      </p:sp>
      <p:sp>
        <p:nvSpPr>
          <p:cNvPr id="329" name="Text 31"/>
          <p:cNvSpPr txBox="1"/>
          <p:nvPr/>
        </p:nvSpPr>
        <p:spPr>
          <a:xfrm>
            <a:off x="6355079" y="4906009"/>
            <a:ext cx="50292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E0A06"/>
                </a:solidFill>
                <a:latin typeface="Cambria"/>
                <a:ea typeface="Cambria"/>
                <a:cs typeface="Cambria"/>
                <a:sym typeface="Cambria"/>
              </a:defRPr>
            </a:lvl1pPr>
          </a:lstStyle>
          <a:p>
            <a:pPr/>
            <a:r>
              <a:t>6</a:t>
            </a:r>
          </a:p>
        </p:txBody>
      </p:sp>
      <p:sp>
        <p:nvSpPr>
          <p:cNvPr id="330" name="Text 32"/>
          <p:cNvSpPr txBox="1"/>
          <p:nvPr/>
        </p:nvSpPr>
        <p:spPr>
          <a:xfrm>
            <a:off x="6995159" y="4711699"/>
            <a:ext cx="457200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FAF6F0"/>
                </a:solidFill>
                <a:latin typeface="Cambria"/>
                <a:ea typeface="Cambria"/>
                <a:cs typeface="Cambria"/>
                <a:sym typeface="Cambria"/>
              </a:defRPr>
            </a:lvl1pPr>
          </a:lstStyle>
          <a:p>
            <a:pPr/>
            <a:r>
              <a:rPr>
                <a:latin typeface="Cambria"/>
                <a:ea typeface="Hiragino Mincho ProN"/>
              </a:rPr>
              <a:t>ブランドが稼働</a:t>
            </a:r>
          </a:p>
        </p:txBody>
      </p:sp>
      <p:sp>
        <p:nvSpPr>
          <p:cNvPr id="331" name="Text 33"/>
          <p:cNvSpPr txBox="1"/>
          <p:nvPr/>
        </p:nvSpPr>
        <p:spPr>
          <a:xfrm>
            <a:off x="6995159" y="5152434"/>
            <a:ext cx="457200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9C8A7A"/>
                </a:solidFill>
              </a:defRPr>
            </a:lvl1pPr>
          </a:lstStyle>
          <a:p>
            <a:pPr/>
            <a:r>
              <a:rPr>
                <a:latin typeface="Calibri"/>
                <a:ea typeface="Hiragino Sans"/>
              </a:rPr>
              <a:t>カタログジェネレーターが music-mode の本を生み出し、各本が読者をあなたのチャンネルにあるあなたの音楽へとリンクします。ブランドディレクターがレビュー＆修正し、システムが改善していきます。</a:t>
            </a:r>
          </a:p>
        </p:txBody>
      </p:sp>
      <p:sp>
        <p:nvSpPr>
          <p:cNvPr id="332" name="Shape 34"/>
          <p:cNvSpPr/>
          <p:nvPr/>
        </p:nvSpPr>
        <p:spPr>
          <a:xfrm>
            <a:off x="548639" y="5897879"/>
            <a:ext cx="11064242" cy="365761"/>
          </a:xfrm>
          <a:prstGeom prst="rect">
            <a:avLst/>
          </a:prstGeom>
          <a:solidFill>
            <a:srgbClr val="0E0A06"/>
          </a:solidFill>
          <a:ln w="12700">
            <a:solidFill>
              <a:srgbClr val="D97706"/>
            </a:solidFill>
          </a:ln>
        </p:spPr>
        <p:txBody>
          <a:bodyPr lIns="45719" rIns="45719"/>
          <a:lstStyle/>
          <a:p>
            <a:pPr/>
          </a:p>
        </p:txBody>
      </p:sp>
      <p:sp>
        <p:nvSpPr>
          <p:cNvPr id="333" name="Text 35"/>
          <p:cNvSpPr txBox="1"/>
          <p:nvPr/>
        </p:nvSpPr>
        <p:spPr>
          <a:xfrm>
            <a:off x="548639" y="6012224"/>
            <a:ext cx="110642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F59E0B"/>
                </a:solidFill>
              </a:defRPr>
            </a:lvl1pPr>
          </a:lstStyle>
          <a:p>
            <a:pPr/>
            <a:r>
              <a:rPr>
                <a:latin typeface="Calibri"/>
                <a:ea typeface="Hiragino Sans"/>
              </a:rPr>
              <a:t>MUSIC-MODE-FREEBIE-FUNNEL-V1-02 による音源リードマグネットが、リスナーを本のカタログへ呼び込みます — 次のスライドへ</a:t>
            </a:r>
          </a:p>
        </p:txBody>
      </p:sp>
      <p:sp>
        <p:nvSpPr>
          <p:cNvPr id="334" name="Shape 36"/>
          <p:cNvSpPr/>
          <p:nvPr/>
        </p:nvSpPr>
        <p:spPr>
          <a:xfrm>
            <a:off x="548639" y="6446520"/>
            <a:ext cx="11064242" cy="1"/>
          </a:xfrm>
          <a:prstGeom prst="line">
            <a:avLst/>
          </a:prstGeom>
          <a:ln w="12700">
            <a:solidFill>
              <a:srgbClr val="2A1F17"/>
            </a:solidFill>
          </a:ln>
        </p:spPr>
        <p:txBody>
          <a:bodyPr lIns="45719" rIns="45719"/>
          <a:lstStyle/>
          <a:p>
            <a:pPr/>
          </a:p>
        </p:txBody>
      </p:sp>
      <p:sp>
        <p:nvSpPr>
          <p:cNvPr id="335" name="Text 37"/>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336" name="Text 38"/>
          <p:cNvSpPr txBox="1"/>
          <p:nvPr/>
        </p:nvSpPr>
        <p:spPr>
          <a:xfrm>
            <a:off x="10515600" y="6584188"/>
            <a:ext cx="10972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12 / 15</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338"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音源の入口</a:t>
            </a:r>
          </a:p>
        </p:txBody>
      </p:sp>
      <p:sp>
        <p:nvSpPr>
          <p:cNvPr id="339"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340"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関係を育てる5つの方法</a:t>
            </a:r>
          </a:p>
        </p:txBody>
      </p:sp>
      <p:sp>
        <p:nvSpPr>
          <p:cNvPr id="341"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MUSIC-MODE-FREEBIE-FUNNEL-V1-02 — リスナーをあなたのチャンネルにあるあなたの音楽へと導き、本のカタログへ呼び込む入口。私たちがあなたの音楽をファイルとして手渡すことはありません。</a:t>
            </a:r>
          </a:p>
        </p:txBody>
      </p:sp>
      <p:sp>
        <p:nvSpPr>
          <p:cNvPr id="342" name="Shape 4"/>
          <p:cNvSpPr/>
          <p:nvPr/>
        </p:nvSpPr>
        <p:spPr>
          <a:xfrm>
            <a:off x="548640" y="1828799"/>
            <a:ext cx="3593592" cy="2103122"/>
          </a:xfrm>
          <a:prstGeom prst="rect">
            <a:avLst/>
          </a:prstGeom>
          <a:solidFill>
            <a:srgbClr val="2A1F17"/>
          </a:solidFill>
          <a:ln w="12700">
            <a:solidFill>
              <a:srgbClr val="D97706"/>
            </a:solidFill>
          </a:ln>
        </p:spPr>
        <p:txBody>
          <a:bodyPr lIns="45719" rIns="45719"/>
          <a:lstStyle/>
          <a:p>
            <a:pPr/>
          </a:p>
        </p:txBody>
      </p:sp>
      <p:sp>
        <p:nvSpPr>
          <p:cNvPr id="343" name="Shape 5"/>
          <p:cNvSpPr/>
          <p:nvPr/>
        </p:nvSpPr>
        <p:spPr>
          <a:xfrm>
            <a:off x="548640" y="1828799"/>
            <a:ext cx="3593592" cy="73154"/>
          </a:xfrm>
          <a:prstGeom prst="rect">
            <a:avLst/>
          </a:prstGeom>
          <a:solidFill>
            <a:srgbClr val="D97706"/>
          </a:solidFill>
          <a:ln w="12700">
            <a:solidFill>
              <a:srgbClr val="D97706"/>
            </a:solidFill>
          </a:ln>
        </p:spPr>
        <p:txBody>
          <a:bodyPr lIns="45719" rIns="45719"/>
          <a:lstStyle/>
          <a:p>
            <a:pPr/>
          </a:p>
        </p:txBody>
      </p:sp>
      <p:sp>
        <p:nvSpPr>
          <p:cNvPr id="344" name="Text 6"/>
          <p:cNvSpPr txBox="1"/>
          <p:nvPr/>
        </p:nvSpPr>
        <p:spPr>
          <a:xfrm>
            <a:off x="658368" y="2026842"/>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defRPr>
            </a:lvl1pPr>
          </a:lstStyle>
          <a:p>
            <a:pPr/>
            <a:r>
              <a:rPr>
                <a:latin typeface="Calibri"/>
                <a:ea typeface="Hiragino Sans"/>
              </a:rPr>
              <a:t>M1</a:t>
            </a:r>
          </a:p>
        </p:txBody>
      </p:sp>
      <p:sp>
        <p:nvSpPr>
          <p:cNvPr id="345" name="Text 7"/>
          <p:cNvSpPr txBox="1"/>
          <p:nvPr/>
        </p:nvSpPr>
        <p:spPr>
          <a:xfrm>
            <a:off x="1142999" y="1928876"/>
            <a:ext cx="36576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346" name="Text 8"/>
          <p:cNvSpPr txBox="1"/>
          <p:nvPr/>
        </p:nvSpPr>
        <p:spPr>
          <a:xfrm>
            <a:off x="658368" y="2410206"/>
            <a:ext cx="3392424"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あなたの音楽は、あなたのチャンネルに</a:t>
            </a:r>
          </a:p>
        </p:txBody>
      </p:sp>
      <p:sp>
        <p:nvSpPr>
          <p:cNvPr id="347" name="Text 9"/>
          <p:cNvSpPr txBox="1"/>
          <p:nvPr/>
        </p:nvSpPr>
        <p:spPr>
          <a:xfrm>
            <a:off x="658368" y="2962315"/>
            <a:ext cx="3392424" cy="3938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FAF6F0"/>
                </a:solidFill>
              </a:defRPr>
            </a:lvl1pPr>
          </a:lstStyle>
          <a:p>
            <a:pPr/>
            <a:r>
              <a:rPr>
                <a:latin typeface="Calibri"/>
                <a:ea typeface="Hiragino Sans"/>
              </a:rPr>
              <a:t>ファイルは手渡しません。各本が、あなたの音楽がある場所へ — あなたのストリーミング、あなたのチャンネルへ — 読者を導きます。本のファネルのため、メールゲートの先に置かれます。</a:t>
            </a:r>
          </a:p>
        </p:txBody>
      </p:sp>
      <p:sp>
        <p:nvSpPr>
          <p:cNvPr id="348" name="Text 10"/>
          <p:cNvSpPr txBox="1"/>
          <p:nvPr/>
        </p:nvSpPr>
        <p:spPr>
          <a:xfrm>
            <a:off x="658368" y="3642395"/>
            <a:ext cx="3392424" cy="2315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800">
                <a:solidFill>
                  <a:srgbClr val="F59E0B"/>
                </a:solidFill>
              </a:defRPr>
            </a:lvl1pPr>
          </a:lstStyle>
          <a:p>
            <a:pPr/>
            <a:r>
              <a:rPr>
                <a:latin typeface="Calibri"/>
                <a:ea typeface="Hiragino Sans"/>
              </a:rPr>
              <a:t>"Ahjan のチャンネルで『Morning Room』を聴く — この章が、その曲をめぐって書かれました。"</a:t>
            </a:r>
          </a:p>
        </p:txBody>
      </p:sp>
      <p:sp>
        <p:nvSpPr>
          <p:cNvPr id="349" name="Shape 11"/>
          <p:cNvSpPr/>
          <p:nvPr/>
        </p:nvSpPr>
        <p:spPr>
          <a:xfrm>
            <a:off x="4293108" y="1828799"/>
            <a:ext cx="3593593" cy="2103122"/>
          </a:xfrm>
          <a:prstGeom prst="rect">
            <a:avLst/>
          </a:prstGeom>
          <a:solidFill>
            <a:srgbClr val="2A1F17"/>
          </a:solidFill>
          <a:ln w="12700">
            <a:solidFill>
              <a:srgbClr val="D97706"/>
            </a:solidFill>
          </a:ln>
        </p:spPr>
        <p:txBody>
          <a:bodyPr lIns="45719" rIns="45719"/>
          <a:lstStyle/>
          <a:p>
            <a:pPr/>
          </a:p>
        </p:txBody>
      </p:sp>
      <p:sp>
        <p:nvSpPr>
          <p:cNvPr id="350" name="Shape 12"/>
          <p:cNvSpPr/>
          <p:nvPr/>
        </p:nvSpPr>
        <p:spPr>
          <a:xfrm>
            <a:off x="4293108" y="1828799"/>
            <a:ext cx="3593593" cy="73154"/>
          </a:xfrm>
          <a:prstGeom prst="rect">
            <a:avLst/>
          </a:prstGeom>
          <a:solidFill>
            <a:srgbClr val="D97706"/>
          </a:solidFill>
          <a:ln w="12700">
            <a:solidFill>
              <a:srgbClr val="D97706"/>
            </a:solidFill>
          </a:ln>
        </p:spPr>
        <p:txBody>
          <a:bodyPr lIns="45719" rIns="45719"/>
          <a:lstStyle/>
          <a:p>
            <a:pPr/>
          </a:p>
        </p:txBody>
      </p:sp>
      <p:sp>
        <p:nvSpPr>
          <p:cNvPr id="351" name="Text 13"/>
          <p:cNvSpPr txBox="1"/>
          <p:nvPr/>
        </p:nvSpPr>
        <p:spPr>
          <a:xfrm>
            <a:off x="4402835" y="2026842"/>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defRPr>
            </a:lvl1pPr>
          </a:lstStyle>
          <a:p>
            <a:pPr/>
            <a:r>
              <a:rPr>
                <a:latin typeface="Calibri"/>
                <a:ea typeface="Hiragino Sans"/>
              </a:rPr>
              <a:t>M2</a:t>
            </a:r>
          </a:p>
        </p:txBody>
      </p:sp>
      <p:sp>
        <p:nvSpPr>
          <p:cNvPr id="352" name="Text 14"/>
          <p:cNvSpPr txBox="1"/>
          <p:nvPr/>
        </p:nvSpPr>
        <p:spPr>
          <a:xfrm>
            <a:off x="4887467" y="1928876"/>
            <a:ext cx="36576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353" name="Text 15"/>
          <p:cNvSpPr txBox="1"/>
          <p:nvPr/>
        </p:nvSpPr>
        <p:spPr>
          <a:xfrm>
            <a:off x="4402835" y="2410206"/>
            <a:ext cx="33924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30秒のプレビュー・クリップ</a:t>
            </a:r>
          </a:p>
        </p:txBody>
      </p:sp>
      <p:sp>
        <p:nvSpPr>
          <p:cNvPr id="354" name="Text 16"/>
          <p:cNvSpPr txBox="1"/>
          <p:nvPr/>
        </p:nvSpPr>
        <p:spPr>
          <a:xfrm>
            <a:off x="4402835" y="3032165"/>
            <a:ext cx="3392425"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FAF6F0"/>
                </a:solidFill>
              </a:defRPr>
            </a:lvl1pPr>
          </a:lstStyle>
          <a:p>
            <a:pPr/>
            <a:r>
              <a:rPr>
                <a:latin typeface="Calibri"/>
                <a:ea typeface="Hiragino Sans"/>
              </a:rPr>
              <a:t>歌詞の一節を画面に映し、曲を定義する音のフックを詰め込んだ、フック満載の30秒クリップ。リスナーをアルバムの事前保存やフルリリースへと橋渡しします。</a:t>
            </a:r>
          </a:p>
        </p:txBody>
      </p:sp>
      <p:sp>
        <p:nvSpPr>
          <p:cNvPr id="355" name="Text 17"/>
          <p:cNvSpPr txBox="1"/>
          <p:nvPr/>
        </p:nvSpPr>
        <p:spPr>
          <a:xfrm>
            <a:off x="4402835" y="3694683"/>
            <a:ext cx="33924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800">
                <a:solidFill>
                  <a:srgbClr val="F59E0B"/>
                </a:solidFill>
              </a:defRPr>
            </a:lvl1pPr>
          </a:lstStyle>
          <a:p>
            <a:pPr/>
            <a:r>
              <a:rPr>
                <a:latin typeface="Calibri"/>
                <a:ea typeface="Hiragino Sans"/>
              </a:rPr>
              <a:t>"『Drift』の冒頭30秒を聴く — 第3章の歌詞を重ねて。"</a:t>
            </a:r>
          </a:p>
        </p:txBody>
      </p:sp>
      <p:sp>
        <p:nvSpPr>
          <p:cNvPr id="356" name="Shape 18"/>
          <p:cNvSpPr/>
          <p:nvPr/>
        </p:nvSpPr>
        <p:spPr>
          <a:xfrm>
            <a:off x="8037576" y="1828799"/>
            <a:ext cx="3593593" cy="2103122"/>
          </a:xfrm>
          <a:prstGeom prst="rect">
            <a:avLst/>
          </a:prstGeom>
          <a:solidFill>
            <a:srgbClr val="2A1F17"/>
          </a:solidFill>
          <a:ln w="12700">
            <a:solidFill>
              <a:srgbClr val="D97706"/>
            </a:solidFill>
          </a:ln>
        </p:spPr>
        <p:txBody>
          <a:bodyPr lIns="45719" rIns="45719"/>
          <a:lstStyle/>
          <a:p>
            <a:pPr/>
          </a:p>
        </p:txBody>
      </p:sp>
      <p:sp>
        <p:nvSpPr>
          <p:cNvPr id="357" name="Shape 19"/>
          <p:cNvSpPr/>
          <p:nvPr/>
        </p:nvSpPr>
        <p:spPr>
          <a:xfrm>
            <a:off x="8037576" y="1828799"/>
            <a:ext cx="3593593" cy="73154"/>
          </a:xfrm>
          <a:prstGeom prst="rect">
            <a:avLst/>
          </a:prstGeom>
          <a:solidFill>
            <a:srgbClr val="D97706"/>
          </a:solidFill>
          <a:ln w="12700">
            <a:solidFill>
              <a:srgbClr val="D97706"/>
            </a:solidFill>
          </a:ln>
        </p:spPr>
        <p:txBody>
          <a:bodyPr lIns="45719" rIns="45719"/>
          <a:lstStyle/>
          <a:p>
            <a:pPr/>
          </a:p>
        </p:txBody>
      </p:sp>
      <p:sp>
        <p:nvSpPr>
          <p:cNvPr id="358" name="Text 20"/>
          <p:cNvSpPr txBox="1"/>
          <p:nvPr/>
        </p:nvSpPr>
        <p:spPr>
          <a:xfrm>
            <a:off x="8147304" y="2026842"/>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defRPr>
            </a:lvl1pPr>
          </a:lstStyle>
          <a:p>
            <a:pPr/>
            <a:r>
              <a:rPr>
                <a:latin typeface="Calibri"/>
                <a:ea typeface="Hiragino Sans"/>
              </a:rPr>
              <a:t>M3</a:t>
            </a:r>
          </a:p>
        </p:txBody>
      </p:sp>
      <p:sp>
        <p:nvSpPr>
          <p:cNvPr id="359" name="Text 21"/>
          <p:cNvSpPr txBox="1"/>
          <p:nvPr/>
        </p:nvSpPr>
        <p:spPr>
          <a:xfrm>
            <a:off x="8631935" y="1928876"/>
            <a:ext cx="36576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360" name="Text 22"/>
          <p:cNvSpPr txBox="1"/>
          <p:nvPr/>
        </p:nvSpPr>
        <p:spPr>
          <a:xfrm>
            <a:off x="8147304" y="2410206"/>
            <a:ext cx="33924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YouTube &amp; TikTok</a:t>
            </a:r>
          </a:p>
        </p:txBody>
      </p:sp>
      <p:sp>
        <p:nvSpPr>
          <p:cNvPr id="361" name="Text 23"/>
          <p:cNvSpPr txBox="1"/>
          <p:nvPr/>
        </p:nvSpPr>
        <p:spPr>
          <a:xfrm>
            <a:off x="8147304" y="3032165"/>
            <a:ext cx="3392425"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900">
                <a:solidFill>
                  <a:srgbClr val="FAF6F0"/>
                </a:solidFill>
              </a:defRPr>
            </a:pPr>
            <a:r>
              <a:rPr>
                <a:latin typeface="Calibri"/>
                <a:ea typeface="Hiragino Sans"/>
              </a:rPr>
              <a:t>YouTube と TikTok からのインバウンドの書籍販売。各本の中には、読者があなたの音楽を見て聴くためのアウトバウンドリンク。</a:t>
            </a:r>
            <a:br/>
          </a:p>
        </p:txBody>
      </p:sp>
      <p:sp>
        <p:nvSpPr>
          <p:cNvPr id="362" name="Text 24"/>
          <p:cNvSpPr txBox="1"/>
          <p:nvPr/>
        </p:nvSpPr>
        <p:spPr>
          <a:xfrm>
            <a:off x="8147304" y="3694683"/>
            <a:ext cx="33924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800">
                <a:solidFill>
                  <a:srgbClr val="F59E0B"/>
                </a:solidFill>
              </a:defRPr>
            </a:lvl1pPr>
          </a:lstStyle>
          <a:p>
            <a:pPr/>
            <a:r>
              <a:rPr>
                <a:latin typeface="Calibri"/>
                <a:ea typeface="Hiragino Sans"/>
              </a:rPr>
              <a:t>"『Quiet Hours』のリンクを入手 — この本の背骨となる4曲。"</a:t>
            </a:r>
          </a:p>
        </p:txBody>
      </p:sp>
      <p:sp>
        <p:nvSpPr>
          <p:cNvPr id="363" name="Shape 25"/>
          <p:cNvSpPr/>
          <p:nvPr/>
        </p:nvSpPr>
        <p:spPr>
          <a:xfrm>
            <a:off x="548639" y="4069079"/>
            <a:ext cx="5394962" cy="2240281"/>
          </a:xfrm>
          <a:prstGeom prst="rect">
            <a:avLst/>
          </a:prstGeom>
          <a:solidFill>
            <a:srgbClr val="2A1F17"/>
          </a:solidFill>
          <a:ln w="12700">
            <a:solidFill>
              <a:srgbClr val="D97706"/>
            </a:solidFill>
          </a:ln>
        </p:spPr>
        <p:txBody>
          <a:bodyPr lIns="45719" rIns="45719"/>
          <a:lstStyle/>
          <a:p>
            <a:pPr/>
          </a:p>
        </p:txBody>
      </p:sp>
      <p:sp>
        <p:nvSpPr>
          <p:cNvPr id="364" name="Shape 26"/>
          <p:cNvSpPr/>
          <p:nvPr/>
        </p:nvSpPr>
        <p:spPr>
          <a:xfrm>
            <a:off x="548639" y="4069079"/>
            <a:ext cx="5394962" cy="73153"/>
          </a:xfrm>
          <a:prstGeom prst="rect">
            <a:avLst/>
          </a:prstGeom>
          <a:solidFill>
            <a:srgbClr val="D97706"/>
          </a:solidFill>
          <a:ln w="12700">
            <a:solidFill>
              <a:srgbClr val="D97706"/>
            </a:solidFill>
          </a:ln>
        </p:spPr>
        <p:txBody>
          <a:bodyPr lIns="45719" rIns="45719"/>
          <a:lstStyle/>
          <a:p>
            <a:pPr/>
          </a:p>
        </p:txBody>
      </p:sp>
      <p:sp>
        <p:nvSpPr>
          <p:cNvPr id="365" name="Text 27"/>
          <p:cNvSpPr txBox="1"/>
          <p:nvPr/>
        </p:nvSpPr>
        <p:spPr>
          <a:xfrm>
            <a:off x="658368" y="4267122"/>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defRPr>
            </a:lvl1pPr>
          </a:lstStyle>
          <a:p>
            <a:pPr/>
            <a:r>
              <a:rPr>
                <a:latin typeface="Calibri"/>
                <a:ea typeface="Hiragino Sans"/>
              </a:rPr>
              <a:t>M4</a:t>
            </a:r>
          </a:p>
        </p:txBody>
      </p:sp>
      <p:sp>
        <p:nvSpPr>
          <p:cNvPr id="366" name="Text 28"/>
          <p:cNvSpPr txBox="1"/>
          <p:nvPr/>
        </p:nvSpPr>
        <p:spPr>
          <a:xfrm>
            <a:off x="1142999" y="4169156"/>
            <a:ext cx="365762"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367" name="Text 29"/>
          <p:cNvSpPr txBox="1"/>
          <p:nvPr/>
        </p:nvSpPr>
        <p:spPr>
          <a:xfrm>
            <a:off x="658368" y="4650485"/>
            <a:ext cx="519379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歌詞ポスターPDF</a:t>
            </a:r>
          </a:p>
        </p:txBody>
      </p:sp>
      <p:sp>
        <p:nvSpPr>
          <p:cNvPr id="368" name="Text 30"/>
          <p:cNvSpPr txBox="1"/>
          <p:nvPr/>
        </p:nvSpPr>
        <p:spPr>
          <a:xfrm>
            <a:off x="658368" y="5341024"/>
            <a:ext cx="5193792" cy="2541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FAF6F0"/>
                </a:solidFill>
              </a:defRPr>
            </a:lvl1pPr>
          </a:lstStyle>
          <a:p>
            <a:pPr/>
            <a:r>
              <a:rPr>
                <a:latin typeface="Calibri"/>
                <a:ea typeface="Hiragino Sans"/>
              </a:rPr>
              <a:t>歌詞とビジュアルデザインを組み合わせた、印刷できるアートポスター。メール配信ではM1/M2と連動します。壁に貼られ、受信箱に残る — デジタルな関係に手触りを与える一品。読者は印刷し、それは手元に残ります。</a:t>
            </a:r>
          </a:p>
        </p:txBody>
      </p:sp>
      <p:sp>
        <p:nvSpPr>
          <p:cNvPr id="369" name="Text 31"/>
          <p:cNvSpPr txBox="1"/>
          <p:nvPr/>
        </p:nvSpPr>
        <p:spPr>
          <a:xfrm>
            <a:off x="658368" y="6072124"/>
            <a:ext cx="519379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800">
                <a:solidFill>
                  <a:srgbClr val="F59E0B"/>
                </a:solidFill>
              </a:defRPr>
            </a:lvl1pPr>
          </a:lstStyle>
          <a:p>
            <a:pPr/>
            <a:r>
              <a:rPr>
                <a:latin typeface="Calibri"/>
                <a:ea typeface="Hiragino Sans"/>
              </a:rPr>
              <a:t>"『Dissolve』の歌詞ポスターをダウンロード — 47ページの曲。"</a:t>
            </a:r>
          </a:p>
        </p:txBody>
      </p:sp>
      <p:sp>
        <p:nvSpPr>
          <p:cNvPr id="370" name="Shape 32"/>
          <p:cNvSpPr/>
          <p:nvPr/>
        </p:nvSpPr>
        <p:spPr>
          <a:xfrm>
            <a:off x="6217919" y="4069079"/>
            <a:ext cx="5394962" cy="2240281"/>
          </a:xfrm>
          <a:prstGeom prst="rect">
            <a:avLst/>
          </a:prstGeom>
          <a:solidFill>
            <a:srgbClr val="2A1F17"/>
          </a:solidFill>
          <a:ln w="12700">
            <a:solidFill>
              <a:srgbClr val="D97706"/>
            </a:solidFill>
          </a:ln>
        </p:spPr>
        <p:txBody>
          <a:bodyPr lIns="45719" rIns="45719"/>
          <a:lstStyle/>
          <a:p>
            <a:pPr/>
          </a:p>
        </p:txBody>
      </p:sp>
      <p:sp>
        <p:nvSpPr>
          <p:cNvPr id="371" name="Shape 33"/>
          <p:cNvSpPr/>
          <p:nvPr/>
        </p:nvSpPr>
        <p:spPr>
          <a:xfrm>
            <a:off x="6217919" y="4069079"/>
            <a:ext cx="5394962" cy="73153"/>
          </a:xfrm>
          <a:prstGeom prst="rect">
            <a:avLst/>
          </a:prstGeom>
          <a:solidFill>
            <a:srgbClr val="D97706"/>
          </a:solidFill>
          <a:ln w="12700">
            <a:solidFill>
              <a:srgbClr val="D97706"/>
            </a:solidFill>
          </a:ln>
        </p:spPr>
        <p:txBody>
          <a:bodyPr lIns="45719" rIns="45719"/>
          <a:lstStyle/>
          <a:p>
            <a:pPr/>
          </a:p>
        </p:txBody>
      </p:sp>
      <p:sp>
        <p:nvSpPr>
          <p:cNvPr id="372" name="Text 34"/>
          <p:cNvSpPr txBox="1"/>
          <p:nvPr/>
        </p:nvSpPr>
        <p:spPr>
          <a:xfrm>
            <a:off x="6327647" y="4267122"/>
            <a:ext cx="457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59E0B"/>
                </a:solidFill>
              </a:defRPr>
            </a:lvl1pPr>
          </a:lstStyle>
          <a:p>
            <a:pPr/>
            <a:r>
              <a:rPr>
                <a:latin typeface="Calibri"/>
                <a:ea typeface="Hiragino Sans"/>
              </a:rPr>
              <a:t>M5</a:t>
            </a:r>
          </a:p>
        </p:txBody>
      </p:sp>
      <p:sp>
        <p:nvSpPr>
          <p:cNvPr id="373" name="Text 35"/>
          <p:cNvSpPr txBox="1"/>
          <p:nvPr/>
        </p:nvSpPr>
        <p:spPr>
          <a:xfrm>
            <a:off x="6812280" y="4169156"/>
            <a:ext cx="36576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374" name="Text 36"/>
          <p:cNvSpPr txBox="1"/>
          <p:nvPr/>
        </p:nvSpPr>
        <p:spPr>
          <a:xfrm>
            <a:off x="6327647" y="4650485"/>
            <a:ext cx="5193793"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latin typeface="Cambria"/>
                <a:ea typeface="Cambria"/>
                <a:cs typeface="Cambria"/>
                <a:sym typeface="Cambria"/>
              </a:defRPr>
            </a:lvl1pPr>
          </a:lstStyle>
          <a:p>
            <a:pPr/>
            <a:r>
              <a:rPr>
                <a:latin typeface="Cambria"/>
                <a:ea typeface="Hiragino Mincho ProN"/>
              </a:rPr>
              <a:t>ポッドキャスト：楽曲の裏側を語るインタビュー</a:t>
            </a:r>
          </a:p>
        </p:txBody>
      </p:sp>
      <p:sp>
        <p:nvSpPr>
          <p:cNvPr id="375" name="Text 37"/>
          <p:cNvSpPr txBox="1"/>
          <p:nvPr/>
        </p:nvSpPr>
        <p:spPr>
          <a:xfrm>
            <a:off x="6327647" y="5271174"/>
            <a:ext cx="5193793" cy="3938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FAF6F0"/>
                </a:solidFill>
              </a:defRPr>
            </a:lvl1pPr>
          </a:lstStyle>
          <a:p>
            <a:pPr/>
            <a:r>
              <a:rPr>
                <a:latin typeface="Calibri"/>
                <a:ea typeface="Hiragino Sans"/>
              </a:rPr>
              <a:t>ポッドキャストのエピソード、そして付属のPDF — その曲のより深い眺め：ある曲が何を意味し、なぜ書かれ、何が壊れ、何が支えたのか。読者は、アーティストを理解しはじめます。</a:t>
            </a:r>
          </a:p>
        </p:txBody>
      </p:sp>
      <p:sp>
        <p:nvSpPr>
          <p:cNvPr id="376" name="Text 38"/>
          <p:cNvSpPr txBox="1"/>
          <p:nvPr/>
        </p:nvSpPr>
        <p:spPr>
          <a:xfrm>
            <a:off x="6327647" y="6072124"/>
            <a:ext cx="519379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800">
                <a:solidFill>
                  <a:srgbClr val="F59E0B"/>
                </a:solidFill>
              </a:defRPr>
            </a:lvl1pPr>
          </a:lstStyle>
          <a:p>
            <a:pPr/>
            <a:r>
              <a:rPr>
                <a:latin typeface="Calibri"/>
                <a:ea typeface="Hiragino Sans"/>
              </a:rPr>
              <a:t>"8分の音声：『The Distance』 — なぜ書かれたのか、最後の一行が何を引き受けているのか。"</a:t>
            </a:r>
          </a:p>
        </p:txBody>
      </p:sp>
      <p:sp>
        <p:nvSpPr>
          <p:cNvPr id="377" name="Shape 39"/>
          <p:cNvSpPr/>
          <p:nvPr/>
        </p:nvSpPr>
        <p:spPr>
          <a:xfrm>
            <a:off x="548639" y="6446520"/>
            <a:ext cx="11064242" cy="1"/>
          </a:xfrm>
          <a:prstGeom prst="line">
            <a:avLst/>
          </a:prstGeom>
          <a:ln w="12700">
            <a:solidFill>
              <a:srgbClr val="2A1F17"/>
            </a:solidFill>
          </a:ln>
        </p:spPr>
        <p:txBody>
          <a:bodyPr lIns="45719" rIns="45719"/>
          <a:lstStyle/>
          <a:p>
            <a:pPr/>
          </a:p>
        </p:txBody>
      </p:sp>
      <p:sp>
        <p:nvSpPr>
          <p:cNvPr id="378" name="Text 40"/>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379" name="Text 41"/>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13 / 15</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381" name="Text 0"/>
          <p:cNvSpPr txBox="1"/>
          <p:nvPr/>
        </p:nvSpPr>
        <p:spPr>
          <a:xfrm>
            <a:off x="548640" y="481506"/>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100">
                <a:solidFill>
                  <a:srgbClr val="F59E0B"/>
                </a:solidFill>
              </a:defRPr>
            </a:lvl1pPr>
          </a:lstStyle>
          <a:p>
            <a:pPr/>
            <a:r>
              <a:rPr>
                <a:latin typeface="Calibri"/>
                <a:ea typeface="Hiragino Sans"/>
              </a:rPr>
              <a:t>ファネル</a:t>
            </a:r>
          </a:p>
        </p:txBody>
      </p:sp>
      <p:sp>
        <p:nvSpPr>
          <p:cNvPr id="382" name="Shape 1"/>
          <p:cNvSpPr/>
          <p:nvPr/>
        </p:nvSpPr>
        <p:spPr>
          <a:xfrm>
            <a:off x="-1" y="-1"/>
            <a:ext cx="12161522" cy="73154"/>
          </a:xfrm>
          <a:prstGeom prst="rect">
            <a:avLst/>
          </a:prstGeom>
          <a:solidFill>
            <a:srgbClr val="D97706"/>
          </a:solidFill>
          <a:ln w="12700">
            <a:solidFill>
              <a:srgbClr val="D97706"/>
            </a:solidFill>
          </a:ln>
        </p:spPr>
        <p:txBody>
          <a:bodyPr lIns="45719" rIns="45719"/>
          <a:lstStyle/>
          <a:p>
            <a:pPr/>
          </a:p>
        </p:txBody>
      </p:sp>
      <p:sp>
        <p:nvSpPr>
          <p:cNvPr id="383" name="Text 2"/>
          <p:cNvSpPr txBox="1"/>
          <p:nvPr/>
        </p:nvSpPr>
        <p:spPr>
          <a:xfrm>
            <a:off x="548639" y="725170"/>
            <a:ext cx="1106424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FAF6F0"/>
                </a:solidFill>
                <a:latin typeface="Cambria"/>
                <a:ea typeface="Cambria"/>
                <a:cs typeface="Cambria"/>
                <a:sym typeface="Cambria"/>
              </a:defRPr>
            </a:lvl1pPr>
          </a:lstStyle>
          <a:p>
            <a:pPr/>
            <a:r>
              <a:rPr>
                <a:latin typeface="Cambria"/>
                <a:ea typeface="Hiragino Mincho ProN"/>
              </a:rPr>
              <a:t>無料楽曲から、忠実な読者へ</a:t>
            </a:r>
          </a:p>
        </p:txBody>
      </p:sp>
      <p:sp>
        <p:nvSpPr>
          <p:cNvPr id="384" name="Text 3"/>
          <p:cNvSpPr txBox="1"/>
          <p:nvPr/>
        </p:nvSpPr>
        <p:spPr>
          <a:xfrm>
            <a:off x="548639" y="1368360"/>
            <a:ext cx="110642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F59E0B"/>
                </a:solidFill>
              </a:defRPr>
            </a:lvl1pPr>
          </a:lstStyle>
          <a:p>
            <a:pPr/>
            <a:r>
              <a:rPr>
                <a:latin typeface="Calibri"/>
                <a:ea typeface="Hiragino Sans"/>
              </a:rPr>
              <a:t>5つの段階。一つひとつが関係を深め、やがて本を買うことが自然な次の一歩になります。</a:t>
            </a:r>
          </a:p>
        </p:txBody>
      </p:sp>
      <p:sp>
        <p:nvSpPr>
          <p:cNvPr id="385" name="Shape 4"/>
          <p:cNvSpPr/>
          <p:nvPr/>
        </p:nvSpPr>
        <p:spPr>
          <a:xfrm>
            <a:off x="548639" y="1874520"/>
            <a:ext cx="2103122" cy="3840481"/>
          </a:xfrm>
          <a:prstGeom prst="rect">
            <a:avLst/>
          </a:prstGeom>
          <a:solidFill>
            <a:srgbClr val="2A1F17"/>
          </a:solidFill>
          <a:ln w="12700">
            <a:solidFill>
              <a:srgbClr val="D97706"/>
            </a:solidFill>
          </a:ln>
        </p:spPr>
        <p:txBody>
          <a:bodyPr lIns="45719" rIns="45719"/>
          <a:lstStyle/>
          <a:p>
            <a:pPr/>
          </a:p>
        </p:txBody>
      </p:sp>
      <p:sp>
        <p:nvSpPr>
          <p:cNvPr id="386" name="Shape 5"/>
          <p:cNvSpPr/>
          <p:nvPr/>
        </p:nvSpPr>
        <p:spPr>
          <a:xfrm>
            <a:off x="548639" y="1874520"/>
            <a:ext cx="2103122" cy="73153"/>
          </a:xfrm>
          <a:prstGeom prst="rect">
            <a:avLst/>
          </a:prstGeom>
          <a:solidFill>
            <a:srgbClr val="D97706"/>
          </a:solidFill>
          <a:ln w="12700">
            <a:solidFill>
              <a:srgbClr val="D97706"/>
            </a:solidFill>
          </a:ln>
        </p:spPr>
        <p:txBody>
          <a:bodyPr lIns="45719" rIns="45719"/>
          <a:lstStyle/>
          <a:p>
            <a:pPr/>
          </a:p>
        </p:txBody>
      </p:sp>
      <p:sp>
        <p:nvSpPr>
          <p:cNvPr id="387" name="Text 6"/>
          <p:cNvSpPr txBox="1"/>
          <p:nvPr/>
        </p:nvSpPr>
        <p:spPr>
          <a:xfrm>
            <a:off x="621791" y="2071623"/>
            <a:ext cx="19568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700">
                <a:solidFill>
                  <a:srgbClr val="F59E0B"/>
                </a:solidFill>
              </a:defRPr>
            </a:lvl1pPr>
          </a:lstStyle>
          <a:p>
            <a:pPr/>
            <a:r>
              <a:rPr>
                <a:latin typeface="Calibri"/>
                <a:ea typeface="Hiragino Sans"/>
              </a:rPr>
              <a:t>ファネルの入口</a:t>
            </a:r>
          </a:p>
        </p:txBody>
      </p:sp>
      <p:sp>
        <p:nvSpPr>
          <p:cNvPr id="388" name="Shape 7"/>
          <p:cNvSpPr/>
          <p:nvPr/>
        </p:nvSpPr>
        <p:spPr>
          <a:xfrm>
            <a:off x="1408175" y="2304288"/>
            <a:ext cx="384049" cy="384049"/>
          </a:xfrm>
          <a:prstGeom prst="ellipse">
            <a:avLst/>
          </a:prstGeom>
          <a:solidFill>
            <a:srgbClr val="D97706"/>
          </a:solidFill>
          <a:ln w="12700">
            <a:solidFill>
              <a:srgbClr val="D97706"/>
            </a:solidFill>
          </a:ln>
        </p:spPr>
        <p:txBody>
          <a:bodyPr lIns="45719" rIns="45719"/>
          <a:lstStyle/>
          <a:p>
            <a:pPr/>
          </a:p>
        </p:txBody>
      </p:sp>
      <p:sp>
        <p:nvSpPr>
          <p:cNvPr id="389" name="Text 8"/>
          <p:cNvSpPr txBox="1"/>
          <p:nvPr/>
        </p:nvSpPr>
        <p:spPr>
          <a:xfrm>
            <a:off x="1408175" y="2375662"/>
            <a:ext cx="384049"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1</a:t>
            </a:r>
          </a:p>
        </p:txBody>
      </p:sp>
      <p:sp>
        <p:nvSpPr>
          <p:cNvPr id="390" name="Text 9"/>
          <p:cNvSpPr txBox="1"/>
          <p:nvPr/>
        </p:nvSpPr>
        <p:spPr>
          <a:xfrm>
            <a:off x="621791" y="2786888"/>
            <a:ext cx="19568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391" name="Text 10"/>
          <p:cNvSpPr txBox="1"/>
          <p:nvPr/>
        </p:nvSpPr>
        <p:spPr>
          <a:xfrm>
            <a:off x="621791" y="3339338"/>
            <a:ext cx="1956817"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AF6F0"/>
                </a:solidFill>
                <a:latin typeface="Cambria"/>
                <a:ea typeface="Cambria"/>
                <a:cs typeface="Cambria"/>
                <a:sym typeface="Cambria"/>
              </a:defRPr>
            </a:lvl1pPr>
          </a:lstStyle>
          <a:p>
            <a:pPr/>
            <a:r>
              <a:rPr>
                <a:latin typeface="Cambria"/>
                <a:ea typeface="Hiragino Mincho ProN"/>
              </a:rPr>
              <a:t>聴く</a:t>
            </a:r>
          </a:p>
        </p:txBody>
      </p:sp>
      <p:sp>
        <p:nvSpPr>
          <p:cNvPr id="392" name="Text 11"/>
          <p:cNvSpPr txBox="1"/>
          <p:nvPr/>
        </p:nvSpPr>
        <p:spPr>
          <a:xfrm>
            <a:off x="621791" y="4250349"/>
            <a:ext cx="1956817" cy="5335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9C8A7A"/>
                </a:solidFill>
              </a:defRPr>
            </a:lvl1pPr>
          </a:lstStyle>
          <a:p>
            <a:pPr/>
            <a:r>
              <a:rPr>
                <a:latin typeface="Calibri"/>
                <a:ea typeface="Hiragino Sans"/>
              </a:rPr>
              <a:t>楽曲ページ：タイトル、アルバムアート、30秒試聴の埋め込み。あなたの音と、いつか読者になるかもしれない誰かとの最初の接点です。</a:t>
            </a:r>
          </a:p>
        </p:txBody>
      </p:sp>
      <p:sp>
        <p:nvSpPr>
          <p:cNvPr id="393" name="Text 12"/>
          <p:cNvSpPr txBox="1"/>
          <p:nvPr/>
        </p:nvSpPr>
        <p:spPr>
          <a:xfrm>
            <a:off x="621791" y="5450331"/>
            <a:ext cx="19568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59E0B"/>
                </a:solidFill>
              </a:defRPr>
            </a:lvl1pPr>
          </a:lstStyle>
          <a:p>
            <a:pPr/>
            <a:r>
              <a:rPr>
                <a:latin typeface="Calibri"/>
                <a:ea typeface="Hiragino Sans"/>
              </a:rPr>
              <a:t>入口のヒーロー</a:t>
            </a:r>
          </a:p>
        </p:txBody>
      </p:sp>
      <p:sp>
        <p:nvSpPr>
          <p:cNvPr id="394" name="Shape 13"/>
          <p:cNvSpPr/>
          <p:nvPr/>
        </p:nvSpPr>
        <p:spPr>
          <a:xfrm>
            <a:off x="2788920" y="1874520"/>
            <a:ext cx="2103121" cy="3840481"/>
          </a:xfrm>
          <a:prstGeom prst="rect">
            <a:avLst/>
          </a:prstGeom>
          <a:solidFill>
            <a:srgbClr val="2A1F17"/>
          </a:solidFill>
          <a:ln w="12700">
            <a:solidFill>
              <a:srgbClr val="D97706"/>
            </a:solidFill>
          </a:ln>
        </p:spPr>
        <p:txBody>
          <a:bodyPr lIns="45719" rIns="45719"/>
          <a:lstStyle/>
          <a:p>
            <a:pPr/>
          </a:p>
        </p:txBody>
      </p:sp>
      <p:sp>
        <p:nvSpPr>
          <p:cNvPr id="395" name="Shape 14"/>
          <p:cNvSpPr/>
          <p:nvPr/>
        </p:nvSpPr>
        <p:spPr>
          <a:xfrm>
            <a:off x="2788920" y="1874520"/>
            <a:ext cx="2103121" cy="73153"/>
          </a:xfrm>
          <a:prstGeom prst="rect">
            <a:avLst/>
          </a:prstGeom>
          <a:solidFill>
            <a:srgbClr val="D97706"/>
          </a:solidFill>
          <a:ln w="12700">
            <a:solidFill>
              <a:srgbClr val="D97706"/>
            </a:solidFill>
          </a:ln>
        </p:spPr>
        <p:txBody>
          <a:bodyPr lIns="45719" rIns="45719"/>
          <a:lstStyle/>
          <a:p>
            <a:pPr/>
          </a:p>
        </p:txBody>
      </p:sp>
      <p:sp>
        <p:nvSpPr>
          <p:cNvPr id="396" name="Text 15"/>
          <p:cNvSpPr txBox="1"/>
          <p:nvPr/>
        </p:nvSpPr>
        <p:spPr>
          <a:xfrm>
            <a:off x="2862071" y="2071623"/>
            <a:ext cx="19568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700">
                <a:solidFill>
                  <a:srgbClr val="F59E0B"/>
                </a:solidFill>
              </a:defRPr>
            </a:lvl1pPr>
          </a:lstStyle>
          <a:p>
            <a:pPr/>
            <a:r>
              <a:rPr>
                <a:latin typeface="Calibri"/>
                <a:ea typeface="Hiragino Sans"/>
              </a:rPr>
              <a:t>リードマグネット</a:t>
            </a:r>
          </a:p>
        </p:txBody>
      </p:sp>
      <p:sp>
        <p:nvSpPr>
          <p:cNvPr id="397" name="Shape 16"/>
          <p:cNvSpPr/>
          <p:nvPr/>
        </p:nvSpPr>
        <p:spPr>
          <a:xfrm>
            <a:off x="3648455" y="2304288"/>
            <a:ext cx="384049" cy="384049"/>
          </a:xfrm>
          <a:prstGeom prst="ellipse">
            <a:avLst/>
          </a:prstGeom>
          <a:solidFill>
            <a:srgbClr val="D97706"/>
          </a:solidFill>
          <a:ln w="12700">
            <a:solidFill>
              <a:srgbClr val="D97706"/>
            </a:solidFill>
          </a:ln>
        </p:spPr>
        <p:txBody>
          <a:bodyPr lIns="45719" rIns="45719"/>
          <a:lstStyle/>
          <a:p>
            <a:pPr/>
          </a:p>
        </p:txBody>
      </p:sp>
      <p:sp>
        <p:nvSpPr>
          <p:cNvPr id="398" name="Text 17"/>
          <p:cNvSpPr txBox="1"/>
          <p:nvPr/>
        </p:nvSpPr>
        <p:spPr>
          <a:xfrm>
            <a:off x="3648455" y="2375662"/>
            <a:ext cx="384049"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2</a:t>
            </a:r>
          </a:p>
        </p:txBody>
      </p:sp>
      <p:sp>
        <p:nvSpPr>
          <p:cNvPr id="399" name="Text 18"/>
          <p:cNvSpPr txBox="1"/>
          <p:nvPr/>
        </p:nvSpPr>
        <p:spPr>
          <a:xfrm>
            <a:off x="2862071" y="2786888"/>
            <a:ext cx="1956818"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400" name="Text 19"/>
          <p:cNvSpPr txBox="1"/>
          <p:nvPr/>
        </p:nvSpPr>
        <p:spPr>
          <a:xfrm>
            <a:off x="2862071" y="3339338"/>
            <a:ext cx="1956818"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AF6F0"/>
                </a:solidFill>
                <a:latin typeface="Cambria"/>
                <a:ea typeface="Cambria"/>
                <a:cs typeface="Cambria"/>
                <a:sym typeface="Cambria"/>
              </a:defRPr>
            </a:lvl1pPr>
          </a:lstStyle>
          <a:p>
            <a:pPr/>
            <a:r>
              <a:rPr>
                <a:latin typeface="Cambria"/>
                <a:ea typeface="Hiragino Mincho ProN"/>
              </a:rPr>
              <a:t>無料の入口</a:t>
            </a:r>
          </a:p>
        </p:txBody>
      </p:sp>
      <p:sp>
        <p:nvSpPr>
          <p:cNvPr id="401" name="Text 20"/>
          <p:cNvSpPr txBox="1"/>
          <p:nvPr/>
        </p:nvSpPr>
        <p:spPr>
          <a:xfrm>
            <a:off x="2862071" y="4320199"/>
            <a:ext cx="1956818" cy="3938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9C8A7A"/>
                </a:solidFill>
              </a:defRPr>
            </a:lvl1pPr>
          </a:lstStyle>
          <a:p>
            <a:pPr/>
            <a:r>
              <a:rPr>
                <a:latin typeface="Calibri"/>
                <a:ea typeface="Hiragino Sans"/>
              </a:rPr>
              <a:t>あなたのチャンネルにあるあなたの音楽（M1）、またはあなたの YouTube／TikTok（M3）への案内 — メールを取得。相手は「もっと聴きたい」と自ら選んだのです。</a:t>
            </a:r>
          </a:p>
        </p:txBody>
      </p:sp>
      <p:sp>
        <p:nvSpPr>
          <p:cNvPr id="402" name="Text 21"/>
          <p:cNvSpPr txBox="1"/>
          <p:nvPr/>
        </p:nvSpPr>
        <p:spPr>
          <a:xfrm>
            <a:off x="2862071" y="5450331"/>
            <a:ext cx="19568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59E0B"/>
                </a:solidFill>
              </a:defRPr>
            </a:lvl1pPr>
          </a:lstStyle>
          <a:p>
            <a:pPr/>
            <a:r>
              <a:rPr>
                <a:latin typeface="Calibri"/>
                <a:ea typeface="Hiragino Sans"/>
              </a:rPr>
              <a:t>M1 · M3</a:t>
            </a:r>
          </a:p>
        </p:txBody>
      </p:sp>
      <p:sp>
        <p:nvSpPr>
          <p:cNvPr id="403" name="Shape 22"/>
          <p:cNvSpPr/>
          <p:nvPr/>
        </p:nvSpPr>
        <p:spPr>
          <a:xfrm>
            <a:off x="5029199" y="1874520"/>
            <a:ext cx="2103122" cy="3840481"/>
          </a:xfrm>
          <a:prstGeom prst="rect">
            <a:avLst/>
          </a:prstGeom>
          <a:solidFill>
            <a:srgbClr val="2A1F17"/>
          </a:solidFill>
          <a:ln w="12700">
            <a:solidFill>
              <a:srgbClr val="D97706"/>
            </a:solidFill>
          </a:ln>
        </p:spPr>
        <p:txBody>
          <a:bodyPr lIns="45719" rIns="45719"/>
          <a:lstStyle/>
          <a:p>
            <a:pPr/>
          </a:p>
        </p:txBody>
      </p:sp>
      <p:sp>
        <p:nvSpPr>
          <p:cNvPr id="404" name="Shape 23"/>
          <p:cNvSpPr/>
          <p:nvPr/>
        </p:nvSpPr>
        <p:spPr>
          <a:xfrm>
            <a:off x="5029199" y="1874520"/>
            <a:ext cx="2103122" cy="73153"/>
          </a:xfrm>
          <a:prstGeom prst="rect">
            <a:avLst/>
          </a:prstGeom>
          <a:solidFill>
            <a:srgbClr val="D97706"/>
          </a:solidFill>
          <a:ln w="12700">
            <a:solidFill>
              <a:srgbClr val="D97706"/>
            </a:solidFill>
          </a:ln>
        </p:spPr>
        <p:txBody>
          <a:bodyPr lIns="45719" rIns="45719"/>
          <a:lstStyle/>
          <a:p>
            <a:pPr/>
          </a:p>
        </p:txBody>
      </p:sp>
      <p:sp>
        <p:nvSpPr>
          <p:cNvPr id="405" name="Text 24"/>
          <p:cNvSpPr txBox="1"/>
          <p:nvPr/>
        </p:nvSpPr>
        <p:spPr>
          <a:xfrm>
            <a:off x="5102352" y="2071623"/>
            <a:ext cx="19568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700">
                <a:solidFill>
                  <a:srgbClr val="F59E0B"/>
                </a:solidFill>
              </a:defRPr>
            </a:lvl1pPr>
          </a:lstStyle>
          <a:p>
            <a:pPr/>
            <a:r>
              <a:rPr>
                <a:latin typeface="Calibri"/>
                <a:ea typeface="Hiragino Sans"/>
              </a:rPr>
              <a:t>メール配信</a:t>
            </a:r>
          </a:p>
        </p:txBody>
      </p:sp>
      <p:sp>
        <p:nvSpPr>
          <p:cNvPr id="406" name="Shape 25"/>
          <p:cNvSpPr/>
          <p:nvPr/>
        </p:nvSpPr>
        <p:spPr>
          <a:xfrm>
            <a:off x="5888735" y="2304288"/>
            <a:ext cx="384049" cy="384049"/>
          </a:xfrm>
          <a:prstGeom prst="ellipse">
            <a:avLst/>
          </a:prstGeom>
          <a:solidFill>
            <a:srgbClr val="D97706"/>
          </a:solidFill>
          <a:ln w="12700">
            <a:solidFill>
              <a:srgbClr val="D97706"/>
            </a:solidFill>
          </a:ln>
        </p:spPr>
        <p:txBody>
          <a:bodyPr lIns="45719" rIns="45719"/>
          <a:lstStyle/>
          <a:p>
            <a:pPr/>
          </a:p>
        </p:txBody>
      </p:sp>
      <p:sp>
        <p:nvSpPr>
          <p:cNvPr id="407" name="Text 26"/>
          <p:cNvSpPr txBox="1"/>
          <p:nvPr/>
        </p:nvSpPr>
        <p:spPr>
          <a:xfrm>
            <a:off x="5888735" y="2375662"/>
            <a:ext cx="384049"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3</a:t>
            </a:r>
          </a:p>
        </p:txBody>
      </p:sp>
      <p:sp>
        <p:nvSpPr>
          <p:cNvPr id="408" name="Text 27"/>
          <p:cNvSpPr txBox="1"/>
          <p:nvPr/>
        </p:nvSpPr>
        <p:spPr>
          <a:xfrm>
            <a:off x="5102352" y="2786888"/>
            <a:ext cx="19568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409" name="Text 28"/>
          <p:cNvSpPr txBox="1"/>
          <p:nvPr/>
        </p:nvSpPr>
        <p:spPr>
          <a:xfrm>
            <a:off x="5102352" y="3339338"/>
            <a:ext cx="1956817"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AF6F0"/>
                </a:solidFill>
                <a:latin typeface="Cambria"/>
                <a:ea typeface="Cambria"/>
                <a:cs typeface="Cambria"/>
                <a:sym typeface="Cambria"/>
              </a:defRPr>
            </a:lvl1pPr>
          </a:lstStyle>
          <a:p>
            <a:pPr/>
            <a:r>
              <a:rPr>
                <a:latin typeface="Cambria"/>
                <a:ea typeface="Hiragino Mincho ProN"/>
              </a:rPr>
              <a:t>物語</a:t>
            </a:r>
          </a:p>
        </p:txBody>
      </p:sp>
      <p:sp>
        <p:nvSpPr>
          <p:cNvPr id="410" name="Text 29"/>
          <p:cNvSpPr txBox="1"/>
          <p:nvPr/>
        </p:nvSpPr>
        <p:spPr>
          <a:xfrm>
            <a:off x="5102352" y="4250349"/>
            <a:ext cx="1956817" cy="5335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9C8A7A"/>
                </a:solidFill>
              </a:defRPr>
            </a:lvl1pPr>
          </a:lstStyle>
          <a:p>
            <a:pPr/>
            <a:r>
              <a:rPr>
                <a:latin typeface="Calibri"/>
                <a:ea typeface="Hiragino Sans"/>
              </a:rPr>
              <a:t>「なぜこの曲なのか」のメールとともにプレビュー・クリップ（M2）が届きます。続いて歌詞ポスター（M4）。音楽が、その人にとって個人的な意味を持ち始めます。</a:t>
            </a:r>
          </a:p>
        </p:txBody>
      </p:sp>
      <p:sp>
        <p:nvSpPr>
          <p:cNvPr id="411" name="Text 30"/>
          <p:cNvSpPr txBox="1"/>
          <p:nvPr/>
        </p:nvSpPr>
        <p:spPr>
          <a:xfrm>
            <a:off x="5102352" y="5450331"/>
            <a:ext cx="19568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59E0B"/>
                </a:solidFill>
              </a:defRPr>
            </a:lvl1pPr>
          </a:lstStyle>
          <a:p>
            <a:pPr/>
            <a:r>
              <a:rPr>
                <a:latin typeface="Calibri"/>
                <a:ea typeface="Hiragino Sans"/>
              </a:rPr>
              <a:t>M2 · M4</a:t>
            </a:r>
          </a:p>
        </p:txBody>
      </p:sp>
      <p:sp>
        <p:nvSpPr>
          <p:cNvPr id="412" name="Shape 31"/>
          <p:cNvSpPr/>
          <p:nvPr/>
        </p:nvSpPr>
        <p:spPr>
          <a:xfrm>
            <a:off x="7269480" y="1874520"/>
            <a:ext cx="2103121" cy="3840481"/>
          </a:xfrm>
          <a:prstGeom prst="rect">
            <a:avLst/>
          </a:prstGeom>
          <a:solidFill>
            <a:srgbClr val="2A1F17"/>
          </a:solidFill>
          <a:ln w="12700">
            <a:solidFill>
              <a:srgbClr val="D97706"/>
            </a:solidFill>
          </a:ln>
        </p:spPr>
        <p:txBody>
          <a:bodyPr lIns="45719" rIns="45719"/>
          <a:lstStyle/>
          <a:p>
            <a:pPr/>
          </a:p>
        </p:txBody>
      </p:sp>
      <p:sp>
        <p:nvSpPr>
          <p:cNvPr id="413" name="Shape 32"/>
          <p:cNvSpPr/>
          <p:nvPr/>
        </p:nvSpPr>
        <p:spPr>
          <a:xfrm>
            <a:off x="7269480" y="1874520"/>
            <a:ext cx="2103121" cy="73153"/>
          </a:xfrm>
          <a:prstGeom prst="rect">
            <a:avLst/>
          </a:prstGeom>
          <a:solidFill>
            <a:srgbClr val="D97706"/>
          </a:solidFill>
          <a:ln w="12700">
            <a:solidFill>
              <a:srgbClr val="D97706"/>
            </a:solidFill>
          </a:ln>
        </p:spPr>
        <p:txBody>
          <a:bodyPr lIns="45719" rIns="45719"/>
          <a:lstStyle/>
          <a:p>
            <a:pPr/>
          </a:p>
        </p:txBody>
      </p:sp>
      <p:sp>
        <p:nvSpPr>
          <p:cNvPr id="414" name="Text 33"/>
          <p:cNvSpPr txBox="1"/>
          <p:nvPr/>
        </p:nvSpPr>
        <p:spPr>
          <a:xfrm>
            <a:off x="7342631" y="2071623"/>
            <a:ext cx="19568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700">
                <a:solidFill>
                  <a:srgbClr val="F59E0B"/>
                </a:solidFill>
              </a:defRPr>
            </a:lvl1pPr>
          </a:lstStyle>
          <a:p>
            <a:pPr/>
            <a:r>
              <a:rPr>
                <a:latin typeface="Calibri"/>
                <a:ea typeface="Hiragino Sans"/>
              </a:rPr>
              <a:t>配信の中盤</a:t>
            </a:r>
          </a:p>
        </p:txBody>
      </p:sp>
      <p:sp>
        <p:nvSpPr>
          <p:cNvPr id="415" name="Shape 34"/>
          <p:cNvSpPr/>
          <p:nvPr/>
        </p:nvSpPr>
        <p:spPr>
          <a:xfrm>
            <a:off x="8129016" y="2304288"/>
            <a:ext cx="384049" cy="384049"/>
          </a:xfrm>
          <a:prstGeom prst="ellipse">
            <a:avLst/>
          </a:prstGeom>
          <a:solidFill>
            <a:srgbClr val="D97706"/>
          </a:solidFill>
          <a:ln w="12700">
            <a:solidFill>
              <a:srgbClr val="D97706"/>
            </a:solidFill>
          </a:ln>
        </p:spPr>
        <p:txBody>
          <a:bodyPr lIns="45719" rIns="45719"/>
          <a:lstStyle/>
          <a:p>
            <a:pPr/>
          </a:p>
        </p:txBody>
      </p:sp>
      <p:sp>
        <p:nvSpPr>
          <p:cNvPr id="416" name="Text 35"/>
          <p:cNvSpPr txBox="1"/>
          <p:nvPr/>
        </p:nvSpPr>
        <p:spPr>
          <a:xfrm>
            <a:off x="8129016" y="2375662"/>
            <a:ext cx="384049"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4</a:t>
            </a:r>
          </a:p>
        </p:txBody>
      </p:sp>
      <p:sp>
        <p:nvSpPr>
          <p:cNvPr id="417" name="Text 36"/>
          <p:cNvSpPr txBox="1"/>
          <p:nvPr/>
        </p:nvSpPr>
        <p:spPr>
          <a:xfrm>
            <a:off x="7342631" y="2786888"/>
            <a:ext cx="19568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F59E0B"/>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418" name="Text 37"/>
          <p:cNvSpPr txBox="1"/>
          <p:nvPr/>
        </p:nvSpPr>
        <p:spPr>
          <a:xfrm>
            <a:off x="7342631" y="3339338"/>
            <a:ext cx="1956817"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AF6F0"/>
                </a:solidFill>
                <a:latin typeface="Cambria"/>
                <a:ea typeface="Cambria"/>
                <a:cs typeface="Cambria"/>
                <a:sym typeface="Cambria"/>
              </a:defRPr>
            </a:lvl1pPr>
          </a:lstStyle>
          <a:p>
            <a:pPr/>
            <a:r>
              <a:rPr>
                <a:latin typeface="Cambria"/>
                <a:ea typeface="Hiragino Mincho ProN"/>
              </a:rPr>
              <a:t>楽曲の裏側</a:t>
            </a:r>
          </a:p>
        </p:txBody>
      </p:sp>
      <p:sp>
        <p:nvSpPr>
          <p:cNvPr id="419" name="Text 38"/>
          <p:cNvSpPr txBox="1"/>
          <p:nvPr/>
        </p:nvSpPr>
        <p:spPr>
          <a:xfrm>
            <a:off x="7342631" y="4250349"/>
            <a:ext cx="1956817" cy="5335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9C8A7A"/>
                </a:solidFill>
              </a:defRPr>
            </a:lvl1pPr>
          </a:lstStyle>
          <a:p>
            <a:pPr/>
            <a:r>
              <a:rPr>
                <a:latin typeface="Calibri"/>
                <a:ea typeface="Hiragino Sans"/>
              </a:rPr>
              <a:t>楽曲の裏側（M5）— ポッドキャストのエピソードと、付属のPDF。飾らないミュージシャンの声。読者はアーティストを理解します。</a:t>
            </a:r>
          </a:p>
        </p:txBody>
      </p:sp>
      <p:sp>
        <p:nvSpPr>
          <p:cNvPr id="420" name="Text 39"/>
          <p:cNvSpPr txBox="1"/>
          <p:nvPr/>
        </p:nvSpPr>
        <p:spPr>
          <a:xfrm>
            <a:off x="7342631" y="5450331"/>
            <a:ext cx="19568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59E0B"/>
                </a:solidFill>
              </a:defRPr>
            </a:lvl1pPr>
          </a:lstStyle>
          <a:p>
            <a:pPr/>
            <a:r>
              <a:rPr>
                <a:latin typeface="Calibri"/>
                <a:ea typeface="Hiragino Sans"/>
              </a:rPr>
              <a:t>M5</a:t>
            </a:r>
          </a:p>
        </p:txBody>
      </p:sp>
      <p:sp>
        <p:nvSpPr>
          <p:cNvPr id="421" name="Shape 40"/>
          <p:cNvSpPr/>
          <p:nvPr/>
        </p:nvSpPr>
        <p:spPr>
          <a:xfrm>
            <a:off x="9509759" y="1874520"/>
            <a:ext cx="2103121" cy="3840481"/>
          </a:xfrm>
          <a:prstGeom prst="rect">
            <a:avLst/>
          </a:prstGeom>
          <a:solidFill>
            <a:srgbClr val="0A1A0A"/>
          </a:solidFill>
          <a:ln w="12700">
            <a:solidFill>
              <a:srgbClr val="D97706"/>
            </a:solidFill>
          </a:ln>
        </p:spPr>
        <p:txBody>
          <a:bodyPr lIns="45719" rIns="45719"/>
          <a:lstStyle/>
          <a:p>
            <a:pPr/>
          </a:p>
        </p:txBody>
      </p:sp>
      <p:sp>
        <p:nvSpPr>
          <p:cNvPr id="422" name="Shape 41"/>
          <p:cNvSpPr/>
          <p:nvPr/>
        </p:nvSpPr>
        <p:spPr>
          <a:xfrm>
            <a:off x="9509759" y="1874520"/>
            <a:ext cx="2103121" cy="73153"/>
          </a:xfrm>
          <a:prstGeom prst="rect">
            <a:avLst/>
          </a:prstGeom>
          <a:solidFill>
            <a:srgbClr val="4ADE80"/>
          </a:solidFill>
          <a:ln w="12700">
            <a:solidFill>
              <a:srgbClr val="4ADE80"/>
            </a:solidFill>
          </a:ln>
        </p:spPr>
        <p:txBody>
          <a:bodyPr lIns="45719" rIns="45719"/>
          <a:lstStyle/>
          <a:p>
            <a:pPr/>
          </a:p>
        </p:txBody>
      </p:sp>
      <p:sp>
        <p:nvSpPr>
          <p:cNvPr id="423" name="Text 42"/>
          <p:cNvSpPr txBox="1"/>
          <p:nvPr/>
        </p:nvSpPr>
        <p:spPr>
          <a:xfrm>
            <a:off x="9582911" y="2071623"/>
            <a:ext cx="19568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700">
                <a:solidFill>
                  <a:srgbClr val="86EFAC"/>
                </a:solidFill>
              </a:defRPr>
            </a:lvl1pPr>
          </a:lstStyle>
          <a:p>
            <a:pPr/>
            <a:r>
              <a:rPr>
                <a:latin typeface="Calibri"/>
                <a:ea typeface="Hiragino Sans"/>
              </a:rPr>
              <a:t>コンバージョン</a:t>
            </a:r>
          </a:p>
        </p:txBody>
      </p:sp>
      <p:sp>
        <p:nvSpPr>
          <p:cNvPr id="424" name="Shape 43"/>
          <p:cNvSpPr/>
          <p:nvPr/>
        </p:nvSpPr>
        <p:spPr>
          <a:xfrm>
            <a:off x="10369295" y="2304288"/>
            <a:ext cx="384049" cy="384049"/>
          </a:xfrm>
          <a:prstGeom prst="ellipse">
            <a:avLst/>
          </a:prstGeom>
          <a:solidFill>
            <a:srgbClr val="4ADE80"/>
          </a:solidFill>
          <a:ln w="12700">
            <a:solidFill>
              <a:srgbClr val="4ADE80"/>
            </a:solidFill>
          </a:ln>
        </p:spPr>
        <p:txBody>
          <a:bodyPr lIns="45719" rIns="45719"/>
          <a:lstStyle/>
          <a:p>
            <a:pPr/>
          </a:p>
        </p:txBody>
      </p:sp>
      <p:sp>
        <p:nvSpPr>
          <p:cNvPr id="425" name="Text 44"/>
          <p:cNvSpPr txBox="1"/>
          <p:nvPr/>
        </p:nvSpPr>
        <p:spPr>
          <a:xfrm>
            <a:off x="10369295" y="2375662"/>
            <a:ext cx="384049"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E0A06"/>
                </a:solidFill>
                <a:latin typeface="Cambria"/>
                <a:ea typeface="Cambria"/>
                <a:cs typeface="Cambria"/>
                <a:sym typeface="Cambria"/>
              </a:defRPr>
            </a:lvl1pPr>
          </a:lstStyle>
          <a:p>
            <a:pPr/>
            <a:r>
              <a:t>5</a:t>
            </a:r>
          </a:p>
        </p:txBody>
      </p:sp>
      <p:sp>
        <p:nvSpPr>
          <p:cNvPr id="426" name="Text 45"/>
          <p:cNvSpPr txBox="1"/>
          <p:nvPr/>
        </p:nvSpPr>
        <p:spPr>
          <a:xfrm>
            <a:off x="9582911" y="2786888"/>
            <a:ext cx="1956817"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86EFAC"/>
                </a:solidFill>
                <a:latin typeface="+mj-lt"/>
                <a:ea typeface="+mj-ea"/>
                <a:cs typeface="+mj-cs"/>
                <a:sym typeface="Helvetica"/>
              </a:defRPr>
            </a:lvl1pPr>
          </a:lstStyle>
          <a:p>
            <a:pPr>
              <a:defRPr>
                <a:latin typeface="+mn-lt"/>
                <a:ea typeface="+mn-ea"/>
                <a:cs typeface="+mn-cs"/>
                <a:sym typeface="Calibri"/>
              </a:defRPr>
            </a:pPr>
            <a:r>
              <a:rPr>
                <a:latin typeface="+mj-lt"/>
                <a:ea typeface="+mj-ea"/>
                <a:cs typeface="+mj-cs"/>
                <a:sym typeface="Helvetica"/>
              </a:rPr>
              <a:t>📚</a:t>
            </a:r>
          </a:p>
        </p:txBody>
      </p:sp>
      <p:sp>
        <p:nvSpPr>
          <p:cNvPr id="427" name="Text 46"/>
          <p:cNvSpPr txBox="1"/>
          <p:nvPr/>
        </p:nvSpPr>
        <p:spPr>
          <a:xfrm>
            <a:off x="9582911" y="3339338"/>
            <a:ext cx="1956817"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AF6F0"/>
                </a:solidFill>
                <a:latin typeface="Cambria"/>
                <a:ea typeface="Cambria"/>
                <a:cs typeface="Cambria"/>
                <a:sym typeface="Cambria"/>
              </a:defRPr>
            </a:lvl1pPr>
          </a:lstStyle>
          <a:p>
            <a:pPr/>
            <a:r>
              <a:rPr>
                <a:latin typeface="Cambria"/>
                <a:ea typeface="Hiragino Mincho ProN"/>
              </a:rPr>
              <a:t>本</a:t>
            </a:r>
          </a:p>
        </p:txBody>
      </p:sp>
      <p:sp>
        <p:nvSpPr>
          <p:cNvPr id="428" name="Text 47"/>
          <p:cNvSpPr txBox="1"/>
          <p:nvPr/>
        </p:nvSpPr>
        <p:spPr>
          <a:xfrm>
            <a:off x="9582911" y="4250349"/>
            <a:ext cx="1956817" cy="53357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9C8A7A"/>
                </a:solidFill>
              </a:defRPr>
            </a:lvl1pPr>
          </a:lstStyle>
          <a:p>
            <a:pPr/>
            <a:r>
              <a:rPr>
                <a:latin typeface="Calibri"/>
                <a:ea typeface="Hiragino Sans"/>
              </a:rPr>
              <a:t>本への案内（CTA）が自然に届きます。本が成果物であり、あなたの音楽はあなたのチャンネルに留まります。馴染みの世界 — その音をすでに知っているからこそ、彼らは購入します。</a:t>
            </a:r>
          </a:p>
        </p:txBody>
      </p:sp>
      <p:sp>
        <p:nvSpPr>
          <p:cNvPr id="429" name="Text 48"/>
          <p:cNvSpPr txBox="1"/>
          <p:nvPr/>
        </p:nvSpPr>
        <p:spPr>
          <a:xfrm>
            <a:off x="9582911" y="5450331"/>
            <a:ext cx="19568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86EFAC"/>
                </a:solidFill>
              </a:defRPr>
            </a:lvl1pPr>
          </a:lstStyle>
          <a:p>
            <a:pPr/>
            <a:r>
              <a:rPr>
                <a:latin typeface="Calibri"/>
                <a:ea typeface="Hiragino Sans"/>
              </a:rPr>
              <a:t>本</a:t>
            </a:r>
          </a:p>
        </p:txBody>
      </p:sp>
      <p:sp>
        <p:nvSpPr>
          <p:cNvPr id="430" name="Shape 49"/>
          <p:cNvSpPr/>
          <p:nvPr/>
        </p:nvSpPr>
        <p:spPr>
          <a:xfrm>
            <a:off x="2651760" y="3794759"/>
            <a:ext cx="137161" cy="1"/>
          </a:xfrm>
          <a:prstGeom prst="line">
            <a:avLst/>
          </a:prstGeom>
          <a:ln w="19050">
            <a:solidFill>
              <a:srgbClr val="D97706"/>
            </a:solidFill>
          </a:ln>
        </p:spPr>
        <p:txBody>
          <a:bodyPr lIns="45719" rIns="45719"/>
          <a:lstStyle/>
          <a:p>
            <a:pPr/>
          </a:p>
        </p:txBody>
      </p:sp>
      <p:sp>
        <p:nvSpPr>
          <p:cNvPr id="431" name="Text 50"/>
          <p:cNvSpPr txBox="1"/>
          <p:nvPr/>
        </p:nvSpPr>
        <p:spPr>
          <a:xfrm>
            <a:off x="2674620" y="3662679"/>
            <a:ext cx="91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59E0B"/>
                </a:solidFill>
              </a:defRPr>
            </a:lvl1pPr>
          </a:lstStyle>
          <a:p>
            <a:pPr/>
            <a:r>
              <a:t>&gt;</a:t>
            </a:r>
          </a:p>
        </p:txBody>
      </p:sp>
      <p:sp>
        <p:nvSpPr>
          <p:cNvPr id="432" name="Shape 51"/>
          <p:cNvSpPr/>
          <p:nvPr/>
        </p:nvSpPr>
        <p:spPr>
          <a:xfrm>
            <a:off x="4892040" y="3794759"/>
            <a:ext cx="137161" cy="1"/>
          </a:xfrm>
          <a:prstGeom prst="line">
            <a:avLst/>
          </a:prstGeom>
          <a:ln w="19050">
            <a:solidFill>
              <a:srgbClr val="D97706"/>
            </a:solidFill>
          </a:ln>
        </p:spPr>
        <p:txBody>
          <a:bodyPr lIns="45719" rIns="45719"/>
          <a:lstStyle/>
          <a:p>
            <a:pPr/>
          </a:p>
        </p:txBody>
      </p:sp>
      <p:sp>
        <p:nvSpPr>
          <p:cNvPr id="433" name="Text 52"/>
          <p:cNvSpPr txBox="1"/>
          <p:nvPr/>
        </p:nvSpPr>
        <p:spPr>
          <a:xfrm>
            <a:off x="4914899" y="3662679"/>
            <a:ext cx="914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59E0B"/>
                </a:solidFill>
              </a:defRPr>
            </a:lvl1pPr>
          </a:lstStyle>
          <a:p>
            <a:pPr/>
            <a:r>
              <a:t>&gt;</a:t>
            </a:r>
          </a:p>
        </p:txBody>
      </p:sp>
      <p:sp>
        <p:nvSpPr>
          <p:cNvPr id="434" name="Shape 53"/>
          <p:cNvSpPr/>
          <p:nvPr/>
        </p:nvSpPr>
        <p:spPr>
          <a:xfrm>
            <a:off x="7132319" y="3794759"/>
            <a:ext cx="137161" cy="1"/>
          </a:xfrm>
          <a:prstGeom prst="line">
            <a:avLst/>
          </a:prstGeom>
          <a:ln w="19050">
            <a:solidFill>
              <a:srgbClr val="D97706"/>
            </a:solidFill>
          </a:ln>
        </p:spPr>
        <p:txBody>
          <a:bodyPr lIns="45719" rIns="45719"/>
          <a:lstStyle/>
          <a:p>
            <a:pPr/>
          </a:p>
        </p:txBody>
      </p:sp>
      <p:sp>
        <p:nvSpPr>
          <p:cNvPr id="435" name="Text 54"/>
          <p:cNvSpPr txBox="1"/>
          <p:nvPr/>
        </p:nvSpPr>
        <p:spPr>
          <a:xfrm>
            <a:off x="7155180" y="3662679"/>
            <a:ext cx="91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59E0B"/>
                </a:solidFill>
              </a:defRPr>
            </a:lvl1pPr>
          </a:lstStyle>
          <a:p>
            <a:pPr/>
            <a:r>
              <a:t>&gt;</a:t>
            </a:r>
          </a:p>
        </p:txBody>
      </p:sp>
      <p:sp>
        <p:nvSpPr>
          <p:cNvPr id="436" name="Shape 55"/>
          <p:cNvSpPr/>
          <p:nvPr/>
        </p:nvSpPr>
        <p:spPr>
          <a:xfrm>
            <a:off x="9372599" y="3794759"/>
            <a:ext cx="137162" cy="1"/>
          </a:xfrm>
          <a:prstGeom prst="line">
            <a:avLst/>
          </a:prstGeom>
          <a:ln w="19050">
            <a:solidFill>
              <a:srgbClr val="D97706"/>
            </a:solidFill>
          </a:ln>
        </p:spPr>
        <p:txBody>
          <a:bodyPr lIns="45719" rIns="45719"/>
          <a:lstStyle/>
          <a:p>
            <a:pPr/>
          </a:p>
        </p:txBody>
      </p:sp>
      <p:sp>
        <p:nvSpPr>
          <p:cNvPr id="437" name="Text 56"/>
          <p:cNvSpPr txBox="1"/>
          <p:nvPr/>
        </p:nvSpPr>
        <p:spPr>
          <a:xfrm>
            <a:off x="9395459" y="3662679"/>
            <a:ext cx="91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59E0B"/>
                </a:solidFill>
              </a:defRPr>
            </a:lvl1pPr>
          </a:lstStyle>
          <a:p>
            <a:pPr/>
            <a:r>
              <a:t>&gt;</a:t>
            </a:r>
          </a:p>
        </p:txBody>
      </p:sp>
      <p:sp>
        <p:nvSpPr>
          <p:cNvPr id="438" name="Shape 57"/>
          <p:cNvSpPr/>
          <p:nvPr/>
        </p:nvSpPr>
        <p:spPr>
          <a:xfrm>
            <a:off x="548639" y="5888735"/>
            <a:ext cx="11064242" cy="393193"/>
          </a:xfrm>
          <a:prstGeom prst="rect">
            <a:avLst/>
          </a:prstGeom>
          <a:solidFill>
            <a:srgbClr val="0E0A06"/>
          </a:solidFill>
          <a:ln w="12700">
            <a:solidFill>
              <a:srgbClr val="D97706"/>
            </a:solidFill>
          </a:ln>
        </p:spPr>
        <p:txBody>
          <a:bodyPr lIns="45719" rIns="45719"/>
          <a:lstStyle/>
          <a:p>
            <a:pPr/>
          </a:p>
        </p:txBody>
      </p:sp>
      <p:sp>
        <p:nvSpPr>
          <p:cNvPr id="439" name="Text 58"/>
          <p:cNvSpPr txBox="1"/>
          <p:nvPr/>
        </p:nvSpPr>
        <p:spPr>
          <a:xfrm>
            <a:off x="777239" y="6016796"/>
            <a:ext cx="10607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FAF6F0"/>
                </a:solidFill>
              </a:defRPr>
            </a:lvl1pPr>
          </a:lstStyle>
          <a:p>
            <a:pPr/>
            <a:r>
              <a:rPr>
                <a:latin typeface="Calibri"/>
                <a:ea typeface="Hiragino Sans"/>
              </a:rPr>
              <a:t>本はカタログ。入口は、あなたのチャンネルにあるあなたの音楽を指し示します。音を通じて出会ったリスナーこそ、最も忠実な読者になります。</a:t>
            </a:r>
          </a:p>
        </p:txBody>
      </p:sp>
      <p:sp>
        <p:nvSpPr>
          <p:cNvPr id="440" name="Shape 59"/>
          <p:cNvSpPr/>
          <p:nvPr/>
        </p:nvSpPr>
        <p:spPr>
          <a:xfrm>
            <a:off x="548639" y="6446520"/>
            <a:ext cx="11064242" cy="1"/>
          </a:xfrm>
          <a:prstGeom prst="line">
            <a:avLst/>
          </a:prstGeom>
          <a:ln w="12700">
            <a:solidFill>
              <a:srgbClr val="2A1F17"/>
            </a:solidFill>
          </a:ln>
        </p:spPr>
        <p:txBody>
          <a:bodyPr lIns="45719" rIns="45719"/>
          <a:lstStyle/>
          <a:p>
            <a:pPr/>
          </a:p>
        </p:txBody>
      </p:sp>
      <p:sp>
        <p:nvSpPr>
          <p:cNvPr id="441" name="Text 60"/>
          <p:cNvSpPr txBox="1"/>
          <p:nvPr/>
        </p:nvSpPr>
        <p:spPr>
          <a:xfrm>
            <a:off x="548640" y="6584188"/>
            <a:ext cx="8229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9C8A7A"/>
                </a:solidFill>
              </a:defRPr>
            </a:lvl1pPr>
          </a:lstStyle>
          <a:p>
            <a:pPr/>
            <a:r>
              <a:rPr>
                <a:latin typeface="Calibri"/>
                <a:ea typeface="Hiragino Sans"/>
              </a:rPr>
              <a:t>Pearl Prime · Enlightened Intelligence Publishing · Music Mode V1 + V2</a:t>
            </a:r>
          </a:p>
        </p:txBody>
      </p:sp>
      <p:sp>
        <p:nvSpPr>
          <p:cNvPr id="442" name="Text 61"/>
          <p:cNvSpPr txBox="1"/>
          <p:nvPr/>
        </p:nvSpPr>
        <p:spPr>
          <a:xfrm>
            <a:off x="10515599" y="6584188"/>
            <a:ext cx="1097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900">
                <a:solidFill>
                  <a:srgbClr val="9C8A7A"/>
                </a:solidFill>
              </a:defRPr>
            </a:lvl1pPr>
          </a:lstStyle>
          <a:p>
            <a:pPr/>
            <a:r>
              <a:t>14 / 15</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0A06"/>
        </a:solidFill>
      </p:bgPr>
    </p:bg>
    <p:spTree>
      <p:nvGrpSpPr>
        <p:cNvPr id="1" name=""/>
        <p:cNvGrpSpPr/>
        <p:nvPr/>
      </p:nvGrpSpPr>
      <p:grpSpPr>
        <a:xfrm>
          <a:off x="0" y="0"/>
          <a:ext cx="0" cy="0"/>
          <a:chOff x="0" y="0"/>
          <a:chExt cx="0" cy="0"/>
        </a:xfrm>
      </p:grpSpPr>
      <p:sp>
        <p:nvSpPr>
          <p:cNvPr id="444" name="Shape 0"/>
          <p:cNvSpPr/>
          <p:nvPr/>
        </p:nvSpPr>
        <p:spPr>
          <a:xfrm>
            <a:off x="-1" y="0"/>
            <a:ext cx="365762" cy="6858000"/>
          </a:xfrm>
          <a:prstGeom prst="rect">
            <a:avLst/>
          </a:prstGeom>
          <a:solidFill>
            <a:srgbClr val="D97706"/>
          </a:solidFill>
          <a:ln w="12700">
            <a:solidFill>
              <a:srgbClr val="D97706"/>
            </a:solidFill>
          </a:ln>
        </p:spPr>
        <p:txBody>
          <a:bodyPr lIns="45719" rIns="45719"/>
          <a:lstStyle/>
          <a:p>
            <a:pPr/>
          </a:p>
        </p:txBody>
      </p:sp>
      <p:sp>
        <p:nvSpPr>
          <p:cNvPr id="445" name="Text 1"/>
          <p:cNvSpPr txBox="1"/>
          <p:nvPr/>
        </p:nvSpPr>
        <p:spPr>
          <a:xfrm>
            <a:off x="822960" y="1596960"/>
            <a:ext cx="109728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800" sz="1400">
                <a:solidFill>
                  <a:srgbClr val="F59E0B"/>
                </a:solidFill>
              </a:defRPr>
            </a:lvl1pPr>
          </a:lstStyle>
          <a:p>
            <a:pPr/>
            <a:r>
              <a:rPr>
                <a:latin typeface="Calibri"/>
                <a:ea typeface="Hiragino Sans"/>
              </a:rPr>
              <a:t>PEARL PRIME · EI</a:t>
            </a:r>
          </a:p>
        </p:txBody>
      </p:sp>
      <p:sp>
        <p:nvSpPr>
          <p:cNvPr id="446" name="Text 2"/>
          <p:cNvSpPr txBox="1"/>
          <p:nvPr/>
        </p:nvSpPr>
        <p:spPr>
          <a:xfrm>
            <a:off x="822960" y="2098039"/>
            <a:ext cx="10972801" cy="1016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800">
                <a:solidFill>
                  <a:srgbClr val="FAF6F0"/>
                </a:solidFill>
                <a:latin typeface="Cambria"/>
                <a:ea typeface="Cambria"/>
                <a:cs typeface="Cambria"/>
                <a:sym typeface="Cambria"/>
              </a:defRPr>
            </a:lvl1pPr>
          </a:lstStyle>
          <a:p>
            <a:pPr/>
            <a:r>
              <a:rPr sz="3600">
                <a:latin typeface="Cambria"/>
                <a:ea typeface="Hiragino Mincho ProN"/>
              </a:rPr>
              <a:t>あなたの音楽 — Composite USLF</a:t>
            </a:r>
          </a:p>
        </p:txBody>
      </p:sp>
      <p:sp>
        <p:nvSpPr>
          <p:cNvPr id="447" name="Text 3"/>
          <p:cNvSpPr txBox="1"/>
          <p:nvPr/>
        </p:nvSpPr>
        <p:spPr>
          <a:xfrm>
            <a:off x="822960" y="3103879"/>
            <a:ext cx="10972801" cy="1016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800">
                <a:solidFill>
                  <a:srgbClr val="F59E0B"/>
                </a:solidFill>
                <a:latin typeface="Cambria"/>
                <a:ea typeface="Cambria"/>
                <a:cs typeface="Cambria"/>
                <a:sym typeface="Cambria"/>
              </a:defRPr>
            </a:lvl1pPr>
          </a:lstStyle>
          <a:p>
            <a:pPr/>
            <a:r>
              <a:rPr>
                <a:latin typeface="Cambria"/>
                <a:ea typeface="Hiragino Mincho ProN"/>
              </a:rPr>
              <a:t>セラピー的コンテンツ</a:t>
            </a:r>
          </a:p>
        </p:txBody>
      </p:sp>
      <p:sp>
        <p:nvSpPr>
          <p:cNvPr id="448" name="Text 4"/>
          <p:cNvSpPr txBox="1"/>
          <p:nvPr/>
        </p:nvSpPr>
        <p:spPr>
          <a:xfrm>
            <a:off x="822960" y="4958781"/>
            <a:ext cx="10515601"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500">
                <a:solidFill>
                  <a:srgbClr val="9C8A7A"/>
                </a:solidFill>
              </a:defRPr>
            </a:lvl1pPr>
          </a:lstStyle>
          <a:p>
            <a:pPr/>
            <a:r>
              <a:rPr>
                <a:latin typeface="Calibri"/>
                <a:ea typeface="Hiragino Sans"/>
              </a:rPr>
              <a:t>Pearl Prime は、ライブにも、レコード店にも、シーンにもたどり着けないかもしれない — けれどあなたの音を、読み、聴き、そして何度も戻ってこられる形で日々に携える読者へ、あなたの音楽がもつ精神的な知恵と、その手触りを届けるために存在します。</a:t>
            </a:r>
          </a:p>
        </p:txBody>
      </p:sp>
      <p:sp>
        <p:nvSpPr>
          <p:cNvPr id="449" name="Shape 5"/>
          <p:cNvSpPr/>
          <p:nvPr/>
        </p:nvSpPr>
        <p:spPr>
          <a:xfrm>
            <a:off x="822960" y="5943600"/>
            <a:ext cx="3657601" cy="0"/>
          </a:xfrm>
          <a:prstGeom prst="line">
            <a:avLst/>
          </a:prstGeom>
          <a:ln w="25400">
            <a:solidFill>
              <a:srgbClr val="D97706"/>
            </a:solidFill>
          </a:ln>
        </p:spPr>
        <p:txBody>
          <a:bodyPr lIns="45719" rIns="45719"/>
          <a:lstStyle/>
          <a:p>
            <a:pPr/>
          </a:p>
        </p:txBody>
      </p:sp>
      <p:sp>
        <p:nvSpPr>
          <p:cNvPr id="450" name="Text 6"/>
          <p:cNvSpPr txBox="1"/>
          <p:nvPr/>
        </p:nvSpPr>
        <p:spPr>
          <a:xfrm>
            <a:off x="822960" y="6180258"/>
            <a:ext cx="10972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AF6F0"/>
                </a:solidFill>
              </a:defRPr>
            </a:lvl1pPr>
          </a:lstStyle>
          <a:p>
            <a:pPr/>
            <a:r>
              <a:rPr>
                <a:latin typeface="Calibri"/>
                <a:ea typeface="Hiragino Sans"/>
              </a:rPr>
              <a:t>私たちと一緒に創りましょう。  ·  Pearl Prime  ·  Enlightened Intelligence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