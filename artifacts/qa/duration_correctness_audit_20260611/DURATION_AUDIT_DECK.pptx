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Listening duration gap %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+0;\-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E0A0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F7A3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F7A3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standard_book</c:v>
                  </c:pt>
                  <c:pt idx="1">
                    <c:v>compact_5ch_15min</c:v>
                  </c:pt>
                  <c:pt idx="2">
                    <c:v>compact_5ch_20min</c:v>
                  </c:pt>
                  <c:pt idx="3">
                    <c:v>micro_book_15</c:v>
                  </c:pt>
                  <c:pt idx="4">
                    <c:v>compact_8ch_30min</c:v>
                  </c:pt>
                  <c:pt idx="5">
                    <c:v>micro_book_20</c:v>
                  </c:pt>
                  <c:pt idx="6">
                    <c:v>short_book_30</c:v>
                  </c:pt>
                  <c:pt idx="7">
                    <c:v>extended_book_2h</c:v>
                  </c:pt>
                  <c:pt idx="8">
                    <c:v>deep_book_6h</c:v>
                  </c:pt>
                  <c:pt idx="9">
                    <c:v>deep_book_4h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161</c:v>
                </c:pt>
                <c:pt idx="1">
                  <c:v>78</c:v>
                </c:pt>
                <c:pt idx="2">
                  <c:v>72</c:v>
                </c:pt>
                <c:pt idx="3">
                  <c:v>68</c:v>
                </c:pt>
                <c:pt idx="4">
                  <c:v>58</c:v>
                </c:pt>
                <c:pt idx="5">
                  <c:v>49</c:v>
                </c:pt>
                <c:pt idx="6">
                  <c:v>43</c:v>
                </c:pt>
                <c:pt idx="7">
                  <c:v>24</c:v>
                </c:pt>
                <c:pt idx="8">
                  <c:v>2</c:v>
                </c:pt>
                <c:pt idx="9">
                  <c:v>-11</c:v>
                </c:pt>
              </c:numCache>
            </c:numRef>
          </c:val>
        </c:ser>
        <c:dLbls>
          <c:numFmt formatCode="+0;\-0" sourceLinked="0"/>
          <c:txPr>
            <a:bodyPr/>
            <a:lstStyle/>
            <a:p>
              <a:pPr>
                <a:defRPr b="1" i="0" strike="noStrike" sz="1100" u="none">
                  <a:solidFill>
                    <a:srgbClr val="0E0A0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-30"/>
        </c:scaling>
        <c:delete val="0"/>
        <c:axPos val="b"/>
        <c:majorGridlines>
          <c:spPr>
            <a:ln w="6350" cap="flat">
              <a:solidFill>
                <a:srgbClr val="E7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6F0"/>
        </a:solidFill>
        <a:ln>
          <a:noFill/>
        </a:ln>
        <a:effectLst/>
      </c:spPr>
    </c:plotArea>
    <c:plotVisOnly val="1"/>
    <c:dispBlanksAs val="span"/>
  </c:chart>
  <c:spPr>
    <a:solidFill>
      <a:srgbClr val="FAF6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QA AUDIT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 Correctness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9CB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hour book really an hour?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books planned · no prose, no LLM   </a:t>
            </a:r>
            <a:pPr indent="0" marL="0">
              <a:buNone/>
            </a:pPr>
            <a:r>
              <a:rPr lang="en-US" sz="14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10 runtime formats   │   listening (150 WPM) + reading (230 WPM)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 ARE FINE.  THE LABELS ARE WRONG.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ANSWERS YOU ASKED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529584" cy="128016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min → 2h23m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+161%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2980944" cy="0"/>
          </a:xfrm>
          <a:prstGeom prst="line">
            <a:avLst/>
          </a:prstGeom>
          <a:noFill/>
          <a:ln w="12700">
            <a:solidFill>
              <a:srgbClr val="E7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57600"/>
            <a:ext cx="2980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book's real audiobook length. Not a rounding gap — the label is off by ~2.6×.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98848" y="1783080"/>
            <a:ext cx="3529584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783080"/>
            <a:ext cx="3529584" cy="1280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1488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773168" y="30632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CAP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73168" y="3520440"/>
            <a:ext cx="2980944" cy="0"/>
          </a:xfrm>
          <a:prstGeom prst="line">
            <a:avLst/>
          </a:prstGeom>
          <a:noFill/>
          <a:ln w="12700">
            <a:solidFill>
              <a:srgbClr val="E7D9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3657600"/>
            <a:ext cx="2980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gold standard_books exceed their own 20,000-word ceiling (and that cap was already raised 13k→18k→20k).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57616" y="1783080"/>
            <a:ext cx="3529584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783080"/>
            <a:ext cx="3529584" cy="128016"/>
          </a:xfrm>
          <a:prstGeom prst="rect">
            <a:avLst/>
          </a:prstGeom>
          <a:solidFill>
            <a:srgbClr val="0E0A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31936" y="21488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of 10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631936" y="30632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31936" y="3520440"/>
            <a:ext cx="2980944" cy="0"/>
          </a:xfrm>
          <a:prstGeom prst="line">
            <a:avLst/>
          </a:prstGeom>
          <a:noFill/>
          <a:ln w="12700">
            <a:solidFill>
              <a:srgbClr val="E7D9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1936" y="3657600"/>
            <a:ext cx="2980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exceed the act threshold at the intended 150-WPM listening pace. Only the two deep formats are honest.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is a hand-set label, never computed from word count. The product ships as audiobook at 150 WPM, but the labels imply 125–364 WPM with no formula.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DURATION IS DETERMINED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word→minute formula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7922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Hand-set label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12140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format's duration_minutes is typed into format_registry.yaml. It is never derived from the word count.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8163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WPM constant exists — and it's only for measuring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31455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tts_wpm: 150 lives in duration_scorecard.yaml, used solely by the read-only adherence scorecard — never to set the advertised number.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840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pace = 150 WPM (audiobook)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416966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twice: the config, and OVERLAY_SPEC §413 — “read the atom sequence aloud at TTS pace (flat, 150 WPM).”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46904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8646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honest label 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519379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 = words ÷ 150   ·   ebook = words ÷ 230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4206240" cy="393192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WPM, BY FORMAT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hand-set label assumes you read 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763524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deep_book_4h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only honest one)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364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60120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B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its 20k cap)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4526280"/>
            <a:ext cx="356616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4663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audiobook pace = 150 WPM.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2.9× spread with no formula behind 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THE MARKETING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150 WPM, almost everything runs long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5895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91640"/>
            <a:ext cx="2971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2396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“15-min micro” is ~25 min. A “1-hour standard” is 2h23m.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95360" y="3246120"/>
            <a:ext cx="2971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23960" y="3429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EDITION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23960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230 WPM the small formats are ~honest, but the big ones run short (deep_4h −42%).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0" y="4846320"/>
            <a:ext cx="2971800" cy="128016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23960" y="5074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honest pair: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deep_book_4h  ·  deep_book_6h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FAILURE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which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44068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overshoots its own word cap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788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exceeds word_range[max]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538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3538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depth-fill pins to the cap, render adds ~+7%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2885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42885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standard_book (94%); minor compact tails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0383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503834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— and partly self-masked by raising the cap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1783080"/>
            <a:ext cx="5440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783080"/>
            <a:ext cx="5440680" cy="77724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advertised duration is just wrong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788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duration_minutes ≠ words ÷ 150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66560" y="3538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3538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hand-set label, no formula, implied 125–364 WPM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6560" y="42885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42885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format — 7 act, 1 note, 2 fine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0" y="50383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503834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&amp; large — up to +161%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problem is Mode 2. </a:t>
            </a:r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duration-derivation fix resolves most of it; Mode 1 is a small, concentrated cleanup.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OFFENDER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standard_book: the cap moved, the label never did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737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677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377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54680" y="2103120"/>
            <a:ext cx="1737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22677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5468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377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0" y="2103120"/>
            <a:ext cx="1737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22677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again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2377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818120" y="2103120"/>
            <a:ext cx="1737360" cy="1143000"/>
          </a:xfrm>
          <a:prstGeom prst="rect">
            <a:avLst/>
          </a:prstGeom>
          <a:solidFill>
            <a:srgbClr val="B23A2E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2677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21.5k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81812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cap, raised three times to absorb the overshoot — masking it rather than fixing 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min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6012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since the 13k 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977640"/>
            <a:ext cx="5440680" cy="196596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AUDIOBOOK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2h 23m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6766560" y="5440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+161% · 21,514 words ÷ 150 WPM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BAND — LISTENING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format lands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017520" cy="685800"/>
          </a:xfrm>
          <a:prstGeom prst="rect">
            <a:avLst/>
          </a:prstGeom>
          <a:solidFill>
            <a:srgbClr val="4F7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94560" y="1847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±15%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deep_book_6h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31720" y="27432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deep_book_4h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3291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1783080"/>
            <a:ext cx="301752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0" y="1783080"/>
            <a:ext cx="30175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1847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extended_book_2h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15000" y="27432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1783080"/>
            <a:ext cx="489204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1783080"/>
            <a:ext cx="4892040" cy="68580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18470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835640" y="1847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standard_book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0" y="2743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+161%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80960" y="32004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200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compact_5ch_15min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0" y="3200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80960" y="36576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657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compact_5ch_20min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80960" y="41148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micro_book_15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0" y="4114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80960" y="45720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572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compact_8ch_30min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0" y="45720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80960" y="50292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5029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micro_book_20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0" y="5029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680960" y="54864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5486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short_book_30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972800" y="5486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680960" y="5943600"/>
            <a:ext cx="4343400" cy="0"/>
          </a:xfrm>
          <a:prstGeom prst="line">
            <a:avLst/>
          </a:prstGeom>
          <a:noFill/>
          <a:ln w="6350">
            <a:solidFill>
              <a:srgbClr val="F0E7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 · 1 note · 2 fine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labels, not the books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23444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933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every format's advertised duration from its real word target.  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 = words ÷ 150   ·   ebook = words ÷ 230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65176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200400"/>
            <a:ext cx="91440" cy="2057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wpm math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formats: replace the hand-set label with the derived pair.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3200400"/>
            <a:ext cx="265176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3200400"/>
            <a:ext cx="91440" cy="2057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 tweaks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39312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standard_book 20k→22k; compact formats +5% headroom (Mode 1 tails).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265176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200400"/>
            <a:ext cx="91440" cy="2057400"/>
          </a:xfrm>
          <a:prstGeom prst="rect">
            <a:avLst/>
          </a:prstGeom>
          <a:solidFill>
            <a:srgbClr val="4F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deep_book_4h &amp; deep_book_6h — already within tolerance.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69680" y="3200400"/>
            <a:ext cx="265176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3200400"/>
            <a:ext cx="91440" cy="205740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0" name="Text 18"/>
          <p:cNvSpPr/>
          <p:nvPr/>
        </p:nvSpPr>
        <p:spPr>
          <a:xfrm>
            <a:off x="9125712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stubs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25712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Group-A formats have no duration contract — add word_range + derived minutes before they ship.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Pearl_Architect spec: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duration_derivation rule + a registry schema change (duration_minutes → audiobook_minutes / ebook_minutes), plus a CI guard so word-count and minutes can never drift apart again.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decide per format. Then we ship the fix.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the new advertised minutes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tolerance table — adjust cap / fix wpm / re-advertise / accept.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84448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538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specs the derivation rule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913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words÷150 listen, words÷230 read + registry schema change.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2569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3799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PR + CI guard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durations for all 10 formats; populate the 10 stubs; lock words↔minutes.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66944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52212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audit before any CJK duration claim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596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character-count math — the English 150 WPM does not apply.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Duration Correctness Audit · 2026-06-11 · plan-only (no assembly)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Duration Correctness Audit</dc:title>
  <dc:subject>PptxGenJS Presentation</dc:subject>
  <dc:creator>Pearl_Prime</dc:creator>
  <cp:lastModifiedBy>Pearl_Prime</cp:lastModifiedBy>
  <cp:revision>1</cp:revision>
  <dcterms:created xsi:type="dcterms:W3CDTF">2026-06-11T22:30:00Z</dcterms:created>
  <dcterms:modified xsi:type="dcterms:W3CDTF">2026-06-11T22:30:00Z</dcterms:modified>
</cp:coreProperties>
</file>