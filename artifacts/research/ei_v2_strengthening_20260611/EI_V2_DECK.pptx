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040880" y="-1280160"/>
            <a:ext cx="3840480" cy="3840480"/>
          </a:xfrm>
          <a:prstGeom prst="ellipse">
            <a:avLst/>
          </a:prstGeom>
          <a:solidFill>
            <a:srgbClr val="2A2218"/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-457200"/>
            <a:ext cx="2011680" cy="2011680"/>
          </a:xfrm>
          <a:prstGeom prst="ellipse">
            <a:avLst/>
          </a:prstGeom>
          <a:solidFill>
            <a:srgbClr val="F0A50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34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ENLIGHTENED INTELLIGENCE v2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it the engine you envisioned?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48640" y="27889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verification of what EI v2 is today — then the stronger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9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synthesis-engine architecture, the roadmap, and the one piece that matters most.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794760"/>
            <a:ext cx="2926080" cy="0"/>
          </a:xfrm>
          <a:prstGeom prst="line">
            <a:avLst/>
          </a:prstGeom>
          <a:noFill/>
          <a:ln w="19050">
            <a:solidFill>
              <a:srgbClr val="2A22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9502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Pearl_Research · Pearl_Architect   |   2026-06-11   |   Phoenix Omega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8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 WE TESTED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“EI v2 takes all the teachers' teachings, finds the </a:t>
            </a:r>
            <a:pPr indent="0" marL="0">
              <a:lnSpc>
                <a:spcPct val="112000"/>
              </a:lnSpc>
              <a:buNone/>
            </a:pPr>
            <a:r>
              <a:rPr lang="en-US" sz="2100" b="1" i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spiritual-root commonalities</a:t>
            </a:r>
            <a:pPr indent="0" marL="0">
              <a:lnSpc>
                <a:spcPct val="112000"/>
              </a:lnSpc>
              <a:buNone/>
            </a:pPr>
            <a:r>
              <a:rPr lang="en-US" sz="21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and produces the general books of Pearl Prime — a composite of the therapeutic self-help essence.”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548640" y="2697480"/>
            <a:ext cx="457200" cy="457200"/>
          </a:xfrm>
          <a:prstGeom prst="ellipse">
            <a:avLst/>
          </a:prstGeom>
          <a:solidFill>
            <a:srgbClr val="2A2218"/>
          </a:solidFill>
          <a:ln w="15875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411480" y="3246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Teachings → KB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36301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engineered, with spiritual-root synthesis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31720" y="27157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33472" y="2697480"/>
            <a:ext cx="457200" cy="457200"/>
          </a:xfrm>
          <a:prstGeom prst="ellipse">
            <a:avLst/>
          </a:prstGeom>
          <a:solidFill>
            <a:srgbClr val="2A2218"/>
          </a:solidFill>
          <a:ln w="15875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496312" y="3246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Psych research → personas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496312" y="36301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research-grounded targeting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16552" y="27157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718304" y="2697480"/>
            <a:ext cx="457200" cy="457200"/>
          </a:xfrm>
          <a:prstGeom prst="ellipse">
            <a:avLst/>
          </a:prstGeom>
          <a:solidFill>
            <a:srgbClr val="2A2218"/>
          </a:solidFill>
          <a:ln w="15875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81144" y="3246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research → heuristics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81144" y="36301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as felt experience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501384" y="2715768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0A500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803136" y="2697480"/>
            <a:ext cx="457200" cy="457200"/>
          </a:xfrm>
          <a:prstGeom prst="ellipse">
            <a:avLst/>
          </a:prstGeom>
          <a:solidFill>
            <a:srgbClr val="2A2218"/>
          </a:solidFill>
          <a:ln w="15875">
            <a:solidFill>
              <a:srgbClr val="F5C8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03136" y="2697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65976" y="3246120"/>
            <a:ext cx="1965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→ planner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65976" y="3630168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9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 tuning of catalog + book plans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verified this honestly against the built code. The truth is on the next slide.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8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82296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VERDICT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Today, EI v2 is a scorer — not the engine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scores already-generated atoms at the editorial gate and nudges 5 weights by a moving average. </a:t>
            </a:r>
            <a:pPr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synthesis, the optimizer, and the loop are vision, not build.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74520"/>
            <a:ext cx="1874520" cy="91440"/>
          </a:xfrm>
          <a:prstGeom prst="rect">
            <a:avLst/>
          </a:prstGeom>
          <a:solidFill>
            <a:srgbClr val="5E8B7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 / 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40080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built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vision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33472" y="18745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33472" y="1874520"/>
            <a:ext cx="1874520" cy="91440"/>
          </a:xfrm>
          <a:prstGeom prst="rect">
            <a:avLst/>
          </a:prstGeom>
          <a:solidFill>
            <a:srgbClr val="C2552E"/>
          </a:solidFill>
          <a:ln/>
        </p:spPr>
      </p:sp>
      <p:sp>
        <p:nvSpPr>
          <p:cNvPr id="12" name="Text 10"/>
          <p:cNvSpPr/>
          <p:nvPr/>
        </p:nvSpPr>
        <p:spPr>
          <a:xfrm>
            <a:off x="2633472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724912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genetic algorithms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repository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18304" y="18745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18304" y="1874520"/>
            <a:ext cx="1874520" cy="91440"/>
          </a:xfrm>
          <a:prstGeom prst="rect">
            <a:avLst/>
          </a:prstGeom>
          <a:solidFill>
            <a:srgbClr val="C98A1E"/>
          </a:solidFill>
          <a:ln/>
        </p:spPr>
      </p:sp>
      <p:sp>
        <p:nvSpPr>
          <p:cNvPr id="16" name="Text 14"/>
          <p:cNvSpPr/>
          <p:nvPr/>
        </p:nvSpPr>
        <p:spPr>
          <a:xfrm>
            <a:off x="4718304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 / 7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809744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records /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signals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03136" y="18745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03136" y="1874520"/>
            <a:ext cx="1874520" cy="91440"/>
          </a:xfrm>
          <a:prstGeom prst="rect">
            <a:avLst/>
          </a:prstGeom>
          <a:solidFill>
            <a:srgbClr val="C2552E"/>
          </a:solidFill>
          <a:ln/>
        </p:spPr>
      </p:sp>
      <p:sp>
        <p:nvSpPr>
          <p:cNvPr id="20" name="Text 18"/>
          <p:cNvSpPr/>
          <p:nvPr/>
        </p:nvSpPr>
        <p:spPr>
          <a:xfrm>
            <a:off x="6803136" y="2240280"/>
            <a:ext cx="1874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894576" y="31546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wirings</a:t>
            </a:r>
            <a:endParaRPr lang="en-US" sz="12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(it's post-render)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43708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knock on the work that exists — the scorer is competently built. This is the gap between built and envisioned.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82296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VS. BUILT REALITY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four-stage scorecard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61872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61872"/>
            <a:ext cx="73152" cy="777240"/>
          </a:xfrm>
          <a:prstGeom prst="rect">
            <a:avLst/>
          </a:prstGeom>
          <a:solidFill>
            <a:srgbClr val="C98A1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53312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Teachings → KB → spiritual root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11880" y="1490472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C98A1E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1490472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74920" y="1344168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+ a hand-authored composite exist; the engineered, provenanced synthesis does not — and the scorer loads a marketing lexicon KB, not the doctrine spine.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548640" y="2112264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112264"/>
            <a:ext cx="73152" cy="777240"/>
          </a:xfrm>
          <a:prstGeom prst="rect">
            <a:avLst/>
          </a:prstGeom>
          <a:solidFill>
            <a:srgbClr val="C2552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03704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Psych research → personas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11880" y="2340864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C2552E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340864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74920" y="2194560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~46 hand-authored voice profiles. The repo's own audit (RCG-013) flags them: “segments without validation source.” No research → persona derivation.</a:t>
            </a:r>
            <a:endParaRPr lang="en-US" sz="970" dirty="0"/>
          </a:p>
        </p:txBody>
      </p:sp>
      <p:sp>
        <p:nvSpPr>
          <p:cNvPr id="17" name="Shape 15"/>
          <p:cNvSpPr/>
          <p:nvPr/>
        </p:nvSpPr>
        <p:spPr>
          <a:xfrm>
            <a:off x="548640" y="2962656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962656"/>
            <a:ext cx="73152" cy="777240"/>
          </a:xfrm>
          <a:prstGeom prst="rect">
            <a:avLst/>
          </a:prstGeom>
          <a:solidFill>
            <a:srgbClr val="C98A1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054096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Somatic research → heuristics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11880" y="3191256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C98A1E"/>
          </a:solidFill>
          <a:ln/>
        </p:spPr>
      </p:sp>
      <p:sp>
        <p:nvSpPr>
          <p:cNvPr id="21" name="Text 19"/>
          <p:cNvSpPr/>
          <p:nvPr/>
        </p:nvSpPr>
        <p:spPr>
          <a:xfrm>
            <a:off x="3611880" y="3191256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74920" y="3044952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exercises_v4 is somatic-informed and somatic_precision is a live gate — but no citations, no research → heuristic provenance (RCG-007 / 022).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548640" y="3813048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813048"/>
            <a:ext cx="73152" cy="777240"/>
          </a:xfrm>
          <a:prstGeom prst="rect">
            <a:avLst/>
          </a:prstGeom>
          <a:solidFill>
            <a:srgbClr val="C2552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904488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Genetic algorithm → planner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611880" y="4041648"/>
            <a:ext cx="1325880" cy="310896"/>
          </a:xfrm>
          <a:prstGeom prst="roundRect">
            <a:avLst>
              <a:gd name="adj" fmla="val 50000"/>
            </a:avLst>
          </a:prstGeom>
          <a:solidFill>
            <a:srgbClr val="C2552E"/>
          </a:solidFill>
          <a:ln/>
        </p:spPr>
      </p:sp>
      <p:sp>
        <p:nvSpPr>
          <p:cNvPr id="27" name="Text 25"/>
          <p:cNvSpPr/>
          <p:nvPr/>
        </p:nvSpPr>
        <p:spPr>
          <a:xfrm>
            <a:off x="3611880" y="4041648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74920" y="3895344"/>
            <a:ext cx="340156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7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GA primitives in the repo. An EMA nudges 5 weights at the post-render editorial gate; the catalog &amp; chapter planners never import EI v2.</a:t>
            </a:r>
            <a:endParaRPr lang="en-US" sz="970" dirty="0"/>
          </a:p>
        </p:txBody>
      </p:sp>
      <p:sp>
        <p:nvSpPr>
          <p:cNvPr id="29" name="Text 27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82296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ACTUALLY IS TODAY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weighted-sum scorer at the wrong stage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783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5727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catalog_planner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EI v2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331720" y="1481328"/>
            <a:ext cx="301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0A500"/>
                </a:solidFill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633472" y="1417320"/>
            <a:ext cx="1783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33472" y="15727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chapter_planner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33472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EI v2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16552" y="1481328"/>
            <a:ext cx="301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0A500"/>
                </a:solidFill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4718304" y="1417320"/>
            <a:ext cx="178308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18304" y="15727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 prose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01384" y="1481328"/>
            <a:ext cx="301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0A500"/>
                </a:solidFill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803136" y="1417320"/>
            <a:ext cx="1783080" cy="868680"/>
          </a:xfrm>
          <a:prstGeom prst="rect">
            <a:avLst/>
          </a:prstGeom>
          <a:solidFill>
            <a:srgbClr val="1A1714"/>
          </a:solidFill>
          <a:ln w="19050">
            <a:solidFill>
              <a:srgbClr val="F5C84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03136" y="15727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bestseller_editor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03136" y="19202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v2 HERE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903720" y="2286000"/>
            <a:ext cx="0" cy="502920"/>
          </a:xfrm>
          <a:prstGeom prst="line">
            <a:avLst/>
          </a:prstGeom>
          <a:noFill/>
          <a:ln w="19050">
            <a:solidFill>
              <a:srgbClr val="F0A50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86400" y="2788920"/>
            <a:ext cx="2834640" cy="640080"/>
          </a:xfrm>
          <a:prstGeom prst="rect">
            <a:avLst/>
          </a:prstGeom>
          <a:solidFill>
            <a:srgbClr val="2A2218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27889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 learner → 5 weights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(45 records · 7 positive)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2788920"/>
            <a:ext cx="4663440" cy="1417320"/>
          </a:xfrm>
          <a:prstGeom prst="rect">
            <a:avLst/>
          </a:prstGeom>
          <a:solidFill>
            <a:srgbClr val="FBF1D8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9077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154680"/>
            <a:ext cx="4297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scorer's composite and its learner tune </a:t>
            </a:r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dimension sets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duration_fit is scored but not learned; emotion_arc is learned but not scored. A system assembled from parts, with </a:t>
            </a:r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C255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fidelity objective at all.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109728" cy="27432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GAP, IN ONE 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68680" y="160020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 v2 scores and lightly re-weights finished content.
</a:t>
            </a:r>
            <a:pPr indent="0" marL="0">
              <a:lnSpc>
                <a:spcPct val="118000"/>
              </a:lnSpc>
              <a:buNone/>
            </a:pPr>
            <a:r>
              <a:rPr lang="en-US" sz="2600" b="1" dirty="0">
                <a:solidFill>
                  <a:srgbClr val="F5C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does not synthesize, derive, evolve, plan, or close the loop.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68680" y="361188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C9B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it is a competent editorial scorer wearing the name of a synthesis engine. The good news: the missing two-thirds is designable from what already exists.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8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82296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STRONGER VERSION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scorer to synthesis engine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54203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2542032" cy="457200"/>
          </a:xfrm>
          <a:prstGeom prst="rect">
            <a:avLst/>
          </a:prstGeom>
          <a:solidFill>
            <a:srgbClr val="5E8B7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UNIVERSAL ESSENCE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all 15 teachers point at — the composite spiritual root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64408" y="1325880"/>
            <a:ext cx="254203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4408" y="1325880"/>
            <a:ext cx="2542032" cy="4572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3258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29000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Aimed at this reader's suffering, language, and scripts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80176" y="1325880"/>
            <a:ext cx="2542032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0176" y="1325880"/>
            <a:ext cx="2542032" cy="45720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5" name="Text 13"/>
          <p:cNvSpPr/>
          <p:nvPr/>
        </p:nvSpPr>
        <p:spPr>
          <a:xfrm>
            <a:off x="6071616" y="13258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DELIVERY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44768" y="18745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 as felt body-experience, not abstraction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090672" y="178308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806440" y="1783080"/>
            <a:ext cx="173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×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" y="28803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optimized against an explicit 3-objective fitness, by the right optimizer per sub-problem, made smarter by a guarded feedback loop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" y="3547872"/>
            <a:ext cx="329184" cy="32918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78992" y="3429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fitness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64408" y="342900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0" y="3547872"/>
            <a:ext cx="329184" cy="32918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794760" y="3429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Spiritual-root synthesis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0176" y="3429000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99048" y="3547872"/>
            <a:ext cx="329184" cy="32918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3547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510528" y="342900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model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4142232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67512" y="4261104"/>
            <a:ext cx="329184" cy="32918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" y="4261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78992" y="41422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feedback loop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64408" y="4142232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3280" y="4261104"/>
            <a:ext cx="329184" cy="32918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38" name="Text 36"/>
          <p:cNvSpPr/>
          <p:nvPr/>
        </p:nvSpPr>
        <p:spPr>
          <a:xfrm>
            <a:off x="3383280" y="4261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794760" y="41422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980176" y="4142232"/>
            <a:ext cx="2542032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99048" y="4261104"/>
            <a:ext cx="329184" cy="329184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42" name="Text 40"/>
          <p:cNvSpPr/>
          <p:nvPr/>
        </p:nvSpPr>
        <p:spPr>
          <a:xfrm>
            <a:off x="6099048" y="4261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510528" y="4142232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optimizer per job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82296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STRENGTHENER 1 · HIGHEST LEVERAGE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explicit multi-objective fitness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658368" y="120700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the single weighted-sum (provably can't reach non-convex trade-offs; invites reward hacking) with three independent channels — and protect fidelity as a floor.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5603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828800"/>
            <a:ext cx="2560320" cy="566928"/>
          </a:xfrm>
          <a:prstGeom prst="rect">
            <a:avLst/>
          </a:prstGeom>
          <a:solidFill>
            <a:srgbClr val="5E8B7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THERAPEUTIC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5E8B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713232" y="312724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precision · integration / dwell-beat · arc validity · outcome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5603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828800"/>
            <a:ext cx="2560320" cy="56692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2468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0A5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456432" y="3127248"/>
            <a:ext cx="22311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hooks · tension · bestseller beat-fit · listen experience · completion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828800"/>
            <a:ext cx="2560320" cy="187452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828800"/>
            <a:ext cx="2560320" cy="566928"/>
          </a:xfrm>
          <a:prstGeom prst="rect">
            <a:avLst/>
          </a:prstGeom>
          <a:solidFill>
            <a:srgbClr val="2A2218"/>
          </a:solidFill>
          <a:ln/>
        </p:spPr>
      </p:sp>
      <p:sp>
        <p:nvSpPr>
          <p:cNvPr id="18" name="Text 16"/>
          <p:cNvSpPr/>
          <p:nvPr/>
        </p:nvSpPr>
        <p:spPr>
          <a:xfrm>
            <a:off x="6035040" y="182880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FIDELITY  Φ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99632" y="2487168"/>
            <a:ext cx="2231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E7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coverage · alignment · non-contradiction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3163824"/>
            <a:ext cx="2103120" cy="310896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1" name="Text 19"/>
          <p:cNvSpPr/>
          <p:nvPr/>
        </p:nvSpPr>
        <p:spPr>
          <a:xfrm>
            <a:off x="6263640" y="3163824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FLOOR  τΦ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26480" y="351129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D4C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objective today's system entirely lacks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toward the Pareto set, not one collapsed number. Fidelity can never be bought back with engagement.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82296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STRENGTHENER 2 · THE HEART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Spiritual-root synthesis → Composite Essence Graph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417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teacher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A500"/>
                </a:solidFill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176272" y="141732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76272" y="1417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(contrastive)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76272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E8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47872" y="146304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A500"/>
                </a:solidFill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803904" y="141732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803904" y="1417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(BERTopic)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03904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E8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75504" y="146304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A500"/>
                </a:solidFill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31536" y="141732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31536" y="1417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coref-merge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teachers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31536" y="230428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5E8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803136" y="1463040"/>
            <a:ext cx="2560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0A500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059168" y="141732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059168" y="14173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</a:t>
            </a:r>
            <a:endParaRPr lang="en-US" sz="1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provenance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059168" y="2304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2880360"/>
            <a:ext cx="8046720" cy="1371600"/>
          </a:xfrm>
          <a:prstGeom prst="rect">
            <a:avLst/>
          </a:prstGeom>
          <a:solidFill>
            <a:srgbClr val="1A1714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2880360"/>
            <a:ext cx="91440" cy="13716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01752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ESSENCE GRAPH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77240" y="3310128"/>
            <a:ext cx="7635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typed, provenanced graph: node = a root concept all teachers converge on, with convergence-strength; edges = each teacher's instantiation + its somatic affordance. </a:t>
            </a:r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“spiritual-root fidelity” measurable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is what makes a book Pearl Prime rather than “teacher X's book.”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82296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REST OF THE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Targeting · loop · validation · optimizer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73152" cy="1417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447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Targeting model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essence × persona × somatic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0025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universal root, aimed at a persona's suffering, delivered as felt experience — the layers that take one essence to 12 locales.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325880"/>
            <a:ext cx="73152" cy="1417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4475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Closed feedback loop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73736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→ fitness, safely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92040" y="2002536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/ sales / engagement update the fitness via a contextual bandit + off-policy evaluation. Guards against reward-hacking &amp; catalog collapse.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2898648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898648"/>
            <a:ext cx="73152" cy="1417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175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Validation gate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3101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nothing unvalidated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5753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 or somatic heuristic may drive the optimizer only after passing construct + predictive validity. Answers RCG-013 / 007 / 022.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898648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898648"/>
            <a:ext cx="73152" cy="141732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3017520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Right optimizer per job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3101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for plans · BO for knobs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5753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0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Evolutionary/memetic search for combinatorial atom select+sequence; noise-aware Bayesian optimization for the few continuous weights. Retires the EMA.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82296" cy="475488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6576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0A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FROM HERE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" y="576072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Roadmap: P0 → P1 → P2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542032" cy="3017520"/>
          </a:xfrm>
          <a:prstGeom prst="rect">
            <a:avLst/>
          </a:prstGeom>
          <a:solidFill>
            <a:srgbClr val="FFFFFF"/>
          </a:solidFill>
          <a:ln w="25400">
            <a:solidFill>
              <a:srgbClr val="F5C84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2542032" cy="71323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37160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Multi-objective fitness (T·E·Φ)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Spiritual-root synthesis → CEG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(gated) ratify the cap entry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31520" y="3730752"/>
            <a:ext cx="2194560" cy="0"/>
          </a:xfrm>
          <a:prstGeom prst="line">
            <a:avLst/>
          </a:prstGeom>
          <a:noFill/>
          <a:ln w="12700">
            <a:solidFill>
              <a:srgbClr val="E3DCC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depends on these two. Build first.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64408" y="1325880"/>
            <a:ext cx="254203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4408" y="1325880"/>
            <a:ext cx="2542032" cy="713232"/>
          </a:xfrm>
          <a:prstGeom prst="rect">
            <a:avLst/>
          </a:prstGeom>
          <a:solidFill>
            <a:srgbClr val="5E8B72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37160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133088" y="137160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OPTIMIZERS + VALIDATION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447288" y="21945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qNEHVI BO replaces the EMA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/ memetic in book planner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 · targeting model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3447288" y="3730752"/>
            <a:ext cx="2194560" cy="0"/>
          </a:xfrm>
          <a:prstGeom prst="line">
            <a:avLst/>
          </a:prstGeom>
          <a:noFill/>
          <a:ln w="12700">
            <a:solidFill>
              <a:srgbClr val="E3DC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47288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P0 merges. Don't stack on unmerged work.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0176" y="1325880"/>
            <a:ext cx="2542032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DCCF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80176" y="1325880"/>
            <a:ext cx="2542032" cy="71323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1" name="Text 19"/>
          <p:cNvSpPr/>
          <p:nvPr/>
        </p:nvSpPr>
        <p:spPr>
          <a:xfrm>
            <a:off x="6144768" y="1371600"/>
            <a:ext cx="914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48856" y="1371600"/>
            <a:ext cx="1554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CLOSE THE LOOP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63056" y="219456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for the catalog portfolio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+ OPE feedback loop</a:t>
            </a:r>
            <a:endParaRPr lang="en-US" sz="108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080" dirty="0">
                <a:solidFill>
                  <a:srgbClr val="1A1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RLAIF rubric · research backfill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6163056" y="3730752"/>
            <a:ext cx="2194560" cy="0"/>
          </a:xfrm>
          <a:prstGeom prst="line">
            <a:avLst/>
          </a:prstGeom>
          <a:noFill/>
          <a:ln w="12700">
            <a:solidFill>
              <a:srgbClr val="E3DC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63056" y="37947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P1 merges; gated on validation passing.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80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6304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024128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the foundations. Get the fitness right —</a:t>
            </a:r>
            <a:endParaRPr lang="en-US" sz="24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rest of your architecture is exactly correct.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2395728"/>
            <a:ext cx="365760" cy="36576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395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39572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reviews this deck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944368"/>
            <a:ext cx="365760" cy="36576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2944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9443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P0: fitness + spiritual-root synthesis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3493008"/>
            <a:ext cx="365760" cy="36576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4930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Pearl_Architect ratifies the cap (gated, post-settle)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4041648"/>
            <a:ext cx="365760" cy="36576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7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404164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Pearl_Dev / Pearl_Research build it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4622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Truth first — then the powerful version.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691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D8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 v2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321040" y="48691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D8C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 v2 — Verification + Strengthened Architecture</dc:title>
  <dc:subject>PptxGenJS Presentation</dc:subject>
  <dc:creator>Pearl_Research + Pearl_Architect</dc:creator>
  <cp:lastModifiedBy>Pearl_Research + Pearl_Architect</cp:lastModifiedBy>
  <cp:revision>1</cp:revision>
  <dcterms:created xsi:type="dcterms:W3CDTF">2026-06-12T05:46:58Z</dcterms:created>
  <dcterms:modified xsi:type="dcterms:W3CDTF">2026-06-12T05:46:58Z</dcterms:modified>
</cp:coreProperties>
</file>