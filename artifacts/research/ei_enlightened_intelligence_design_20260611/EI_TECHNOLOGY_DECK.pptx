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EI = the technology that takes the living teachers' wisdom and applies it to Gen Z / Gen Alpha's real struggles. Free, local, faithful. Forum palette flagged.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 Z/Alpha figures are indicative (see EI_RESEARCH_SOURCES #32 — secondary aggregator, trace to primary before quoting publicly). The point: the need is acute and the teachers answer it; EI is the bridge.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 v2 is a thermometer — it grades. We are building the engine. Everything to the right is buildable, free, and local. PR #1516 is the near-term floor we consume, not conflict with.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operator pillar maps to one buildable subsystem with a poetic name. The next five slides take each one in turn: SOTA, the frontier swing, and what we recommend.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Knowledge: stop storing quotes; build a living graph. The spine is the universal root made queryable; the 15 decoders keep each master's voice. Provenance + doctrine-as-SHACL make fidelity architectural, not aspirational.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Psychology: the persona becomes a reactive reader-agent (the EGS pattern, proven to track human raters). Advisory at first; later a fitness driver, continually calibrated against real reviews. Validity guardrails: anonymized ensembles, real data outranks the sim.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Somatic: the felt-arc becomes a designed state machine, optimizable. Honest science: polyvagal is a build-system metaphor; reader-facing claims anchor to breath/interoception evidence (the Stanford cyclic-sighing RCT). Stealth doctrine keeps clinical terms off the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Evolution: QD gives a garden of diverse, high-fitness books, not one optimum — exactly what a 37-brand catalog needs. The local LLM keeps mutations coherent. It wraps PR #1516's NSGA-II/qNEHVI as the in-niche optimizer.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ML: the EMA becomes a real learning loop. KTO is ideal because Phoenix's signal is sparse binary (sold / returned / finished). Anti-Goodhart: fidelity floor + KL-to-reference + frozen judge + operator merge-gate. The 16GB ceiling is NOT binding — 14B trains in 8.5GB.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slide. Read the loop left to right, then the gold feedback arc right to left. Every pillar feeds the next; the last feeds the first. That is what 'living' means — and it all runs on one computer we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swings that connect two pillars each. All have buildability notes in the design doc. They are gated behind a working P1 — never the first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scalarize the three — that IS the EMA failure and is trivially reward-hacked. T and E trade on a Pareto front inside QD niches; F is a feasibility floor engagement cannot cross. That single design choice is the integrity guarantee.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Integrity is enforced by architecture, not goodwill. These map to the design doc's 8 guarantees. The teachers are real, living masters — the tech amplifies their essence, never impersonates or dilutes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constraint that makes EI defensible AND ownable: it runs on hardware we control, with open-source tools, for no per-word cost. The 16GB GPU is enough — 14B fine-tuning fits in 8.5GB.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phase ships standalone value. P0 are near-term wins riding existing structure + PR #1516. P1 is the engine. P2 are the gated moonshots. The smallest first step proves the two highest-leverage ideas on pure CPU.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vision. Then the ask: operator chooses directions/moonshots → Architect specs (gated, post-settle) → build on Pearl Star. This deck doubles as the forum's EI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43A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0" y="-1463040"/>
            <a:ext cx="4937760" cy="4937760"/>
          </a:xfrm>
          <a:prstGeom prst="ellipse">
            <a:avLst/>
          </a:prstGeom>
          <a:solidFill>
            <a:srgbClr val="8158F0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040880" y="1463040"/>
            <a:ext cx="3291840" cy="3291840"/>
          </a:xfrm>
          <a:prstGeom prst="ellipse">
            <a:avLst/>
          </a:prstGeom>
          <a:solidFill>
            <a:srgbClr val="F4C56A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35508" y="1097280"/>
            <a:ext cx="0" cy="320040"/>
          </a:xfrm>
          <a:prstGeom prst="line">
            <a:avLst/>
          </a:prstGeom>
          <a:noFill/>
          <a:ln w="12700">
            <a:solidFill>
              <a:srgbClr val="9B7B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5508" y="1554480"/>
            <a:ext cx="0" cy="320040"/>
          </a:xfrm>
          <a:prstGeom prst="line">
            <a:avLst/>
          </a:prstGeom>
          <a:noFill/>
          <a:ln w="12700">
            <a:solidFill>
              <a:srgbClr val="9B7BFF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5508" y="2011680"/>
            <a:ext cx="0" cy="320040"/>
          </a:xfrm>
          <a:prstGeom prst="line">
            <a:avLst/>
          </a:prstGeom>
          <a:noFill/>
          <a:ln w="12700">
            <a:solidFill>
              <a:srgbClr val="9B7BFF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5508" y="2468880"/>
            <a:ext cx="0" cy="320040"/>
          </a:xfrm>
          <a:prstGeom prst="line">
            <a:avLst/>
          </a:prstGeom>
          <a:noFill/>
          <a:ln w="12700">
            <a:solidFill>
              <a:srgbClr val="9B7BFF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5508" y="2926080"/>
            <a:ext cx="0" cy="320040"/>
          </a:xfrm>
          <a:prstGeom prst="line">
            <a:avLst/>
          </a:prstGeom>
          <a:noFill/>
          <a:ln w="12700">
            <a:solidFill>
              <a:srgbClr val="9B7BFF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960120"/>
            <a:ext cx="137160" cy="137160"/>
          </a:xfrm>
          <a:prstGeom prst="ellipse">
            <a:avLst/>
          </a:prstGeom>
          <a:solidFill>
            <a:srgbClr val="F4C56A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1417320"/>
            <a:ext cx="137160" cy="137160"/>
          </a:xfrm>
          <a:prstGeom prst="ellipse">
            <a:avLst/>
          </a:prstGeom>
          <a:solidFill>
            <a:srgbClr val="9B7BFF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874520"/>
            <a:ext cx="137160" cy="137160"/>
          </a:xfrm>
          <a:prstGeom prst="ellipse">
            <a:avLst/>
          </a:prstGeom>
          <a:solidFill>
            <a:srgbClr val="9B7BFF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2331720"/>
            <a:ext cx="137160" cy="137160"/>
          </a:xfrm>
          <a:prstGeom prst="ellipse">
            <a:avLst/>
          </a:prstGeom>
          <a:solidFill>
            <a:srgbClr val="9B7B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66928" y="2788920"/>
            <a:ext cx="137160" cy="137160"/>
          </a:xfrm>
          <a:prstGeom prst="ellipse">
            <a:avLst/>
          </a:prstGeom>
          <a:solidFill>
            <a:srgbClr val="9B7B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66928" y="3246120"/>
            <a:ext cx="137160" cy="137160"/>
          </a:xfrm>
          <a:prstGeom prst="ellipse">
            <a:avLst/>
          </a:prstGeom>
          <a:solidFill>
            <a:srgbClr val="9B7BFF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914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F4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PEARL_RESEARCH  ·  FRONTIER-DESIGN MODE  ·  2026-06-11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88720" y="13258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Enlightened</a:t>
            </a:r>
            <a:endParaRPr lang="en-US" sz="5800" dirty="0"/>
          </a:p>
        </p:txBody>
      </p:sp>
      <p:sp>
        <p:nvSpPr>
          <p:cNvPr id="18" name="Text 16"/>
          <p:cNvSpPr/>
          <p:nvPr/>
        </p:nvSpPr>
        <p:spPr>
          <a:xfrm>
            <a:off x="1188720" y="2212848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9B7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</a:t>
            </a:r>
            <a:endParaRPr lang="en-US" sz="5800" dirty="0"/>
          </a:p>
        </p:txBody>
      </p:sp>
      <p:sp>
        <p:nvSpPr>
          <p:cNvPr id="19" name="Text 17"/>
          <p:cNvSpPr/>
          <p:nvPr/>
        </p:nvSpPr>
        <p:spPr>
          <a:xfrm>
            <a:off x="1234440" y="331012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Ancient wisdom, met to a young person where they actually are —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363931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living technology that is free, local, and faithful to the teachers.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42062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BB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pillars made real  ·  the living loop  ·  the moonshots  ·  the free / local build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234440" y="45720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 palette (indigo · violet · white). For the United Spiritual Leaders Forum EI pitch.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8158F0"/>
          </a:solidFill>
          <a:ln/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53035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5120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15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MISSION THIS TECHNOLOGY SERVES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57200" y="10789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211A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Fifteen living masters. A generation in pain.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2286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6DFFB"/>
            </a:solidFill>
            <a:prstDash val="solid"/>
          </a:ln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239572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15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~60%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3054096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1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Gen Z report a diagnosed anxiety condition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46120" y="2286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6DFFB"/>
            </a:solidFill>
            <a:prstDash val="solid"/>
          </a:ln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429000" y="239572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15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3429000" y="3054096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1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they feel lonely — the loneliest cohort on record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035040" y="2286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6DFFB"/>
            </a:solidFill>
            <a:prstDash val="solid"/>
          </a:ln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217920" y="239572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15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53%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6217920" y="3054096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1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doomscroll daily; meaning and stillness are scarce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7200" y="3886200"/>
            <a:ext cx="8229600" cy="841248"/>
          </a:xfrm>
          <a:prstGeom prst="roundRect">
            <a:avLst>
              <a:gd name="adj" fmla="val 8696"/>
            </a:avLst>
          </a:prstGeom>
          <a:solidFill>
            <a:srgbClr val="221B54"/>
          </a:solidFill>
          <a:ln w="12700">
            <a:solidFill>
              <a:srgbClr val="E6DFFB"/>
            </a:solidFill>
            <a:prstDash val="solid"/>
          </a:ln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85800" y="40233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teachers carry what the moment is starving for. </a:t>
            </a:r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E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is the bridge — it renders their essence as healing a specific young person can feel, without distorting the wisdom or paying a cloud API.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57200" y="48143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Enlightened Intelligence  ·  Frontier Design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321040" y="48143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6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8158F0"/>
          </a:solidFill>
          <a:ln/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53035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5120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15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VS EI V2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57200" y="10789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211A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 thermometer to an engine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783080"/>
            <a:ext cx="402336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6DFFB"/>
            </a:solidFill>
            <a:prstDash val="solid"/>
          </a:ln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783080"/>
            <a:ext cx="4023360" cy="502920"/>
          </a:xfrm>
          <a:prstGeom prst="rect">
            <a:avLst/>
          </a:prstGeom>
          <a:solidFill>
            <a:srgbClr val="766E9E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8105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v2  ·  today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58368" y="243230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150" dirty="0">
                <a:solidFill>
                  <a:srgbClr val="211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weighted-sum editorial SCORER that grades a finished book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58368" y="28620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150" dirty="0">
                <a:solidFill>
                  <a:srgbClr val="211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YAML: 2,418 atoms as {id, band, body, teacher}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58368" y="3291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150" dirty="0">
                <a:solidFill>
                  <a:srgbClr val="211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= a static 0.3 weight that never reads the prose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58368" y="37216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150" dirty="0">
                <a:solidFill>
                  <a:srgbClr val="211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Somatic = counting body-words per chapter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58368" y="415137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150" dirty="0">
                <a:solidFill>
                  <a:srgbClr val="211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“Learning” = an EMA nudging five numbers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663440" y="1783080"/>
            <a:ext cx="4023360" cy="2880360"/>
          </a:xfrm>
          <a:prstGeom prst="roundRect">
            <a:avLst>
              <a:gd name="adj" fmla="val 2540"/>
            </a:avLst>
          </a:prstGeom>
          <a:solidFill>
            <a:srgbClr val="221B54"/>
          </a:solidFill>
          <a:ln w="12700">
            <a:solidFill>
              <a:srgbClr val="E6DFFB"/>
            </a:solidFill>
            <a:prstDash val="solid"/>
          </a:ln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63440" y="1783080"/>
            <a:ext cx="4023360" cy="502920"/>
          </a:xfrm>
          <a:prstGeom prst="rect">
            <a:avLst/>
          </a:prstGeom>
          <a:solidFill>
            <a:srgbClr val="8158F0"/>
          </a:solidFill>
          <a:ln/>
        </p:spPr>
      </p:sp>
      <p:sp>
        <p:nvSpPr>
          <p:cNvPr id="16" name="Text 13"/>
          <p:cNvSpPr/>
          <p:nvPr/>
        </p:nvSpPr>
        <p:spPr>
          <a:xfrm>
            <a:off x="4846320" y="18105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 ·  this design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864608" y="243230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→"/>
            </a:pPr>
            <a:r>
              <a:rPr lang="en-US" sz="1150" dirty="0">
                <a:solidFill>
                  <a:srgbClr val="E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generative + evolutionary + learning ENGINE, wired to the planners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864608" y="28620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→"/>
            </a:pPr>
            <a:r>
              <a:rPr lang="en-US" sz="1150" dirty="0">
                <a:solidFill>
                  <a:srgbClr val="E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provenance graph: universal spine + 15 authentic voices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864608" y="3291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→"/>
            </a:pPr>
            <a:r>
              <a:rPr lang="en-US" sz="1150" dirty="0">
                <a:solidFill>
                  <a:srgbClr val="E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= a generative agent that reads + reports felt response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864608" y="37216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→"/>
            </a:pPr>
            <a:r>
              <a:rPr lang="en-US" sz="1150" dirty="0">
                <a:solidFill>
                  <a:srgbClr val="E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Somatic = a designed nervous-system itinerary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864608" y="415137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→"/>
            </a:pPr>
            <a:r>
              <a:rPr lang="en-US" sz="1150" dirty="0">
                <a:solidFill>
                  <a:srgbClr val="E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Continual local LoRA — the models themselves improve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57200" y="48143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Enlightened Intelligence  ·  Frontier Design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321040" y="48143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6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2377440"/>
            <a:ext cx="4754880" cy="4754880"/>
          </a:xfrm>
          <a:prstGeom prst="ellipse">
            <a:avLst/>
          </a:prstGeom>
          <a:solidFill>
            <a:srgbClr val="8158F0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F4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OPERATOR'S FIVE PILLARS — MADE REAL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pillars become five subsystems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2C2468"/>
          </a:solidFill>
          <a:ln w="12700">
            <a:solidFill>
              <a:srgbClr val="352B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" y="1655064"/>
            <a:ext cx="457200" cy="457200"/>
          </a:xfrm>
          <a:prstGeom prst="ellipse">
            <a:avLst/>
          </a:prstGeom>
          <a:solidFill>
            <a:srgbClr val="8158F0"/>
          </a:solidFill>
          <a:ln/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719072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60020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C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783080" y="160020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Living Wisdom Graph   </a:t>
            </a:r>
            <a:pPr indent="0" marL="0">
              <a:buNone/>
            </a:pPr>
            <a:r>
              <a:rPr lang="en-US" sz="1200" i="1" dirty="0">
                <a:solidFill>
                  <a:srgbClr val="9B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Spine”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126480" y="160020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B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Engineering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258568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2C2468"/>
          </a:solidFill>
          <a:ln w="12700">
            <a:solidFill>
              <a:srgbClr val="352B7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03504" y="2313432"/>
            <a:ext cx="457200" cy="457200"/>
          </a:xfrm>
          <a:prstGeom prst="ellipse">
            <a:avLst/>
          </a:prstGeom>
          <a:solidFill>
            <a:srgbClr val="8158F0"/>
          </a:solidFill>
          <a:ln/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377440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88720" y="2258568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C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1783080" y="2258568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Reader Council   </a:t>
            </a:r>
            <a:pPr indent="0" marL="0">
              <a:buNone/>
            </a:pPr>
            <a:r>
              <a:rPr lang="en-US" sz="1200" i="1" dirty="0">
                <a:solidFill>
                  <a:srgbClr val="9B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Mirror”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126480" y="225856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B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Psychological Modeling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57200" y="2916936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2C2468"/>
          </a:solidFill>
          <a:ln w="12700">
            <a:solidFill>
              <a:srgbClr val="352B7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03504" y="2971800"/>
            <a:ext cx="457200" cy="457200"/>
          </a:xfrm>
          <a:prstGeom prst="ellipse">
            <a:avLst/>
          </a:prstGeom>
          <a:solidFill>
            <a:srgbClr val="8158F0"/>
          </a:solidFill>
          <a:ln/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035808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88720" y="291693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C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783080" y="2916936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Felt-Arc State Machine   </a:t>
            </a:r>
            <a:pPr indent="0" marL="0">
              <a:buNone/>
            </a:pPr>
            <a:r>
              <a:rPr lang="en-US" sz="1200" i="1" dirty="0">
                <a:solidFill>
                  <a:srgbClr val="9B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Breath”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126480" y="291693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B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Somatic Heuristics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57200" y="3575304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2C2468"/>
          </a:solidFill>
          <a:ln w="12700">
            <a:solidFill>
              <a:srgbClr val="352B7A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03504" y="3630168"/>
            <a:ext cx="457200" cy="457200"/>
          </a:xfrm>
          <a:prstGeom prst="ellipse">
            <a:avLst/>
          </a:prstGeom>
          <a:solidFill>
            <a:srgbClr val="8158F0"/>
          </a:solidFill>
          <a:ln/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3694176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188720" y="3575304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C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1783080" y="3575304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Quality-Diversity Garden   </a:t>
            </a:r>
            <a:pPr indent="0" marL="0">
              <a:buNone/>
            </a:pPr>
            <a:r>
              <a:rPr lang="en-US" sz="1200" i="1" dirty="0">
                <a:solidFill>
                  <a:srgbClr val="9B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Garden”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6126480" y="357530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B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Genetic Algorithms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457200" y="4233672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2C2468"/>
          </a:solidFill>
          <a:ln w="12700">
            <a:solidFill>
              <a:srgbClr val="352B7A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603504" y="4288536"/>
            <a:ext cx="457200" cy="457200"/>
          </a:xfrm>
          <a:prstGeom prst="ellipse">
            <a:avLst/>
          </a:prstGeom>
          <a:solidFill>
            <a:srgbClr val="8158F0"/>
          </a:solidFill>
          <a:ln/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4352544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188720" y="4233672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C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33" name="Text 26"/>
          <p:cNvSpPr/>
          <p:nvPr/>
        </p:nvSpPr>
        <p:spPr>
          <a:xfrm>
            <a:off x="1783080" y="423367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Continual Learning Flywheel   </a:t>
            </a:r>
            <a:pPr indent="0" marL="0">
              <a:buNone/>
            </a:pPr>
            <a:r>
              <a:rPr lang="en-US" sz="1200" i="1" dirty="0">
                <a:solidFill>
                  <a:srgbClr val="9B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Tide”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6126480" y="423367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B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457200" y="48143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B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Enlightened Intelligence  ·  Frontier Design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8321040" y="48143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BB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03504" cy="603504"/>
          </a:xfrm>
          <a:prstGeom prst="ellipse">
            <a:avLst/>
          </a:prstGeom>
          <a:solidFill>
            <a:srgbClr val="8158F0"/>
          </a:solidFill>
          <a:ln/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53035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15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01  ·  KNOWLEDGE ENGINEERING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88720" y="713232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Living Wisdom Graph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508760"/>
            <a:ext cx="4617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6DFFB"/>
            </a:solidFill>
            <a:prstDash val="solid"/>
          </a:ln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8368" y="16276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76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58368" y="184708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1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 stored in flat YAML, no shared structure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58368" y="2286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15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58368" y="2505456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15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 that knows each voice AND the shared root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257800" y="150876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221B54"/>
          </a:solidFill>
          <a:ln w="12700">
            <a:solidFill>
              <a:srgbClr val="E6DFFB"/>
            </a:solidFill>
            <a:prstDash val="solid"/>
          </a:ln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440680" y="1591056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4C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→ 1</a:t>
            </a:r>
            <a:endParaRPr lang="en-US" sz="3300" dirty="0"/>
          </a:p>
        </p:txBody>
      </p:sp>
      <p:sp>
        <p:nvSpPr>
          <p:cNvPr id="13" name="Text 10"/>
          <p:cNvSpPr/>
          <p:nvPr/>
        </p:nvSpPr>
        <p:spPr>
          <a:xfrm>
            <a:off x="5440680" y="224942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voices, one spine — surfaced, never flattened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7200" y="3035808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6DFFB"/>
            </a:solidFill>
            <a:prstDash val="solid"/>
          </a:ln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1792" y="3163824"/>
            <a:ext cx="384048" cy="384048"/>
          </a:xfrm>
          <a:prstGeom prst="ellipse">
            <a:avLst/>
          </a:prstGeom>
          <a:solidFill>
            <a:srgbClr val="221B54"/>
          </a:solidFill>
          <a:ln/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3218688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43000" y="316382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4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FRONTIER MOVE WE RECOMMEND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1143000" y="3419856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1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a universal “Contemplative Spine” by clustering every atom across all 15 traditions (Leiden communities), while each teacher stays a distinct “decoder.” Ask “how do all 15 handle impermanence?” → 15 authentic answers pointing at one root node. Provenance is built-in: every sentence traces to an approved atom.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57200" y="43708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15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/ local:  </a:t>
            </a:r>
            <a:pPr indent="0" marL="0">
              <a:buNone/>
            </a:pPr>
            <a:r>
              <a:rPr lang="en-US" sz="1050" dirty="0">
                <a:solidFill>
                  <a:srgbClr val="76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 + leidenalg + BERTopic + an oxigraph/SHACL provenance store. CPU-minutes; zero GPU pressure.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457200" y="48143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Enlightened Intelligence  ·  Frontier Design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8321040" y="48143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6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03504" cy="603504"/>
          </a:xfrm>
          <a:prstGeom prst="ellipse">
            <a:avLst/>
          </a:prstGeom>
          <a:solidFill>
            <a:srgbClr val="8158F0"/>
          </a:solidFill>
          <a:ln/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53035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15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02  ·  PSYCHOLOGICAL MODELING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88720" y="713232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Reader Council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508760"/>
            <a:ext cx="4617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6DFFB"/>
            </a:solidFill>
            <a:prstDash val="solid"/>
          </a:ln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8368" y="16276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76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58368" y="184708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1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= a 0.3 weight that never sees the words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58368" y="2286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15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58368" y="2505456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15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= a mind that reads the draft and reacts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257800" y="150876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221B54"/>
          </a:solidFill>
          <a:ln w="12700">
            <a:solidFill>
              <a:srgbClr val="E6DFFB"/>
            </a:solidFill>
            <a:prstDash val="solid"/>
          </a:ln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440680" y="1591056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4C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“seen”</a:t>
            </a:r>
            <a:endParaRPr lang="en-US" sz="3300" dirty="0"/>
          </a:p>
        </p:txBody>
      </p:sp>
      <p:sp>
        <p:nvSpPr>
          <p:cNvPr id="13" name="Text 10"/>
          <p:cNvSpPr/>
          <p:nvPr/>
        </p:nvSpPr>
        <p:spPr>
          <a:xfrm>
            <a:off x="5440680" y="224942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“preached-at” — now a measured signal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7200" y="3035808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6DFFB"/>
            </a:solidFill>
            <a:prstDash val="solid"/>
          </a:ln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1792" y="3163824"/>
            <a:ext cx="384048" cy="384048"/>
          </a:xfrm>
          <a:prstGeom prst="ellipse">
            <a:avLst/>
          </a:prstGeom>
          <a:solidFill>
            <a:srgbClr val="221B54"/>
          </a:solidFill>
          <a:ln/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3218688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43000" y="316382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4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FRONTIER MOVE WE RECOMMEND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1143000" y="3419856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1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persona becomes a generative agent (on local Gemma/Qwen) that READS a chapter and returns a beat-by-beat felt response: where resonance drops, what objection rises, where it feels preached-at vs truly seen — grounded in CBT / IFS / Self-Determination. Content can finally be optimized against simulated young readers.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57200" y="43708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15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/ local:  </a:t>
            </a:r>
            <a:pPr indent="0" marL="0">
              <a:buNone/>
            </a:pPr>
            <a:r>
              <a:rPr lang="en-US" sz="1050" dirty="0">
                <a:solidFill>
                  <a:srgbClr val="76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gemma3:27b/qwen2.5:14b + Outlines structured output. ~10–20s per chapter; 13 personas batch nightly.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457200" y="48143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Enlightened Intelligence  ·  Frontier Design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8321040" y="48143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6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03504" cy="603504"/>
          </a:xfrm>
          <a:prstGeom prst="ellipse">
            <a:avLst/>
          </a:prstGeom>
          <a:solidFill>
            <a:srgbClr val="8158F0"/>
          </a:solidFill>
          <a:ln/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53035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15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03  ·  SOMATIC HEURISTICS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88720" y="713232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Felt-Arc State Machine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508760"/>
            <a:ext cx="4617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6DFFB"/>
            </a:solidFill>
            <a:prstDash val="solid"/>
          </a:ln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8368" y="16276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76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58368" y="184708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1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body-words per chapter (a bag of words)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58368" y="2286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15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58368" y="2505456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15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designed journey through nervous-system states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257800" y="150876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221B54"/>
          </a:solidFill>
          <a:ln w="12700">
            <a:solidFill>
              <a:srgbClr val="E6DFFB"/>
            </a:solidFill>
            <a:prstDash val="solid"/>
          </a:ln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440680" y="1591056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4C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activation</a:t>
            </a:r>
            <a:endParaRPr lang="en-US" sz="3300" dirty="0"/>
          </a:p>
        </p:txBody>
      </p:sp>
      <p:sp>
        <p:nvSpPr>
          <p:cNvPr id="13" name="Text 10"/>
          <p:cNvSpPr/>
          <p:nvPr/>
        </p:nvSpPr>
        <p:spPr>
          <a:xfrm>
            <a:off x="5440680" y="224942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co-regulation → ventral safety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7200" y="3035808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6DFFB"/>
            </a:solidFill>
            <a:prstDash val="solid"/>
          </a:ln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1792" y="3163824"/>
            <a:ext cx="384048" cy="384048"/>
          </a:xfrm>
          <a:prstGeom prst="ellipse">
            <a:avLst/>
          </a:prstGeom>
          <a:solidFill>
            <a:srgbClr val="221B54"/>
          </a:solidFill>
          <a:ln/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3218688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43000" y="316382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4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FRONTIER MOVE WE RECOMMEND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1143000" y="3419856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1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 becomes an explicit autonomic itinerary — activation → titrated contact → co-regulation → integration → settled safety — measured by a content→state estimator that adds an AROUSAL axis (not just valence). In audio, the narrator's exhale pacing breathes the listener toward ~6 breaths/min. The vocabulary never appears on the page — wisdom lands as lived experience.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57200" y="43708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15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/ local:  </a:t>
            </a:r>
            <a:pPr indent="0" marL="0">
              <a:buNone/>
            </a:pPr>
            <a:r>
              <a:rPr lang="en-US" sz="1050" dirty="0">
                <a:solidFill>
                  <a:srgbClr val="76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NRC-VAD lexicon + numpy/regex (CPU, milliseconds) + CosyVoice2 prosody. Already pre-figured in the somatic spine YAML.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457200" y="48143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Enlightened Intelligence  ·  Frontier Design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8321040" y="48143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6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03504" cy="603504"/>
          </a:xfrm>
          <a:prstGeom prst="ellipse">
            <a:avLst/>
          </a:prstGeom>
          <a:solidFill>
            <a:srgbClr val="8158F0"/>
          </a:solidFill>
          <a:ln/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53035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15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04  ·  ORGANIC GENETIC ALGORITHMS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88720" y="713232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Quality-Diversity Garden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508760"/>
            <a:ext cx="4617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6DFFB"/>
            </a:solidFill>
            <a:prstDash val="solid"/>
          </a:ln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8368" y="16276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76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58368" y="184708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1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 at all — an EMA nudging five weights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58368" y="2286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15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58368" y="2505456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15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Breed the best book for each KIND of reader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257800" y="150876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221B54"/>
          </a:solidFill>
          <a:ln w="12700">
            <a:solidFill>
              <a:srgbClr val="E6DFFB"/>
            </a:solidFill>
            <a:prstDash val="solid"/>
          </a:ln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440680" y="1591056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4C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≠</a:t>
            </a:r>
            <a:endParaRPr lang="en-US" sz="3300" dirty="0"/>
          </a:p>
        </p:txBody>
      </p:sp>
      <p:sp>
        <p:nvSpPr>
          <p:cNvPr id="13" name="Text 10"/>
          <p:cNvSpPr/>
          <p:nvPr/>
        </p:nvSpPr>
        <p:spPr>
          <a:xfrm>
            <a:off x="5440680" y="224942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clickable — best PER niche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7200" y="3035808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6DFFB"/>
            </a:solidFill>
            <a:prstDash val="solid"/>
          </a:ln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1792" y="3163824"/>
            <a:ext cx="384048" cy="384048"/>
          </a:xfrm>
          <a:prstGeom prst="ellipse">
            <a:avLst/>
          </a:prstGeom>
          <a:solidFill>
            <a:srgbClr val="221B54"/>
          </a:solidFill>
          <a:ln/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3218688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43000" y="316382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4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FRONTIER MOVE WE RECOMMEND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1143000" y="3419856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1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Quality-Diversity (MAP-Elites) breeds hundreds of variations and keeps the best one in each niche — the catalog IS a grid of brand × persona × topic. A LOCAL LLM is the smart mutation operator (proposing coherent atom swaps); novelty pressure prevents every book collapsing to one formula. The product's “survival of the fittest,” made real.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57200" y="43708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15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/ local:  </a:t>
            </a:r>
            <a:pPr indent="0" marL="0">
              <a:buNone/>
            </a:pPr>
            <a:r>
              <a:rPr lang="en-US" sz="1050" dirty="0">
                <a:solidFill>
                  <a:srgbClr val="76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pyribs MAP-Elites + a local-LLM mutation operator + a 3-tier fitness (free heuristics → embedding surrogate → budgeted judge).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457200" y="48143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Enlightened Intelligence  ·  Frontier Design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8321040" y="48143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6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03504" cy="603504"/>
          </a:xfrm>
          <a:prstGeom prst="ellipse">
            <a:avLst/>
          </a:prstGeom>
          <a:solidFill>
            <a:srgbClr val="8158F0"/>
          </a:solidFill>
          <a:ln/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53035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15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05  ·  MACHINE LEARNING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88720" y="713232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Continual Learning Flywheel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508760"/>
            <a:ext cx="4617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6DFFB"/>
            </a:solidFill>
            <a:prstDash val="solid"/>
          </a:ln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8368" y="16276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76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58368" y="184708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1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EMA moving average over five numbers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58368" y="2286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15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58368" y="2505456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15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generators, the judge, and the fitness all learn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257800" y="150876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221B54"/>
          </a:solidFill>
          <a:ln w="12700">
            <a:solidFill>
              <a:srgbClr val="E6DFFB"/>
            </a:solidFill>
            <a:prstDash val="solid"/>
          </a:ln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440680" y="1591056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4C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3300" dirty="0"/>
          </a:p>
        </p:txBody>
      </p:sp>
      <p:sp>
        <p:nvSpPr>
          <p:cNvPr id="13" name="Text 10"/>
          <p:cNvSpPr/>
          <p:nvPr/>
        </p:nvSpPr>
        <p:spPr>
          <a:xfrm>
            <a:off x="5440680" y="224942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LLM cost — all local, all OSS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7200" y="3035808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6DFFB"/>
            </a:solidFill>
            <a:prstDash val="solid"/>
          </a:ln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1792" y="3163824"/>
            <a:ext cx="384048" cy="384048"/>
          </a:xfrm>
          <a:prstGeom prst="ellipse">
            <a:avLst/>
          </a:prstGeom>
          <a:solidFill>
            <a:srgbClr val="221B54"/>
          </a:solidFill>
          <a:ln/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3218688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43000" y="316382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4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FRONTIER MOVE WE RECOMMEND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1143000" y="3419856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1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signal — editor edits, reviews, completion, sales — becomes preference data that fine-tunes the local models (KTO/DPO LoRA on Gemma/Qwen). A frozen “Wisdom-Constitution” judge keeps the target on fidelity, never clickbait. Merging folds in new learning without forgetting. Every cycle, wisdom-delivery measurably improves.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57200" y="43708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15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/ local:  </a:t>
            </a:r>
            <a:pPr indent="0" marL="0">
              <a:buNone/>
            </a:pPr>
            <a:r>
              <a:rPr lang="en-US" sz="1050" dirty="0">
                <a:solidFill>
                  <a:srgbClr val="76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PEFT + TRL + Unsloth + mergekit. 14B QLoRA ≈ 8.5GB — fits Pearl Star with headroom. Idle-window training.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457200" y="48143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Enlightened Intelligence  ·  Frontier Design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8321040" y="48143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6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-1645920"/>
            <a:ext cx="4937760" cy="4937760"/>
          </a:xfrm>
          <a:prstGeom prst="ellipse">
            <a:avLst/>
          </a:prstGeom>
          <a:solidFill>
            <a:srgbClr val="8158F0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8158F0"/>
          </a:solidFill>
          <a:ln/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5303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5120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F4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INTEGRATED LIVING SYSTEM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143000" y="74980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closed loop — the “living” claim, made real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502920" y="1783080"/>
            <a:ext cx="1463040" cy="1371600"/>
          </a:xfrm>
          <a:prstGeom prst="roundRect">
            <a:avLst>
              <a:gd name="adj" fmla="val 4667"/>
            </a:avLst>
          </a:prstGeom>
          <a:solidFill>
            <a:srgbClr val="2C2468"/>
          </a:solidFill>
          <a:ln w="12700">
            <a:solidFill>
              <a:srgbClr val="815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96696" y="1901952"/>
            <a:ext cx="475488" cy="475488"/>
          </a:xfrm>
          <a:prstGeom prst="ellipse">
            <a:avLst/>
          </a:prstGeom>
          <a:solidFill>
            <a:srgbClr val="8158F0"/>
          </a:solidFill>
          <a:ln/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196596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2920" y="23957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Spine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02920" y="26700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CBB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wisdom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CBB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synthesized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947672" y="1783080"/>
            <a:ext cx="2011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B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2130552" y="1783080"/>
            <a:ext cx="1463040" cy="1371600"/>
          </a:xfrm>
          <a:prstGeom prst="roundRect">
            <a:avLst>
              <a:gd name="adj" fmla="val 4667"/>
            </a:avLst>
          </a:prstGeom>
          <a:solidFill>
            <a:srgbClr val="2C2468"/>
          </a:solidFill>
          <a:ln w="12700">
            <a:solidFill>
              <a:srgbClr val="8158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624328" y="1901952"/>
            <a:ext cx="475488" cy="475488"/>
          </a:xfrm>
          <a:prstGeom prst="ellipse">
            <a:avLst/>
          </a:prstGeom>
          <a:solidFill>
            <a:srgbClr val="8158F0"/>
          </a:solidFill>
          <a:ln/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8336" y="1965960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130552" y="23957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+ 03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2130552" y="26700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CBB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by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CBB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 + breath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3575304" y="1783080"/>
            <a:ext cx="2011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B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3758184" y="1783080"/>
            <a:ext cx="1463040" cy="1371600"/>
          </a:xfrm>
          <a:prstGeom prst="roundRect">
            <a:avLst>
              <a:gd name="adj" fmla="val 4667"/>
            </a:avLst>
          </a:prstGeom>
          <a:solidFill>
            <a:srgbClr val="2C2468"/>
          </a:solidFill>
          <a:ln w="12700">
            <a:solidFill>
              <a:srgbClr val="815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251960" y="1901952"/>
            <a:ext cx="475488" cy="475488"/>
          </a:xfrm>
          <a:prstGeom prst="ellipse">
            <a:avLst/>
          </a:prstGeom>
          <a:solidFill>
            <a:srgbClr val="8158F0"/>
          </a:solidFill>
          <a:ln/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1965960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758184" y="23957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Garden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3758184" y="26700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CBB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CBB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evolved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5202936" y="1783080"/>
            <a:ext cx="2011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B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5385816" y="1783080"/>
            <a:ext cx="1463040" cy="1371600"/>
          </a:xfrm>
          <a:prstGeom prst="roundRect">
            <a:avLst>
              <a:gd name="adj" fmla="val 4667"/>
            </a:avLst>
          </a:prstGeom>
          <a:solidFill>
            <a:srgbClr val="2C2468"/>
          </a:solidFill>
          <a:ln w="12700">
            <a:solidFill>
              <a:srgbClr val="8158F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5879592" y="1901952"/>
            <a:ext cx="475488" cy="475488"/>
          </a:xfrm>
          <a:prstGeom prst="ellipse">
            <a:avLst/>
          </a:prstGeom>
          <a:solidFill>
            <a:srgbClr val="8158F0"/>
          </a:solidFill>
          <a:ln/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1965960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85816" y="23957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5385816" y="26700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CBB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· audio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CBB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6830568" y="1783080"/>
            <a:ext cx="2011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B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4"/>
          <p:cNvSpPr/>
          <p:nvPr/>
        </p:nvSpPr>
        <p:spPr>
          <a:xfrm>
            <a:off x="7013448" y="1783080"/>
            <a:ext cx="1463040" cy="1371600"/>
          </a:xfrm>
          <a:prstGeom prst="roundRect">
            <a:avLst>
              <a:gd name="adj" fmla="val 4667"/>
            </a:avLst>
          </a:prstGeom>
          <a:solidFill>
            <a:srgbClr val="2C2468"/>
          </a:solidFill>
          <a:ln w="19050">
            <a:solidFill>
              <a:srgbClr val="8158F0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7507224" y="1901952"/>
            <a:ext cx="475488" cy="475488"/>
          </a:xfrm>
          <a:prstGeom prst="ellipse">
            <a:avLst/>
          </a:prstGeom>
          <a:solidFill>
            <a:srgbClr val="F4C56A"/>
          </a:solidFill>
          <a:ln/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1232" y="1965960"/>
            <a:ext cx="347472" cy="34747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013448" y="23957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Tide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7013448" y="26700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CBB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signal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CBB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learns</a:t>
            </a:r>
            <a:endParaRPr lang="en-US" sz="950" dirty="0"/>
          </a:p>
        </p:txBody>
      </p:sp>
      <p:sp>
        <p:nvSpPr>
          <p:cNvPr id="36" name="Shape 28"/>
          <p:cNvSpPr/>
          <p:nvPr/>
        </p:nvSpPr>
        <p:spPr>
          <a:xfrm>
            <a:off x="822960" y="3611880"/>
            <a:ext cx="7406640" cy="18288"/>
          </a:xfrm>
          <a:prstGeom prst="rect">
            <a:avLst/>
          </a:prstGeom>
          <a:solidFill>
            <a:srgbClr val="F4C56A"/>
          </a:solidFill>
          <a:ln/>
        </p:spPr>
      </p:sp>
      <p:sp>
        <p:nvSpPr>
          <p:cNvPr id="37" name="Shape 29"/>
          <p:cNvSpPr/>
          <p:nvPr/>
        </p:nvSpPr>
        <p:spPr>
          <a:xfrm>
            <a:off x="822960" y="3154680"/>
            <a:ext cx="0" cy="457200"/>
          </a:xfrm>
          <a:prstGeom prst="line">
            <a:avLst/>
          </a:prstGeom>
          <a:noFill/>
          <a:ln w="19050">
            <a:solidFill>
              <a:srgbClr val="F4C56A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8229600" y="3154680"/>
            <a:ext cx="0" cy="457200"/>
          </a:xfrm>
          <a:prstGeom prst="line">
            <a:avLst/>
          </a:prstGeom>
          <a:noFill/>
          <a:ln w="19050">
            <a:solidFill>
              <a:srgbClr val="F4C56A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822960" y="36576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4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◄  every cycle, the graph enriches · the personas recalibrate · the fitness sharpens · the models improve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640080" y="41605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Teachings feed the Spine; the Spine is targeted through the Mirror + the Breath; the Garden evolves the content against a fitness whose floor is spiritual fidelity; delivery yields real-world signal; the Tide learns — and feeds the Spine. Nothing in the loop needs a paid API.</a:t>
            </a:r>
            <a:endParaRPr lang="en-US" sz="1150" dirty="0"/>
          </a:p>
        </p:txBody>
      </p:sp>
      <p:sp>
        <p:nvSpPr>
          <p:cNvPr id="41" name="Text 33"/>
          <p:cNvSpPr/>
          <p:nvPr/>
        </p:nvSpPr>
        <p:spPr>
          <a:xfrm>
            <a:off x="457200" y="48143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B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Enlightened Intelligence  ·  Frontier Design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8321040" y="48143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BB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8158F0"/>
          </a:solidFill>
          <a:ln/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53035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51206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15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PILLARS CONNECT IN WAYS NO ONE HAS SHIPPED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57200" y="10789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211A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moonshots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78308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6DFFB"/>
            </a:solidFill>
            <a:prstDash val="solid"/>
          </a:ln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783080"/>
            <a:ext cx="82296" cy="822960"/>
          </a:xfrm>
          <a:prstGeom prst="rect">
            <a:avLst/>
          </a:prstGeom>
          <a:solidFill>
            <a:srgbClr val="8158F0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1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Spine as the Genome   </a:t>
            </a:r>
            <a:pPr indent="0" marL="0">
              <a:buNone/>
            </a:pPr>
            <a:r>
              <a:rPr lang="en-US" sz="1000" b="1" dirty="0">
                <a:solidFill>
                  <a:srgbClr val="815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× 04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85800" y="2148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76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 a book as a path through the universal spine; pick which teacher voices each step for this reader.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63440" y="178308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6DFFB"/>
            </a:solidFill>
            <a:prstDash val="solid"/>
          </a:ln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783080"/>
            <a:ext cx="82296" cy="822960"/>
          </a:xfrm>
          <a:prstGeom prst="rect">
            <a:avLst/>
          </a:prstGeom>
          <a:solidFill>
            <a:srgbClr val="8158F0"/>
          </a:solidFill>
          <a:ln/>
        </p:spPr>
      </p:sp>
      <p:sp>
        <p:nvSpPr>
          <p:cNvPr id="12" name="Text 9"/>
          <p:cNvSpPr/>
          <p:nvPr/>
        </p:nvSpPr>
        <p:spPr>
          <a:xfrm>
            <a:off x="489204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1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Bred Against Simulated Minds   </a:t>
            </a:r>
            <a:pPr indent="0" marL="0">
              <a:buNone/>
            </a:pPr>
            <a:r>
              <a:rPr lang="en-US" sz="1000" b="1" dirty="0">
                <a:solidFill>
                  <a:srgbClr val="815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× 04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892040" y="2148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76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 content against the Reader Council; co-evolve the readers to be harder to move (virulence-controlled).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7200" y="2679192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6DFFB"/>
            </a:solidFill>
            <a:prstDash val="solid"/>
          </a:ln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2679192"/>
            <a:ext cx="82296" cy="822960"/>
          </a:xfrm>
          <a:prstGeom prst="rect">
            <a:avLst/>
          </a:prstGeom>
          <a:solidFill>
            <a:srgbClr val="8158F0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2770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1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Somatic Conductor   </a:t>
            </a:r>
            <a:pPr indent="0" marL="0">
              <a:buNone/>
            </a:pPr>
            <a:r>
              <a:rPr lang="en-US" sz="1000" b="1" dirty="0">
                <a:solidFill>
                  <a:srgbClr val="815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× 04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85800" y="30449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76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 text + manga + voice together so the whole artifact executes one nervous-system arc.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663440" y="2679192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6DFFB"/>
            </a:solidFill>
            <a:prstDash val="solid"/>
          </a:ln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663440" y="2679192"/>
            <a:ext cx="82296" cy="822960"/>
          </a:xfrm>
          <a:prstGeom prst="rect">
            <a:avLst/>
          </a:prstGeom>
          <a:solidFill>
            <a:srgbClr val="8158F0"/>
          </a:solidFill>
          <a:ln/>
        </p:spPr>
      </p:sp>
      <p:sp>
        <p:nvSpPr>
          <p:cNvPr id="20" name="Text 17"/>
          <p:cNvSpPr/>
          <p:nvPr/>
        </p:nvSpPr>
        <p:spPr>
          <a:xfrm>
            <a:off x="4892040" y="2770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1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Self-Enriching Spine   </a:t>
            </a:r>
            <a:pPr indent="0" marL="0">
              <a:buNone/>
            </a:pPr>
            <a:r>
              <a:rPr lang="en-US" sz="1000" b="1" dirty="0">
                <a:solidFill>
                  <a:srgbClr val="815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× 01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892040" y="30449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76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learns which cross-tradition moves heal which struggles — from what actually resonates.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57200" y="3575304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6DFFB"/>
            </a:solidFill>
            <a:prstDash val="solid"/>
          </a:ln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57200" y="3575304"/>
            <a:ext cx="82296" cy="822960"/>
          </a:xfrm>
          <a:prstGeom prst="rect">
            <a:avLst/>
          </a:prstGeom>
          <a:solidFill>
            <a:srgbClr val="8158F0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" y="366674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1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Predict-Before-You-Render   </a:t>
            </a:r>
            <a:pPr indent="0" marL="0">
              <a:buNone/>
            </a:pPr>
            <a:r>
              <a:rPr lang="en-US" sz="1000" b="1" dirty="0">
                <a:solidFill>
                  <a:srgbClr val="815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× 05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85800" y="3941064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76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simulated readers forecast whether a book will land — before a dollar is spent rendering it.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57200" y="44988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11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is real technique on real OSS libs (pyribs · DEAP · CosyVoice2 · networkx · scikit-learn) — research-grade, gated behind a stable floor. No “AI magic.”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57200" y="48143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Enlightened Intelligence  ·  Frontier Design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321040" y="48143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6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8158F0"/>
          </a:solidFill>
          <a:ln/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53035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5120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F4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CRUX — EVERYTHING DEPENDS ON THIS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143000" y="74980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Therapeutic × Resonant × Faithful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536192"/>
            <a:ext cx="4023360" cy="1280160"/>
          </a:xfrm>
          <a:prstGeom prst="roundRect">
            <a:avLst>
              <a:gd name="adj" fmla="val 5000"/>
            </a:avLst>
          </a:prstGeom>
          <a:solidFill>
            <a:srgbClr val="2C2468"/>
          </a:solidFill>
          <a:ln w="12700">
            <a:solidFill>
              <a:srgbClr val="815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591056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C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1417320" y="164592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Therapeutic efficacy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417320" y="197510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E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it move the nervous system to genuine safety?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417320" y="25054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BB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objective — Pareto-traded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663440" y="1536192"/>
            <a:ext cx="4023360" cy="1280160"/>
          </a:xfrm>
          <a:prstGeom prst="roundRect">
            <a:avLst>
              <a:gd name="adj" fmla="val 5000"/>
            </a:avLst>
          </a:prstGeom>
          <a:solidFill>
            <a:srgbClr val="2C2468"/>
          </a:solidFill>
          <a:ln w="12700">
            <a:solidFill>
              <a:srgbClr val="815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1591056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C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4400" dirty="0"/>
          </a:p>
        </p:txBody>
      </p:sp>
      <p:sp>
        <p:nvSpPr>
          <p:cNvPr id="13" name="Text 10"/>
          <p:cNvSpPr/>
          <p:nvPr/>
        </p:nvSpPr>
        <p:spPr>
          <a:xfrm>
            <a:off x="5623560" y="164592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Gen-Z / Alpha resonance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623560" y="197510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E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readers feel met — not preached at?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23560" y="25054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BB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objective — Pareto-traded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57200" y="2971800"/>
            <a:ext cx="8229600" cy="822960"/>
          </a:xfrm>
          <a:prstGeom prst="rect">
            <a:avLst/>
          </a:prstGeom>
          <a:solidFill>
            <a:srgbClr val="F4C56A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" y="29718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71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 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71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Spiritual-root fidelity  =  a HARD FLOOR, never a tradeable knob.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21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can never buy it down. Below the floor → the book is non-viable, full stop.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457200" y="3977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as Quality-Diversity (coverage) × multi-objective Pareto (T↔E) × an ε-feasibility floor (F) + novelty pressure (anti-formula-collapse).  Provenance is checked inside the feasibility test — integrity lives in the optimizer, not in a hope.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48143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B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Enlightened Intelligence  ·  Frontier Design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321040" y="48143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BB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8158F0"/>
          </a:solidFill>
          <a:ln/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53035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5120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15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NON-NEGOTIABLE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57200" y="10789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211A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Spiritual integrity, guaranteed by architecture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457200" y="178308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6DFFB"/>
            </a:solidFill>
            <a:prstDash val="solid"/>
          </a:ln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03504" y="1920240"/>
            <a:ext cx="530352" cy="530352"/>
          </a:xfrm>
          <a:prstGeom prst="ellipse">
            <a:avLst/>
          </a:prstGeom>
          <a:solidFill>
            <a:srgbClr val="8158F0"/>
          </a:solidFill>
          <a:ln/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993392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18928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1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by construction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280160" y="2157984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76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sentence traces to an approved, teacher-vetted atom — ungrounded text cannot ship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4663440" y="178308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6DFFB"/>
            </a:solidFill>
            <a:prstDash val="solid"/>
          </a:ln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809744" y="1920240"/>
            <a:ext cx="530352" cy="530352"/>
          </a:xfrm>
          <a:prstGeom prst="ellipse">
            <a:avLst/>
          </a:prstGeom>
          <a:solidFill>
            <a:srgbClr val="8158F0"/>
          </a:solidFill>
          <a:ln/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896" y="1993392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86400" y="18928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1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homogenization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5486400" y="2157984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76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collapsing 15 voices into one generic tone is a measurable failure the system penalizes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457200" y="2688336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6DFFB"/>
            </a:solidFill>
            <a:prstDash val="solid"/>
          </a:ln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03504" y="2825496"/>
            <a:ext cx="530352" cy="530352"/>
          </a:xfrm>
          <a:prstGeom prst="ellipse">
            <a:avLst/>
          </a:prstGeom>
          <a:solidFill>
            <a:srgbClr val="8158F0"/>
          </a:solidFill>
          <a:ln/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2898648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80160" y="27980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1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Doctrine as executable law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1280160" y="3063240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76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teacher's forbidden claims become SHACL gates that hard-block violations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4663440" y="2688336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6DFFB"/>
            </a:solidFill>
            <a:prstDash val="solid"/>
          </a:ln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809744" y="2825496"/>
            <a:ext cx="530352" cy="530352"/>
          </a:xfrm>
          <a:prstGeom prst="ellipse">
            <a:avLst/>
          </a:prstGeom>
          <a:solidFill>
            <a:srgbClr val="8158F0"/>
          </a:solidFill>
          <a:ln/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2896" y="2898648"/>
            <a:ext cx="384048" cy="38404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86400" y="27980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1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Stealth preserved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5486400" y="3063240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76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wisdom lands as lived experience — clinical/wellness jargon never reaches the page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457200" y="3593592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6DFFB"/>
            </a:solidFill>
            <a:prstDash val="solid"/>
          </a:ln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603504" y="3730752"/>
            <a:ext cx="530352" cy="530352"/>
          </a:xfrm>
          <a:prstGeom prst="ellipse">
            <a:avLst/>
          </a:prstGeom>
          <a:solidFill>
            <a:srgbClr val="8158F0"/>
          </a:solidFill>
          <a:ln/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" y="3803904"/>
            <a:ext cx="384048" cy="38404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280160" y="3703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1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frozen, value-anchored judge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1280160" y="3968496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76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what is faithful and age-appropriate; penalizes engagement-bait — and cannot drift</a:t>
            </a:r>
            <a:endParaRPr lang="en-US" sz="950" dirty="0"/>
          </a:p>
        </p:txBody>
      </p:sp>
      <p:sp>
        <p:nvSpPr>
          <p:cNvPr id="31" name="Shape 23"/>
          <p:cNvSpPr/>
          <p:nvPr/>
        </p:nvSpPr>
        <p:spPr>
          <a:xfrm>
            <a:off x="4663440" y="3593592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6DFFB"/>
            </a:solidFill>
            <a:prstDash val="solid"/>
          </a:ln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4809744" y="3730752"/>
            <a:ext cx="530352" cy="530352"/>
          </a:xfrm>
          <a:prstGeom prst="ellipse">
            <a:avLst/>
          </a:prstGeom>
          <a:solidFill>
            <a:srgbClr val="8158F0"/>
          </a:solidFill>
          <a:ln/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2896" y="3803904"/>
            <a:ext cx="384048" cy="38404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486400" y="3703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1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disposes</a:t>
            </a:r>
            <a:endParaRPr lang="en-US" sz="1200" dirty="0"/>
          </a:p>
        </p:txBody>
      </p:sp>
      <p:sp>
        <p:nvSpPr>
          <p:cNvPr id="35" name="Text 26"/>
          <p:cNvSpPr/>
          <p:nvPr/>
        </p:nvSpPr>
        <p:spPr>
          <a:xfrm>
            <a:off x="5486400" y="3968496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76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proposes; nothing becomes permanent without an operator + Architect sign-off</a:t>
            </a:r>
            <a:endParaRPr lang="en-US" sz="950" dirty="0"/>
          </a:p>
        </p:txBody>
      </p:sp>
      <p:sp>
        <p:nvSpPr>
          <p:cNvPr id="36" name="Text 27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815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never speaks AS a teacher. It recombines approved atoms — and discloses that it does. Full EI disclosure is a feature.</a:t>
            </a:r>
            <a:endParaRPr lang="en-US" sz="1100" dirty="0"/>
          </a:p>
        </p:txBody>
      </p:sp>
      <p:sp>
        <p:nvSpPr>
          <p:cNvPr id="37" name="Text 28"/>
          <p:cNvSpPr/>
          <p:nvPr/>
        </p:nvSpPr>
        <p:spPr>
          <a:xfrm>
            <a:off x="457200" y="48143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Enlightened Intelligence  ·  Frontier Design</a:t>
            </a:r>
            <a:endParaRPr lang="en-US" sz="900" dirty="0"/>
          </a:p>
        </p:txBody>
      </p:sp>
      <p:sp>
        <p:nvSpPr>
          <p:cNvPr id="38" name="Text 29"/>
          <p:cNvSpPr/>
          <p:nvPr/>
        </p:nvSpPr>
        <p:spPr>
          <a:xfrm>
            <a:off x="8321040" y="48143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6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8158F0"/>
          </a:solidFill>
          <a:ln/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53035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5120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15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THING ON ONE COMPUTER WE OWN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57200" y="10789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211A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· local · self-hosted — $0 runtime LLM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457200" y="1783080"/>
            <a:ext cx="3931920" cy="2615184"/>
          </a:xfrm>
          <a:prstGeom prst="roundRect">
            <a:avLst>
              <a:gd name="adj" fmla="val 2797"/>
            </a:avLst>
          </a:prstGeom>
          <a:solidFill>
            <a:srgbClr val="221B54"/>
          </a:solidFill>
          <a:ln w="12700">
            <a:solidFill>
              <a:srgbClr val="E6DFFB"/>
            </a:solidFill>
            <a:prstDash val="solid"/>
          </a:ln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8368" y="19019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PEARL STAR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58368" y="22311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4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~16 GB GPU  +  16 CPU threads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76656" y="259689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buSzPct val="100000"/>
              <a:buChar char="→"/>
            </a:pPr>
            <a:r>
              <a:rPr lang="en-US" sz="1050" dirty="0">
                <a:solidFill>
                  <a:srgbClr val="E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gemma3:27b — English wisdom-delivery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76656" y="293979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buSzPct val="100000"/>
              <a:buChar char="→"/>
            </a:pPr>
            <a:r>
              <a:rPr lang="en-US" sz="1050" dirty="0">
                <a:solidFill>
                  <a:srgbClr val="E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qwen2.5:14b — CJK (trains in ~8.5 GB)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76656" y="328269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buSzPct val="100000"/>
              <a:buChar char="→"/>
            </a:pPr>
            <a:r>
              <a:rPr lang="en-US" sz="1050" dirty="0">
                <a:solidFill>
                  <a:srgbClr val="E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ComfyUI / FLUX — manga &amp; covers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76656" y="362559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buSzPct val="100000"/>
              <a:buChar char="→"/>
            </a:pPr>
            <a:r>
              <a:rPr lang="en-US" sz="1050" dirty="0">
                <a:solidFill>
                  <a:srgbClr val="E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CosyVoice2 — audiobook narration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76656" y="396849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65100" indent="-165100">
              <a:buSzPct val="100000"/>
              <a:buChar char="→"/>
            </a:pPr>
            <a:r>
              <a:rPr lang="en-US" sz="1050" dirty="0">
                <a:solidFill>
                  <a:srgbClr val="E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GPU jobs serialize; CPU work runs alongside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572000" y="1828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1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open-source stack — nothing proprietary, nothing paid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72000" y="2212848"/>
            <a:ext cx="411480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6DFFB"/>
            </a:solidFill>
            <a:prstDash val="solid"/>
          </a:ln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709160" y="2212848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15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989320" y="2212848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1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 · leidenalg · oxigraph · SHACL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0" y="2670048"/>
            <a:ext cx="411480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6DFFB"/>
            </a:solidFill>
            <a:prstDash val="solid"/>
          </a:ln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709160" y="2670048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15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Council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989320" y="2670048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1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· Outlines / XGrammar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572000" y="3127248"/>
            <a:ext cx="411480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6DFFB"/>
            </a:solidFill>
            <a:prstDash val="solid"/>
          </a:ln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709160" y="3127248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15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Somatic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989320" y="3127248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1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NRC-VAD · numpy · librosa · CosyVoice2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572000" y="3584448"/>
            <a:ext cx="411480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6DFFB"/>
            </a:solidFill>
            <a:prstDash val="solid"/>
          </a:ln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4709160" y="3584448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15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Garden (QD/GA)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989320" y="3584448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1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pyribs · pymoo · BoTorch · PonyGE2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572000" y="4041648"/>
            <a:ext cx="411480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6DFFB"/>
            </a:solidFill>
            <a:prstDash val="solid"/>
          </a:ln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4709160" y="4041648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15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989320" y="4041648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1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PEFT · TRL (KTO/DPO) · Unsloth · mergekit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57200" y="44988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6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CLAUDE.md: Tier-2 (Gemma/Qwen) runs every pipeline; Tier-1 (Claude) is design-time only — never in the runtime path.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57200" y="48143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Enlightened Intelligence  ·  Frontier Design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8321040" y="48143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6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8158F0"/>
          </a:solidFill>
          <a:ln/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53035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5120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815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EI V2 TO THE LIVING LOOP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57200" y="10789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211A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roadmap that ships value at every step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457200" y="1719072"/>
            <a:ext cx="82296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6DFFB"/>
            </a:solidFill>
            <a:prstDash val="solid"/>
          </a:ln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03504" y="1865376"/>
            <a:ext cx="868680" cy="512064"/>
          </a:xfrm>
          <a:prstGeom prst="roundRect">
            <a:avLst>
              <a:gd name="adj" fmla="val 10714"/>
            </a:avLst>
          </a:prstGeom>
          <a:solidFill>
            <a:srgbClr val="8158F0"/>
          </a:solidFill>
          <a:ln/>
        </p:spPr>
      </p:sp>
      <p:sp>
        <p:nvSpPr>
          <p:cNvPr id="8" name="Text 5"/>
          <p:cNvSpPr/>
          <p:nvPr/>
        </p:nvSpPr>
        <p:spPr>
          <a:xfrm>
            <a:off x="603504" y="1865376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P0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627632" y="18288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1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substrate + cheap wins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627632" y="212140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80" dirty="0">
                <a:solidFill>
                  <a:srgbClr val="76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the Spine · arousal-axis somatic · Reader Council (advisory) · provenance gate · feedback ledger</a:t>
            </a:r>
            <a:endParaRPr lang="en-US" sz="980" dirty="0"/>
          </a:p>
        </p:txBody>
      </p:sp>
      <p:sp>
        <p:nvSpPr>
          <p:cNvPr id="11" name="Text 8"/>
          <p:cNvSpPr/>
          <p:nvPr/>
        </p:nvSpPr>
        <p:spPr>
          <a:xfrm>
            <a:off x="6263640" y="182880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15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· mostly CPU · rides PR #1516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2596896"/>
            <a:ext cx="82296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6DFFB"/>
            </a:solidFill>
            <a:prstDash val="solid"/>
          </a:ln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03504" y="2743200"/>
            <a:ext cx="868680" cy="512064"/>
          </a:xfrm>
          <a:prstGeom prst="roundRect">
            <a:avLst>
              <a:gd name="adj" fmla="val 10714"/>
            </a:avLst>
          </a:prstGeom>
          <a:solidFill>
            <a:srgbClr val="9B7BFF"/>
          </a:solidFill>
          <a:ln/>
        </p:spPr>
      </p:sp>
      <p:sp>
        <p:nvSpPr>
          <p:cNvPr id="14" name="Text 11"/>
          <p:cNvSpPr/>
          <p:nvPr/>
        </p:nvSpPr>
        <p:spPr>
          <a:xfrm>
            <a:off x="603504" y="274320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P1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627632" y="270662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1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627632" y="299923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80" dirty="0">
                <a:solidFill>
                  <a:srgbClr val="76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 Garden · continual-learning Flywheel · provenance graph + heuristics · predict-before-render calibration</a:t>
            </a:r>
            <a:endParaRPr lang="en-US" sz="980" dirty="0"/>
          </a:p>
        </p:txBody>
      </p:sp>
      <p:sp>
        <p:nvSpPr>
          <p:cNvPr id="17" name="Text 14"/>
          <p:cNvSpPr/>
          <p:nvPr/>
        </p:nvSpPr>
        <p:spPr>
          <a:xfrm>
            <a:off x="6263640" y="270662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15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quarters · the real subsystems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" y="3474720"/>
            <a:ext cx="82296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6DFFB"/>
            </a:solidFill>
            <a:prstDash val="solid"/>
          </a:ln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03504" y="3621024"/>
            <a:ext cx="868680" cy="512064"/>
          </a:xfrm>
          <a:prstGeom prst="roundRect">
            <a:avLst>
              <a:gd name="adj" fmla="val 10714"/>
            </a:avLst>
          </a:prstGeom>
          <a:solidFill>
            <a:srgbClr val="F4C56A"/>
          </a:solidFill>
          <a:ln/>
        </p:spPr>
      </p:sp>
      <p:sp>
        <p:nvSpPr>
          <p:cNvPr id="20" name="Text 17"/>
          <p:cNvSpPr/>
          <p:nvPr/>
        </p:nvSpPr>
        <p:spPr>
          <a:xfrm>
            <a:off x="603504" y="3621024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1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P2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1627632" y="35844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1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moonshots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1627632" y="387705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80" dirty="0">
                <a:solidFill>
                  <a:srgbClr val="76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Spine-as-genome · bred-against-minds · cross-modal conductor · self-enriching spine · evolve the grammar</a:t>
            </a:r>
            <a:endParaRPr lang="en-US" sz="980" dirty="0"/>
          </a:p>
        </p:txBody>
      </p:sp>
      <p:sp>
        <p:nvSpPr>
          <p:cNvPr id="23" name="Text 20"/>
          <p:cNvSpPr/>
          <p:nvPr/>
        </p:nvSpPr>
        <p:spPr>
          <a:xfrm>
            <a:off x="6263640" y="358444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4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research-grade · gated behind a stable floor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57200" y="4361688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221B54"/>
          </a:solidFill>
          <a:ln w="12700">
            <a:solidFill>
              <a:srgbClr val="E6DFFB"/>
            </a:solidFill>
            <a:prstDash val="solid"/>
          </a:ln>
          <a:effectLst>
            <a:outerShdw sx="100000" sy="100000" kx="0" ky="0" algn="bl" rotWithShape="0" blurRad="76200" dist="25400" dir="8100000">
              <a:srgbClr val="1A1340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40080" y="436168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first step:  </a:t>
            </a:r>
            <a:pPr indent="0" marL="0">
              <a:buNone/>
            </a:pPr>
            <a:r>
              <a:rPr lang="en-US" sz="1050" dirty="0">
                <a:solidFill>
                  <a:srgbClr val="E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the Spine + run the Reader Council as an advisory gate — pure CPU, zero production risk, two frontier ideas proven.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57200" y="48143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Enlightened Intelligence  ·  Frontier Design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321040" y="48143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6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7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8158F0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2377440"/>
            <a:ext cx="4023360" cy="4023360"/>
          </a:xfrm>
          <a:prstGeom prst="ellipse">
            <a:avLst/>
          </a:prstGeom>
          <a:solidFill>
            <a:srgbClr val="F4C56A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98180" y="777240"/>
            <a:ext cx="0" cy="283464"/>
          </a:xfrm>
          <a:prstGeom prst="line">
            <a:avLst/>
          </a:prstGeom>
          <a:noFill/>
          <a:ln w="12700">
            <a:solidFill>
              <a:srgbClr val="9B7BFF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98180" y="1197864"/>
            <a:ext cx="0" cy="283464"/>
          </a:xfrm>
          <a:prstGeom prst="line">
            <a:avLst/>
          </a:prstGeom>
          <a:noFill/>
          <a:ln w="12700">
            <a:solidFill>
              <a:srgbClr val="9B7B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98180" y="1618488"/>
            <a:ext cx="0" cy="283464"/>
          </a:xfrm>
          <a:prstGeom prst="line">
            <a:avLst/>
          </a:prstGeom>
          <a:noFill/>
          <a:ln w="12700">
            <a:solidFill>
              <a:srgbClr val="9B7BFF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98180" y="2039112"/>
            <a:ext cx="0" cy="283464"/>
          </a:xfrm>
          <a:prstGeom prst="line">
            <a:avLst/>
          </a:prstGeom>
          <a:noFill/>
          <a:ln w="12700">
            <a:solidFill>
              <a:srgbClr val="9B7BFF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640080"/>
            <a:ext cx="137160" cy="137160"/>
          </a:xfrm>
          <a:prstGeom prst="ellipse">
            <a:avLst/>
          </a:prstGeom>
          <a:solidFill>
            <a:srgbClr val="F4C56A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0" y="1060704"/>
            <a:ext cx="137160" cy="137160"/>
          </a:xfrm>
          <a:prstGeom prst="ellipse">
            <a:avLst/>
          </a:prstGeom>
          <a:solidFill>
            <a:srgbClr val="9B7BFF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0" y="1481328"/>
            <a:ext cx="137160" cy="137160"/>
          </a:xfrm>
          <a:prstGeom prst="ellipse">
            <a:avLst/>
          </a:prstGeom>
          <a:solidFill>
            <a:srgbClr val="9B7BFF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0" y="1901952"/>
            <a:ext cx="137160" cy="137160"/>
          </a:xfrm>
          <a:prstGeom prst="ellipse">
            <a:avLst/>
          </a:prstGeom>
          <a:solidFill>
            <a:srgbClr val="9B7BFF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0" y="2322576"/>
            <a:ext cx="137160" cy="137160"/>
          </a:xfrm>
          <a:prstGeom prst="ellipse">
            <a:avLst/>
          </a:prstGeom>
          <a:solidFill>
            <a:srgbClr val="9B7BF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F4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VISION, IN ONE BREATH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9144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Enlightened Intelligence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48640" y="1600200"/>
            <a:ext cx="7772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i="1" dirty="0">
                <a:solidFill>
                  <a:srgbClr val="E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takes the living essence of fifteen masters and renders it as a graph that knows both each voice and the root they share. It targets that wisdom through simulated young readers who say what lands and what feels preached-at, and through a model of the nervous system that designs each book as a journey to genuine settledness. It breeds hundreds of variations and keeps the most faithful one for each kind of reader — never the most clickable, because fidelity is a floor it cannot cross. Everything it ships, it learns from. And it does all of this on one computer we own, with open tools, for no per-word cost — without ever putting words in a teacher's mouth.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7772400" cy="18288"/>
          </a:xfrm>
          <a:prstGeom prst="rect">
            <a:avLst/>
          </a:prstGeom>
          <a:solidFill>
            <a:srgbClr val="8158F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06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4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BB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 picks which frontier directions + moonshots to pursue → Pearl_Architect specs the chosen build (gated) → Pearl_Dev / Pearl_Research build it on Pearl Star, local and free.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48143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B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Enlightened Intelligence  ·  Frontier Design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321040" y="48143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BB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Phoenix Omega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Enlightened Intelligence — Frontier Design</dc:title>
  <dc:subject>PptxGenJS Presentation</dc:subject>
  <dc:creator>Pearl_Research</dc:creator>
  <cp:lastModifiedBy>Pearl_Research</cp:lastModifiedBy>
  <cp:revision>1</cp:revision>
  <dcterms:created xsi:type="dcterms:W3CDTF">2026-06-12T08:02:38Z</dcterms:created>
  <dcterms:modified xsi:type="dcterms:W3CDTF">2026-06-12T08:02:38Z</dcterms:modified>
</cp:coreProperties>
</file>