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14173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PEARL_RESEARCH  ·  BESTSELLER CONSISTENCY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13232" y="1920240"/>
            <a:ext cx="10881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Making Atom-Assembled Books</a:t>
            </a:r>
            <a:endParaRPr lang="en-US" sz="46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6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Consistently Bestseller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713232" y="397764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Proven book patterns  →  fit our atoms  →  reliable cohesion, not luck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13232" y="4800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patterns cataloged   ·   4 breaks / 10 partial / 0 full-fit   ·   5 deterministic fit-moves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13232" y="616305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2026-06-11   ·   structure-only analysis (no copyrighted prose reproduced)   ·   41 sources   ·   companion to 3 research artifacts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FRAME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 — and the one-line answer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13232" y="1554480"/>
            <a:ext cx="10881360" cy="1691640"/>
          </a:xfrm>
          <a:prstGeom prst="rect">
            <a:avLst/>
          </a:prstGeom>
          <a:solidFill>
            <a:srgbClr val="EFE3D2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554480"/>
            <a:ext cx="91440" cy="16916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1033272" y="17556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9A3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OPERATOR'S WORDS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33272" y="2103120"/>
            <a:ext cx="10241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50" i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“Find patterns that ALWAYS work — chapters make sense, readers feel they're learning AND earning, by the end they've learned / grown / derived value, and the book is engaging. If we fit our atom-assembly into proven patterns, we get reliable bestseller cohesion.”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713232" y="3520440"/>
            <a:ext cx="10881360" cy="2240280"/>
          </a:xfrm>
          <a:prstGeom prst="rect">
            <a:avLst/>
          </a:prstGeom>
          <a:solidFill>
            <a:srgbClr val="0E0A0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13232" y="3520440"/>
            <a:ext cx="91440" cy="22402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1033272" y="3730752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THESIS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33272" y="4069080"/>
            <a:ext cx="10241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Bestseller cohesion is a </a:t>
            </a:r>
            <a:pPr indent="0" marL="0">
              <a:buNone/>
            </a:pPr>
            <a:r>
              <a:rPr lang="en-US" sz="2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sequencing problem over atoms we already have</a:t>
            </a:r>
            <a:pPr indent="0" marL="0">
              <a:buNone/>
            </a:pPr>
            <a:r>
              <a:rPr lang="en-US" sz="24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not a new-prose problem.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1033272" y="4983480"/>
            <a:ext cx="10241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Phoenix already encodes every primitive the patterns need — emotional_role_sequence, named-character arc_position ladders, cost_chapter_index, the metaphor registry, the THREAD slot. The patterns don't fire because the primitives are assembled scrambled — not because they're absent.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RELIABLY WORKS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rules behind every pattern that always works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58952" y="164592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6459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81912" y="1572768"/>
            <a:ext cx="1001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spine, many ribs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581912" y="1956816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promise, one big idea, one motif, one character-arc — singular through-lines every chapter hangs off.  Cohesion = singularity of through-line.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1581912" y="2459736"/>
            <a:ext cx="9875520" cy="0"/>
          </a:xfrm>
          <a:prstGeom prst="line">
            <a:avLst/>
          </a:prstGeom>
          <a:noFill/>
          <a:ln w="12700">
            <a:solidFill>
              <a:srgbClr val="E3D8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58952" y="2587752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758952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581912" y="2514600"/>
            <a:ext cx="1001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unit turns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1581912" y="2898648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scene, chapter, or part is static; each moves a value from one pole to the other.  Engagement = per-unit motion.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1581912" y="3401568"/>
            <a:ext cx="9875520" cy="0"/>
          </a:xfrm>
          <a:prstGeom prst="line">
            <a:avLst/>
          </a:prstGeom>
          <a:noFill/>
          <a:ln w="12700">
            <a:solidFill>
              <a:srgbClr val="E3D8C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8952" y="3529584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758952" y="352958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81912" y="3456432"/>
            <a:ext cx="1001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Earn before you tell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581912" y="3840480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Immersion and identification precede insight, always.  Felt change = experience-before-explanation (the bibliotherapy sequence).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1581912" y="4343400"/>
            <a:ext cx="9875520" cy="0"/>
          </a:xfrm>
          <a:prstGeom prst="line">
            <a:avLst/>
          </a:prstGeom>
          <a:noFill/>
          <a:ln w="12700">
            <a:solidFill>
              <a:srgbClr val="E3D8C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8952" y="4471416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758952" y="447141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581912" y="4398264"/>
            <a:ext cx="1001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Open, then pay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1581912" y="4782312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Curiosity gaps opened rhythmically and always closed.  Momentum = managed tension with a guaranteed payoff.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1581912" y="5285232"/>
            <a:ext cx="9875520" cy="0"/>
          </a:xfrm>
          <a:prstGeom prst="line">
            <a:avLst/>
          </a:prstGeom>
          <a:noFill/>
          <a:ln w="12700">
            <a:solidFill>
              <a:srgbClr val="E3D8C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58952" y="5413248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758952" y="54132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581912" y="5340096"/>
            <a:ext cx="10012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 in the body, changed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1581912" y="5724144"/>
            <a:ext cx="10012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on embodied re-entry, not a summary; widen at the very end.  Transformation = a consolidated felt shift.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 TODAY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our system fits — and breaks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13232" y="1572768"/>
            <a:ext cx="3444240" cy="1554480"/>
          </a:xfrm>
          <a:prstGeom prst="rect">
            <a:avLst/>
          </a:prstGeom>
          <a:solidFill>
            <a:srgbClr val="FAF6F0"/>
          </a:solidFill>
          <a:ln w="25400">
            <a:solidFill>
              <a:srgbClr val="9A341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3232" y="1627632"/>
            <a:ext cx="344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9A3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713232" y="2487168"/>
            <a:ext cx="344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BREAK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13232" y="2807208"/>
            <a:ext cx="344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violated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1792" y="1572768"/>
            <a:ext cx="3444240" cy="1554480"/>
          </a:xfrm>
          <a:prstGeom prst="rect">
            <a:avLst/>
          </a:prstGeom>
          <a:solidFill>
            <a:srgbClr val="FAF6F0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431792" y="1627632"/>
            <a:ext cx="344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5400" dirty="0"/>
          </a:p>
        </p:txBody>
      </p:sp>
      <p:sp>
        <p:nvSpPr>
          <p:cNvPr id="11" name="Text 9"/>
          <p:cNvSpPr/>
          <p:nvPr/>
        </p:nvSpPr>
        <p:spPr>
          <a:xfrm>
            <a:off x="4431792" y="2487168"/>
            <a:ext cx="344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PARTIAL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431792" y="2807208"/>
            <a:ext cx="344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present, unenforced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50352" y="1572768"/>
            <a:ext cx="3444240" cy="1554480"/>
          </a:xfrm>
          <a:prstGeom prst="rect">
            <a:avLst/>
          </a:prstGeom>
          <a:solidFill>
            <a:srgbClr val="0E0A06"/>
          </a:solidFill>
          <a:ln w="25400">
            <a:solidFill>
              <a:srgbClr val="0E0A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150352" y="1627632"/>
            <a:ext cx="344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400" dirty="0"/>
          </a:p>
        </p:txBody>
      </p:sp>
      <p:sp>
        <p:nvSpPr>
          <p:cNvPr id="15" name="Text 13"/>
          <p:cNvSpPr/>
          <p:nvPr/>
        </p:nvSpPr>
        <p:spPr>
          <a:xfrm>
            <a:off x="8150352" y="2487168"/>
            <a:ext cx="344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spc="200" kern="0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FIT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50352" y="2807208"/>
            <a:ext cx="344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C9B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(P4 · P13 · P14 closest)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3232" y="340156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 BREAKS — the patterns we actively violate: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13232" y="3822192"/>
            <a:ext cx="82296" cy="566928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19" name="Text 17"/>
          <p:cNvSpPr/>
          <p:nvPr/>
        </p:nvSpPr>
        <p:spPr>
          <a:xfrm>
            <a:off x="914400" y="382219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  Flat spine  —  </a:t>
            </a:r>
            <a:pPr indent="0" marL="0">
              <a:buNone/>
            </a:pPr>
            <a:r>
              <a:rPr lang="en-US" sz="135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12× chapter grid — no Problem→History→Knowledge→Action→Maintenance macro-arc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713232" y="4480560"/>
            <a:ext cx="82296" cy="566928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4480560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P5  No value-turn  —  </a:t>
            </a:r>
            <a:pPr indent="0" marL="0">
              <a:buNone/>
            </a:pPr>
            <a:r>
              <a:rPr lang="en-US" sz="135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polarity track (emotional_role_sequence) is declared, then ignored at STORY selection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713232" y="5138928"/>
            <a:ext cx="82296" cy="566928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5138928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P6  Scrambled character arc  —  </a:t>
            </a:r>
            <a:pPr indent="0" marL="0">
              <a:buNone/>
            </a:pPr>
            <a:r>
              <a:rPr lang="en-US" sz="135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embodiment lands before recognition; no character has a through-line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713232" y="5797296"/>
            <a:ext cx="82296" cy="566928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5797296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P12  Motif suppressed  —  </a:t>
            </a:r>
            <a:pPr indent="0" marL="0">
              <a:buNone/>
            </a:pPr>
            <a:r>
              <a:rPr lang="en-US" sz="135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registry caps recurrence to prevent over-use — the opposite of orchestrating it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713232" y="6473952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PARTIALs = the primitive exists but is not enforced or sequenced. Every break + partial cross-references the 8 known craft failures (F1–F8) and the 7-axis audit.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ROOT CAUSE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beats exist — they're assembled out of order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713232" y="1481328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6B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EXHIBIT A — gold-ref combo (gen_z×anxiety×overwhelm×F002), STORY arc_position per chapter:</a:t>
            </a:r>
            <a:endParaRPr lang="en-US" sz="13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874520"/>
          <a:ext cx="10881360" cy="914400"/>
        </p:xfrm>
        <a:graphic>
          <a:graphicData uri="http://schemas.openxmlformats.org/drawingml/2006/table">
            <a:tbl>
              <a:tblPr/>
              <a:tblGrid>
                <a:gridCol w="837028"/>
                <a:gridCol w="837028"/>
                <a:gridCol w="837028"/>
                <a:gridCol w="837028"/>
                <a:gridCol w="837028"/>
                <a:gridCol w="837028"/>
                <a:gridCol w="837028"/>
                <a:gridCol w="837028"/>
                <a:gridCol w="837028"/>
                <a:gridCol w="837028"/>
                <a:gridCol w="837028"/>
                <a:gridCol w="837028"/>
                <a:gridCol w="837028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0A06"/>
                          </a:solidFill>
                        </a:rPr>
                        <a:t>Ch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0A06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0A06"/>
                          </a:solidFill>
                        </a:rPr>
                        <a:t>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0A06"/>
                          </a:solidFill>
                        </a:rPr>
                        <a:t>2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0A06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0A06"/>
                          </a:solidFill>
                        </a:rPr>
                        <a:t>4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0A06"/>
                          </a:solidFill>
                        </a:rPr>
                        <a:t>5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0A06"/>
                          </a:solidFill>
                        </a:rPr>
                        <a:t>6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0A06"/>
                          </a:solidFill>
                        </a:rPr>
                        <a:t>7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0A06"/>
                          </a:solidFill>
                        </a:rPr>
                        <a:t>8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0A06"/>
                          </a:solidFill>
                        </a:rPr>
                        <a:t>9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0A06"/>
                          </a:solidFill>
                        </a:rPr>
                        <a:t>10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C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E0A06"/>
                          </a:solidFill>
                        </a:rPr>
                        <a:t>11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D8C6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i="1" dirty="0">
                          <a:solidFill>
                            <a:srgbClr val="6B5E4E"/>
                          </a:solidFill>
                        </a:rPr>
                        <a:t>beat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AF6F0"/>
                          </a:solidFill>
                        </a:rPr>
                        <a:t>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34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E0A06"/>
                          </a:solidFill>
                        </a:rPr>
                        <a:t>R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AF6F0"/>
                          </a:solidFill>
                        </a:rPr>
                        <a:t>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34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E0A06"/>
                          </a:solidFill>
                        </a:rPr>
                        <a:t>R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AF6F0"/>
                          </a:solidFill>
                        </a:rPr>
                        <a:t>E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341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E0A06"/>
                          </a:solidFill>
                        </a:rPr>
                        <a:t>M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AF6F0"/>
                          </a:solidFill>
                        </a:rPr>
                        <a:t>T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AF6F0"/>
                          </a:solidFill>
                        </a:rPr>
                        <a:t>T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AF6F0"/>
                          </a:solidFill>
                        </a:rPr>
                        <a:t>T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0E0A06"/>
                          </a:solidFill>
                        </a:rPr>
                        <a:t>R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AF6F0"/>
                          </a:solidFill>
                        </a:rPr>
                        <a:t>T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800" b="1" dirty="0">
                          <a:solidFill>
                            <a:srgbClr val="FAF6F0"/>
                          </a:solidFill>
                        </a:rPr>
                        <a:t>T</a:t>
                      </a:r>
                      <a:endParaRPr lang="en-US" sz="18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13232" y="299923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recognition (start-state)      M mechanism_proof      T turning_point      E embodiment (end-state)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13232" y="3520440"/>
            <a:ext cx="10881360" cy="2331720"/>
          </a:xfrm>
          <a:prstGeom prst="rect">
            <a:avLst/>
          </a:prstGeom>
          <a:solidFill>
            <a:srgbClr val="0E0A0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13232" y="3520440"/>
            <a:ext cx="91440" cy="23317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Text 7"/>
          <p:cNvSpPr/>
          <p:nvPr/>
        </p:nvSpPr>
        <p:spPr>
          <a:xfrm>
            <a:off x="1033272" y="374904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75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bestseller arc runs  recognition → mechanism_proof → turning_point → embodiment,  monotonically.</a:t>
            </a:r>
            <a:endParaRPr lang="en-US" sz="17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75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Ours is inverted and shuffled</a:t>
            </a:r>
            <a:pPr indent="0" marL="0">
              <a:lnSpc>
                <a:spcPct val="105000"/>
              </a:lnSpc>
              <a:buNone/>
            </a:pPr>
            <a:r>
              <a:rPr lang="en-US" sz="1750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 end-states (E) sit at the very start (ch 0/2/4); turning-points (T) clump at the end.</a:t>
            </a: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033272" y="4892040"/>
            <a:ext cx="10241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Why:  </a:t>
            </a:r>
            <a:pPr indent="0" marL="0">
              <a:buNone/>
            </a:pPr>
            <a:r>
              <a:rPr lang="en-US" sz="1450" dirty="0">
                <a:solidFill>
                  <a:srgbClr val="D8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assembler selects atoms by </a:t>
            </a:r>
            <a:pPr indent="0" marL="0">
              <a:buNone/>
            </a:pPr>
            <a:r>
              <a:rPr lang="en-US" sz="145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slot-fill + dedup</a:t>
            </a:r>
            <a:pPr indent="0" marL="0">
              <a:buNone/>
            </a:pPr>
            <a:r>
              <a:rPr lang="en-US" sz="1450" dirty="0">
                <a:solidFill>
                  <a:srgbClr val="D8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never by </a:t>
            </a:r>
            <a:pPr indent="0" marL="0">
              <a:buNone/>
            </a:pPr>
            <a:r>
              <a:rPr lang="en-US" sz="145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arc-beat continuity</a:t>
            </a:r>
            <a:pPr indent="0" marL="0">
              <a:buNone/>
            </a:pPr>
            <a:r>
              <a:rPr lang="en-US" sz="1450" dirty="0">
                <a:solidFill>
                  <a:srgbClr val="D8CC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This single fact = 6 of 8 craft failures and 8 of 14 pattern breaks.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FIX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deterministic fit-moves — no new engine</a:t>
            </a:r>
            <a:endParaRPr lang="en-US" sz="29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572768"/>
          <a:ext cx="1088136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8229600"/>
                <a:gridCol w="21031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D97706"/>
                          </a:solidFill>
                        </a:rPr>
                        <a:t>#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AF6F0"/>
                          </a:solidFill>
                        </a:rPr>
                        <a:t>What it does (deterministic, at compile/assembly)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AF6F0"/>
                          </a:solidFill>
                        </a:rPr>
                        <a:t>Closes</a:t>
                      </a:r>
                      <a:endParaRPr lang="en-US" sz="14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AF6F0"/>
                          </a:solidFill>
                        </a:rPr>
                        <a:t>1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0A06"/>
                          </a:solidFill>
                        </a:rPr>
                        <a:t>Bind the 12-spine to a 5-phase macro-arc  (add book_phase: Problem→History→Knowledge→Action→Maintenance)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3412"/>
                          </a:solidFill>
                        </a:rPr>
                        <a:t>P2 · F2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D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AF6F0"/>
                          </a:solidFill>
                        </a:rPr>
                        <a:t>2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0A06"/>
                          </a:solidFill>
                        </a:rPr>
                        <a:t>Spine-character through-line  — one character's 4 arc-positions land at the 4 phase boundaries, monotonically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3412"/>
                          </a:solidFill>
                        </a:rPr>
                        <a:t>P6 · F6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AF6F0"/>
                          </a:solidFill>
                        </a:rPr>
                        <a:t>3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0A06"/>
                          </a:solidFill>
                        </a:rPr>
                        <a:t>Align STORY / REFLECTION to the value-polarity track  + local-embedding conceptual-repetition gate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3412"/>
                          </a:solidFill>
                        </a:rPr>
                        <a:t>P5 · P11 · F1 · F7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D2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AF6F0"/>
                          </a:solidFill>
                        </a:rPr>
                        <a:t>4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0A06"/>
                          </a:solidFill>
                        </a:rPr>
                        <a:t>One orchestrated motif (plant→echo→payoff) + one named book-idea exempt from the repetition cap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3412"/>
                          </a:solidFill>
                        </a:rPr>
                        <a:t>P12 · P9 · F3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7498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900" b="1" dirty="0">
                          <a:solidFill>
                            <a:srgbClr val="FAF6F0"/>
                          </a:solidFill>
                        </a:rPr>
                        <a:t>5</a:t>
                      </a:r>
                      <a:endParaRPr lang="en-US" sz="19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77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E0A06"/>
                          </a:solidFill>
                        </a:rPr>
                        <a:t>Voice-zone to slot-type + intra-chapter order integrity + book-scope open-loop ledger</a:t>
                      </a:r>
                      <a:endParaRPr lang="en-US" sz="130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9A3412"/>
                          </a:solidFill>
                        </a:rPr>
                        <a:t>P8 · P13 · P7 · F5 · F4</a:t>
                      </a:r>
                      <a:endParaRPr lang="en-US" sz="12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D2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13232" y="598932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B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cost: ~370 LoC + 3 new arc fields + ~25–40 targeted atoms. The 16k+ existing atoms are RE-SEQUENCED, not rewritten. Anti-reinvention honored; every check is structural-deterministic (canonical-spec §9 compatible); no paid LLM API.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IT ANSWER THE ASK?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word of the ask, mapped to a move</a:t>
            </a:r>
            <a:endParaRPr lang="en-US" sz="2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3232" y="1572768"/>
          <a:ext cx="10881360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74980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D97706"/>
                          </a:solidFill>
                        </a:rPr>
                        <a:t>Your words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AF6F0"/>
                          </a:solidFill>
                        </a:rPr>
                        <a:t>Delivered by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0A06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i="1" dirty="0">
                          <a:solidFill>
                            <a:srgbClr val="9A3412"/>
                          </a:solidFill>
                        </a:rPr>
                        <a:t>“chapters make sense”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E0A06"/>
                          </a:solidFill>
                        </a:rPr>
                        <a:t>MOVE 1 (phases) + MOVE 4 (one motif / idea) + MOVE 3 (no adjacent repetition)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D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i="1" dirty="0">
                          <a:solidFill>
                            <a:srgbClr val="9A3412"/>
                          </a:solidFill>
                        </a:rPr>
                        <a:t>“learning AND earning”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E0A06"/>
                          </a:solidFill>
                        </a:rPr>
                        <a:t>MOVE 3 (the per-chapter turn = aha cadence) + MOVE 5 (earn-the-insight order kept intact)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i="1" dirty="0">
                          <a:solidFill>
                            <a:srgbClr val="9A3412"/>
                          </a:solidFill>
                        </a:rPr>
                        <a:t>“by the end they've grown”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D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E0A06"/>
                          </a:solidFill>
                        </a:rPr>
                        <a:t>MOVE 2 (spine-character arc = felt growth) + MOVE 1 (Maintenance phase consolidates) + MOVE 4 (idea compounds)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E3D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i="1" dirty="0">
                          <a:solidFill>
                            <a:srgbClr val="9A3412"/>
                          </a:solidFill>
                        </a:rPr>
                        <a:t>“the book is engaging”</a:t>
                      </a:r>
                      <a:endParaRPr lang="en-US" sz="14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0E0A06"/>
                          </a:solidFill>
                        </a:rPr>
                        <a:t>MOVE 5 (open-loop rhythm) + MOVE 3 (every unit turns — no flat middle)</a:t>
                      </a:r>
                      <a:endParaRPr lang="en-US" sz="1350" dirty="0"/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FAF6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6F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13232" y="5440680"/>
            <a:ext cx="10881360" cy="96012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1033272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deterministic guarantee:  </a:t>
            </a:r>
            <a:pPr indent="0" marL="0">
              <a:buNone/>
            </a:pPr>
            <a:r>
              <a:rPr lang="en-US" sz="1600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MOVES 1–5 a book </a:t>
            </a:r>
            <a:pPr indent="0" marL="0">
              <a:buNone/>
            </a:pPr>
            <a:r>
              <a:rPr lang="en-US" sz="1600" b="1" i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cannot</a:t>
            </a:r>
            <a:pPr indent="0" marL="0">
              <a:buNone/>
            </a:pPr>
            <a:r>
              <a:rPr lang="en-US" sz="1600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assemble into the failure shapes — cohesion becomes a property of the assembler, not a lucky draw.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PRIORITIZATION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Sequenced by leverage — validate before scaling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13232" y="1572768"/>
            <a:ext cx="3413760" cy="3703320"/>
          </a:xfrm>
          <a:prstGeom prst="rect">
            <a:avLst/>
          </a:prstGeom>
          <a:solidFill>
            <a:srgbClr val="FAF6F0"/>
          </a:solidFill>
          <a:ln w="25400">
            <a:solidFill>
              <a:srgbClr val="D97706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3232" y="1572768"/>
            <a:ext cx="3413760" cy="713232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7" name="Text 5"/>
          <p:cNvSpPr/>
          <p:nvPr/>
        </p:nvSpPr>
        <p:spPr>
          <a:xfrm>
            <a:off x="877824" y="16459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56232" y="1645920"/>
            <a:ext cx="213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first — keystone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96112" y="245059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1  book_phase spine map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96112" y="292608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2  spine-character through-line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96112" y="3401568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3a  STORY ↔ role alignment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96112" y="4005072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3 of 4 breaks (P2·P5·P6); root-fixes F1·F2·F6 — mostly sequencing, low / no new atoms.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447032" y="1572768"/>
            <a:ext cx="3413760" cy="3703320"/>
          </a:xfrm>
          <a:prstGeom prst="rect">
            <a:avLst/>
          </a:prstGeom>
          <a:solidFill>
            <a:srgbClr val="FAF6F0"/>
          </a:solidFill>
          <a:ln w="25400">
            <a:solidFill>
              <a:srgbClr val="B8742C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47032" y="1572768"/>
            <a:ext cx="3413760" cy="713232"/>
          </a:xfrm>
          <a:prstGeom prst="rect">
            <a:avLst/>
          </a:prstGeom>
          <a:solidFill>
            <a:srgbClr val="B8742C"/>
          </a:solidFill>
          <a:ln/>
        </p:spPr>
      </p:sp>
      <p:sp>
        <p:nvSpPr>
          <p:cNvPr id="15" name="Text 13"/>
          <p:cNvSpPr/>
          <p:nvPr/>
        </p:nvSpPr>
        <p:spPr>
          <a:xfrm>
            <a:off x="4611624" y="16459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590032" y="1645920"/>
            <a:ext cx="213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gates + tiny config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29912" y="245059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7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4  motif + book-idea orchestration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629912" y="292608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7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5a/b  voice-zone + order integrity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629912" y="3401568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B87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3b  repetition gate (local embeddings)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629912" y="4005072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the one C2 ruling (next slide). ~40–60 LoC each; resolves the G1 embedding-model question (local, Tier-2-safe).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180832" y="1572768"/>
            <a:ext cx="3413760" cy="3703320"/>
          </a:xfrm>
          <a:prstGeom prst="rect">
            <a:avLst/>
          </a:prstGeom>
          <a:solidFill>
            <a:srgbClr val="FAF6F0"/>
          </a:solidFill>
          <a:ln w="25400">
            <a:solidFill>
              <a:srgbClr val="9A3412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180832" y="1572768"/>
            <a:ext cx="3413760" cy="713232"/>
          </a:xfrm>
          <a:prstGeom prst="rect">
            <a:avLst/>
          </a:prstGeom>
          <a:solidFill>
            <a:srgbClr val="9A3412"/>
          </a:solidFill>
          <a:ln/>
        </p:spPr>
      </p:sp>
      <p:sp>
        <p:nvSpPr>
          <p:cNvPr id="23" name="Text 21"/>
          <p:cNvSpPr/>
          <p:nvPr/>
        </p:nvSpPr>
        <p:spPr>
          <a:xfrm>
            <a:off x="8345424" y="1645920"/>
            <a:ext cx="1097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P2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9323832" y="1645920"/>
            <a:ext cx="2133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atom authoring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8363712" y="2450592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 / amplification REFLECTIONs (~10–15)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363712" y="2926080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Ahjan-specific TEACHER_DOCTRINE atoms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363712" y="3401568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EXERCISE backfill (~10 combos)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8363712" y="3877056"/>
            <a:ext cx="304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</a:t>
            </a:r>
            <a:pPr indent="0" marL="0">
              <a:buNone/>
            </a:pPr>
            <a:r>
              <a:rPr lang="en-US" sz="125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loop-ledger + THREAD payoff curation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363712" y="4352544"/>
            <a:ext cx="304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6B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genuinely-missing atoms — Pearl_Editor / Pearl_Writer lanes, not mass rewrites.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13232" y="5486400"/>
            <a:ext cx="10881360" cy="868680"/>
          </a:xfrm>
          <a:prstGeom prst="rect">
            <a:avLst/>
          </a:prstGeom>
          <a:solidFill>
            <a:srgbClr val="0E0A0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033272" y="55321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Sequencing:  </a:t>
            </a:r>
            <a:pPr indent="0" marL="0">
              <a:buNone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gates → verify on the gold-ref combo + one fresh combo → </a:t>
            </a:r>
            <a:pPr indent="0" marL="0">
              <a:buNone/>
            </a:pPr>
            <a:r>
              <a:rPr lang="en-US" sz="1400" b="1" i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</a:t>
            </a:r>
            <a:pPr indent="0" marL="0">
              <a:buNone/>
            </a:pPr>
            <a:r>
              <a:rPr lang="en-US" sz="14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scale.  Gate on the validator's output, not vibes  (feedback_validation_before_scaling).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3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9A34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OPERATOR-TIER DECISION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ruling unblocks the most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13232" y="1691640"/>
            <a:ext cx="10881360" cy="1828800"/>
          </a:xfrm>
          <a:prstGeom prst="rect">
            <a:avLst/>
          </a:prstGeom>
          <a:solidFill>
            <a:srgbClr val="D97706"/>
          </a:solidFill>
          <a:ln/>
          <a:effectLst>
            <a:outerShdw sx="100000" sy="100000" kx="0" ky="0" algn="bl" rotWithShape="0" blurRad="88900" dist="38100" dir="8100000">
              <a:srgbClr val="000000">
                <a:alpha val="1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78992" y="192024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RATIFY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8992" y="2240280"/>
            <a:ext cx="10149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0E0A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C2 voice-braid  Option B (zone)</a:t>
            </a:r>
            <a:endParaRPr lang="en-US" sz="3300" dirty="0"/>
          </a:p>
        </p:txBody>
      </p:sp>
      <p:sp>
        <p:nvSpPr>
          <p:cNvPr id="8" name="Text 6"/>
          <p:cNvSpPr/>
          <p:nvPr/>
        </p:nvSpPr>
        <p:spPr>
          <a:xfrm>
            <a:off x="1078992" y="2907792"/>
            <a:ext cx="10149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voice / person to slot-type so the three narrative positions stay legible: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078992" y="320040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5A320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SCENE = 2nd-person reader-hero    ·    STORY = 3rd-person witness    ·    TEACHER_DOCTRINE = guide    ·    REFLECTION = author-coach    ·    EXERCISE = imperative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13232" y="37947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one:  </a:t>
            </a:r>
            <a:pPr indent="0" marL="0">
              <a:buNone/>
            </a:pPr>
            <a:r>
              <a:rPr lang="en-US" sz="150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directly fixes the F5 voice-fragmentation failure (“Am I reading Brené Brown? a Buddhist teacher? a consultant?”) and unblocks MOVE 5.  It was already flagged as a decision item in the craft proposal §9.1.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13232" y="4709160"/>
            <a:ext cx="10881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else routes to lanes:  </a:t>
            </a:r>
            <a:pPr indent="0" marL="0">
              <a:buNone/>
            </a:pPr>
            <a:r>
              <a:rPr lang="en-US" sz="1400" dirty="0">
                <a:solidFill>
                  <a:srgbClr val="6B5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cap-entries (BOOK-PHASE-SPINE-01, SPINE-CHARACTER-THROUGHLINE-01, STORY-ROLE-ALIGNMENT-01, BOOK-MOTIF-IDEA-01) + Pearl_Dev (~370 LoC) + targeted Pearl_Editor / Pearl_Writer authoring. No other operator-tier call required.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" name="Text 1"/>
          <p:cNvSpPr/>
          <p:nvPr/>
        </p:nvSpPr>
        <p:spPr>
          <a:xfrm>
            <a:off x="713232" y="292608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NEXT ACTION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13232" y="603504"/>
            <a:ext cx="108813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9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this deck to consistent bestseller cohesion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758952" y="1673352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758952" y="16733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36192" y="1627632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Operator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4325112" y="1600200"/>
            <a:ext cx="7269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this deck → approve the fit-plan (esp. MOVES 1 + 2 as P0, and the C2 Option B ruling).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758952" y="251460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0" name="Text 8"/>
          <p:cNvSpPr/>
          <p:nvPr/>
        </p:nvSpPr>
        <p:spPr>
          <a:xfrm>
            <a:off x="758952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36192" y="24688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Pearl_Architect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4325112" y="2441448"/>
            <a:ext cx="7269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the caps: BOOK-PHASE-SPINE-01 · SPINE-CHARACTER-THROUGHLINE-01 · STORY-ROLE-ALIGNMENT-01 · BOOK-MOTIF-IDEA-01  + ratify C2.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758952" y="3355848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4" name="Text 12"/>
          <p:cNvSpPr/>
          <p:nvPr/>
        </p:nvSpPr>
        <p:spPr>
          <a:xfrm>
            <a:off x="758952" y="335584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536192" y="331012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Pearl_Editor / Writer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325112" y="3282696"/>
            <a:ext cx="7269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the P2 atom lanes (~25–40 atoms): signal/amplification REFLECTIONs, Ahjan TEACHER_DOCTRINE, EXERCISE backfill.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758952" y="4197096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8" name="Text 16"/>
          <p:cNvSpPr/>
          <p:nvPr/>
        </p:nvSpPr>
        <p:spPr>
          <a:xfrm>
            <a:off x="758952" y="419709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AF6F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536192" y="4151376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Verify, then scale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4325112" y="4123944"/>
            <a:ext cx="7269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structural checks on the gold-ref combo → gate catalog-scaling on validator uplift, not vibes.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6163056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Artifacts:  </a:t>
            </a:r>
            <a:pPr indent="0" marL="0">
              <a:buNone/>
            </a:pPr>
            <a:r>
              <a:rPr lang="en-US" sz="1300" dirty="0">
                <a:solidFill>
                  <a:srgbClr val="0E0A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BESTSELLER_PATTERN_CATALOG.md   ·   OUR_SYSTEM_VS_PATTERNS_GAP.md   ·   FIT_OUR_ATOMS_TO_PATTERNS_PLAN.md   ·   this deck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Bestseller Consistency — fit our atoms to proven patterns</dc:title>
  <dc:subject>PptxGenJS Presentation</dc:subject>
  <dc:creator>Pearl_Research</dc:creator>
  <cp:lastModifiedBy>Pearl_Research</cp:lastModifiedBy>
  <cp:revision>1</cp:revision>
  <dcterms:created xsi:type="dcterms:W3CDTF">2026-06-11T22:04:38Z</dcterms:created>
  <dcterms:modified xsi:type="dcterms:W3CDTF">2026-06-11T22:04:38Z</dcterms:modified>
</cp:coreProperties>
</file>