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A06"/>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97706"/>
          </a:solidFill>
          <a:ln w="12700">
            <a:solidFill>
              <a:srgbClr val="D97706"/>
            </a:solidFill>
            <a:prstDash val="solid"/>
          </a:ln>
        </p:spPr>
      </p:sp>
      <p:sp>
        <p:nvSpPr>
          <p:cNvPr id="3" name="Text 1"/>
          <p:cNvSpPr/>
          <p:nvPr/>
        </p:nvSpPr>
        <p:spPr>
          <a:xfrm>
            <a:off x="822960" y="1280160"/>
            <a:ext cx="9144000" cy="365760"/>
          </a:xfrm>
          <a:prstGeom prst="rect">
            <a:avLst/>
          </a:prstGeom>
          <a:noFill/>
          <a:ln/>
        </p:spPr>
        <p:txBody>
          <a:bodyPr wrap="square" lIns="0" tIns="0" rIns="0" bIns="0" rtlCol="0" anchor="ctr"/>
          <a:lstStyle/>
          <a:p>
            <a:pPr indent="0" marL="0">
              <a:buNone/>
            </a:pPr>
            <a:r>
              <a:rPr lang="en-US" sz="1200" b="1" spc="800" kern="0" dirty="0">
                <a:solidFill>
                  <a:srgbClr val="F59E0B"/>
                </a:solidFill>
                <a:latin typeface="DM Sans" pitchFamily="34" charset="0"/>
                <a:ea typeface="DM Sans" pitchFamily="34" charset="-122"/>
                <a:cs typeface="DM Sans" pitchFamily="34" charset="-120"/>
              </a:rPr>
              <a:t>PEARL PRIME · INTERNAL RESEARCH</a:t>
            </a:r>
            <a:endParaRPr lang="en-US" sz="1200" dirty="0"/>
          </a:p>
        </p:txBody>
      </p:sp>
      <p:sp>
        <p:nvSpPr>
          <p:cNvPr id="4" name="Text 2"/>
          <p:cNvSpPr/>
          <p:nvPr/>
        </p:nvSpPr>
        <p:spPr>
          <a:xfrm>
            <a:off x="822960" y="1691640"/>
            <a:ext cx="10515600" cy="1280160"/>
          </a:xfrm>
          <a:prstGeom prst="rect">
            <a:avLst/>
          </a:prstGeom>
          <a:noFill/>
          <a:ln/>
        </p:spPr>
        <p:txBody>
          <a:bodyPr wrap="square" lIns="0" tIns="0" rIns="0" bIns="0" rtlCol="0" anchor="ctr"/>
          <a:lstStyle/>
          <a:p>
            <a:pPr indent="0" marL="0">
              <a:buNone/>
            </a:pPr>
            <a:r>
              <a:rPr lang="en-US" sz="5600" b="1" i="1" dirty="0">
                <a:solidFill>
                  <a:srgbClr val="FAF6F0"/>
                </a:solidFill>
                <a:latin typeface="Cormorant Garamond" pitchFamily="34" charset="0"/>
                <a:ea typeface="Cormorant Garamond" pitchFamily="34" charset="-122"/>
                <a:cs typeface="Cormorant Garamond" pitchFamily="34" charset="-120"/>
              </a:rPr>
              <a:t>Contributor Learning Pathways</a:t>
            </a:r>
            <a:endParaRPr lang="en-US" sz="5600" dirty="0"/>
          </a:p>
        </p:txBody>
      </p:sp>
      <p:sp>
        <p:nvSpPr>
          <p:cNvPr id="5" name="Text 3"/>
          <p:cNvSpPr/>
          <p:nvPr/>
        </p:nvSpPr>
        <p:spPr>
          <a:xfrm>
            <a:off x="822960" y="2926080"/>
            <a:ext cx="10515600" cy="548640"/>
          </a:xfrm>
          <a:prstGeom prst="rect">
            <a:avLst/>
          </a:prstGeom>
          <a:noFill/>
          <a:ln/>
        </p:spPr>
        <p:txBody>
          <a:bodyPr wrap="square" lIns="0" tIns="0" rIns="0" bIns="0" rtlCol="0" anchor="ctr"/>
          <a:lstStyle/>
          <a:p>
            <a:pPr indent="0" marL="0">
              <a:buNone/>
            </a:pPr>
            <a:r>
              <a:rPr lang="en-US" sz="2200" i="1" dirty="0">
                <a:solidFill>
                  <a:srgbClr val="C8BAA6"/>
                </a:solidFill>
                <a:latin typeface="Cormorant Garamond" pitchFamily="34" charset="0"/>
                <a:ea typeface="Cormorant Garamond" pitchFamily="34" charset="-122"/>
                <a:cs typeface="Cormorant Garamond" pitchFamily="34" charset="-120"/>
              </a:rPr>
              <a:t>Google learning surfaces · Pearl Prime stack fit · 2026 US job market</a:t>
            </a:r>
            <a:endParaRPr lang="en-US" sz="2200" dirty="0"/>
          </a:p>
        </p:txBody>
      </p:sp>
      <p:sp>
        <p:nvSpPr>
          <p:cNvPr id="6" name="Text 4"/>
          <p:cNvSpPr/>
          <p:nvPr/>
        </p:nvSpPr>
        <p:spPr>
          <a:xfrm>
            <a:off x="822960" y="4114800"/>
            <a:ext cx="8229600" cy="1463040"/>
          </a:xfrm>
          <a:prstGeom prst="rect">
            <a:avLst/>
          </a:prstGeom>
          <a:noFill/>
          <a:ln/>
        </p:spPr>
        <p:txBody>
          <a:bodyPr wrap="square" lIns="0" tIns="0" rIns="0" bIns="0" rtlCol="0" anchor="ctr"/>
          <a:lstStyle/>
          <a:p>
            <a:pPr indent="0" marL="0">
              <a:buNone/>
            </a:pPr>
            <a:r>
              <a:rPr lang="en-US" sz="1800" i="1" dirty="0">
                <a:solidFill>
                  <a:srgbClr val="FAF6F0"/>
                </a:solidFill>
                <a:latin typeface="DM Sans" pitchFamily="34" charset="0"/>
                <a:ea typeface="DM Sans" pitchFamily="34" charset="-122"/>
                <a:cs typeface="DM Sans" pitchFamily="34" charset="-120"/>
              </a:rPr>
              <a:t>What do contributors need to learn,</a:t>
            </a:r>
            <a:endParaRPr lang="en-US" sz="1800" dirty="0"/>
          </a:p>
          <a:p>
            <a:pPr indent="0" marL="0">
              <a:buNone/>
            </a:pPr>
            <a:r>
              <a:rPr lang="en-US" sz="1800" i="1" dirty="0">
                <a:solidFill>
                  <a:srgbClr val="FAF6F0"/>
                </a:solidFill>
                <a:latin typeface="DM Sans" pitchFamily="34" charset="0"/>
                <a:ea typeface="DM Sans" pitchFamily="34" charset="-122"/>
                <a:cs typeface="DM Sans" pitchFamily="34" charset="-120"/>
              </a:rPr>
              <a:t>how does it help Pearl Prime,</a:t>
            </a:r>
            <a:endParaRPr lang="en-US" sz="1800" dirty="0"/>
          </a:p>
          <a:p>
            <a:pPr indent="0" marL="0">
              <a:buNone/>
            </a:pPr>
            <a:r>
              <a:rPr lang="en-US" sz="1800" i="1" dirty="0">
                <a:solidFill>
                  <a:srgbClr val="FAF6F0"/>
                </a:solidFill>
                <a:latin typeface="DM Sans" pitchFamily="34" charset="0"/>
                <a:ea typeface="DM Sans" pitchFamily="34" charset="-122"/>
                <a:cs typeface="DM Sans" pitchFamily="34" charset="-120"/>
              </a:rPr>
              <a:t>and what does it mean for their career?</a:t>
            </a:r>
            <a:endParaRPr lang="en-US" sz="1800" dirty="0"/>
          </a:p>
        </p:txBody>
      </p:sp>
      <p:sp>
        <p:nvSpPr>
          <p:cNvPr id="7" name="Shape 5"/>
          <p:cNvSpPr/>
          <p:nvPr/>
        </p:nvSpPr>
        <p:spPr>
          <a:xfrm>
            <a:off x="822960" y="5852160"/>
            <a:ext cx="4114800" cy="548640"/>
          </a:xfrm>
          <a:prstGeom prst="rect">
            <a:avLst/>
          </a:prstGeom>
          <a:solidFill>
            <a:srgbClr val="1C1308"/>
          </a:solidFill>
          <a:ln w="12700">
            <a:solidFill>
              <a:srgbClr val="1C1308"/>
            </a:solidFill>
            <a:prstDash val="solid"/>
          </a:ln>
        </p:spPr>
      </p:sp>
      <p:sp>
        <p:nvSpPr>
          <p:cNvPr id="8" name="Text 6"/>
          <p:cNvSpPr/>
          <p:nvPr/>
        </p:nvSpPr>
        <p:spPr>
          <a:xfrm>
            <a:off x="822960" y="5852160"/>
            <a:ext cx="4114800" cy="548640"/>
          </a:xfrm>
          <a:prstGeom prst="rect">
            <a:avLst/>
          </a:prstGeom>
          <a:noFill/>
          <a:ln/>
        </p:spPr>
        <p:txBody>
          <a:bodyPr wrap="square" lIns="0" tIns="0" rIns="0" bIns="0" rtlCol="0" anchor="ctr"/>
          <a:lstStyle/>
          <a:p>
            <a:pPr algn="ctr" indent="0" marL="0">
              <a:buNone/>
            </a:pPr>
            <a:r>
              <a:rPr lang="en-US" sz="1100" b="1" dirty="0">
                <a:solidFill>
                  <a:srgbClr val="C8BAA6"/>
                </a:solidFill>
                <a:latin typeface="DM Sans" pitchFamily="34" charset="0"/>
                <a:ea typeface="DM Sans" pitchFamily="34" charset="-122"/>
                <a:cs typeface="DM Sans" pitchFamily="34" charset="-120"/>
              </a:rPr>
              <a:t>Pearl_Research</a:t>
            </a:r>
            <a:pPr algn="ctr" indent="0" marL="0">
              <a:buNone/>
            </a:pPr>
            <a:r>
              <a:rPr lang="en-US" sz="1100" dirty="0">
                <a:solidFill>
                  <a:srgbClr val="C8BAA6"/>
                </a:solidFill>
                <a:latin typeface="DM Sans" pitchFamily="34" charset="0"/>
                <a:ea typeface="DM Sans" pitchFamily="34" charset="-122"/>
                <a:cs typeface="DM Sans" pitchFamily="34" charset="-120"/>
              </a:rPr>
              <a:t>  ·  </a:t>
            </a:r>
            <a:pPr algn="ctr" indent="0" marL="0">
              <a:buNone/>
            </a:pPr>
            <a:r>
              <a:rPr lang="en-US" sz="1100" dirty="0">
                <a:solidFill>
                  <a:srgbClr val="C8BAA6"/>
                </a:solidFill>
                <a:latin typeface="DM Sans" pitchFamily="34" charset="0"/>
                <a:ea typeface="DM Sans" pitchFamily="34" charset="-122"/>
                <a:cs typeface="DM Sans" pitchFamily="34" charset="-120"/>
              </a:rPr>
              <a:t>2026-06-09</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A06"/>
        </a:solidFill>
      </p:bgPr>
    </p:bg>
    <p:spTree>
      <p:nvGrpSpPr>
        <p:cNvPr id="1" name=""/>
        <p:cNvGrpSpPr/>
        <p:nvPr/>
      </p:nvGrpSpPr>
      <p:grpSpPr>
        <a:xfrm>
          <a:off x="0" y="0"/>
          <a:ext cx="0" cy="0"/>
          <a:chOff x="0" y="0"/>
          <a:chExt cx="0" cy="0"/>
        </a:xfrm>
      </p:grpSpPr>
      <p:sp>
        <p:nvSpPr>
          <p:cNvPr id="2" name="Text 0"/>
          <p:cNvSpPr/>
          <p:nvPr/>
        </p:nvSpPr>
        <p:spPr>
          <a:xfrm>
            <a:off x="548640" y="228600"/>
            <a:ext cx="11064240" cy="274320"/>
          </a:xfrm>
          <a:prstGeom prst="rect">
            <a:avLst/>
          </a:prstGeom>
          <a:noFill/>
          <a:ln/>
        </p:spPr>
        <p:txBody>
          <a:bodyPr wrap="square" lIns="0" tIns="0" rIns="0" bIns="0" rtlCol="0" anchor="ctr"/>
          <a:lstStyle/>
          <a:p>
            <a:pPr indent="0" marL="0">
              <a:buNone/>
            </a:pPr>
            <a:r>
              <a:rPr lang="en-US" sz="1100" b="1" spc="600" kern="0" dirty="0">
                <a:solidFill>
                  <a:srgbClr val="F59E0B"/>
                </a:solidFill>
                <a:latin typeface="DM Sans" pitchFamily="34" charset="0"/>
                <a:ea typeface="DM Sans" pitchFamily="34" charset="-122"/>
                <a:cs typeface="DM Sans" pitchFamily="34" charset="-120"/>
              </a:rPr>
              <a:t>EXECUTIVE SUMMARY</a:t>
            </a:r>
            <a:endParaRPr lang="en-US" sz="1100" dirty="0"/>
          </a:p>
        </p:txBody>
      </p:sp>
      <p:sp>
        <p:nvSpPr>
          <p:cNvPr id="3" name="Text 1"/>
          <p:cNvSpPr/>
          <p:nvPr/>
        </p:nvSpPr>
        <p:spPr>
          <a:xfrm>
            <a:off x="548640" y="411480"/>
            <a:ext cx="11064240" cy="868680"/>
          </a:xfrm>
          <a:prstGeom prst="rect">
            <a:avLst/>
          </a:prstGeom>
          <a:noFill/>
          <a:ln/>
        </p:spPr>
        <p:txBody>
          <a:bodyPr wrap="square" lIns="0" tIns="0" rIns="0" bIns="0" rtlCol="0" anchor="ctr"/>
          <a:lstStyle/>
          <a:p>
            <a:pPr indent="0" marL="0">
              <a:buNone/>
            </a:pPr>
            <a:r>
              <a:rPr lang="en-US" sz="3600" b="1" i="1" dirty="0">
                <a:solidFill>
                  <a:srgbClr val="FAF6F0"/>
                </a:solidFill>
                <a:latin typeface="Cormorant Garamond" pitchFamily="34" charset="0"/>
                <a:ea typeface="Cormorant Garamond" pitchFamily="34" charset="-122"/>
                <a:cs typeface="Cormorant Garamond" pitchFamily="34" charset="-120"/>
              </a:rPr>
              <a:t>Three operator-actionable conclusions</a:t>
            </a:r>
            <a:endParaRPr lang="en-US" sz="3600" dirty="0"/>
          </a:p>
        </p:txBody>
      </p:sp>
      <p:sp>
        <p:nvSpPr>
          <p:cNvPr id="4" name="Shape 2"/>
          <p:cNvSpPr/>
          <p:nvPr/>
        </p:nvSpPr>
        <p:spPr>
          <a:xfrm>
            <a:off x="548640" y="1645920"/>
            <a:ext cx="3657600" cy="4297680"/>
          </a:xfrm>
          <a:prstGeom prst="rect">
            <a:avLst/>
          </a:prstGeom>
          <a:solidFill>
            <a:srgbClr val="2B1D0E"/>
          </a:solidFill>
          <a:ln w="12700">
            <a:solidFill>
              <a:srgbClr val="2B1D0E"/>
            </a:solidFill>
            <a:prstDash val="solid"/>
          </a:ln>
        </p:spPr>
      </p:sp>
      <p:sp>
        <p:nvSpPr>
          <p:cNvPr id="5" name="Shape 3"/>
          <p:cNvSpPr/>
          <p:nvPr/>
        </p:nvSpPr>
        <p:spPr>
          <a:xfrm>
            <a:off x="548640" y="1645920"/>
            <a:ext cx="3657600" cy="91440"/>
          </a:xfrm>
          <a:prstGeom prst="rect">
            <a:avLst/>
          </a:prstGeom>
          <a:solidFill>
            <a:srgbClr val="D97706"/>
          </a:solidFill>
          <a:ln w="12700">
            <a:solidFill>
              <a:srgbClr val="D97706"/>
            </a:solidFill>
            <a:prstDash val="solid"/>
          </a:ln>
        </p:spPr>
      </p:sp>
      <p:sp>
        <p:nvSpPr>
          <p:cNvPr id="6" name="Text 4"/>
          <p:cNvSpPr/>
          <p:nvPr/>
        </p:nvSpPr>
        <p:spPr>
          <a:xfrm>
            <a:off x="822960" y="1920240"/>
            <a:ext cx="3108960" cy="320040"/>
          </a:xfrm>
          <a:prstGeom prst="rect">
            <a:avLst/>
          </a:prstGeom>
          <a:noFill/>
          <a:ln/>
        </p:spPr>
        <p:txBody>
          <a:bodyPr wrap="square" lIns="0" tIns="0" rIns="0" bIns="0" rtlCol="0" anchor="ctr"/>
          <a:lstStyle/>
          <a:p>
            <a:pPr indent="0" marL="0">
              <a:buNone/>
            </a:pPr>
            <a:r>
              <a:rPr lang="en-US" sz="1000" b="1" spc="400" kern="0" dirty="0">
                <a:solidFill>
                  <a:srgbClr val="F59E0B"/>
                </a:solidFill>
                <a:latin typeface="DM Sans" pitchFamily="34" charset="0"/>
                <a:ea typeface="DM Sans" pitchFamily="34" charset="-122"/>
                <a:cs typeface="DM Sans" pitchFamily="34" charset="-120"/>
              </a:rPr>
              <a:t>01 — TOP PICK</a:t>
            </a:r>
            <a:endParaRPr lang="en-US" sz="1000" dirty="0"/>
          </a:p>
        </p:txBody>
      </p:sp>
      <p:sp>
        <p:nvSpPr>
          <p:cNvPr id="7" name="Text 5"/>
          <p:cNvSpPr/>
          <p:nvPr/>
        </p:nvSpPr>
        <p:spPr>
          <a:xfrm>
            <a:off x="822960" y="2331720"/>
            <a:ext cx="3108960" cy="1005840"/>
          </a:xfrm>
          <a:prstGeom prst="rect">
            <a:avLst/>
          </a:prstGeom>
          <a:noFill/>
          <a:ln/>
        </p:spPr>
        <p:txBody>
          <a:bodyPr wrap="square" lIns="0" tIns="0" rIns="0" bIns="0" rtlCol="0" anchor="ctr"/>
          <a:lstStyle/>
          <a:p>
            <a:pPr indent="0" marL="0">
              <a:buNone/>
            </a:pPr>
            <a:r>
              <a:rPr lang="en-US" sz="2400" b="1" i="1" dirty="0">
                <a:solidFill>
                  <a:srgbClr val="FAF6F0"/>
                </a:solidFill>
                <a:latin typeface="Cormorant Garamond" pitchFamily="34" charset="0"/>
                <a:ea typeface="Cormorant Garamond" pitchFamily="34" charset="-122"/>
                <a:cs typeface="Cormorant Garamond" pitchFamily="34" charset="-120"/>
              </a:rPr>
              <a:t>IT Automation with Python</a:t>
            </a:r>
            <a:endParaRPr lang="en-US" sz="2400" dirty="0"/>
          </a:p>
        </p:txBody>
      </p:sp>
      <p:sp>
        <p:nvSpPr>
          <p:cNvPr id="8" name="Shape 6"/>
          <p:cNvSpPr/>
          <p:nvPr/>
        </p:nvSpPr>
        <p:spPr>
          <a:xfrm>
            <a:off x="822960" y="3429000"/>
            <a:ext cx="457200" cy="36576"/>
          </a:xfrm>
          <a:prstGeom prst="rect">
            <a:avLst/>
          </a:prstGeom>
          <a:solidFill>
            <a:srgbClr val="D97706"/>
          </a:solidFill>
          <a:ln w="12700">
            <a:solidFill>
              <a:srgbClr val="D97706"/>
            </a:solidFill>
            <a:prstDash val="solid"/>
          </a:ln>
        </p:spPr>
      </p:sp>
      <p:sp>
        <p:nvSpPr>
          <p:cNvPr id="9" name="Text 7"/>
          <p:cNvSpPr/>
          <p:nvPr/>
        </p:nvSpPr>
        <p:spPr>
          <a:xfrm>
            <a:off x="822960" y="3611880"/>
            <a:ext cx="3108960" cy="1463040"/>
          </a:xfrm>
          <a:prstGeom prst="rect">
            <a:avLst/>
          </a:prstGeom>
          <a:noFill/>
          <a:ln/>
        </p:spPr>
        <p:txBody>
          <a:bodyPr wrap="square" lIns="0" tIns="0" rIns="0" bIns="0" rtlCol="0" anchor="ctr"/>
          <a:lstStyle/>
          <a:p>
            <a:pPr indent="0" marL="0">
              <a:buNone/>
            </a:pPr>
            <a:r>
              <a:rPr lang="en-US" sz="1200" dirty="0">
                <a:solidFill>
                  <a:srgbClr val="C8BAA6"/>
                </a:solidFill>
                <a:latin typeface="DM Sans" pitchFamily="34" charset="0"/>
                <a:ea typeface="DM Sans" pitchFamily="34" charset="-122"/>
                <a:cs typeface="DM Sans" pitchFamily="34" charset="-120"/>
              </a:rPr>
              <a:t>Pearl Prime is ~90% Python. This single Coursera certificate (120 hr / $49 mo) moves a contributor from no-skill to ship-code in 3 months. Zero Tier-policy risk.</a:t>
            </a:r>
            <a:endParaRPr lang="en-US" sz="1200" dirty="0"/>
          </a:p>
        </p:txBody>
      </p:sp>
      <p:sp>
        <p:nvSpPr>
          <p:cNvPr id="10" name="Text 8"/>
          <p:cNvSpPr/>
          <p:nvPr/>
        </p:nvSpPr>
        <p:spPr>
          <a:xfrm>
            <a:off x="822960" y="4937760"/>
            <a:ext cx="3108960" cy="502920"/>
          </a:xfrm>
          <a:prstGeom prst="rect">
            <a:avLst/>
          </a:prstGeom>
          <a:noFill/>
          <a:ln/>
        </p:spPr>
        <p:txBody>
          <a:bodyPr wrap="square" lIns="0" tIns="0" rIns="0" bIns="0" rtlCol="0" anchor="ctr"/>
          <a:lstStyle/>
          <a:p>
            <a:pPr indent="0" marL="0">
              <a:buNone/>
            </a:pPr>
            <a:r>
              <a:rPr lang="en-US" sz="2200" b="1" i="1" dirty="0">
                <a:solidFill>
                  <a:srgbClr val="F59E0B"/>
                </a:solidFill>
                <a:latin typeface="Cormorant Garamond" pitchFamily="34" charset="0"/>
                <a:ea typeface="Cormorant Garamond" pitchFamily="34" charset="-122"/>
                <a:cs typeface="Cormorant Garamond" pitchFamily="34" charset="-120"/>
              </a:rPr>
              <a:t>$75-130K entry</a:t>
            </a:r>
            <a:endParaRPr lang="en-US" sz="2200" dirty="0"/>
          </a:p>
        </p:txBody>
      </p:sp>
      <p:sp>
        <p:nvSpPr>
          <p:cNvPr id="11" name="Text 9"/>
          <p:cNvSpPr/>
          <p:nvPr/>
        </p:nvSpPr>
        <p:spPr>
          <a:xfrm>
            <a:off x="822960" y="5486400"/>
            <a:ext cx="3108960" cy="274320"/>
          </a:xfrm>
          <a:prstGeom prst="rect">
            <a:avLst/>
          </a:prstGeom>
          <a:noFill/>
          <a:ln/>
        </p:spPr>
        <p:txBody>
          <a:bodyPr wrap="square" lIns="0" tIns="0" rIns="0" bIns="0" rtlCol="0" anchor="ctr"/>
          <a:lstStyle/>
          <a:p>
            <a:pPr indent="0" marL="0">
              <a:buNone/>
            </a:pPr>
            <a:r>
              <a:rPr lang="en-US" sz="1000" spc="200" kern="0" dirty="0">
                <a:solidFill>
                  <a:srgbClr val="8A7A64"/>
                </a:solidFill>
                <a:latin typeface="DM Sans" pitchFamily="34" charset="0"/>
                <a:ea typeface="DM Sans" pitchFamily="34" charset="-122"/>
                <a:cs typeface="DM Sans" pitchFamily="34" charset="-120"/>
              </a:rPr>
              <a:t>WARM-to-HOT US market</a:t>
            </a:r>
            <a:endParaRPr lang="en-US" sz="1000" dirty="0"/>
          </a:p>
        </p:txBody>
      </p:sp>
      <p:sp>
        <p:nvSpPr>
          <p:cNvPr id="12" name="Shape 10"/>
          <p:cNvSpPr/>
          <p:nvPr/>
        </p:nvSpPr>
        <p:spPr>
          <a:xfrm>
            <a:off x="4480560" y="1645920"/>
            <a:ext cx="3657600" cy="4297680"/>
          </a:xfrm>
          <a:prstGeom prst="rect">
            <a:avLst/>
          </a:prstGeom>
          <a:solidFill>
            <a:srgbClr val="2B1D0E"/>
          </a:solidFill>
          <a:ln w="12700">
            <a:solidFill>
              <a:srgbClr val="2B1D0E"/>
            </a:solidFill>
            <a:prstDash val="solid"/>
          </a:ln>
        </p:spPr>
      </p:sp>
      <p:sp>
        <p:nvSpPr>
          <p:cNvPr id="13" name="Shape 11"/>
          <p:cNvSpPr/>
          <p:nvPr/>
        </p:nvSpPr>
        <p:spPr>
          <a:xfrm>
            <a:off x="4480560" y="1645920"/>
            <a:ext cx="3657600" cy="91440"/>
          </a:xfrm>
          <a:prstGeom prst="rect">
            <a:avLst/>
          </a:prstGeom>
          <a:solidFill>
            <a:srgbClr val="D97706"/>
          </a:solidFill>
          <a:ln w="12700">
            <a:solidFill>
              <a:srgbClr val="D97706"/>
            </a:solidFill>
            <a:prstDash val="solid"/>
          </a:ln>
        </p:spPr>
      </p:sp>
      <p:sp>
        <p:nvSpPr>
          <p:cNvPr id="14" name="Text 12"/>
          <p:cNvSpPr/>
          <p:nvPr/>
        </p:nvSpPr>
        <p:spPr>
          <a:xfrm>
            <a:off x="4754880" y="1920240"/>
            <a:ext cx="3108960" cy="320040"/>
          </a:xfrm>
          <a:prstGeom prst="rect">
            <a:avLst/>
          </a:prstGeom>
          <a:noFill/>
          <a:ln/>
        </p:spPr>
        <p:txBody>
          <a:bodyPr wrap="square" lIns="0" tIns="0" rIns="0" bIns="0" rtlCol="0" anchor="ctr"/>
          <a:lstStyle/>
          <a:p>
            <a:pPr indent="0" marL="0">
              <a:buNone/>
            </a:pPr>
            <a:r>
              <a:rPr lang="en-US" sz="1000" b="1" spc="400" kern="0" dirty="0">
                <a:solidFill>
                  <a:srgbClr val="F59E0B"/>
                </a:solidFill>
                <a:latin typeface="DM Sans" pitchFamily="34" charset="0"/>
                <a:ea typeface="DM Sans" pitchFamily="34" charset="-122"/>
                <a:cs typeface="DM Sans" pitchFamily="34" charset="-120"/>
              </a:rPr>
              <a:t>02 — FASTEST CAREER BOOST</a:t>
            </a:r>
            <a:endParaRPr lang="en-US" sz="1000" dirty="0"/>
          </a:p>
        </p:txBody>
      </p:sp>
      <p:sp>
        <p:nvSpPr>
          <p:cNvPr id="15" name="Text 13"/>
          <p:cNvSpPr/>
          <p:nvPr/>
        </p:nvSpPr>
        <p:spPr>
          <a:xfrm>
            <a:off x="4754880" y="2331720"/>
            <a:ext cx="3108960" cy="1005840"/>
          </a:xfrm>
          <a:prstGeom prst="rect">
            <a:avLst/>
          </a:prstGeom>
          <a:noFill/>
          <a:ln/>
        </p:spPr>
        <p:txBody>
          <a:bodyPr wrap="square" lIns="0" tIns="0" rIns="0" bIns="0" rtlCol="0" anchor="ctr"/>
          <a:lstStyle/>
          <a:p>
            <a:pPr indent="0" marL="0">
              <a:buNone/>
            </a:pPr>
            <a:r>
              <a:rPr lang="en-US" sz="2400" b="1" i="1" dirty="0">
                <a:solidFill>
                  <a:srgbClr val="FAF6F0"/>
                </a:solidFill>
                <a:latin typeface="Cormorant Garamond" pitchFamily="34" charset="0"/>
                <a:ea typeface="Cormorant Garamond" pitchFamily="34" charset="-122"/>
                <a:cs typeface="Cormorant Garamond" pitchFamily="34" charset="-120"/>
              </a:rPr>
              <a:t>AI Professional + GenAI Leader</a:t>
            </a:r>
            <a:endParaRPr lang="en-US" sz="2400" dirty="0"/>
          </a:p>
        </p:txBody>
      </p:sp>
      <p:sp>
        <p:nvSpPr>
          <p:cNvPr id="16" name="Shape 14"/>
          <p:cNvSpPr/>
          <p:nvPr/>
        </p:nvSpPr>
        <p:spPr>
          <a:xfrm>
            <a:off x="4754880" y="3429000"/>
            <a:ext cx="457200" cy="36576"/>
          </a:xfrm>
          <a:prstGeom prst="rect">
            <a:avLst/>
          </a:prstGeom>
          <a:solidFill>
            <a:srgbClr val="D97706"/>
          </a:solidFill>
          <a:ln w="12700">
            <a:solidFill>
              <a:srgbClr val="D97706"/>
            </a:solidFill>
            <a:prstDash val="solid"/>
          </a:ln>
        </p:spPr>
      </p:sp>
      <p:sp>
        <p:nvSpPr>
          <p:cNvPr id="17" name="Text 15"/>
          <p:cNvSpPr/>
          <p:nvPr/>
        </p:nvSpPr>
        <p:spPr>
          <a:xfrm>
            <a:off x="4754880" y="3611880"/>
            <a:ext cx="3108960" cy="1463040"/>
          </a:xfrm>
          <a:prstGeom prst="rect">
            <a:avLst/>
          </a:prstGeom>
          <a:noFill/>
          <a:ln/>
        </p:spPr>
        <p:txBody>
          <a:bodyPr wrap="square" lIns="0" tIns="0" rIns="0" bIns="0" rtlCol="0" anchor="ctr"/>
          <a:lstStyle/>
          <a:p>
            <a:pPr indent="0" marL="0">
              <a:buNone/>
            </a:pPr>
            <a:r>
              <a:rPr lang="en-US" sz="1200" dirty="0">
                <a:solidFill>
                  <a:srgbClr val="C8BAA6"/>
                </a:solidFill>
                <a:latin typeface="DM Sans" pitchFamily="34" charset="0"/>
                <a:ea typeface="DM Sans" pitchFamily="34" charset="-122"/>
                <a:cs typeface="DM Sans" pitchFamily="34" charset="-120"/>
              </a:rPr>
              <a:t>The highest-paying skills (cloud, ML, GenAI, AI PM) command $150-400K+ entry. Tier policy blocks the vendor (Vertex AI / Gemini API), but the craft transfers 1:1 to Ollama + Claude prompts.</a:t>
            </a:r>
            <a:endParaRPr lang="en-US" sz="1200" dirty="0"/>
          </a:p>
        </p:txBody>
      </p:sp>
      <p:sp>
        <p:nvSpPr>
          <p:cNvPr id="18" name="Text 16"/>
          <p:cNvSpPr/>
          <p:nvPr/>
        </p:nvSpPr>
        <p:spPr>
          <a:xfrm>
            <a:off x="4754880" y="4937760"/>
            <a:ext cx="3108960" cy="502920"/>
          </a:xfrm>
          <a:prstGeom prst="rect">
            <a:avLst/>
          </a:prstGeom>
          <a:noFill/>
          <a:ln/>
        </p:spPr>
        <p:txBody>
          <a:bodyPr wrap="square" lIns="0" tIns="0" rIns="0" bIns="0" rtlCol="0" anchor="ctr"/>
          <a:lstStyle/>
          <a:p>
            <a:pPr indent="0" marL="0">
              <a:buNone/>
            </a:pPr>
            <a:r>
              <a:rPr lang="en-US" sz="2200" b="1" i="1" dirty="0">
                <a:solidFill>
                  <a:srgbClr val="F59E0B"/>
                </a:solidFill>
                <a:latin typeface="Cormorant Garamond" pitchFamily="34" charset="0"/>
                <a:ea typeface="Cormorant Garamond" pitchFamily="34" charset="-122"/>
                <a:cs typeface="Cormorant Garamond" pitchFamily="34" charset="-120"/>
              </a:rPr>
              <a:t>$130-196K median</a:t>
            </a:r>
            <a:endParaRPr lang="en-US" sz="2200" dirty="0"/>
          </a:p>
        </p:txBody>
      </p:sp>
      <p:sp>
        <p:nvSpPr>
          <p:cNvPr id="19" name="Text 17"/>
          <p:cNvSpPr/>
          <p:nvPr/>
        </p:nvSpPr>
        <p:spPr>
          <a:xfrm>
            <a:off x="4754880" y="5486400"/>
            <a:ext cx="3108960" cy="274320"/>
          </a:xfrm>
          <a:prstGeom prst="rect">
            <a:avLst/>
          </a:prstGeom>
          <a:noFill/>
          <a:ln/>
        </p:spPr>
        <p:txBody>
          <a:bodyPr wrap="square" lIns="0" tIns="0" rIns="0" bIns="0" rtlCol="0" anchor="ctr"/>
          <a:lstStyle/>
          <a:p>
            <a:pPr indent="0" marL="0">
              <a:buNone/>
            </a:pPr>
            <a:r>
              <a:rPr lang="en-US" sz="1000" spc="200" kern="0" dirty="0">
                <a:solidFill>
                  <a:srgbClr val="8A7A64"/>
                </a:solidFill>
                <a:latin typeface="DM Sans" pitchFamily="34" charset="0"/>
                <a:ea typeface="DM Sans" pitchFamily="34" charset="-122"/>
                <a:cs typeface="DM Sans" pitchFamily="34" charset="-120"/>
              </a:rPr>
              <a:t>BLAZING US market</a:t>
            </a:r>
            <a:endParaRPr lang="en-US" sz="1000" dirty="0"/>
          </a:p>
        </p:txBody>
      </p:sp>
      <p:sp>
        <p:nvSpPr>
          <p:cNvPr id="20" name="Shape 18"/>
          <p:cNvSpPr/>
          <p:nvPr/>
        </p:nvSpPr>
        <p:spPr>
          <a:xfrm>
            <a:off x="8412480" y="1645920"/>
            <a:ext cx="3657600" cy="4297680"/>
          </a:xfrm>
          <a:prstGeom prst="rect">
            <a:avLst/>
          </a:prstGeom>
          <a:solidFill>
            <a:srgbClr val="2B1D0E"/>
          </a:solidFill>
          <a:ln w="12700">
            <a:solidFill>
              <a:srgbClr val="2B1D0E"/>
            </a:solidFill>
            <a:prstDash val="solid"/>
          </a:ln>
        </p:spPr>
      </p:sp>
      <p:sp>
        <p:nvSpPr>
          <p:cNvPr id="21" name="Shape 19"/>
          <p:cNvSpPr/>
          <p:nvPr/>
        </p:nvSpPr>
        <p:spPr>
          <a:xfrm>
            <a:off x="8412480" y="1645920"/>
            <a:ext cx="3657600" cy="91440"/>
          </a:xfrm>
          <a:prstGeom prst="rect">
            <a:avLst/>
          </a:prstGeom>
          <a:solidFill>
            <a:srgbClr val="D97706"/>
          </a:solidFill>
          <a:ln w="12700">
            <a:solidFill>
              <a:srgbClr val="D97706"/>
            </a:solidFill>
            <a:prstDash val="solid"/>
          </a:ln>
        </p:spPr>
      </p:sp>
      <p:sp>
        <p:nvSpPr>
          <p:cNvPr id="22" name="Text 20"/>
          <p:cNvSpPr/>
          <p:nvPr/>
        </p:nvSpPr>
        <p:spPr>
          <a:xfrm>
            <a:off x="8686800" y="1920240"/>
            <a:ext cx="3108960" cy="320040"/>
          </a:xfrm>
          <a:prstGeom prst="rect">
            <a:avLst/>
          </a:prstGeom>
          <a:noFill/>
          <a:ln/>
        </p:spPr>
        <p:txBody>
          <a:bodyPr wrap="square" lIns="0" tIns="0" rIns="0" bIns="0" rtlCol="0" anchor="ctr"/>
          <a:lstStyle/>
          <a:p>
            <a:pPr indent="0" marL="0">
              <a:buNone/>
            </a:pPr>
            <a:r>
              <a:rPr lang="en-US" sz="1000" b="1" spc="400" kern="0" dirty="0">
                <a:solidFill>
                  <a:srgbClr val="F59E0B"/>
                </a:solidFill>
                <a:latin typeface="DM Sans" pitchFamily="34" charset="0"/>
                <a:ea typeface="DM Sans" pitchFamily="34" charset="-122"/>
                <a:cs typeface="DM Sans" pitchFamily="34" charset="-120"/>
              </a:rPr>
              <a:t>03 — HIGHEST GAP-FILL</a:t>
            </a:r>
            <a:endParaRPr lang="en-US" sz="1000" dirty="0"/>
          </a:p>
        </p:txBody>
      </p:sp>
      <p:sp>
        <p:nvSpPr>
          <p:cNvPr id="23" name="Text 21"/>
          <p:cNvSpPr/>
          <p:nvPr/>
        </p:nvSpPr>
        <p:spPr>
          <a:xfrm>
            <a:off x="8686800" y="2331720"/>
            <a:ext cx="3108960" cy="1005840"/>
          </a:xfrm>
          <a:prstGeom prst="rect">
            <a:avLst/>
          </a:prstGeom>
          <a:noFill/>
          <a:ln/>
        </p:spPr>
        <p:txBody>
          <a:bodyPr wrap="square" lIns="0" tIns="0" rIns="0" bIns="0" rtlCol="0" anchor="ctr"/>
          <a:lstStyle/>
          <a:p>
            <a:pPr indent="0" marL="0">
              <a:buNone/>
            </a:pPr>
            <a:r>
              <a:rPr lang="en-US" sz="2400" b="1" i="1" dirty="0">
                <a:solidFill>
                  <a:srgbClr val="FAF6F0"/>
                </a:solidFill>
                <a:latin typeface="Cormorant Garamond" pitchFamily="34" charset="0"/>
                <a:ea typeface="Cormorant Garamond" pitchFamily="34" charset="-122"/>
                <a:cs typeface="Cormorant Garamond" pitchFamily="34" charset="-120"/>
              </a:rPr>
              <a:t>DuckDB over YAML SSOT</a:t>
            </a:r>
            <a:endParaRPr lang="en-US" sz="2400" dirty="0"/>
          </a:p>
        </p:txBody>
      </p:sp>
      <p:sp>
        <p:nvSpPr>
          <p:cNvPr id="24" name="Shape 22"/>
          <p:cNvSpPr/>
          <p:nvPr/>
        </p:nvSpPr>
        <p:spPr>
          <a:xfrm>
            <a:off x="8686800" y="3429000"/>
            <a:ext cx="457200" cy="36576"/>
          </a:xfrm>
          <a:prstGeom prst="rect">
            <a:avLst/>
          </a:prstGeom>
          <a:solidFill>
            <a:srgbClr val="D97706"/>
          </a:solidFill>
          <a:ln w="12700">
            <a:solidFill>
              <a:srgbClr val="D97706"/>
            </a:solidFill>
            <a:prstDash val="solid"/>
          </a:ln>
        </p:spPr>
      </p:sp>
      <p:sp>
        <p:nvSpPr>
          <p:cNvPr id="25" name="Text 23"/>
          <p:cNvSpPr/>
          <p:nvPr/>
        </p:nvSpPr>
        <p:spPr>
          <a:xfrm>
            <a:off x="8686800" y="3611880"/>
            <a:ext cx="3108960" cy="1463040"/>
          </a:xfrm>
          <a:prstGeom prst="rect">
            <a:avLst/>
          </a:prstGeom>
          <a:noFill/>
          <a:ln/>
        </p:spPr>
        <p:txBody>
          <a:bodyPr wrap="square" lIns="0" tIns="0" rIns="0" bIns="0" rtlCol="0" anchor="ctr"/>
          <a:lstStyle/>
          <a:p>
            <a:pPr indent="0" marL="0">
              <a:buNone/>
            </a:pPr>
            <a:r>
              <a:rPr lang="en-US" sz="1200" dirty="0">
                <a:solidFill>
                  <a:srgbClr val="C8BAA6"/>
                </a:solidFill>
                <a:latin typeface="DM Sans" pitchFamily="34" charset="0"/>
                <a:ea typeface="DM Sans" pitchFamily="34" charset="-122"/>
                <a:cs typeface="DM Sans" pitchFamily="34" charset="-120"/>
              </a:rPr>
              <a:t>Catalog SSOT (1,350 series × 18,900 episodes) is at filesystem-grep limit. A data-engineering-trained contributor can ship DuckDB query layer in 2-3 weeks. No vendor lock-in.</a:t>
            </a:r>
            <a:endParaRPr lang="en-US" sz="1200" dirty="0"/>
          </a:p>
        </p:txBody>
      </p:sp>
      <p:sp>
        <p:nvSpPr>
          <p:cNvPr id="26" name="Text 24"/>
          <p:cNvSpPr/>
          <p:nvPr/>
        </p:nvSpPr>
        <p:spPr>
          <a:xfrm>
            <a:off x="8686800" y="4937760"/>
            <a:ext cx="3108960" cy="502920"/>
          </a:xfrm>
          <a:prstGeom prst="rect">
            <a:avLst/>
          </a:prstGeom>
          <a:noFill/>
          <a:ln/>
        </p:spPr>
        <p:txBody>
          <a:bodyPr wrap="square" lIns="0" tIns="0" rIns="0" bIns="0" rtlCol="0" anchor="ctr"/>
          <a:lstStyle/>
          <a:p>
            <a:pPr indent="0" marL="0">
              <a:buNone/>
            </a:pPr>
            <a:r>
              <a:rPr lang="en-US" sz="2200" b="1" i="1" dirty="0">
                <a:solidFill>
                  <a:srgbClr val="F59E0B"/>
                </a:solidFill>
                <a:latin typeface="Cormorant Garamond" pitchFamily="34" charset="0"/>
                <a:ea typeface="Cormorant Garamond" pitchFamily="34" charset="-122"/>
                <a:cs typeface="Cormorant Garamond" pitchFamily="34" charset="-120"/>
              </a:rPr>
              <a:t>Integration #1</a:t>
            </a:r>
            <a:endParaRPr lang="en-US" sz="2200" dirty="0"/>
          </a:p>
        </p:txBody>
      </p:sp>
      <p:sp>
        <p:nvSpPr>
          <p:cNvPr id="27" name="Text 25"/>
          <p:cNvSpPr/>
          <p:nvPr/>
        </p:nvSpPr>
        <p:spPr>
          <a:xfrm>
            <a:off x="8686800" y="5486400"/>
            <a:ext cx="3108960" cy="274320"/>
          </a:xfrm>
          <a:prstGeom prst="rect">
            <a:avLst/>
          </a:prstGeom>
          <a:noFill/>
          <a:ln/>
        </p:spPr>
        <p:txBody>
          <a:bodyPr wrap="square" lIns="0" tIns="0" rIns="0" bIns="0" rtlCol="0" anchor="ctr"/>
          <a:lstStyle/>
          <a:p>
            <a:pPr indent="0" marL="0">
              <a:buNone/>
            </a:pPr>
            <a:r>
              <a:rPr lang="en-US" sz="1000" spc="200" kern="0" dirty="0">
                <a:solidFill>
                  <a:srgbClr val="8A7A64"/>
                </a:solidFill>
                <a:latin typeface="DM Sans" pitchFamily="34" charset="0"/>
                <a:ea typeface="DM Sans" pitchFamily="34" charset="-122"/>
                <a:cs typeface="DM Sans" pitchFamily="34" charset="-120"/>
              </a:rPr>
              <a:t>Pearl_Dev + Pearl_Research</a:t>
            </a:r>
            <a:endParaRPr lang="en-US" sz="1000" dirty="0"/>
          </a:p>
        </p:txBody>
      </p:sp>
      <p:sp>
        <p:nvSpPr>
          <p:cNvPr id="28" name="Text 26"/>
          <p:cNvSpPr/>
          <p:nvPr/>
        </p:nvSpPr>
        <p:spPr>
          <a:xfrm>
            <a:off x="11064240" y="6492240"/>
            <a:ext cx="822960" cy="228600"/>
          </a:xfrm>
          <a:prstGeom prst="rect">
            <a:avLst/>
          </a:prstGeom>
          <a:noFill/>
          <a:ln/>
        </p:spPr>
        <p:txBody>
          <a:bodyPr wrap="square" lIns="0" tIns="0" rIns="0" bIns="0" rtlCol="0" anchor="ctr"/>
          <a:lstStyle/>
          <a:p>
            <a:pPr algn="r" indent="0" marL="0">
              <a:buNone/>
            </a:pPr>
            <a:r>
              <a:rPr lang="en-US" sz="900" dirty="0">
                <a:solidFill>
                  <a:srgbClr val="8A7A64"/>
                </a:solidFill>
                <a:latin typeface="DM Sans" pitchFamily="34" charset="0"/>
                <a:ea typeface="DM Sans" pitchFamily="34" charset="-122"/>
                <a:cs typeface="DM Sans" pitchFamily="34" charset="-120"/>
              </a:rPr>
              <a:t>2 / 17</a:t>
            </a:r>
            <a:endParaRPr lang="en-US" sz="900" dirty="0"/>
          </a:p>
        </p:txBody>
      </p:sp>
      <p:sp>
        <p:nvSpPr>
          <p:cNvPr id="29" name="Text 27"/>
          <p:cNvSpPr/>
          <p:nvPr/>
        </p:nvSpPr>
        <p:spPr>
          <a:xfrm>
            <a:off x="365760" y="6492240"/>
            <a:ext cx="4572000" cy="228600"/>
          </a:xfrm>
          <a:prstGeom prst="rect">
            <a:avLst/>
          </a:prstGeom>
          <a:noFill/>
          <a:ln/>
        </p:spPr>
        <p:txBody>
          <a:bodyPr wrap="square" lIns="0" tIns="0" rIns="0" bIns="0" rtlCol="0" anchor="ctr"/>
          <a:lstStyle/>
          <a:p>
            <a:pPr algn="l" indent="0" marL="0">
              <a:buNone/>
            </a:pPr>
            <a:r>
              <a:rPr lang="en-US" sz="900" dirty="0">
                <a:solidFill>
                  <a:srgbClr val="8A7A64"/>
                </a:solidFill>
                <a:latin typeface="DM Sans" pitchFamily="34" charset="0"/>
                <a:ea typeface="DM Sans" pitchFamily="34" charset="-122"/>
                <a:cs typeface="DM Sans" pitchFamily="34" charset="-120"/>
              </a:rPr>
              <a:t>PEARL_RESEARCH · 2026-06-09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A06"/>
        </a:solidFill>
      </p:bgPr>
    </p:bg>
    <p:spTree>
      <p:nvGrpSpPr>
        <p:cNvPr id="1" name=""/>
        <p:cNvGrpSpPr/>
        <p:nvPr/>
      </p:nvGrpSpPr>
      <p:grpSpPr>
        <a:xfrm>
          <a:off x="0" y="0"/>
          <a:ext cx="0" cy="0"/>
          <a:chOff x="0" y="0"/>
          <a:chExt cx="0" cy="0"/>
        </a:xfrm>
      </p:grpSpPr>
      <p:sp>
        <p:nvSpPr>
          <p:cNvPr id="2" name="Text 0"/>
          <p:cNvSpPr/>
          <p:nvPr/>
        </p:nvSpPr>
        <p:spPr>
          <a:xfrm>
            <a:off x="548640" y="228600"/>
            <a:ext cx="11064240" cy="274320"/>
          </a:xfrm>
          <a:prstGeom prst="rect">
            <a:avLst/>
          </a:prstGeom>
          <a:noFill/>
          <a:ln/>
        </p:spPr>
        <p:txBody>
          <a:bodyPr wrap="square" lIns="0" tIns="0" rIns="0" bIns="0" rtlCol="0" anchor="ctr"/>
          <a:lstStyle/>
          <a:p>
            <a:pPr indent="0" marL="0">
              <a:buNone/>
            </a:pPr>
            <a:r>
              <a:rPr lang="en-US" sz="1100" b="1" spc="600" kern="0" dirty="0">
                <a:solidFill>
                  <a:srgbClr val="F59E0B"/>
                </a:solidFill>
                <a:latin typeface="DM Sans" pitchFamily="34" charset="0"/>
                <a:ea typeface="DM Sans" pitchFamily="34" charset="-122"/>
                <a:cs typeface="DM Sans" pitchFamily="34" charset="-120"/>
              </a:rPr>
              <a:t>GROUND TRUTH</a:t>
            </a:r>
            <a:endParaRPr lang="en-US" sz="1100" dirty="0"/>
          </a:p>
        </p:txBody>
      </p:sp>
      <p:sp>
        <p:nvSpPr>
          <p:cNvPr id="3" name="Text 1"/>
          <p:cNvSpPr/>
          <p:nvPr/>
        </p:nvSpPr>
        <p:spPr>
          <a:xfrm>
            <a:off x="548640" y="411480"/>
            <a:ext cx="11064240" cy="868680"/>
          </a:xfrm>
          <a:prstGeom prst="rect">
            <a:avLst/>
          </a:prstGeom>
          <a:noFill/>
          <a:ln/>
        </p:spPr>
        <p:txBody>
          <a:bodyPr wrap="square" lIns="0" tIns="0" rIns="0" bIns="0" rtlCol="0" anchor="ctr"/>
          <a:lstStyle/>
          <a:p>
            <a:pPr indent="0" marL="0">
              <a:buNone/>
            </a:pPr>
            <a:r>
              <a:rPr lang="en-US" sz="3600" b="1" i="1" dirty="0">
                <a:solidFill>
                  <a:srgbClr val="FAF6F0"/>
                </a:solidFill>
                <a:latin typeface="Cormorant Garamond" pitchFamily="34" charset="0"/>
                <a:ea typeface="Cormorant Garamond" pitchFamily="34" charset="-122"/>
                <a:cs typeface="Cormorant Garamond" pitchFamily="34" charset="-120"/>
              </a:rPr>
              <a:t>Pearl Prime tech stack at a glance</a:t>
            </a:r>
            <a:endParaRPr lang="en-US" sz="3600" dirty="0"/>
          </a:p>
        </p:txBody>
      </p:sp>
      <p:sp>
        <p:nvSpPr>
          <p:cNvPr id="4" name="Shape 2"/>
          <p:cNvSpPr/>
          <p:nvPr/>
        </p:nvSpPr>
        <p:spPr>
          <a:xfrm>
            <a:off x="548640" y="1508760"/>
            <a:ext cx="3840480" cy="1234440"/>
          </a:xfrm>
          <a:prstGeom prst="rect">
            <a:avLst/>
          </a:prstGeom>
          <a:solidFill>
            <a:srgbClr val="1C1308"/>
          </a:solidFill>
          <a:ln w="12700">
            <a:solidFill>
              <a:srgbClr val="1C1308"/>
            </a:solidFill>
            <a:prstDash val="solid"/>
          </a:ln>
        </p:spPr>
      </p:sp>
      <p:sp>
        <p:nvSpPr>
          <p:cNvPr id="5" name="Shape 3"/>
          <p:cNvSpPr/>
          <p:nvPr/>
        </p:nvSpPr>
        <p:spPr>
          <a:xfrm>
            <a:off x="548640" y="1508760"/>
            <a:ext cx="73152" cy="1234440"/>
          </a:xfrm>
          <a:prstGeom prst="rect">
            <a:avLst/>
          </a:prstGeom>
          <a:solidFill>
            <a:srgbClr val="D97706"/>
          </a:solidFill>
          <a:ln w="12700">
            <a:solidFill>
              <a:srgbClr val="D97706"/>
            </a:solidFill>
            <a:prstDash val="solid"/>
          </a:ln>
        </p:spPr>
      </p:sp>
      <p:sp>
        <p:nvSpPr>
          <p:cNvPr id="6" name="Text 4"/>
          <p:cNvSpPr/>
          <p:nvPr/>
        </p:nvSpPr>
        <p:spPr>
          <a:xfrm>
            <a:off x="777240" y="1600200"/>
            <a:ext cx="3474720" cy="320040"/>
          </a:xfrm>
          <a:prstGeom prst="rect">
            <a:avLst/>
          </a:prstGeom>
          <a:noFill/>
          <a:ln/>
        </p:spPr>
        <p:txBody>
          <a:bodyPr wrap="square" lIns="0" tIns="0" rIns="0" bIns="0" rtlCol="0" anchor="ctr"/>
          <a:lstStyle/>
          <a:p>
            <a:pPr indent="0" marL="0">
              <a:buNone/>
            </a:pPr>
            <a:r>
              <a:rPr lang="en-US" sz="1600" b="1" i="1" dirty="0">
                <a:solidFill>
                  <a:srgbClr val="FAF6F0"/>
                </a:solidFill>
                <a:latin typeface="Cormorant Garamond" pitchFamily="34" charset="0"/>
                <a:ea typeface="Cormorant Garamond" pitchFamily="34" charset="-122"/>
                <a:cs typeface="Cormorant Garamond" pitchFamily="34" charset="-120"/>
              </a:rPr>
              <a:t>core_pipeline</a:t>
            </a:r>
            <a:endParaRPr lang="en-US" sz="1600" dirty="0"/>
          </a:p>
        </p:txBody>
      </p:sp>
      <p:sp>
        <p:nvSpPr>
          <p:cNvPr id="7" name="Text 5"/>
          <p:cNvSpPr/>
          <p:nvPr/>
        </p:nvSpPr>
        <p:spPr>
          <a:xfrm>
            <a:off x="777240" y="1874520"/>
            <a:ext cx="3474720" cy="228600"/>
          </a:xfrm>
          <a:prstGeom prst="rect">
            <a:avLst/>
          </a:prstGeom>
          <a:noFill/>
          <a:ln/>
        </p:spPr>
        <p:txBody>
          <a:bodyPr wrap="square" lIns="0" tIns="0" rIns="0" bIns="0" rtlCol="0" anchor="ctr"/>
          <a:lstStyle/>
          <a:p>
            <a:pPr indent="0" marL="0">
              <a:buNone/>
            </a:pPr>
            <a:r>
              <a:rPr lang="en-US" sz="900" b="1" spc="200" kern="0" dirty="0">
                <a:solidFill>
                  <a:srgbClr val="F59E0B"/>
                </a:solidFill>
                <a:latin typeface="DM Sans" pitchFamily="34" charset="0"/>
                <a:ea typeface="DM Sans" pitchFamily="34" charset="-122"/>
                <a:cs typeface="DM Sans" pitchFamily="34" charset="-120"/>
              </a:rPr>
              <a:t>Pearl_Prime</a:t>
            </a:r>
            <a:endParaRPr lang="en-US" sz="900" dirty="0"/>
          </a:p>
        </p:txBody>
      </p:sp>
      <p:sp>
        <p:nvSpPr>
          <p:cNvPr id="8" name="Text 6"/>
          <p:cNvSpPr/>
          <p:nvPr/>
        </p:nvSpPr>
        <p:spPr>
          <a:xfrm>
            <a:off x="777240" y="2103120"/>
            <a:ext cx="347472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Python 3.11+ · YAML SSOT · asyncio · PyYAML · filesystem state</a:t>
            </a:r>
            <a:endParaRPr lang="en-US" sz="1000" dirty="0"/>
          </a:p>
        </p:txBody>
      </p:sp>
      <p:sp>
        <p:nvSpPr>
          <p:cNvPr id="9" name="Shape 7"/>
          <p:cNvSpPr/>
          <p:nvPr/>
        </p:nvSpPr>
        <p:spPr>
          <a:xfrm>
            <a:off x="4553712" y="1508760"/>
            <a:ext cx="3840480" cy="1234440"/>
          </a:xfrm>
          <a:prstGeom prst="rect">
            <a:avLst/>
          </a:prstGeom>
          <a:solidFill>
            <a:srgbClr val="1C1308"/>
          </a:solidFill>
          <a:ln w="12700">
            <a:solidFill>
              <a:srgbClr val="1C1308"/>
            </a:solidFill>
            <a:prstDash val="solid"/>
          </a:ln>
        </p:spPr>
      </p:sp>
      <p:sp>
        <p:nvSpPr>
          <p:cNvPr id="10" name="Shape 8"/>
          <p:cNvSpPr/>
          <p:nvPr/>
        </p:nvSpPr>
        <p:spPr>
          <a:xfrm>
            <a:off x="4553712" y="1508760"/>
            <a:ext cx="73152" cy="1234440"/>
          </a:xfrm>
          <a:prstGeom prst="rect">
            <a:avLst/>
          </a:prstGeom>
          <a:solidFill>
            <a:srgbClr val="D97706"/>
          </a:solidFill>
          <a:ln w="12700">
            <a:solidFill>
              <a:srgbClr val="D97706"/>
            </a:solidFill>
            <a:prstDash val="solid"/>
          </a:ln>
        </p:spPr>
      </p:sp>
      <p:sp>
        <p:nvSpPr>
          <p:cNvPr id="11" name="Text 9"/>
          <p:cNvSpPr/>
          <p:nvPr/>
        </p:nvSpPr>
        <p:spPr>
          <a:xfrm>
            <a:off x="4782312" y="1600200"/>
            <a:ext cx="3474720" cy="320040"/>
          </a:xfrm>
          <a:prstGeom prst="rect">
            <a:avLst/>
          </a:prstGeom>
          <a:noFill/>
          <a:ln/>
        </p:spPr>
        <p:txBody>
          <a:bodyPr wrap="square" lIns="0" tIns="0" rIns="0" bIns="0" rtlCol="0" anchor="ctr"/>
          <a:lstStyle/>
          <a:p>
            <a:pPr indent="0" marL="0">
              <a:buNone/>
            </a:pPr>
            <a:r>
              <a:rPr lang="en-US" sz="1600" b="1" i="1" dirty="0">
                <a:solidFill>
                  <a:srgbClr val="FAF6F0"/>
                </a:solidFill>
                <a:latin typeface="Cormorant Garamond" pitchFamily="34" charset="0"/>
                <a:ea typeface="Cormorant Garamond" pitchFamily="34" charset="-122"/>
                <a:cs typeface="Cormorant Garamond" pitchFamily="34" charset="-120"/>
              </a:rPr>
              <a:t>manga_pipeline</a:t>
            </a:r>
            <a:endParaRPr lang="en-US" sz="1600" dirty="0"/>
          </a:p>
        </p:txBody>
      </p:sp>
      <p:sp>
        <p:nvSpPr>
          <p:cNvPr id="12" name="Text 10"/>
          <p:cNvSpPr/>
          <p:nvPr/>
        </p:nvSpPr>
        <p:spPr>
          <a:xfrm>
            <a:off x="4782312" y="1874520"/>
            <a:ext cx="3474720" cy="228600"/>
          </a:xfrm>
          <a:prstGeom prst="rect">
            <a:avLst/>
          </a:prstGeom>
          <a:noFill/>
          <a:ln/>
        </p:spPr>
        <p:txBody>
          <a:bodyPr wrap="square" lIns="0" tIns="0" rIns="0" bIns="0" rtlCol="0" anchor="ctr"/>
          <a:lstStyle/>
          <a:p>
            <a:pPr indent="0" marL="0">
              <a:buNone/>
            </a:pPr>
            <a:r>
              <a:rPr lang="en-US" sz="900" b="1" spc="200" kern="0" dirty="0">
                <a:solidFill>
                  <a:srgbClr val="F59E0B"/>
                </a:solidFill>
                <a:latin typeface="DM Sans" pitchFamily="34" charset="0"/>
                <a:ea typeface="DM Sans" pitchFamily="34" charset="-122"/>
                <a:cs typeface="DM Sans" pitchFamily="34" charset="-120"/>
              </a:rPr>
              <a:t>Pearl_Dev</a:t>
            </a:r>
            <a:endParaRPr lang="en-US" sz="900" dirty="0"/>
          </a:p>
        </p:txBody>
      </p:sp>
      <p:sp>
        <p:nvSpPr>
          <p:cNvPr id="13" name="Text 11"/>
          <p:cNvSpPr/>
          <p:nvPr/>
        </p:nvSpPr>
        <p:spPr>
          <a:xfrm>
            <a:off x="4782312" y="2103120"/>
            <a:ext cx="347472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ComfyUI · FLUX.1-dev · Qwen-Image · Animagine XL · PuLID · ai-toolkit LoRA · PyTorch</a:t>
            </a:r>
            <a:endParaRPr lang="en-US" sz="1000" dirty="0"/>
          </a:p>
        </p:txBody>
      </p:sp>
      <p:sp>
        <p:nvSpPr>
          <p:cNvPr id="14" name="Shape 12"/>
          <p:cNvSpPr/>
          <p:nvPr/>
        </p:nvSpPr>
        <p:spPr>
          <a:xfrm>
            <a:off x="8558784" y="1508760"/>
            <a:ext cx="3840480" cy="1234440"/>
          </a:xfrm>
          <a:prstGeom prst="rect">
            <a:avLst/>
          </a:prstGeom>
          <a:solidFill>
            <a:srgbClr val="1C1308"/>
          </a:solidFill>
          <a:ln w="12700">
            <a:solidFill>
              <a:srgbClr val="1C1308"/>
            </a:solidFill>
            <a:prstDash val="solid"/>
          </a:ln>
        </p:spPr>
      </p:sp>
      <p:sp>
        <p:nvSpPr>
          <p:cNvPr id="15" name="Shape 13"/>
          <p:cNvSpPr/>
          <p:nvPr/>
        </p:nvSpPr>
        <p:spPr>
          <a:xfrm>
            <a:off x="8558784" y="1508760"/>
            <a:ext cx="73152" cy="1234440"/>
          </a:xfrm>
          <a:prstGeom prst="rect">
            <a:avLst/>
          </a:prstGeom>
          <a:solidFill>
            <a:srgbClr val="D97706"/>
          </a:solidFill>
          <a:ln w="12700">
            <a:solidFill>
              <a:srgbClr val="D97706"/>
            </a:solidFill>
            <a:prstDash val="solid"/>
          </a:ln>
        </p:spPr>
      </p:sp>
      <p:sp>
        <p:nvSpPr>
          <p:cNvPr id="16" name="Text 14"/>
          <p:cNvSpPr/>
          <p:nvPr/>
        </p:nvSpPr>
        <p:spPr>
          <a:xfrm>
            <a:off x="8787384" y="1600200"/>
            <a:ext cx="3474720" cy="320040"/>
          </a:xfrm>
          <a:prstGeom prst="rect">
            <a:avLst/>
          </a:prstGeom>
          <a:noFill/>
          <a:ln/>
        </p:spPr>
        <p:txBody>
          <a:bodyPr wrap="square" lIns="0" tIns="0" rIns="0" bIns="0" rtlCol="0" anchor="ctr"/>
          <a:lstStyle/>
          <a:p>
            <a:pPr indent="0" marL="0">
              <a:buNone/>
            </a:pPr>
            <a:r>
              <a:rPr lang="en-US" sz="1600" b="1" i="1" dirty="0">
                <a:solidFill>
                  <a:srgbClr val="FAF6F0"/>
                </a:solidFill>
                <a:latin typeface="Cormorant Garamond" pitchFamily="34" charset="0"/>
                <a:ea typeface="Cormorant Garamond" pitchFamily="34" charset="-122"/>
                <a:cs typeface="Cormorant Garamond" pitchFamily="34" charset="-120"/>
              </a:rPr>
              <a:t>video_pipeline</a:t>
            </a:r>
            <a:endParaRPr lang="en-US" sz="1600" dirty="0"/>
          </a:p>
        </p:txBody>
      </p:sp>
      <p:sp>
        <p:nvSpPr>
          <p:cNvPr id="17" name="Text 15"/>
          <p:cNvSpPr/>
          <p:nvPr/>
        </p:nvSpPr>
        <p:spPr>
          <a:xfrm>
            <a:off x="8787384" y="1874520"/>
            <a:ext cx="3474720" cy="228600"/>
          </a:xfrm>
          <a:prstGeom prst="rect">
            <a:avLst/>
          </a:prstGeom>
          <a:noFill/>
          <a:ln/>
        </p:spPr>
        <p:txBody>
          <a:bodyPr wrap="square" lIns="0" tIns="0" rIns="0" bIns="0" rtlCol="0" anchor="ctr"/>
          <a:lstStyle/>
          <a:p>
            <a:pPr indent="0" marL="0">
              <a:buNone/>
            </a:pPr>
            <a:r>
              <a:rPr lang="en-US" sz="900" b="1" spc="200" kern="0" dirty="0">
                <a:solidFill>
                  <a:srgbClr val="F59E0B"/>
                </a:solidFill>
                <a:latin typeface="DM Sans" pitchFamily="34" charset="0"/>
                <a:ea typeface="DM Sans" pitchFamily="34" charset="-122"/>
                <a:cs typeface="DM Sans" pitchFamily="34" charset="-120"/>
              </a:rPr>
              <a:t>Pearl_Video</a:t>
            </a:r>
            <a:endParaRPr lang="en-US" sz="900" dirty="0"/>
          </a:p>
        </p:txBody>
      </p:sp>
      <p:sp>
        <p:nvSpPr>
          <p:cNvPr id="18" name="Text 16"/>
          <p:cNvSpPr/>
          <p:nvPr/>
        </p:nvSpPr>
        <p:spPr>
          <a:xfrm>
            <a:off x="8787384" y="2103120"/>
            <a:ext cx="347472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Python · JSON schemas · FFmpeg · FormatAdapter (16:9/9:16/1:1) · R2 upload</a:t>
            </a:r>
            <a:endParaRPr lang="en-US" sz="1000" dirty="0"/>
          </a:p>
        </p:txBody>
      </p:sp>
      <p:sp>
        <p:nvSpPr>
          <p:cNvPr id="19" name="Shape 17"/>
          <p:cNvSpPr/>
          <p:nvPr/>
        </p:nvSpPr>
        <p:spPr>
          <a:xfrm>
            <a:off x="548640" y="2907792"/>
            <a:ext cx="3840480" cy="1234440"/>
          </a:xfrm>
          <a:prstGeom prst="rect">
            <a:avLst/>
          </a:prstGeom>
          <a:solidFill>
            <a:srgbClr val="1C1308"/>
          </a:solidFill>
          <a:ln w="12700">
            <a:solidFill>
              <a:srgbClr val="1C1308"/>
            </a:solidFill>
            <a:prstDash val="solid"/>
          </a:ln>
        </p:spPr>
      </p:sp>
      <p:sp>
        <p:nvSpPr>
          <p:cNvPr id="20" name="Shape 18"/>
          <p:cNvSpPr/>
          <p:nvPr/>
        </p:nvSpPr>
        <p:spPr>
          <a:xfrm>
            <a:off x="548640" y="2907792"/>
            <a:ext cx="73152" cy="1234440"/>
          </a:xfrm>
          <a:prstGeom prst="rect">
            <a:avLst/>
          </a:prstGeom>
          <a:solidFill>
            <a:srgbClr val="D97706"/>
          </a:solidFill>
          <a:ln w="12700">
            <a:solidFill>
              <a:srgbClr val="D97706"/>
            </a:solidFill>
            <a:prstDash val="solid"/>
          </a:ln>
        </p:spPr>
      </p:sp>
      <p:sp>
        <p:nvSpPr>
          <p:cNvPr id="21" name="Text 19"/>
          <p:cNvSpPr/>
          <p:nvPr/>
        </p:nvSpPr>
        <p:spPr>
          <a:xfrm>
            <a:off x="777240" y="2999232"/>
            <a:ext cx="3474720" cy="320040"/>
          </a:xfrm>
          <a:prstGeom prst="rect">
            <a:avLst/>
          </a:prstGeom>
          <a:noFill/>
          <a:ln/>
        </p:spPr>
        <p:txBody>
          <a:bodyPr wrap="square" lIns="0" tIns="0" rIns="0" bIns="0" rtlCol="0" anchor="ctr"/>
          <a:lstStyle/>
          <a:p>
            <a:pPr indent="0" marL="0">
              <a:buNone/>
            </a:pPr>
            <a:r>
              <a:rPr lang="en-US" sz="1600" b="1" i="1" dirty="0">
                <a:solidFill>
                  <a:srgbClr val="FAF6F0"/>
                </a:solidFill>
                <a:latin typeface="Cormorant Garamond" pitchFamily="34" charset="0"/>
                <a:ea typeface="Cormorant Garamond" pitchFamily="34" charset="-122"/>
                <a:cs typeface="Cormorant Garamond" pitchFamily="34" charset="-120"/>
              </a:rPr>
              <a:t>audiobook_pipeline</a:t>
            </a:r>
            <a:endParaRPr lang="en-US" sz="1600" dirty="0"/>
          </a:p>
        </p:txBody>
      </p:sp>
      <p:sp>
        <p:nvSpPr>
          <p:cNvPr id="22" name="Text 20"/>
          <p:cNvSpPr/>
          <p:nvPr/>
        </p:nvSpPr>
        <p:spPr>
          <a:xfrm>
            <a:off x="777240" y="3273552"/>
            <a:ext cx="3474720" cy="228600"/>
          </a:xfrm>
          <a:prstGeom prst="rect">
            <a:avLst/>
          </a:prstGeom>
          <a:noFill/>
          <a:ln/>
        </p:spPr>
        <p:txBody>
          <a:bodyPr wrap="square" lIns="0" tIns="0" rIns="0" bIns="0" rtlCol="0" anchor="ctr"/>
          <a:lstStyle/>
          <a:p>
            <a:pPr indent="0" marL="0">
              <a:buNone/>
            </a:pPr>
            <a:r>
              <a:rPr lang="en-US" sz="900" b="1" spc="200" kern="0" dirty="0">
                <a:solidFill>
                  <a:srgbClr val="F59E0B"/>
                </a:solidFill>
                <a:latin typeface="DM Sans" pitchFamily="34" charset="0"/>
                <a:ea typeface="DM Sans" pitchFamily="34" charset="-122"/>
                <a:cs typeface="DM Sans" pitchFamily="34" charset="-120"/>
              </a:rPr>
              <a:t>Pearl_Dev</a:t>
            </a:r>
            <a:endParaRPr lang="en-US" sz="900" dirty="0"/>
          </a:p>
        </p:txBody>
      </p:sp>
      <p:sp>
        <p:nvSpPr>
          <p:cNvPr id="23" name="Text 21"/>
          <p:cNvSpPr/>
          <p:nvPr/>
        </p:nvSpPr>
        <p:spPr>
          <a:xfrm>
            <a:off x="777240" y="3502152"/>
            <a:ext cx="347472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Python asyncio · CosyVoice2 · ElevenLabs · Edge-TTS · Qwen comparator</a:t>
            </a:r>
            <a:endParaRPr lang="en-US" sz="1000" dirty="0"/>
          </a:p>
        </p:txBody>
      </p:sp>
      <p:sp>
        <p:nvSpPr>
          <p:cNvPr id="24" name="Shape 22"/>
          <p:cNvSpPr/>
          <p:nvPr/>
        </p:nvSpPr>
        <p:spPr>
          <a:xfrm>
            <a:off x="4553712" y="2907792"/>
            <a:ext cx="3840480" cy="1234440"/>
          </a:xfrm>
          <a:prstGeom prst="rect">
            <a:avLst/>
          </a:prstGeom>
          <a:solidFill>
            <a:srgbClr val="1C1308"/>
          </a:solidFill>
          <a:ln w="12700">
            <a:solidFill>
              <a:srgbClr val="1C1308"/>
            </a:solidFill>
            <a:prstDash val="solid"/>
          </a:ln>
        </p:spPr>
      </p:sp>
      <p:sp>
        <p:nvSpPr>
          <p:cNvPr id="25" name="Shape 23"/>
          <p:cNvSpPr/>
          <p:nvPr/>
        </p:nvSpPr>
        <p:spPr>
          <a:xfrm>
            <a:off x="4553712" y="2907792"/>
            <a:ext cx="73152" cy="1234440"/>
          </a:xfrm>
          <a:prstGeom prst="rect">
            <a:avLst/>
          </a:prstGeom>
          <a:solidFill>
            <a:srgbClr val="D97706"/>
          </a:solidFill>
          <a:ln w="12700">
            <a:solidFill>
              <a:srgbClr val="D97706"/>
            </a:solidFill>
            <a:prstDash val="solid"/>
          </a:ln>
        </p:spPr>
      </p:sp>
      <p:sp>
        <p:nvSpPr>
          <p:cNvPr id="26" name="Text 24"/>
          <p:cNvSpPr/>
          <p:nvPr/>
        </p:nvSpPr>
        <p:spPr>
          <a:xfrm>
            <a:off x="4782312" y="2999232"/>
            <a:ext cx="3474720" cy="320040"/>
          </a:xfrm>
          <a:prstGeom prst="rect">
            <a:avLst/>
          </a:prstGeom>
          <a:noFill/>
          <a:ln/>
        </p:spPr>
        <p:txBody>
          <a:bodyPr wrap="square" lIns="0" tIns="0" rIns="0" bIns="0" rtlCol="0" anchor="ctr"/>
          <a:lstStyle/>
          <a:p>
            <a:pPr indent="0" marL="0">
              <a:buNone/>
            </a:pPr>
            <a:r>
              <a:rPr lang="en-US" sz="1600" b="1" i="1" dirty="0">
                <a:solidFill>
                  <a:srgbClr val="FAF6F0"/>
                </a:solidFill>
                <a:latin typeface="Cormorant Garamond" pitchFamily="34" charset="0"/>
                <a:ea typeface="Cormorant Garamond" pitchFamily="34" charset="-122"/>
                <a:cs typeface="Cormorant Garamond" pitchFamily="34" charset="-120"/>
              </a:rPr>
              <a:t>brand_admin + dashboard</a:t>
            </a:r>
            <a:endParaRPr lang="en-US" sz="1600" dirty="0"/>
          </a:p>
        </p:txBody>
      </p:sp>
      <p:sp>
        <p:nvSpPr>
          <p:cNvPr id="27" name="Text 25"/>
          <p:cNvSpPr/>
          <p:nvPr/>
        </p:nvSpPr>
        <p:spPr>
          <a:xfrm>
            <a:off x="4782312" y="3273552"/>
            <a:ext cx="3474720" cy="228600"/>
          </a:xfrm>
          <a:prstGeom prst="rect">
            <a:avLst/>
          </a:prstGeom>
          <a:noFill/>
          <a:ln/>
        </p:spPr>
        <p:txBody>
          <a:bodyPr wrap="square" lIns="0" tIns="0" rIns="0" bIns="0" rtlCol="0" anchor="ctr"/>
          <a:lstStyle/>
          <a:p>
            <a:pPr indent="0" marL="0">
              <a:buNone/>
            </a:pPr>
            <a:r>
              <a:rPr lang="en-US" sz="900" b="1" spc="200" kern="0" dirty="0">
                <a:solidFill>
                  <a:srgbClr val="F59E0B"/>
                </a:solidFill>
                <a:latin typeface="DM Sans" pitchFamily="34" charset="0"/>
                <a:ea typeface="DM Sans" pitchFamily="34" charset="-122"/>
                <a:cs typeface="DM Sans" pitchFamily="34" charset="-120"/>
              </a:rPr>
              <a:t>Pearl_Prez + Pearl_Brand</a:t>
            </a:r>
            <a:endParaRPr lang="en-US" sz="900" dirty="0"/>
          </a:p>
        </p:txBody>
      </p:sp>
      <p:sp>
        <p:nvSpPr>
          <p:cNvPr id="28" name="Text 26"/>
          <p:cNvSpPr/>
          <p:nvPr/>
        </p:nvSpPr>
        <p:spPr>
          <a:xfrm>
            <a:off x="4782312" y="3502152"/>
            <a:ext cx="347472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React 18 · Vite 6 · Tailwind 3 · lucide-react · Cloudflare Pages</a:t>
            </a:r>
            <a:endParaRPr lang="en-US" sz="1000" dirty="0"/>
          </a:p>
        </p:txBody>
      </p:sp>
      <p:sp>
        <p:nvSpPr>
          <p:cNvPr id="29" name="Shape 27"/>
          <p:cNvSpPr/>
          <p:nvPr/>
        </p:nvSpPr>
        <p:spPr>
          <a:xfrm>
            <a:off x="8558784" y="2907792"/>
            <a:ext cx="3840480" cy="1234440"/>
          </a:xfrm>
          <a:prstGeom prst="rect">
            <a:avLst/>
          </a:prstGeom>
          <a:solidFill>
            <a:srgbClr val="1C1308"/>
          </a:solidFill>
          <a:ln w="12700">
            <a:solidFill>
              <a:srgbClr val="1C1308"/>
            </a:solidFill>
            <a:prstDash val="solid"/>
          </a:ln>
        </p:spPr>
      </p:sp>
      <p:sp>
        <p:nvSpPr>
          <p:cNvPr id="30" name="Shape 28"/>
          <p:cNvSpPr/>
          <p:nvPr/>
        </p:nvSpPr>
        <p:spPr>
          <a:xfrm>
            <a:off x="8558784" y="2907792"/>
            <a:ext cx="73152" cy="1234440"/>
          </a:xfrm>
          <a:prstGeom prst="rect">
            <a:avLst/>
          </a:prstGeom>
          <a:solidFill>
            <a:srgbClr val="D97706"/>
          </a:solidFill>
          <a:ln w="12700">
            <a:solidFill>
              <a:srgbClr val="D97706"/>
            </a:solidFill>
            <a:prstDash val="solid"/>
          </a:ln>
        </p:spPr>
      </p:sp>
      <p:sp>
        <p:nvSpPr>
          <p:cNvPr id="31" name="Text 29"/>
          <p:cNvSpPr/>
          <p:nvPr/>
        </p:nvSpPr>
        <p:spPr>
          <a:xfrm>
            <a:off x="8787384" y="2999232"/>
            <a:ext cx="3474720" cy="320040"/>
          </a:xfrm>
          <a:prstGeom prst="rect">
            <a:avLst/>
          </a:prstGeom>
          <a:noFill/>
          <a:ln/>
        </p:spPr>
        <p:txBody>
          <a:bodyPr wrap="square" lIns="0" tIns="0" rIns="0" bIns="0" rtlCol="0" anchor="ctr"/>
          <a:lstStyle/>
          <a:p>
            <a:pPr indent="0" marL="0">
              <a:buNone/>
            </a:pPr>
            <a:r>
              <a:rPr lang="en-US" sz="1600" b="1" i="1" dirty="0">
                <a:solidFill>
                  <a:srgbClr val="FAF6F0"/>
                </a:solidFill>
                <a:latin typeface="Cormorant Garamond" pitchFamily="34" charset="0"/>
                <a:ea typeface="Cormorant Garamond" pitchFamily="34" charset="-122"/>
                <a:cs typeface="Cormorant Garamond" pitchFamily="34" charset="-120"/>
              </a:rPr>
              <a:t>integrations + pearl_devops</a:t>
            </a:r>
            <a:endParaRPr lang="en-US" sz="1600" dirty="0"/>
          </a:p>
        </p:txBody>
      </p:sp>
      <p:sp>
        <p:nvSpPr>
          <p:cNvPr id="32" name="Text 30"/>
          <p:cNvSpPr/>
          <p:nvPr/>
        </p:nvSpPr>
        <p:spPr>
          <a:xfrm>
            <a:off x="8787384" y="3273552"/>
            <a:ext cx="3474720" cy="228600"/>
          </a:xfrm>
          <a:prstGeom prst="rect">
            <a:avLst/>
          </a:prstGeom>
          <a:noFill/>
          <a:ln/>
        </p:spPr>
        <p:txBody>
          <a:bodyPr wrap="square" lIns="0" tIns="0" rIns="0" bIns="0" rtlCol="0" anchor="ctr"/>
          <a:lstStyle/>
          <a:p>
            <a:pPr indent="0" marL="0">
              <a:buNone/>
            </a:pPr>
            <a:r>
              <a:rPr lang="en-US" sz="900" b="1" spc="200" kern="0" dirty="0">
                <a:solidFill>
                  <a:srgbClr val="F59E0B"/>
                </a:solidFill>
                <a:latin typeface="DM Sans" pitchFamily="34" charset="0"/>
                <a:ea typeface="DM Sans" pitchFamily="34" charset="-122"/>
                <a:cs typeface="DM Sans" pitchFamily="34" charset="-120"/>
              </a:rPr>
              <a:t>Pearl_Int + Pearl_DevOps</a:t>
            </a:r>
            <a:endParaRPr lang="en-US" sz="900" dirty="0"/>
          </a:p>
        </p:txBody>
      </p:sp>
      <p:sp>
        <p:nvSpPr>
          <p:cNvPr id="33" name="Text 31"/>
          <p:cNvSpPr/>
          <p:nvPr/>
        </p:nvSpPr>
        <p:spPr>
          <a:xfrm>
            <a:off x="8787384" y="3502152"/>
            <a:ext cx="347472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Cloudflare (Pages/Workers/R2) · GitHub Actions · Tailscale · macOS Keychain</a:t>
            </a:r>
            <a:endParaRPr lang="en-US" sz="1000" dirty="0"/>
          </a:p>
        </p:txBody>
      </p:sp>
      <p:sp>
        <p:nvSpPr>
          <p:cNvPr id="34" name="Shape 32"/>
          <p:cNvSpPr/>
          <p:nvPr/>
        </p:nvSpPr>
        <p:spPr>
          <a:xfrm>
            <a:off x="548640" y="5257800"/>
            <a:ext cx="11064240" cy="822960"/>
          </a:xfrm>
          <a:prstGeom prst="rect">
            <a:avLst/>
          </a:prstGeom>
          <a:solidFill>
            <a:srgbClr val="2B1D0E"/>
          </a:solidFill>
          <a:ln w="12700">
            <a:solidFill>
              <a:srgbClr val="D97706"/>
            </a:solidFill>
            <a:prstDash val="solid"/>
          </a:ln>
        </p:spPr>
      </p:sp>
      <p:sp>
        <p:nvSpPr>
          <p:cNvPr id="35" name="Text 33"/>
          <p:cNvSpPr/>
          <p:nvPr/>
        </p:nvSpPr>
        <p:spPr>
          <a:xfrm>
            <a:off x="731520" y="5394960"/>
            <a:ext cx="10698480" cy="548640"/>
          </a:xfrm>
          <a:prstGeom prst="rect">
            <a:avLst/>
          </a:prstGeom>
          <a:noFill/>
          <a:ln/>
        </p:spPr>
        <p:txBody>
          <a:bodyPr wrap="square" lIns="0" tIns="0" rIns="0" bIns="0" rtlCol="0" anchor="ctr"/>
          <a:lstStyle/>
          <a:p>
            <a:pPr indent="0" marL="0">
              <a:buNone/>
            </a:pPr>
            <a:r>
              <a:rPr lang="en-US" sz="1200" b="1" dirty="0">
                <a:solidFill>
                  <a:srgbClr val="F59E0B"/>
                </a:solidFill>
                <a:latin typeface="DM Sans" pitchFamily="34" charset="0"/>
                <a:ea typeface="DM Sans" pitchFamily="34" charset="-122"/>
                <a:cs typeface="DM Sans" pitchFamily="34" charset="-120"/>
              </a:rPr>
              <a:t>Cross-cutting: </a:t>
            </a:r>
            <a:pPr indent="0" marL="0">
              <a:buNone/>
            </a:pPr>
            <a:r>
              <a:rPr lang="en-US" sz="1200" dirty="0">
                <a:solidFill>
                  <a:srgbClr val="FAF6F0"/>
                </a:solidFill>
                <a:latin typeface="DM Sans" pitchFamily="34" charset="0"/>
                <a:ea typeface="DM Sans" pitchFamily="34" charset="-122"/>
                <a:cs typeface="DM Sans" pitchFamily="34" charset="-120"/>
              </a:rPr>
              <a:t>Python ≈ 90% of repo  ·  YAML = source of truth  ·  Cloudflare (not GCP)  ·  Ollama on Pearl Star = local LLM (Qwen + Gemma3)  ·  GitHub Actions = CI/CD  ·  Path X axis-separation architecture</a:t>
            </a:r>
            <a:endParaRPr lang="en-US" sz="1200" dirty="0"/>
          </a:p>
        </p:txBody>
      </p:sp>
      <p:sp>
        <p:nvSpPr>
          <p:cNvPr id="36" name="Text 34"/>
          <p:cNvSpPr/>
          <p:nvPr/>
        </p:nvSpPr>
        <p:spPr>
          <a:xfrm>
            <a:off x="11064240" y="6492240"/>
            <a:ext cx="822960" cy="228600"/>
          </a:xfrm>
          <a:prstGeom prst="rect">
            <a:avLst/>
          </a:prstGeom>
          <a:noFill/>
          <a:ln/>
        </p:spPr>
        <p:txBody>
          <a:bodyPr wrap="square" lIns="0" tIns="0" rIns="0" bIns="0" rtlCol="0" anchor="ctr"/>
          <a:lstStyle/>
          <a:p>
            <a:pPr algn="r" indent="0" marL="0">
              <a:buNone/>
            </a:pPr>
            <a:r>
              <a:rPr lang="en-US" sz="900" dirty="0">
                <a:solidFill>
                  <a:srgbClr val="8A7A64"/>
                </a:solidFill>
                <a:latin typeface="DM Sans" pitchFamily="34" charset="0"/>
                <a:ea typeface="DM Sans" pitchFamily="34" charset="-122"/>
                <a:cs typeface="DM Sans" pitchFamily="34" charset="-120"/>
              </a:rPr>
              <a:t>3 / 17</a:t>
            </a:r>
            <a:endParaRPr lang="en-US" sz="900" dirty="0"/>
          </a:p>
        </p:txBody>
      </p:sp>
      <p:sp>
        <p:nvSpPr>
          <p:cNvPr id="37" name="Text 35"/>
          <p:cNvSpPr/>
          <p:nvPr/>
        </p:nvSpPr>
        <p:spPr>
          <a:xfrm>
            <a:off x="365760" y="6492240"/>
            <a:ext cx="4572000" cy="228600"/>
          </a:xfrm>
          <a:prstGeom prst="rect">
            <a:avLst/>
          </a:prstGeom>
          <a:noFill/>
          <a:ln/>
        </p:spPr>
        <p:txBody>
          <a:bodyPr wrap="square" lIns="0" tIns="0" rIns="0" bIns="0" rtlCol="0" anchor="ctr"/>
          <a:lstStyle/>
          <a:p>
            <a:pPr algn="l" indent="0" marL="0">
              <a:buNone/>
            </a:pPr>
            <a:r>
              <a:rPr lang="en-US" sz="900" dirty="0">
                <a:solidFill>
                  <a:srgbClr val="8A7A64"/>
                </a:solidFill>
                <a:latin typeface="DM Sans" pitchFamily="34" charset="0"/>
                <a:ea typeface="DM Sans" pitchFamily="34" charset="-122"/>
                <a:cs typeface="DM Sans" pitchFamily="34" charset="-120"/>
              </a:rPr>
              <a:t>PEARL_RESEARCH · 2026-06-09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A06"/>
        </a:solidFill>
      </p:bgPr>
    </p:bg>
    <p:spTree>
      <p:nvGrpSpPr>
        <p:cNvPr id="1" name=""/>
        <p:cNvGrpSpPr/>
        <p:nvPr/>
      </p:nvGrpSpPr>
      <p:grpSpPr>
        <a:xfrm>
          <a:off x="0" y="0"/>
          <a:ext cx="0" cy="0"/>
          <a:chOff x="0" y="0"/>
          <a:chExt cx="0" cy="0"/>
        </a:xfrm>
      </p:grpSpPr>
      <p:sp>
        <p:nvSpPr>
          <p:cNvPr id="2" name="Text 0"/>
          <p:cNvSpPr/>
          <p:nvPr/>
        </p:nvSpPr>
        <p:spPr>
          <a:xfrm>
            <a:off x="548640" y="228600"/>
            <a:ext cx="11064240" cy="274320"/>
          </a:xfrm>
          <a:prstGeom prst="rect">
            <a:avLst/>
          </a:prstGeom>
          <a:noFill/>
          <a:ln/>
        </p:spPr>
        <p:txBody>
          <a:bodyPr wrap="square" lIns="0" tIns="0" rIns="0" bIns="0" rtlCol="0" anchor="ctr"/>
          <a:lstStyle/>
          <a:p>
            <a:pPr indent="0" marL="0">
              <a:buNone/>
            </a:pPr>
            <a:r>
              <a:rPr lang="en-US" sz="1100" b="1" spc="600" kern="0" dirty="0">
                <a:solidFill>
                  <a:srgbClr val="F59E0B"/>
                </a:solidFill>
                <a:latin typeface="DM Sans" pitchFamily="34" charset="0"/>
                <a:ea typeface="DM Sans" pitchFamily="34" charset="-122"/>
                <a:cs typeface="DM Sans" pitchFamily="34" charset="-120"/>
              </a:rPr>
              <a:t>THE LANDSCAPE</a:t>
            </a:r>
            <a:endParaRPr lang="en-US" sz="1100" dirty="0"/>
          </a:p>
        </p:txBody>
      </p:sp>
      <p:sp>
        <p:nvSpPr>
          <p:cNvPr id="3" name="Text 1"/>
          <p:cNvSpPr/>
          <p:nvPr/>
        </p:nvSpPr>
        <p:spPr>
          <a:xfrm>
            <a:off x="548640" y="411480"/>
            <a:ext cx="11064240" cy="868680"/>
          </a:xfrm>
          <a:prstGeom prst="rect">
            <a:avLst/>
          </a:prstGeom>
          <a:noFill/>
          <a:ln/>
        </p:spPr>
        <p:txBody>
          <a:bodyPr wrap="square" lIns="0" tIns="0" rIns="0" bIns="0" rtlCol="0" anchor="ctr"/>
          <a:lstStyle/>
          <a:p>
            <a:pPr indent="0" marL="0">
              <a:buNone/>
            </a:pPr>
            <a:r>
              <a:rPr lang="en-US" sz="3600" b="1" i="1" dirty="0">
                <a:solidFill>
                  <a:srgbClr val="FAF6F0"/>
                </a:solidFill>
                <a:latin typeface="Cormorant Garamond" pitchFamily="34" charset="0"/>
                <a:ea typeface="Cormorant Garamond" pitchFamily="34" charset="-122"/>
                <a:cs typeface="Cormorant Garamond" pitchFamily="34" charset="-120"/>
              </a:rPr>
              <a:t>Google publishes ~60 distinct learning surfaces</a:t>
            </a:r>
            <a:endParaRPr lang="en-US" sz="3600" dirty="0"/>
          </a:p>
        </p:txBody>
      </p:sp>
      <p:sp>
        <p:nvSpPr>
          <p:cNvPr id="4" name="Shape 2"/>
          <p:cNvSpPr/>
          <p:nvPr/>
        </p:nvSpPr>
        <p:spPr>
          <a:xfrm>
            <a:off x="548640" y="1554480"/>
            <a:ext cx="10881360" cy="640080"/>
          </a:xfrm>
          <a:prstGeom prst="rect">
            <a:avLst/>
          </a:prstGeom>
          <a:solidFill>
            <a:srgbClr val="1C1308"/>
          </a:solidFill>
          <a:ln w="12700">
            <a:solidFill>
              <a:srgbClr val="1C1308"/>
            </a:solidFill>
            <a:prstDash val="solid"/>
          </a:ln>
        </p:spPr>
      </p:sp>
      <p:sp>
        <p:nvSpPr>
          <p:cNvPr id="5" name="Shape 3"/>
          <p:cNvSpPr/>
          <p:nvPr/>
        </p:nvSpPr>
        <p:spPr>
          <a:xfrm>
            <a:off x="9235440" y="1719072"/>
            <a:ext cx="2011680" cy="310896"/>
          </a:xfrm>
          <a:prstGeom prst="rect">
            <a:avLst/>
          </a:prstGeom>
          <a:solidFill>
            <a:srgbClr val="84CC16"/>
          </a:solidFill>
          <a:ln w="12700">
            <a:solidFill>
              <a:srgbClr val="84CC16"/>
            </a:solidFill>
            <a:prstDash val="solid"/>
          </a:ln>
        </p:spPr>
      </p:sp>
      <p:sp>
        <p:nvSpPr>
          <p:cNvPr id="6" name="Text 4"/>
          <p:cNvSpPr/>
          <p:nvPr/>
        </p:nvSpPr>
        <p:spPr>
          <a:xfrm>
            <a:off x="9235440" y="1719072"/>
            <a:ext cx="2011680" cy="310896"/>
          </a:xfrm>
          <a:prstGeom prst="rect">
            <a:avLst/>
          </a:prstGeom>
          <a:noFill/>
          <a:ln/>
        </p:spPr>
        <p:txBody>
          <a:bodyPr wrap="square" lIns="0" tIns="0" rIns="0" bIns="0" rtlCol="0" anchor="ctr"/>
          <a:lstStyle/>
          <a:p>
            <a:pPr algn="ctr" indent="0" marL="0">
              <a:buNone/>
            </a:pPr>
            <a:r>
              <a:rPr lang="en-US" sz="900" b="1" spc="200" kern="0" dirty="0">
                <a:solidFill>
                  <a:srgbClr val="0E0A06"/>
                </a:solidFill>
                <a:latin typeface="DM Sans" pitchFamily="34" charset="0"/>
                <a:ea typeface="DM Sans" pitchFamily="34" charset="-122"/>
                <a:cs typeface="DM Sans" pitchFamily="34" charset="-120"/>
              </a:rPr>
              <a:t>HIGH</a:t>
            </a:r>
            <a:endParaRPr lang="en-US" sz="900" dirty="0"/>
          </a:p>
        </p:txBody>
      </p:sp>
      <p:sp>
        <p:nvSpPr>
          <p:cNvPr id="7" name="Text 5"/>
          <p:cNvSpPr/>
          <p:nvPr/>
        </p:nvSpPr>
        <p:spPr>
          <a:xfrm>
            <a:off x="731520" y="1600200"/>
            <a:ext cx="3291840" cy="548640"/>
          </a:xfrm>
          <a:prstGeom prst="rect">
            <a:avLst/>
          </a:prstGeom>
          <a:noFill/>
          <a:ln/>
        </p:spPr>
        <p:txBody>
          <a:bodyPr wrap="square" lIns="0" tIns="0" rIns="0" bIns="0" rtlCol="0" anchor="ctr"/>
          <a:lstStyle/>
          <a:p>
            <a:pPr indent="0" marL="0">
              <a:buNone/>
            </a:pPr>
            <a:r>
              <a:rPr lang="en-US" sz="1500" b="1" i="1" dirty="0">
                <a:solidFill>
                  <a:srgbClr val="FAF6F0"/>
                </a:solidFill>
                <a:latin typeface="Cormorant Garamond" pitchFamily="34" charset="0"/>
                <a:ea typeface="Cormorant Garamond" pitchFamily="34" charset="-122"/>
                <a:cs typeface="Cormorant Garamond" pitchFamily="34" charset="-120"/>
              </a:rPr>
              <a:t>Career Certificates</a:t>
            </a:r>
            <a:endParaRPr lang="en-US" sz="1500" dirty="0"/>
          </a:p>
        </p:txBody>
      </p:sp>
      <p:sp>
        <p:nvSpPr>
          <p:cNvPr id="8" name="Text 6"/>
          <p:cNvSpPr/>
          <p:nvPr/>
        </p:nvSpPr>
        <p:spPr>
          <a:xfrm>
            <a:off x="4069080" y="1600200"/>
            <a:ext cx="182880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12 + 5 stack-ons</a:t>
            </a:r>
            <a:endParaRPr lang="en-US" sz="1000" dirty="0"/>
          </a:p>
        </p:txBody>
      </p:sp>
      <p:sp>
        <p:nvSpPr>
          <p:cNvPr id="9" name="Text 7"/>
          <p:cNvSpPr/>
          <p:nvPr/>
        </p:nvSpPr>
        <p:spPr>
          <a:xfrm>
            <a:off x="5897880" y="1600200"/>
            <a:ext cx="1645920" cy="548640"/>
          </a:xfrm>
          <a:prstGeom prst="rect">
            <a:avLst/>
          </a:prstGeom>
          <a:noFill/>
          <a:ln/>
        </p:spPr>
        <p:txBody>
          <a:bodyPr wrap="square" lIns="0" tIns="0" rIns="0" bIns="0" rtlCol="0" anchor="ctr"/>
          <a:lstStyle/>
          <a:p>
            <a:pPr indent="0" marL="0">
              <a:buNone/>
            </a:pPr>
            <a:r>
              <a:rPr lang="en-US" sz="1000" b="1" dirty="0">
                <a:solidFill>
                  <a:srgbClr val="F59E0B"/>
                </a:solidFill>
                <a:latin typeface="DM Sans" pitchFamily="34" charset="0"/>
                <a:ea typeface="DM Sans" pitchFamily="34" charset="-122"/>
                <a:cs typeface="DM Sans" pitchFamily="34" charset="-120"/>
              </a:rPr>
              <a:t>$49 / mo</a:t>
            </a:r>
            <a:endParaRPr lang="en-US" sz="1000" dirty="0"/>
          </a:p>
        </p:txBody>
      </p:sp>
      <p:sp>
        <p:nvSpPr>
          <p:cNvPr id="10" name="Text 8"/>
          <p:cNvSpPr/>
          <p:nvPr/>
        </p:nvSpPr>
        <p:spPr>
          <a:xfrm>
            <a:off x="7543800" y="1600200"/>
            <a:ext cx="137160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120-180 hr</a:t>
            </a:r>
            <a:endParaRPr lang="en-US" sz="1000" dirty="0"/>
          </a:p>
        </p:txBody>
      </p:sp>
      <p:sp>
        <p:nvSpPr>
          <p:cNvPr id="11" name="Shape 9"/>
          <p:cNvSpPr/>
          <p:nvPr/>
        </p:nvSpPr>
        <p:spPr>
          <a:xfrm>
            <a:off x="548640" y="2240280"/>
            <a:ext cx="10881360" cy="640080"/>
          </a:xfrm>
          <a:prstGeom prst="rect">
            <a:avLst/>
          </a:prstGeom>
          <a:solidFill>
            <a:srgbClr val="1C1308"/>
          </a:solidFill>
          <a:ln w="12700">
            <a:solidFill>
              <a:srgbClr val="1C1308"/>
            </a:solidFill>
            <a:prstDash val="solid"/>
          </a:ln>
        </p:spPr>
      </p:sp>
      <p:sp>
        <p:nvSpPr>
          <p:cNvPr id="12" name="Shape 10"/>
          <p:cNvSpPr/>
          <p:nvPr/>
        </p:nvSpPr>
        <p:spPr>
          <a:xfrm>
            <a:off x="9235440" y="2404872"/>
            <a:ext cx="2011680" cy="310896"/>
          </a:xfrm>
          <a:prstGeom prst="rect">
            <a:avLst/>
          </a:prstGeom>
          <a:solidFill>
            <a:srgbClr val="F59E0B"/>
          </a:solidFill>
          <a:ln w="12700">
            <a:solidFill>
              <a:srgbClr val="F59E0B"/>
            </a:solidFill>
            <a:prstDash val="solid"/>
          </a:ln>
        </p:spPr>
      </p:sp>
      <p:sp>
        <p:nvSpPr>
          <p:cNvPr id="13" name="Text 11"/>
          <p:cNvSpPr/>
          <p:nvPr/>
        </p:nvSpPr>
        <p:spPr>
          <a:xfrm>
            <a:off x="9235440" y="2404872"/>
            <a:ext cx="2011680" cy="310896"/>
          </a:xfrm>
          <a:prstGeom prst="rect">
            <a:avLst/>
          </a:prstGeom>
          <a:noFill/>
          <a:ln/>
        </p:spPr>
        <p:txBody>
          <a:bodyPr wrap="square" lIns="0" tIns="0" rIns="0" bIns="0" rtlCol="0" anchor="ctr"/>
          <a:lstStyle/>
          <a:p>
            <a:pPr algn="ctr" indent="0" marL="0">
              <a:buNone/>
            </a:pPr>
            <a:r>
              <a:rPr lang="en-US" sz="900" b="1" spc="200" kern="0" dirty="0">
                <a:solidFill>
                  <a:srgbClr val="0E0A06"/>
                </a:solidFill>
                <a:latin typeface="DM Sans" pitchFamily="34" charset="0"/>
                <a:ea typeface="DM Sans" pitchFamily="34" charset="-122"/>
                <a:cs typeface="DM Sans" pitchFamily="34" charset="-120"/>
              </a:rPr>
              <a:t>LOW (career HIGH)</a:t>
            </a:r>
            <a:endParaRPr lang="en-US" sz="900" dirty="0"/>
          </a:p>
        </p:txBody>
      </p:sp>
      <p:sp>
        <p:nvSpPr>
          <p:cNvPr id="14" name="Text 12"/>
          <p:cNvSpPr/>
          <p:nvPr/>
        </p:nvSpPr>
        <p:spPr>
          <a:xfrm>
            <a:off x="731520" y="2286000"/>
            <a:ext cx="3291840" cy="548640"/>
          </a:xfrm>
          <a:prstGeom prst="rect">
            <a:avLst/>
          </a:prstGeom>
          <a:noFill/>
          <a:ln/>
        </p:spPr>
        <p:txBody>
          <a:bodyPr wrap="square" lIns="0" tIns="0" rIns="0" bIns="0" rtlCol="0" anchor="ctr"/>
          <a:lstStyle/>
          <a:p>
            <a:pPr indent="0" marL="0">
              <a:buNone/>
            </a:pPr>
            <a:r>
              <a:rPr lang="en-US" sz="1500" b="1" i="1" dirty="0">
                <a:solidFill>
                  <a:srgbClr val="FAF6F0"/>
                </a:solidFill>
                <a:latin typeface="Cormorant Garamond" pitchFamily="34" charset="0"/>
                <a:ea typeface="Cormorant Garamond" pitchFamily="34" charset="-122"/>
                <a:cs typeface="Cormorant Garamond" pitchFamily="34" charset="-120"/>
              </a:rPr>
              <a:t>Cloud Certifications</a:t>
            </a:r>
            <a:endParaRPr lang="en-US" sz="1500" dirty="0"/>
          </a:p>
        </p:txBody>
      </p:sp>
      <p:sp>
        <p:nvSpPr>
          <p:cNvPr id="15" name="Text 13"/>
          <p:cNvSpPr/>
          <p:nvPr/>
        </p:nvSpPr>
        <p:spPr>
          <a:xfrm>
            <a:off x="4069080" y="2286000"/>
            <a:ext cx="182880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14 certs</a:t>
            </a:r>
            <a:endParaRPr lang="en-US" sz="1000" dirty="0"/>
          </a:p>
        </p:txBody>
      </p:sp>
      <p:sp>
        <p:nvSpPr>
          <p:cNvPr id="16" name="Text 14"/>
          <p:cNvSpPr/>
          <p:nvPr/>
        </p:nvSpPr>
        <p:spPr>
          <a:xfrm>
            <a:off x="5897880" y="2286000"/>
            <a:ext cx="1645920" cy="548640"/>
          </a:xfrm>
          <a:prstGeom prst="rect">
            <a:avLst/>
          </a:prstGeom>
          <a:noFill/>
          <a:ln/>
        </p:spPr>
        <p:txBody>
          <a:bodyPr wrap="square" lIns="0" tIns="0" rIns="0" bIns="0" rtlCol="0" anchor="ctr"/>
          <a:lstStyle/>
          <a:p>
            <a:pPr indent="0" marL="0">
              <a:buNone/>
            </a:pPr>
            <a:r>
              <a:rPr lang="en-US" sz="1000" b="1" dirty="0">
                <a:solidFill>
                  <a:srgbClr val="F59E0B"/>
                </a:solidFill>
                <a:latin typeface="DM Sans" pitchFamily="34" charset="0"/>
                <a:ea typeface="DM Sans" pitchFamily="34" charset="-122"/>
                <a:cs typeface="DM Sans" pitchFamily="34" charset="-120"/>
              </a:rPr>
              <a:t>$99 - $200 exam</a:t>
            </a:r>
            <a:endParaRPr lang="en-US" sz="1000" dirty="0"/>
          </a:p>
        </p:txBody>
      </p:sp>
      <p:sp>
        <p:nvSpPr>
          <p:cNvPr id="17" name="Text 15"/>
          <p:cNvSpPr/>
          <p:nvPr/>
        </p:nvSpPr>
        <p:spPr>
          <a:xfrm>
            <a:off x="7543800" y="2286000"/>
            <a:ext cx="137160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30-150 hr prep</a:t>
            </a:r>
            <a:endParaRPr lang="en-US" sz="1000" dirty="0"/>
          </a:p>
        </p:txBody>
      </p:sp>
      <p:sp>
        <p:nvSpPr>
          <p:cNvPr id="18" name="Shape 16"/>
          <p:cNvSpPr/>
          <p:nvPr/>
        </p:nvSpPr>
        <p:spPr>
          <a:xfrm>
            <a:off x="548640" y="2926080"/>
            <a:ext cx="10881360" cy="640080"/>
          </a:xfrm>
          <a:prstGeom prst="rect">
            <a:avLst/>
          </a:prstGeom>
          <a:solidFill>
            <a:srgbClr val="1C1308"/>
          </a:solidFill>
          <a:ln w="12700">
            <a:solidFill>
              <a:srgbClr val="1C1308"/>
            </a:solidFill>
            <a:prstDash val="solid"/>
          </a:ln>
        </p:spPr>
      </p:sp>
      <p:sp>
        <p:nvSpPr>
          <p:cNvPr id="19" name="Shape 17"/>
          <p:cNvSpPr/>
          <p:nvPr/>
        </p:nvSpPr>
        <p:spPr>
          <a:xfrm>
            <a:off x="9235440" y="3090672"/>
            <a:ext cx="2011680" cy="310896"/>
          </a:xfrm>
          <a:prstGeom prst="rect">
            <a:avLst/>
          </a:prstGeom>
          <a:solidFill>
            <a:srgbClr val="F59E0B"/>
          </a:solidFill>
          <a:ln w="12700">
            <a:solidFill>
              <a:srgbClr val="F59E0B"/>
            </a:solidFill>
            <a:prstDash val="solid"/>
          </a:ln>
        </p:spPr>
      </p:sp>
      <p:sp>
        <p:nvSpPr>
          <p:cNvPr id="20" name="Text 18"/>
          <p:cNvSpPr/>
          <p:nvPr/>
        </p:nvSpPr>
        <p:spPr>
          <a:xfrm>
            <a:off x="9235440" y="3090672"/>
            <a:ext cx="2011680" cy="310896"/>
          </a:xfrm>
          <a:prstGeom prst="rect">
            <a:avLst/>
          </a:prstGeom>
          <a:noFill/>
          <a:ln/>
        </p:spPr>
        <p:txBody>
          <a:bodyPr wrap="square" lIns="0" tIns="0" rIns="0" bIns="0" rtlCol="0" anchor="ctr"/>
          <a:lstStyle/>
          <a:p>
            <a:pPr algn="ctr" indent="0" marL="0">
              <a:buNone/>
            </a:pPr>
            <a:r>
              <a:rPr lang="en-US" sz="900" b="1" spc="200" kern="0" dirty="0">
                <a:solidFill>
                  <a:srgbClr val="0E0A06"/>
                </a:solidFill>
                <a:latin typeface="DM Sans" pitchFamily="34" charset="0"/>
                <a:ea typeface="DM Sans" pitchFamily="34" charset="-122"/>
                <a:cs typeface="DM Sans" pitchFamily="34" charset="-120"/>
              </a:rPr>
              <a:t>LOW-MEDIUM</a:t>
            </a:r>
            <a:endParaRPr lang="en-US" sz="900" dirty="0"/>
          </a:p>
        </p:txBody>
      </p:sp>
      <p:sp>
        <p:nvSpPr>
          <p:cNvPr id="21" name="Text 19"/>
          <p:cNvSpPr/>
          <p:nvPr/>
        </p:nvSpPr>
        <p:spPr>
          <a:xfrm>
            <a:off x="731520" y="2971800"/>
            <a:ext cx="3291840" cy="548640"/>
          </a:xfrm>
          <a:prstGeom prst="rect">
            <a:avLst/>
          </a:prstGeom>
          <a:noFill/>
          <a:ln/>
        </p:spPr>
        <p:txBody>
          <a:bodyPr wrap="square" lIns="0" tIns="0" rIns="0" bIns="0" rtlCol="0" anchor="ctr"/>
          <a:lstStyle/>
          <a:p>
            <a:pPr indent="0" marL="0">
              <a:buNone/>
            </a:pPr>
            <a:r>
              <a:rPr lang="en-US" sz="1500" b="1" i="1" dirty="0">
                <a:solidFill>
                  <a:srgbClr val="FAF6F0"/>
                </a:solidFill>
                <a:latin typeface="Cormorant Garamond" pitchFamily="34" charset="0"/>
                <a:ea typeface="Cormorant Garamond" pitchFamily="34" charset="-122"/>
                <a:cs typeface="Cormorant Garamond" pitchFamily="34" charset="-120"/>
              </a:rPr>
              <a:t>Cloud Skills Boost paths</a:t>
            </a:r>
            <a:endParaRPr lang="en-US" sz="1500" dirty="0"/>
          </a:p>
        </p:txBody>
      </p:sp>
      <p:sp>
        <p:nvSpPr>
          <p:cNvPr id="22" name="Text 20"/>
          <p:cNvSpPr/>
          <p:nvPr/>
        </p:nvSpPr>
        <p:spPr>
          <a:xfrm>
            <a:off x="4069080" y="2971800"/>
            <a:ext cx="182880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7 paths + per-cert</a:t>
            </a:r>
            <a:endParaRPr lang="en-US" sz="1000" dirty="0"/>
          </a:p>
        </p:txBody>
      </p:sp>
      <p:sp>
        <p:nvSpPr>
          <p:cNvPr id="23" name="Text 21"/>
          <p:cNvSpPr/>
          <p:nvPr/>
        </p:nvSpPr>
        <p:spPr>
          <a:xfrm>
            <a:off x="5897880" y="2971800"/>
            <a:ext cx="1645920" cy="548640"/>
          </a:xfrm>
          <a:prstGeom prst="rect">
            <a:avLst/>
          </a:prstGeom>
          <a:noFill/>
          <a:ln/>
        </p:spPr>
        <p:txBody>
          <a:bodyPr wrap="square" lIns="0" tIns="0" rIns="0" bIns="0" rtlCol="0" anchor="ctr"/>
          <a:lstStyle/>
          <a:p>
            <a:pPr indent="0" marL="0">
              <a:buNone/>
            </a:pPr>
            <a:r>
              <a:rPr lang="en-US" sz="1000" b="1" dirty="0">
                <a:solidFill>
                  <a:srgbClr val="F59E0B"/>
                </a:solidFill>
                <a:latin typeface="DM Sans" pitchFamily="34" charset="0"/>
                <a:ea typeface="DM Sans" pitchFamily="34" charset="-122"/>
                <a:cs typeface="DM Sans" pitchFamily="34" charset="-120"/>
              </a:rPr>
              <a:t>Free tier + Study Jams</a:t>
            </a:r>
            <a:endParaRPr lang="en-US" sz="1000" dirty="0"/>
          </a:p>
        </p:txBody>
      </p:sp>
      <p:sp>
        <p:nvSpPr>
          <p:cNvPr id="24" name="Text 22"/>
          <p:cNvSpPr/>
          <p:nvPr/>
        </p:nvSpPr>
        <p:spPr>
          <a:xfrm>
            <a:off x="7543800" y="2971800"/>
            <a:ext cx="137160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varies</a:t>
            </a:r>
            <a:endParaRPr lang="en-US" sz="1000" dirty="0"/>
          </a:p>
        </p:txBody>
      </p:sp>
      <p:sp>
        <p:nvSpPr>
          <p:cNvPr id="25" name="Shape 23"/>
          <p:cNvSpPr/>
          <p:nvPr/>
        </p:nvSpPr>
        <p:spPr>
          <a:xfrm>
            <a:off x="548640" y="3611880"/>
            <a:ext cx="10881360" cy="640080"/>
          </a:xfrm>
          <a:prstGeom prst="rect">
            <a:avLst/>
          </a:prstGeom>
          <a:solidFill>
            <a:srgbClr val="1C1308"/>
          </a:solidFill>
          <a:ln w="12700">
            <a:solidFill>
              <a:srgbClr val="1C1308"/>
            </a:solidFill>
            <a:prstDash val="solid"/>
          </a:ln>
        </p:spPr>
      </p:sp>
      <p:sp>
        <p:nvSpPr>
          <p:cNvPr id="26" name="Shape 24"/>
          <p:cNvSpPr/>
          <p:nvPr/>
        </p:nvSpPr>
        <p:spPr>
          <a:xfrm>
            <a:off x="9235440" y="3776472"/>
            <a:ext cx="2011680" cy="310896"/>
          </a:xfrm>
          <a:prstGeom prst="rect">
            <a:avLst/>
          </a:prstGeom>
          <a:solidFill>
            <a:srgbClr val="84CC16"/>
          </a:solidFill>
          <a:ln w="12700">
            <a:solidFill>
              <a:srgbClr val="84CC16"/>
            </a:solidFill>
            <a:prstDash val="solid"/>
          </a:ln>
        </p:spPr>
      </p:sp>
      <p:sp>
        <p:nvSpPr>
          <p:cNvPr id="27" name="Text 25"/>
          <p:cNvSpPr/>
          <p:nvPr/>
        </p:nvSpPr>
        <p:spPr>
          <a:xfrm>
            <a:off x="9235440" y="3776472"/>
            <a:ext cx="2011680" cy="310896"/>
          </a:xfrm>
          <a:prstGeom prst="rect">
            <a:avLst/>
          </a:prstGeom>
          <a:noFill/>
          <a:ln/>
        </p:spPr>
        <p:txBody>
          <a:bodyPr wrap="square" lIns="0" tIns="0" rIns="0" bIns="0" rtlCol="0" anchor="ctr"/>
          <a:lstStyle/>
          <a:p>
            <a:pPr algn="ctr" indent="0" marL="0">
              <a:buNone/>
            </a:pPr>
            <a:r>
              <a:rPr lang="en-US" sz="900" b="1" spc="200" kern="0" dirty="0">
                <a:solidFill>
                  <a:srgbClr val="0E0A06"/>
                </a:solidFill>
                <a:latin typeface="DM Sans" pitchFamily="34" charset="0"/>
                <a:ea typeface="DM Sans" pitchFamily="34" charset="-122"/>
                <a:cs typeface="DM Sans" pitchFamily="34" charset="-120"/>
              </a:rPr>
              <a:t>MEDIUM</a:t>
            </a:r>
            <a:endParaRPr lang="en-US" sz="900" dirty="0"/>
          </a:p>
        </p:txBody>
      </p:sp>
      <p:sp>
        <p:nvSpPr>
          <p:cNvPr id="28" name="Text 26"/>
          <p:cNvSpPr/>
          <p:nvPr/>
        </p:nvSpPr>
        <p:spPr>
          <a:xfrm>
            <a:off x="731520" y="3657600"/>
            <a:ext cx="3291840" cy="548640"/>
          </a:xfrm>
          <a:prstGeom prst="rect">
            <a:avLst/>
          </a:prstGeom>
          <a:noFill/>
          <a:ln/>
        </p:spPr>
        <p:txBody>
          <a:bodyPr wrap="square" lIns="0" tIns="0" rIns="0" bIns="0" rtlCol="0" anchor="ctr"/>
          <a:lstStyle/>
          <a:p>
            <a:pPr indent="0" marL="0">
              <a:buNone/>
            </a:pPr>
            <a:r>
              <a:rPr lang="en-US" sz="1500" b="1" i="1" dirty="0">
                <a:solidFill>
                  <a:srgbClr val="FAF6F0"/>
                </a:solidFill>
                <a:latin typeface="Cormorant Garamond" pitchFamily="34" charset="0"/>
                <a:ea typeface="Cormorant Garamond" pitchFamily="34" charset="-122"/>
                <a:cs typeface="Cormorant Garamond" pitchFamily="34" charset="-120"/>
              </a:rPr>
              <a:t>Free AI/ML training</a:t>
            </a:r>
            <a:endParaRPr lang="en-US" sz="1500" dirty="0"/>
          </a:p>
        </p:txBody>
      </p:sp>
      <p:sp>
        <p:nvSpPr>
          <p:cNvPr id="29" name="Text 27"/>
          <p:cNvSpPr/>
          <p:nvPr/>
        </p:nvSpPr>
        <p:spPr>
          <a:xfrm>
            <a:off x="4069080" y="3657600"/>
            <a:ext cx="182880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ML Crash Course + GenAI path</a:t>
            </a:r>
            <a:endParaRPr lang="en-US" sz="1000" dirty="0"/>
          </a:p>
        </p:txBody>
      </p:sp>
      <p:sp>
        <p:nvSpPr>
          <p:cNvPr id="30" name="Text 28"/>
          <p:cNvSpPr/>
          <p:nvPr/>
        </p:nvSpPr>
        <p:spPr>
          <a:xfrm>
            <a:off x="5897880" y="3657600"/>
            <a:ext cx="1645920" cy="548640"/>
          </a:xfrm>
          <a:prstGeom prst="rect">
            <a:avLst/>
          </a:prstGeom>
          <a:noFill/>
          <a:ln/>
        </p:spPr>
        <p:txBody>
          <a:bodyPr wrap="square" lIns="0" tIns="0" rIns="0" bIns="0" rtlCol="0" anchor="ctr"/>
          <a:lstStyle/>
          <a:p>
            <a:pPr indent="0" marL="0">
              <a:buNone/>
            </a:pPr>
            <a:r>
              <a:rPr lang="en-US" sz="1000" b="1" dirty="0">
                <a:solidFill>
                  <a:srgbClr val="F59E0B"/>
                </a:solidFill>
                <a:latin typeface="DM Sans" pitchFamily="34" charset="0"/>
                <a:ea typeface="DM Sans" pitchFamily="34" charset="-122"/>
                <a:cs typeface="DM Sans" pitchFamily="34" charset="-120"/>
              </a:rPr>
              <a:t>Free</a:t>
            </a:r>
            <a:endParaRPr lang="en-US" sz="1000" dirty="0"/>
          </a:p>
        </p:txBody>
      </p:sp>
      <p:sp>
        <p:nvSpPr>
          <p:cNvPr id="31" name="Text 29"/>
          <p:cNvSpPr/>
          <p:nvPr/>
        </p:nvSpPr>
        <p:spPr>
          <a:xfrm>
            <a:off x="7543800" y="3657600"/>
            <a:ext cx="137160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~40 hr</a:t>
            </a:r>
            <a:endParaRPr lang="en-US" sz="1000" dirty="0"/>
          </a:p>
        </p:txBody>
      </p:sp>
      <p:sp>
        <p:nvSpPr>
          <p:cNvPr id="32" name="Shape 30"/>
          <p:cNvSpPr/>
          <p:nvPr/>
        </p:nvSpPr>
        <p:spPr>
          <a:xfrm>
            <a:off x="548640" y="4297680"/>
            <a:ext cx="10881360" cy="640080"/>
          </a:xfrm>
          <a:prstGeom prst="rect">
            <a:avLst/>
          </a:prstGeom>
          <a:solidFill>
            <a:srgbClr val="1C1308"/>
          </a:solidFill>
          <a:ln w="12700">
            <a:solidFill>
              <a:srgbClr val="1C1308"/>
            </a:solidFill>
            <a:prstDash val="solid"/>
          </a:ln>
        </p:spPr>
      </p:sp>
      <p:sp>
        <p:nvSpPr>
          <p:cNvPr id="33" name="Shape 31"/>
          <p:cNvSpPr/>
          <p:nvPr/>
        </p:nvSpPr>
        <p:spPr>
          <a:xfrm>
            <a:off x="9235440" y="4462272"/>
            <a:ext cx="2011680" cy="310896"/>
          </a:xfrm>
          <a:prstGeom prst="rect">
            <a:avLst/>
          </a:prstGeom>
          <a:solidFill>
            <a:srgbClr val="84CC16"/>
          </a:solidFill>
          <a:ln w="12700">
            <a:solidFill>
              <a:srgbClr val="84CC16"/>
            </a:solidFill>
            <a:prstDash val="solid"/>
          </a:ln>
        </p:spPr>
      </p:sp>
      <p:sp>
        <p:nvSpPr>
          <p:cNvPr id="34" name="Text 32"/>
          <p:cNvSpPr/>
          <p:nvPr/>
        </p:nvSpPr>
        <p:spPr>
          <a:xfrm>
            <a:off x="9235440" y="4462272"/>
            <a:ext cx="2011680" cy="310896"/>
          </a:xfrm>
          <a:prstGeom prst="rect">
            <a:avLst/>
          </a:prstGeom>
          <a:noFill/>
          <a:ln/>
        </p:spPr>
        <p:txBody>
          <a:bodyPr wrap="square" lIns="0" tIns="0" rIns="0" bIns="0" rtlCol="0" anchor="ctr"/>
          <a:lstStyle/>
          <a:p>
            <a:pPr algn="ctr" indent="0" marL="0">
              <a:buNone/>
            </a:pPr>
            <a:r>
              <a:rPr lang="en-US" sz="900" b="1" spc="200" kern="0" dirty="0">
                <a:solidFill>
                  <a:srgbClr val="0E0A06"/>
                </a:solidFill>
                <a:latin typeface="DM Sans" pitchFamily="34" charset="0"/>
                <a:ea typeface="DM Sans" pitchFamily="34" charset="-122"/>
                <a:cs typeface="DM Sans" pitchFamily="34" charset="-120"/>
              </a:rPr>
              <a:t>MEDIUM (ops-tier)</a:t>
            </a:r>
            <a:endParaRPr lang="en-US" sz="900" dirty="0"/>
          </a:p>
        </p:txBody>
      </p:sp>
      <p:sp>
        <p:nvSpPr>
          <p:cNvPr id="35" name="Text 33"/>
          <p:cNvSpPr/>
          <p:nvPr/>
        </p:nvSpPr>
        <p:spPr>
          <a:xfrm>
            <a:off x="731520" y="4343400"/>
            <a:ext cx="3291840" cy="548640"/>
          </a:xfrm>
          <a:prstGeom prst="rect">
            <a:avLst/>
          </a:prstGeom>
          <a:noFill/>
          <a:ln/>
        </p:spPr>
        <p:txBody>
          <a:bodyPr wrap="square" lIns="0" tIns="0" rIns="0" bIns="0" rtlCol="0" anchor="ctr"/>
          <a:lstStyle/>
          <a:p>
            <a:pPr indent="0" marL="0">
              <a:buNone/>
            </a:pPr>
            <a:r>
              <a:rPr lang="en-US" sz="1500" b="1" i="1" dirty="0">
                <a:solidFill>
                  <a:srgbClr val="FAF6F0"/>
                </a:solidFill>
                <a:latin typeface="Cormorant Garamond" pitchFamily="34" charset="0"/>
                <a:ea typeface="Cormorant Garamond" pitchFamily="34" charset="-122"/>
                <a:cs typeface="Cormorant Garamond" pitchFamily="34" charset="-120"/>
              </a:rPr>
              <a:t>Skillshop</a:t>
            </a:r>
            <a:endParaRPr lang="en-US" sz="1500" dirty="0"/>
          </a:p>
        </p:txBody>
      </p:sp>
      <p:sp>
        <p:nvSpPr>
          <p:cNvPr id="36" name="Text 34"/>
          <p:cNvSpPr/>
          <p:nvPr/>
        </p:nvSpPr>
        <p:spPr>
          <a:xfrm>
            <a:off x="4069080" y="4343400"/>
            <a:ext cx="182880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10 product certs</a:t>
            </a:r>
            <a:endParaRPr lang="en-US" sz="1000" dirty="0"/>
          </a:p>
        </p:txBody>
      </p:sp>
      <p:sp>
        <p:nvSpPr>
          <p:cNvPr id="37" name="Text 35"/>
          <p:cNvSpPr/>
          <p:nvPr/>
        </p:nvSpPr>
        <p:spPr>
          <a:xfrm>
            <a:off x="5897880" y="4343400"/>
            <a:ext cx="1645920" cy="548640"/>
          </a:xfrm>
          <a:prstGeom prst="rect">
            <a:avLst/>
          </a:prstGeom>
          <a:noFill/>
          <a:ln/>
        </p:spPr>
        <p:txBody>
          <a:bodyPr wrap="square" lIns="0" tIns="0" rIns="0" bIns="0" rtlCol="0" anchor="ctr"/>
          <a:lstStyle/>
          <a:p>
            <a:pPr indent="0" marL="0">
              <a:buNone/>
            </a:pPr>
            <a:r>
              <a:rPr lang="en-US" sz="1000" b="1" dirty="0">
                <a:solidFill>
                  <a:srgbClr val="F59E0B"/>
                </a:solidFill>
                <a:latin typeface="DM Sans" pitchFamily="34" charset="0"/>
                <a:ea typeface="DM Sans" pitchFamily="34" charset="-122"/>
                <a:cs typeface="DM Sans" pitchFamily="34" charset="-120"/>
              </a:rPr>
              <a:t>Free</a:t>
            </a:r>
            <a:endParaRPr lang="en-US" sz="1000" dirty="0"/>
          </a:p>
        </p:txBody>
      </p:sp>
      <p:sp>
        <p:nvSpPr>
          <p:cNvPr id="38" name="Text 36"/>
          <p:cNvSpPr/>
          <p:nvPr/>
        </p:nvSpPr>
        <p:spPr>
          <a:xfrm>
            <a:off x="7543800" y="4343400"/>
            <a:ext cx="137160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10-40 hr each</a:t>
            </a:r>
            <a:endParaRPr lang="en-US" sz="1000" dirty="0"/>
          </a:p>
        </p:txBody>
      </p:sp>
      <p:sp>
        <p:nvSpPr>
          <p:cNvPr id="39" name="Shape 37"/>
          <p:cNvSpPr/>
          <p:nvPr/>
        </p:nvSpPr>
        <p:spPr>
          <a:xfrm>
            <a:off x="548640" y="4983480"/>
            <a:ext cx="10881360" cy="640080"/>
          </a:xfrm>
          <a:prstGeom prst="rect">
            <a:avLst/>
          </a:prstGeom>
          <a:solidFill>
            <a:srgbClr val="1C1308"/>
          </a:solidFill>
          <a:ln w="12700">
            <a:solidFill>
              <a:srgbClr val="1C1308"/>
            </a:solidFill>
            <a:prstDash val="solid"/>
          </a:ln>
        </p:spPr>
      </p:sp>
      <p:sp>
        <p:nvSpPr>
          <p:cNvPr id="40" name="Shape 38"/>
          <p:cNvSpPr/>
          <p:nvPr/>
        </p:nvSpPr>
        <p:spPr>
          <a:xfrm>
            <a:off x="9235440" y="5148072"/>
            <a:ext cx="2011680" cy="310896"/>
          </a:xfrm>
          <a:prstGeom prst="rect">
            <a:avLst/>
          </a:prstGeom>
          <a:solidFill>
            <a:srgbClr val="0891B2"/>
          </a:solidFill>
          <a:ln w="12700">
            <a:solidFill>
              <a:srgbClr val="0891B2"/>
            </a:solidFill>
            <a:prstDash val="solid"/>
          </a:ln>
        </p:spPr>
      </p:sp>
      <p:sp>
        <p:nvSpPr>
          <p:cNvPr id="41" name="Text 39"/>
          <p:cNvSpPr/>
          <p:nvPr/>
        </p:nvSpPr>
        <p:spPr>
          <a:xfrm>
            <a:off x="9235440" y="5148072"/>
            <a:ext cx="2011680" cy="310896"/>
          </a:xfrm>
          <a:prstGeom prst="rect">
            <a:avLst/>
          </a:prstGeom>
          <a:noFill/>
          <a:ln/>
        </p:spPr>
        <p:txBody>
          <a:bodyPr wrap="square" lIns="0" tIns="0" rIns="0" bIns="0" rtlCol="0" anchor="ctr"/>
          <a:lstStyle/>
          <a:p>
            <a:pPr algn="ctr" indent="0" marL="0">
              <a:buNone/>
            </a:pPr>
            <a:r>
              <a:rPr lang="en-US" sz="900" b="1" spc="200" kern="0" dirty="0">
                <a:solidFill>
                  <a:srgbClr val="0E0A06"/>
                </a:solidFill>
                <a:latin typeface="DM Sans" pitchFamily="34" charset="0"/>
                <a:ea typeface="DM Sans" pitchFamily="34" charset="-122"/>
                <a:cs typeface="DM Sans" pitchFamily="34" charset="-120"/>
              </a:rPr>
              <a:t>LOW</a:t>
            </a:r>
            <a:endParaRPr lang="en-US" sz="900" dirty="0"/>
          </a:p>
        </p:txBody>
      </p:sp>
      <p:sp>
        <p:nvSpPr>
          <p:cNvPr id="42" name="Text 40"/>
          <p:cNvSpPr/>
          <p:nvPr/>
        </p:nvSpPr>
        <p:spPr>
          <a:xfrm>
            <a:off x="731520" y="5029200"/>
            <a:ext cx="3291840" cy="548640"/>
          </a:xfrm>
          <a:prstGeom prst="rect">
            <a:avLst/>
          </a:prstGeom>
          <a:noFill/>
          <a:ln/>
        </p:spPr>
        <p:txBody>
          <a:bodyPr wrap="square" lIns="0" tIns="0" rIns="0" bIns="0" rtlCol="0" anchor="ctr"/>
          <a:lstStyle/>
          <a:p>
            <a:pPr indent="0" marL="0">
              <a:buNone/>
            </a:pPr>
            <a:r>
              <a:rPr lang="en-US" sz="1500" b="1" i="1" dirty="0">
                <a:solidFill>
                  <a:srgbClr val="FAF6F0"/>
                </a:solidFill>
                <a:latin typeface="Cormorant Garamond" pitchFamily="34" charset="0"/>
                <a:ea typeface="Cormorant Garamond" pitchFamily="34" charset="-122"/>
                <a:cs typeface="Cormorant Garamond" pitchFamily="34" charset="-120"/>
              </a:rPr>
              <a:t>Google for Education</a:t>
            </a:r>
            <a:endParaRPr lang="en-US" sz="1500" dirty="0"/>
          </a:p>
        </p:txBody>
      </p:sp>
      <p:sp>
        <p:nvSpPr>
          <p:cNvPr id="43" name="Text 41"/>
          <p:cNvSpPr/>
          <p:nvPr/>
        </p:nvSpPr>
        <p:spPr>
          <a:xfrm>
            <a:off x="4069080" y="5029200"/>
            <a:ext cx="182880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6 credentials</a:t>
            </a:r>
            <a:endParaRPr lang="en-US" sz="1000" dirty="0"/>
          </a:p>
        </p:txBody>
      </p:sp>
      <p:sp>
        <p:nvSpPr>
          <p:cNvPr id="44" name="Text 42"/>
          <p:cNvSpPr/>
          <p:nvPr/>
        </p:nvSpPr>
        <p:spPr>
          <a:xfrm>
            <a:off x="5897880" y="5029200"/>
            <a:ext cx="1645920" cy="548640"/>
          </a:xfrm>
          <a:prstGeom prst="rect">
            <a:avLst/>
          </a:prstGeom>
          <a:noFill/>
          <a:ln/>
        </p:spPr>
        <p:txBody>
          <a:bodyPr wrap="square" lIns="0" tIns="0" rIns="0" bIns="0" rtlCol="0" anchor="ctr"/>
          <a:lstStyle/>
          <a:p>
            <a:pPr indent="0" marL="0">
              <a:buNone/>
            </a:pPr>
            <a:r>
              <a:rPr lang="en-US" sz="1000" b="1" dirty="0">
                <a:solidFill>
                  <a:srgbClr val="F59E0B"/>
                </a:solidFill>
                <a:latin typeface="DM Sans" pitchFamily="34" charset="0"/>
                <a:ea typeface="DM Sans" pitchFamily="34" charset="-122"/>
                <a:cs typeface="DM Sans" pitchFamily="34" charset="-120"/>
              </a:rPr>
              <a:t>Free (2026)</a:t>
            </a:r>
            <a:endParaRPr lang="en-US" sz="1000" dirty="0"/>
          </a:p>
        </p:txBody>
      </p:sp>
      <p:sp>
        <p:nvSpPr>
          <p:cNvPr id="45" name="Text 43"/>
          <p:cNvSpPr/>
          <p:nvPr/>
        </p:nvSpPr>
        <p:spPr>
          <a:xfrm>
            <a:off x="7543800" y="5029200"/>
            <a:ext cx="137160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5-15 hr each</a:t>
            </a:r>
            <a:endParaRPr lang="en-US" sz="1000" dirty="0"/>
          </a:p>
        </p:txBody>
      </p:sp>
      <p:sp>
        <p:nvSpPr>
          <p:cNvPr id="46" name="Shape 44"/>
          <p:cNvSpPr/>
          <p:nvPr/>
        </p:nvSpPr>
        <p:spPr>
          <a:xfrm>
            <a:off x="548640" y="5669280"/>
            <a:ext cx="10881360" cy="640080"/>
          </a:xfrm>
          <a:prstGeom prst="rect">
            <a:avLst/>
          </a:prstGeom>
          <a:solidFill>
            <a:srgbClr val="1C1308"/>
          </a:solidFill>
          <a:ln w="12700">
            <a:solidFill>
              <a:srgbClr val="1C1308"/>
            </a:solidFill>
            <a:prstDash val="solid"/>
          </a:ln>
        </p:spPr>
      </p:sp>
      <p:sp>
        <p:nvSpPr>
          <p:cNvPr id="47" name="Shape 45"/>
          <p:cNvSpPr/>
          <p:nvPr/>
        </p:nvSpPr>
        <p:spPr>
          <a:xfrm>
            <a:off x="9235440" y="5833872"/>
            <a:ext cx="2011680" cy="310896"/>
          </a:xfrm>
          <a:prstGeom prst="rect">
            <a:avLst/>
          </a:prstGeom>
          <a:solidFill>
            <a:srgbClr val="0891B2"/>
          </a:solidFill>
          <a:ln w="12700">
            <a:solidFill>
              <a:srgbClr val="0891B2"/>
            </a:solidFill>
            <a:prstDash val="solid"/>
          </a:ln>
        </p:spPr>
      </p:sp>
      <p:sp>
        <p:nvSpPr>
          <p:cNvPr id="48" name="Text 46"/>
          <p:cNvSpPr/>
          <p:nvPr/>
        </p:nvSpPr>
        <p:spPr>
          <a:xfrm>
            <a:off x="9235440" y="5833872"/>
            <a:ext cx="2011680" cy="310896"/>
          </a:xfrm>
          <a:prstGeom prst="rect">
            <a:avLst/>
          </a:prstGeom>
          <a:noFill/>
          <a:ln/>
        </p:spPr>
        <p:txBody>
          <a:bodyPr wrap="square" lIns="0" tIns="0" rIns="0" bIns="0" rtlCol="0" anchor="ctr"/>
          <a:lstStyle/>
          <a:p>
            <a:pPr algn="ctr" indent="0" marL="0">
              <a:buNone/>
            </a:pPr>
            <a:r>
              <a:rPr lang="en-US" sz="900" b="1" spc="200" kern="0" dirty="0">
                <a:solidFill>
                  <a:srgbClr val="0E0A06"/>
                </a:solidFill>
                <a:latin typeface="DM Sans" pitchFamily="34" charset="0"/>
                <a:ea typeface="DM Sans" pitchFamily="34" charset="-122"/>
                <a:cs typeface="DM Sans" pitchFamily="34" charset="-120"/>
              </a:rPr>
              <a:t>LOW (primers)</a:t>
            </a:r>
            <a:endParaRPr lang="en-US" sz="900" dirty="0"/>
          </a:p>
        </p:txBody>
      </p:sp>
      <p:sp>
        <p:nvSpPr>
          <p:cNvPr id="49" name="Text 47"/>
          <p:cNvSpPr/>
          <p:nvPr/>
        </p:nvSpPr>
        <p:spPr>
          <a:xfrm>
            <a:off x="731520" y="5715000"/>
            <a:ext cx="3291840" cy="548640"/>
          </a:xfrm>
          <a:prstGeom prst="rect">
            <a:avLst/>
          </a:prstGeom>
          <a:noFill/>
          <a:ln/>
        </p:spPr>
        <p:txBody>
          <a:bodyPr wrap="square" lIns="0" tIns="0" rIns="0" bIns="0" rtlCol="0" anchor="ctr"/>
          <a:lstStyle/>
          <a:p>
            <a:pPr indent="0" marL="0">
              <a:buNone/>
            </a:pPr>
            <a:r>
              <a:rPr lang="en-US" sz="1500" b="1" i="1" dirty="0">
                <a:solidFill>
                  <a:srgbClr val="FAF6F0"/>
                </a:solidFill>
                <a:latin typeface="Cormorant Garamond" pitchFamily="34" charset="0"/>
                <a:ea typeface="Cormorant Garamond" pitchFamily="34" charset="-122"/>
                <a:cs typeface="Cormorant Garamond" pitchFamily="34" charset="-120"/>
              </a:rPr>
              <a:t>Grow with Google segmented</a:t>
            </a:r>
            <a:endParaRPr lang="en-US" sz="1500" dirty="0"/>
          </a:p>
        </p:txBody>
      </p:sp>
      <p:sp>
        <p:nvSpPr>
          <p:cNvPr id="50" name="Text 48"/>
          <p:cNvSpPr/>
          <p:nvPr/>
        </p:nvSpPr>
        <p:spPr>
          <a:xfrm>
            <a:off x="4069080" y="5715000"/>
            <a:ext cx="182880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4 programs</a:t>
            </a:r>
            <a:endParaRPr lang="en-US" sz="1000" dirty="0"/>
          </a:p>
        </p:txBody>
      </p:sp>
      <p:sp>
        <p:nvSpPr>
          <p:cNvPr id="51" name="Text 49"/>
          <p:cNvSpPr/>
          <p:nvPr/>
        </p:nvSpPr>
        <p:spPr>
          <a:xfrm>
            <a:off x="5897880" y="5715000"/>
            <a:ext cx="1645920" cy="548640"/>
          </a:xfrm>
          <a:prstGeom prst="rect">
            <a:avLst/>
          </a:prstGeom>
          <a:noFill/>
          <a:ln/>
        </p:spPr>
        <p:txBody>
          <a:bodyPr wrap="square" lIns="0" tIns="0" rIns="0" bIns="0" rtlCol="0" anchor="ctr"/>
          <a:lstStyle/>
          <a:p>
            <a:pPr indent="0" marL="0">
              <a:buNone/>
            </a:pPr>
            <a:r>
              <a:rPr lang="en-US" sz="1000" b="1" dirty="0">
                <a:solidFill>
                  <a:srgbClr val="F59E0B"/>
                </a:solidFill>
                <a:latin typeface="DM Sans" pitchFamily="34" charset="0"/>
                <a:ea typeface="DM Sans" pitchFamily="34" charset="-122"/>
                <a:cs typeface="DM Sans" pitchFamily="34" charset="-120"/>
              </a:rPr>
              <a:t>Free</a:t>
            </a:r>
            <a:endParaRPr lang="en-US" sz="1000" dirty="0"/>
          </a:p>
        </p:txBody>
      </p:sp>
      <p:sp>
        <p:nvSpPr>
          <p:cNvPr id="52" name="Text 50"/>
          <p:cNvSpPr/>
          <p:nvPr/>
        </p:nvSpPr>
        <p:spPr>
          <a:xfrm>
            <a:off x="7543800" y="5715000"/>
            <a:ext cx="1371600" cy="54864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varies</a:t>
            </a:r>
            <a:endParaRPr lang="en-US" sz="1000" dirty="0"/>
          </a:p>
        </p:txBody>
      </p:sp>
      <p:sp>
        <p:nvSpPr>
          <p:cNvPr id="53" name="Text 51"/>
          <p:cNvSpPr/>
          <p:nvPr/>
        </p:nvSpPr>
        <p:spPr>
          <a:xfrm>
            <a:off x="731520" y="1234440"/>
            <a:ext cx="3291840" cy="228600"/>
          </a:xfrm>
          <a:prstGeom prst="rect">
            <a:avLst/>
          </a:prstGeom>
          <a:noFill/>
          <a:ln/>
        </p:spPr>
        <p:txBody>
          <a:bodyPr wrap="square" lIns="0" tIns="0" rIns="0" bIns="0" rtlCol="0" anchor="ctr"/>
          <a:lstStyle/>
          <a:p>
            <a:pPr indent="0" marL="0">
              <a:buNone/>
            </a:pPr>
            <a:r>
              <a:rPr lang="en-US" sz="900" b="1" spc="300" kern="0" dirty="0">
                <a:solidFill>
                  <a:srgbClr val="8A7A64"/>
                </a:solidFill>
                <a:latin typeface="DM Sans" pitchFamily="34" charset="0"/>
                <a:ea typeface="DM Sans" pitchFamily="34" charset="-122"/>
                <a:cs typeface="DM Sans" pitchFamily="34" charset="-120"/>
              </a:rPr>
              <a:t>SURFACE</a:t>
            </a:r>
            <a:endParaRPr lang="en-US" sz="900" dirty="0"/>
          </a:p>
        </p:txBody>
      </p:sp>
      <p:sp>
        <p:nvSpPr>
          <p:cNvPr id="54" name="Text 52"/>
          <p:cNvSpPr/>
          <p:nvPr/>
        </p:nvSpPr>
        <p:spPr>
          <a:xfrm>
            <a:off x="4069080" y="1234440"/>
            <a:ext cx="1828800" cy="228600"/>
          </a:xfrm>
          <a:prstGeom prst="rect">
            <a:avLst/>
          </a:prstGeom>
          <a:noFill/>
          <a:ln/>
        </p:spPr>
        <p:txBody>
          <a:bodyPr wrap="square" lIns="0" tIns="0" rIns="0" bIns="0" rtlCol="0" anchor="ctr"/>
          <a:lstStyle/>
          <a:p>
            <a:pPr indent="0" marL="0">
              <a:buNone/>
            </a:pPr>
            <a:r>
              <a:rPr lang="en-US" sz="900" b="1" spc="300" kern="0" dirty="0">
                <a:solidFill>
                  <a:srgbClr val="8A7A64"/>
                </a:solidFill>
                <a:latin typeface="DM Sans" pitchFamily="34" charset="0"/>
                <a:ea typeface="DM Sans" pitchFamily="34" charset="-122"/>
                <a:cs typeface="DM Sans" pitchFamily="34" charset="-120"/>
              </a:rPr>
              <a:t>INVENTORY</a:t>
            </a:r>
            <a:endParaRPr lang="en-US" sz="900" dirty="0"/>
          </a:p>
        </p:txBody>
      </p:sp>
      <p:sp>
        <p:nvSpPr>
          <p:cNvPr id="55" name="Text 53"/>
          <p:cNvSpPr/>
          <p:nvPr/>
        </p:nvSpPr>
        <p:spPr>
          <a:xfrm>
            <a:off x="5897880" y="1234440"/>
            <a:ext cx="1645920" cy="228600"/>
          </a:xfrm>
          <a:prstGeom prst="rect">
            <a:avLst/>
          </a:prstGeom>
          <a:noFill/>
          <a:ln/>
        </p:spPr>
        <p:txBody>
          <a:bodyPr wrap="square" lIns="0" tIns="0" rIns="0" bIns="0" rtlCol="0" anchor="ctr"/>
          <a:lstStyle/>
          <a:p>
            <a:pPr indent="0" marL="0">
              <a:buNone/>
            </a:pPr>
            <a:r>
              <a:rPr lang="en-US" sz="900" b="1" spc="300" kern="0" dirty="0">
                <a:solidFill>
                  <a:srgbClr val="8A7A64"/>
                </a:solidFill>
                <a:latin typeface="DM Sans" pitchFamily="34" charset="0"/>
                <a:ea typeface="DM Sans" pitchFamily="34" charset="-122"/>
                <a:cs typeface="DM Sans" pitchFamily="34" charset="-120"/>
              </a:rPr>
              <a:t>COST</a:t>
            </a:r>
            <a:endParaRPr lang="en-US" sz="900" dirty="0"/>
          </a:p>
        </p:txBody>
      </p:sp>
      <p:sp>
        <p:nvSpPr>
          <p:cNvPr id="56" name="Text 54"/>
          <p:cNvSpPr/>
          <p:nvPr/>
        </p:nvSpPr>
        <p:spPr>
          <a:xfrm>
            <a:off x="7543800" y="1234440"/>
            <a:ext cx="1371600" cy="228600"/>
          </a:xfrm>
          <a:prstGeom prst="rect">
            <a:avLst/>
          </a:prstGeom>
          <a:noFill/>
          <a:ln/>
        </p:spPr>
        <p:txBody>
          <a:bodyPr wrap="square" lIns="0" tIns="0" rIns="0" bIns="0" rtlCol="0" anchor="ctr"/>
          <a:lstStyle/>
          <a:p>
            <a:pPr indent="0" marL="0">
              <a:buNone/>
            </a:pPr>
            <a:r>
              <a:rPr lang="en-US" sz="900" b="1" spc="300" kern="0" dirty="0">
                <a:solidFill>
                  <a:srgbClr val="8A7A64"/>
                </a:solidFill>
                <a:latin typeface="DM Sans" pitchFamily="34" charset="0"/>
                <a:ea typeface="DM Sans" pitchFamily="34" charset="-122"/>
                <a:cs typeface="DM Sans" pitchFamily="34" charset="-120"/>
              </a:rPr>
              <a:t>HOURS</a:t>
            </a:r>
            <a:endParaRPr lang="en-US" sz="900" dirty="0"/>
          </a:p>
        </p:txBody>
      </p:sp>
      <p:sp>
        <p:nvSpPr>
          <p:cNvPr id="57" name="Text 55"/>
          <p:cNvSpPr/>
          <p:nvPr/>
        </p:nvSpPr>
        <p:spPr>
          <a:xfrm>
            <a:off x="9235440" y="1234440"/>
            <a:ext cx="2011680" cy="228600"/>
          </a:xfrm>
          <a:prstGeom prst="rect">
            <a:avLst/>
          </a:prstGeom>
          <a:noFill/>
          <a:ln/>
        </p:spPr>
        <p:txBody>
          <a:bodyPr wrap="square" lIns="0" tIns="0" rIns="0" bIns="0" rtlCol="0" anchor="ctr"/>
          <a:lstStyle/>
          <a:p>
            <a:pPr algn="ctr" indent="0" marL="0">
              <a:buNone/>
            </a:pPr>
            <a:r>
              <a:rPr lang="en-US" sz="900" b="1" spc="300" kern="0" dirty="0">
                <a:solidFill>
                  <a:srgbClr val="8A7A64"/>
                </a:solidFill>
                <a:latin typeface="DM Sans" pitchFamily="34" charset="0"/>
                <a:ea typeface="DM Sans" pitchFamily="34" charset="-122"/>
                <a:cs typeface="DM Sans" pitchFamily="34" charset="-120"/>
              </a:rPr>
              <a:t>PEARL PRIME UTILITY</a:t>
            </a:r>
            <a:endParaRPr lang="en-US" sz="900" dirty="0"/>
          </a:p>
        </p:txBody>
      </p:sp>
      <p:sp>
        <p:nvSpPr>
          <p:cNvPr id="58" name="Text 56"/>
          <p:cNvSpPr/>
          <p:nvPr/>
        </p:nvSpPr>
        <p:spPr>
          <a:xfrm>
            <a:off x="11064240" y="6492240"/>
            <a:ext cx="822960" cy="228600"/>
          </a:xfrm>
          <a:prstGeom prst="rect">
            <a:avLst/>
          </a:prstGeom>
          <a:noFill/>
          <a:ln/>
        </p:spPr>
        <p:txBody>
          <a:bodyPr wrap="square" lIns="0" tIns="0" rIns="0" bIns="0" rtlCol="0" anchor="ctr"/>
          <a:lstStyle/>
          <a:p>
            <a:pPr algn="r" indent="0" marL="0">
              <a:buNone/>
            </a:pPr>
            <a:r>
              <a:rPr lang="en-US" sz="900" dirty="0">
                <a:solidFill>
                  <a:srgbClr val="8A7A64"/>
                </a:solidFill>
                <a:latin typeface="DM Sans" pitchFamily="34" charset="0"/>
                <a:ea typeface="DM Sans" pitchFamily="34" charset="-122"/>
                <a:cs typeface="DM Sans" pitchFamily="34" charset="-120"/>
              </a:rPr>
              <a:t>4 / 17</a:t>
            </a:r>
            <a:endParaRPr lang="en-US" sz="900" dirty="0"/>
          </a:p>
        </p:txBody>
      </p:sp>
      <p:sp>
        <p:nvSpPr>
          <p:cNvPr id="59" name="Text 57"/>
          <p:cNvSpPr/>
          <p:nvPr/>
        </p:nvSpPr>
        <p:spPr>
          <a:xfrm>
            <a:off x="365760" y="6492240"/>
            <a:ext cx="4572000" cy="228600"/>
          </a:xfrm>
          <a:prstGeom prst="rect">
            <a:avLst/>
          </a:prstGeom>
          <a:noFill/>
          <a:ln/>
        </p:spPr>
        <p:txBody>
          <a:bodyPr wrap="square" lIns="0" tIns="0" rIns="0" bIns="0" rtlCol="0" anchor="ctr"/>
          <a:lstStyle/>
          <a:p>
            <a:pPr algn="l" indent="0" marL="0">
              <a:buNone/>
            </a:pPr>
            <a:r>
              <a:rPr lang="en-US" sz="900" dirty="0">
                <a:solidFill>
                  <a:srgbClr val="8A7A64"/>
                </a:solidFill>
                <a:latin typeface="DM Sans" pitchFamily="34" charset="0"/>
                <a:ea typeface="DM Sans" pitchFamily="34" charset="-122"/>
                <a:cs typeface="DM Sans" pitchFamily="34" charset="-120"/>
              </a:rPr>
              <a:t>PEARL_RESEARCH · 2026-06-09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A06"/>
        </a:solidFill>
      </p:bgPr>
    </p:bg>
    <p:spTree>
      <p:nvGrpSpPr>
        <p:cNvPr id="1" name=""/>
        <p:cNvGrpSpPr/>
        <p:nvPr/>
      </p:nvGrpSpPr>
      <p:grpSpPr>
        <a:xfrm>
          <a:off x="0" y="0"/>
          <a:ext cx="0" cy="0"/>
          <a:chOff x="0" y="0"/>
          <a:chExt cx="0" cy="0"/>
        </a:xfrm>
      </p:grpSpPr>
      <p:sp>
        <p:nvSpPr>
          <p:cNvPr id="2" name="Text 0"/>
          <p:cNvSpPr/>
          <p:nvPr/>
        </p:nvSpPr>
        <p:spPr>
          <a:xfrm>
            <a:off x="548640" y="228600"/>
            <a:ext cx="11064240" cy="274320"/>
          </a:xfrm>
          <a:prstGeom prst="rect">
            <a:avLst/>
          </a:prstGeom>
          <a:noFill/>
          <a:ln/>
        </p:spPr>
        <p:txBody>
          <a:bodyPr wrap="square" lIns="0" tIns="0" rIns="0" bIns="0" rtlCol="0" anchor="ctr"/>
          <a:lstStyle/>
          <a:p>
            <a:pPr indent="0" marL="0">
              <a:buNone/>
            </a:pPr>
            <a:r>
              <a:rPr lang="en-US" sz="1100" b="1" spc="600" kern="0" dirty="0">
                <a:solidFill>
                  <a:srgbClr val="F59E0B"/>
                </a:solidFill>
                <a:latin typeface="DM Sans" pitchFamily="34" charset="0"/>
                <a:ea typeface="DM Sans" pitchFamily="34" charset="-122"/>
                <a:cs typeface="DM Sans" pitchFamily="34" charset="-120"/>
              </a:rPr>
              <a:t>NO-SKILL → ENTRY  ·  PATHWAY 1 OF 3</a:t>
            </a:r>
            <a:endParaRPr lang="en-US" sz="1100" dirty="0"/>
          </a:p>
        </p:txBody>
      </p:sp>
      <p:sp>
        <p:nvSpPr>
          <p:cNvPr id="3" name="Text 1"/>
          <p:cNvSpPr/>
          <p:nvPr/>
        </p:nvSpPr>
        <p:spPr>
          <a:xfrm>
            <a:off x="548640" y="411480"/>
            <a:ext cx="11064240" cy="868680"/>
          </a:xfrm>
          <a:prstGeom prst="rect">
            <a:avLst/>
          </a:prstGeom>
          <a:noFill/>
          <a:ln/>
        </p:spPr>
        <p:txBody>
          <a:bodyPr wrap="square" lIns="0" tIns="0" rIns="0" bIns="0" rtlCol="0" anchor="ctr"/>
          <a:lstStyle/>
          <a:p>
            <a:pPr indent="0" marL="0">
              <a:buNone/>
            </a:pPr>
            <a:r>
              <a:rPr lang="en-US" sz="3600" b="1" i="1" dirty="0">
                <a:solidFill>
                  <a:srgbClr val="FAF6F0"/>
                </a:solidFill>
                <a:latin typeface="Cormorant Garamond" pitchFamily="34" charset="0"/>
                <a:ea typeface="Cormorant Garamond" pitchFamily="34" charset="-122"/>
                <a:cs typeface="Cormorant Garamond" pitchFamily="34" charset="-120"/>
              </a:rPr>
              <a:t>Google AI Essentials</a:t>
            </a:r>
            <a:endParaRPr lang="en-US" sz="3600" dirty="0"/>
          </a:p>
        </p:txBody>
      </p:sp>
      <p:sp>
        <p:nvSpPr>
          <p:cNvPr id="4" name="Shape 2"/>
          <p:cNvSpPr/>
          <p:nvPr/>
        </p:nvSpPr>
        <p:spPr>
          <a:xfrm>
            <a:off x="548640" y="1691640"/>
            <a:ext cx="3535680" cy="4297680"/>
          </a:xfrm>
          <a:prstGeom prst="rect">
            <a:avLst/>
          </a:prstGeom>
          <a:solidFill>
            <a:srgbClr val="1C1308"/>
          </a:solidFill>
          <a:ln w="12700">
            <a:solidFill>
              <a:srgbClr val="1C1308"/>
            </a:solidFill>
            <a:prstDash val="solid"/>
          </a:ln>
        </p:spPr>
      </p:sp>
      <p:sp>
        <p:nvSpPr>
          <p:cNvPr id="5" name="Shape 3"/>
          <p:cNvSpPr/>
          <p:nvPr/>
        </p:nvSpPr>
        <p:spPr>
          <a:xfrm>
            <a:off x="548640" y="1691640"/>
            <a:ext cx="3535680" cy="73152"/>
          </a:xfrm>
          <a:prstGeom prst="rect">
            <a:avLst/>
          </a:prstGeom>
          <a:solidFill>
            <a:srgbClr val="F59E0B"/>
          </a:solidFill>
          <a:ln w="12700">
            <a:solidFill>
              <a:srgbClr val="F59E0B"/>
            </a:solidFill>
            <a:prstDash val="solid"/>
          </a:ln>
        </p:spPr>
      </p:sp>
      <p:sp>
        <p:nvSpPr>
          <p:cNvPr id="6" name="Text 4"/>
          <p:cNvSpPr/>
          <p:nvPr/>
        </p:nvSpPr>
        <p:spPr>
          <a:xfrm>
            <a:off x="822960" y="1920240"/>
            <a:ext cx="2987040" cy="320040"/>
          </a:xfrm>
          <a:prstGeom prst="rect">
            <a:avLst/>
          </a:prstGeom>
          <a:noFill/>
          <a:ln/>
        </p:spPr>
        <p:txBody>
          <a:bodyPr wrap="square" lIns="0" tIns="0" rIns="0" bIns="0" rtlCol="0" anchor="ctr"/>
          <a:lstStyle/>
          <a:p>
            <a:pPr indent="0" marL="0">
              <a:buNone/>
            </a:pPr>
            <a:r>
              <a:rPr lang="en-US" sz="1000" b="1" spc="400" kern="0" dirty="0">
                <a:solidFill>
                  <a:srgbClr val="F59E0B"/>
                </a:solidFill>
                <a:latin typeface="DM Sans" pitchFamily="34" charset="0"/>
                <a:ea typeface="DM Sans" pitchFamily="34" charset="-122"/>
                <a:cs typeface="DM Sans" pitchFamily="34" charset="-120"/>
              </a:rPr>
              <a:t>WHAT THEY LEARN</a:t>
            </a:r>
            <a:endParaRPr lang="en-US" sz="1000" dirty="0"/>
          </a:p>
        </p:txBody>
      </p:sp>
      <p:sp>
        <p:nvSpPr>
          <p:cNvPr id="7" name="Text 5"/>
          <p:cNvSpPr/>
          <p:nvPr/>
        </p:nvSpPr>
        <p:spPr>
          <a:xfrm>
            <a:off x="82296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Generative AI fundamentals. Prompt engineering basics. Responsible AI use. Practical applications — drafting, brainstorming, content analysis. Finishes with enough vocabulary to read CLAUDE.md, the Pearl Prime overlay spec, and the Pearl News expansion prompts and understand what they say.</a:t>
            </a:r>
            <a:endParaRPr lang="en-US" sz="1200" dirty="0"/>
          </a:p>
        </p:txBody>
      </p:sp>
      <p:sp>
        <p:nvSpPr>
          <p:cNvPr id="8" name="Shape 6"/>
          <p:cNvSpPr/>
          <p:nvPr/>
        </p:nvSpPr>
        <p:spPr>
          <a:xfrm>
            <a:off x="4312920" y="1691640"/>
            <a:ext cx="3535680" cy="4297680"/>
          </a:xfrm>
          <a:prstGeom prst="rect">
            <a:avLst/>
          </a:prstGeom>
          <a:solidFill>
            <a:srgbClr val="1C1308"/>
          </a:solidFill>
          <a:ln w="12700">
            <a:solidFill>
              <a:srgbClr val="1C1308"/>
            </a:solidFill>
            <a:prstDash val="solid"/>
          </a:ln>
        </p:spPr>
      </p:sp>
      <p:sp>
        <p:nvSpPr>
          <p:cNvPr id="9" name="Shape 7"/>
          <p:cNvSpPr/>
          <p:nvPr/>
        </p:nvSpPr>
        <p:spPr>
          <a:xfrm>
            <a:off x="4312920" y="1691640"/>
            <a:ext cx="3535680" cy="73152"/>
          </a:xfrm>
          <a:prstGeom prst="rect">
            <a:avLst/>
          </a:prstGeom>
          <a:solidFill>
            <a:srgbClr val="84CC16"/>
          </a:solidFill>
          <a:ln w="12700">
            <a:solidFill>
              <a:srgbClr val="84CC16"/>
            </a:solidFill>
            <a:prstDash val="solid"/>
          </a:ln>
        </p:spPr>
      </p:sp>
      <p:sp>
        <p:nvSpPr>
          <p:cNvPr id="10" name="Text 8"/>
          <p:cNvSpPr/>
          <p:nvPr/>
        </p:nvSpPr>
        <p:spPr>
          <a:xfrm>
            <a:off x="4587240" y="1920240"/>
            <a:ext cx="2987040" cy="320040"/>
          </a:xfrm>
          <a:prstGeom prst="rect">
            <a:avLst/>
          </a:prstGeom>
          <a:noFill/>
          <a:ln/>
        </p:spPr>
        <p:txBody>
          <a:bodyPr wrap="square" lIns="0" tIns="0" rIns="0" bIns="0" rtlCol="0" anchor="ctr"/>
          <a:lstStyle/>
          <a:p>
            <a:pPr indent="0" marL="0">
              <a:buNone/>
            </a:pPr>
            <a:r>
              <a:rPr lang="en-US" sz="1000" b="1" spc="400" kern="0" dirty="0">
                <a:solidFill>
                  <a:srgbClr val="84CC16"/>
                </a:solidFill>
                <a:latin typeface="DM Sans" pitchFamily="34" charset="0"/>
                <a:ea typeface="DM Sans" pitchFamily="34" charset="-122"/>
                <a:cs typeface="DM Sans" pitchFamily="34" charset="-120"/>
              </a:rPr>
              <a:t>HOW IT HELPS PEARL PRIME</a:t>
            </a:r>
            <a:endParaRPr lang="en-US" sz="1000" dirty="0"/>
          </a:p>
        </p:txBody>
      </p:sp>
      <p:sp>
        <p:nvSpPr>
          <p:cNvPr id="11" name="Text 9"/>
          <p:cNvSpPr/>
          <p:nvPr/>
        </p:nvSpPr>
        <p:spPr>
          <a:xfrm>
            <a:off x="458724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Universal AI literacy primer. Every new contributor at every skill level completes this within their first week. After it, the trainee can read repo prompts, propose small prompt edits, and follow Tier-1 vs Tier-2 reasoning. Subsystems: ALL (general fluency).</a:t>
            </a:r>
            <a:endParaRPr lang="en-US" sz="1200" dirty="0"/>
          </a:p>
        </p:txBody>
      </p:sp>
      <p:sp>
        <p:nvSpPr>
          <p:cNvPr id="12" name="Shape 10"/>
          <p:cNvSpPr/>
          <p:nvPr/>
        </p:nvSpPr>
        <p:spPr>
          <a:xfrm>
            <a:off x="8077200" y="1691640"/>
            <a:ext cx="3535680" cy="4297680"/>
          </a:xfrm>
          <a:prstGeom prst="rect">
            <a:avLst/>
          </a:prstGeom>
          <a:solidFill>
            <a:srgbClr val="1C1308"/>
          </a:solidFill>
          <a:ln w="12700">
            <a:solidFill>
              <a:srgbClr val="1C1308"/>
            </a:solidFill>
            <a:prstDash val="solid"/>
          </a:ln>
        </p:spPr>
      </p:sp>
      <p:sp>
        <p:nvSpPr>
          <p:cNvPr id="13" name="Shape 11"/>
          <p:cNvSpPr/>
          <p:nvPr/>
        </p:nvSpPr>
        <p:spPr>
          <a:xfrm>
            <a:off x="8077200" y="1691640"/>
            <a:ext cx="3535680" cy="73152"/>
          </a:xfrm>
          <a:prstGeom prst="rect">
            <a:avLst/>
          </a:prstGeom>
          <a:solidFill>
            <a:srgbClr val="0891B2"/>
          </a:solidFill>
          <a:ln w="12700">
            <a:solidFill>
              <a:srgbClr val="0891B2"/>
            </a:solidFill>
            <a:prstDash val="solid"/>
          </a:ln>
        </p:spPr>
      </p:sp>
      <p:sp>
        <p:nvSpPr>
          <p:cNvPr id="14" name="Text 12"/>
          <p:cNvSpPr/>
          <p:nvPr/>
        </p:nvSpPr>
        <p:spPr>
          <a:xfrm>
            <a:off x="8351520" y="1920240"/>
            <a:ext cx="2987040" cy="320040"/>
          </a:xfrm>
          <a:prstGeom prst="rect">
            <a:avLst/>
          </a:prstGeom>
          <a:noFill/>
          <a:ln/>
        </p:spPr>
        <p:txBody>
          <a:bodyPr wrap="square" lIns="0" tIns="0" rIns="0" bIns="0" rtlCol="0" anchor="ctr"/>
          <a:lstStyle/>
          <a:p>
            <a:pPr indent="0" marL="0">
              <a:buNone/>
            </a:pPr>
            <a:r>
              <a:rPr lang="en-US" sz="1000" b="1" spc="400" kern="0" dirty="0">
                <a:solidFill>
                  <a:srgbClr val="0891B2"/>
                </a:solidFill>
                <a:latin typeface="DM Sans" pitchFamily="34" charset="0"/>
                <a:ea typeface="DM Sans" pitchFamily="34" charset="-122"/>
                <a:cs typeface="DM Sans" pitchFamily="34" charset="-120"/>
              </a:rPr>
              <a:t>WHAT IT MEANS FOR THEIR CAREER</a:t>
            </a:r>
            <a:endParaRPr lang="en-US" sz="1000" dirty="0"/>
          </a:p>
        </p:txBody>
      </p:sp>
      <p:sp>
        <p:nvSpPr>
          <p:cNvPr id="15" name="Text 13"/>
          <p:cNvSpPr/>
          <p:nvPr/>
        </p:nvSpPr>
        <p:spPr>
          <a:xfrm>
            <a:off x="835152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AI fluency is now table-stakes for every white-collar role. 275K+ US job postings reference AI skills in Jan 2026 (Indeed Hiring Lab). Adds 10-15% wage premium across all roles per LinkedIn 2026 data. Best ROI of any 5-hour investment in the catalog.</a:t>
            </a:r>
            <a:endParaRPr lang="en-US" sz="1200" dirty="0"/>
          </a:p>
        </p:txBody>
      </p:sp>
      <p:sp>
        <p:nvSpPr>
          <p:cNvPr id="16" name="Shape 14"/>
          <p:cNvSpPr/>
          <p:nvPr/>
        </p:nvSpPr>
        <p:spPr>
          <a:xfrm>
            <a:off x="548640" y="5989320"/>
            <a:ext cx="11064240" cy="411480"/>
          </a:xfrm>
          <a:prstGeom prst="rect">
            <a:avLst/>
          </a:prstGeom>
          <a:solidFill>
            <a:srgbClr val="2B1D0E"/>
          </a:solidFill>
          <a:ln w="12700">
            <a:solidFill>
              <a:srgbClr val="D97706"/>
            </a:solidFill>
            <a:prstDash val="solid"/>
          </a:ln>
        </p:spPr>
      </p:sp>
      <p:sp>
        <p:nvSpPr>
          <p:cNvPr id="17" name="Text 15"/>
          <p:cNvSpPr/>
          <p:nvPr/>
        </p:nvSpPr>
        <p:spPr>
          <a:xfrm>
            <a:off x="731520" y="5989320"/>
            <a:ext cx="10698480" cy="411480"/>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Course: </a:t>
            </a:r>
            <a:pPr indent="0" marL="0">
              <a:buNone/>
            </a:pPr>
            <a:r>
              <a:rPr lang="en-US" sz="1100" b="1" dirty="0">
                <a:solidFill>
                  <a:srgbClr val="FAF6F0"/>
                </a:solidFill>
                <a:latin typeface="DM Sans" pitchFamily="34" charset="0"/>
                <a:ea typeface="DM Sans" pitchFamily="34" charset="-122"/>
                <a:cs typeface="DM Sans" pitchFamily="34" charset="-120"/>
              </a:rPr>
              <a:t>Google AI Essentials</a:t>
            </a:r>
            <a:pPr indent="0" marL="0">
              <a:buNone/>
            </a:pPr>
            <a:r>
              <a:rPr lang="en-US" sz="1100" dirty="0">
                <a:solidFill>
                  <a:srgbClr val="C8BAA6"/>
                </a:solidFill>
                <a:latin typeface="DM Sans" pitchFamily="34" charset="0"/>
                <a:ea typeface="DM Sans" pitchFamily="34" charset="-122"/>
                <a:cs typeface="DM Sans" pitchFamily="34" charset="-120"/>
              </a:rPr>
              <a:t>  ·  $49 / mo (or free trial)  ·  &lt; 5 hr  ·  Shadow: </a:t>
            </a:r>
            <a:pPr indent="0" marL="0">
              <a:buNone/>
            </a:pPr>
            <a:r>
              <a:rPr lang="en-US" sz="1100" b="1" dirty="0">
                <a:solidFill>
                  <a:srgbClr val="F59E0B"/>
                </a:solidFill>
                <a:latin typeface="DM Sans" pitchFamily="34" charset="0"/>
                <a:ea typeface="DM Sans" pitchFamily="34" charset="-122"/>
                <a:cs typeface="DM Sans" pitchFamily="34" charset="-120"/>
              </a:rPr>
              <a:t>any Pearl agent</a:t>
            </a:r>
            <a:pPr indent="0" marL="0">
              <a:buNone/>
            </a:pPr>
            <a:r>
              <a:rPr lang="en-US" sz="1100" dirty="0">
                <a:solidFill>
                  <a:srgbClr val="C8BAA6"/>
                </a:solidFill>
                <a:latin typeface="DM Sans" pitchFamily="34" charset="0"/>
                <a:ea typeface="DM Sans" pitchFamily="34" charset="-122"/>
                <a:cs typeface="DM Sans" pitchFamily="34" charset="-120"/>
              </a:rPr>
              <a:t>  ·  Subsystem: </a:t>
            </a:r>
            <a:pPr indent="0" marL="0">
              <a:buNone/>
            </a:pPr>
            <a:r>
              <a:rPr lang="en-US" sz="1100" dirty="0">
                <a:solidFill>
                  <a:srgbClr val="FAF6F0"/>
                </a:solidFill>
                <a:latin typeface="DM Sans" pitchFamily="34" charset="0"/>
                <a:ea typeface="DM Sans" pitchFamily="34" charset="-122"/>
                <a:cs typeface="DM Sans" pitchFamily="34" charset="-120"/>
              </a:rPr>
              <a:t>all</a:t>
            </a:r>
            <a:endParaRPr lang="en-US" sz="1100" dirty="0"/>
          </a:p>
        </p:txBody>
      </p:sp>
      <p:sp>
        <p:nvSpPr>
          <p:cNvPr id="18" name="Text 16"/>
          <p:cNvSpPr/>
          <p:nvPr/>
        </p:nvSpPr>
        <p:spPr>
          <a:xfrm>
            <a:off x="11064240" y="6492240"/>
            <a:ext cx="822960" cy="228600"/>
          </a:xfrm>
          <a:prstGeom prst="rect">
            <a:avLst/>
          </a:prstGeom>
          <a:noFill/>
          <a:ln/>
        </p:spPr>
        <p:txBody>
          <a:bodyPr wrap="square" lIns="0" tIns="0" rIns="0" bIns="0" rtlCol="0" anchor="ctr"/>
          <a:lstStyle/>
          <a:p>
            <a:pPr algn="r" indent="0" marL="0">
              <a:buNone/>
            </a:pPr>
            <a:r>
              <a:rPr lang="en-US" sz="900" dirty="0">
                <a:solidFill>
                  <a:srgbClr val="8A7A64"/>
                </a:solidFill>
                <a:latin typeface="DM Sans" pitchFamily="34" charset="0"/>
                <a:ea typeface="DM Sans" pitchFamily="34" charset="-122"/>
                <a:cs typeface="DM Sans" pitchFamily="34" charset="-120"/>
              </a:rPr>
              <a:t>5 / 17</a:t>
            </a:r>
            <a:endParaRPr lang="en-US" sz="900" dirty="0"/>
          </a:p>
        </p:txBody>
      </p:sp>
      <p:sp>
        <p:nvSpPr>
          <p:cNvPr id="19" name="Text 17"/>
          <p:cNvSpPr/>
          <p:nvPr/>
        </p:nvSpPr>
        <p:spPr>
          <a:xfrm>
            <a:off x="365760" y="6492240"/>
            <a:ext cx="4572000" cy="228600"/>
          </a:xfrm>
          <a:prstGeom prst="rect">
            <a:avLst/>
          </a:prstGeom>
          <a:noFill/>
          <a:ln/>
        </p:spPr>
        <p:txBody>
          <a:bodyPr wrap="square" lIns="0" tIns="0" rIns="0" bIns="0" rtlCol="0" anchor="ctr"/>
          <a:lstStyle/>
          <a:p>
            <a:pPr algn="l" indent="0" marL="0">
              <a:buNone/>
            </a:pPr>
            <a:r>
              <a:rPr lang="en-US" sz="900" dirty="0">
                <a:solidFill>
                  <a:srgbClr val="8A7A64"/>
                </a:solidFill>
                <a:latin typeface="DM Sans" pitchFamily="34" charset="0"/>
                <a:ea typeface="DM Sans" pitchFamily="34" charset="-122"/>
                <a:cs typeface="DM Sans" pitchFamily="34" charset="-120"/>
              </a:rPr>
              <a:t>PEARL_RESEARCH · 2026-06-09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0A06"/>
        </a:solidFill>
      </p:bgPr>
    </p:bg>
    <p:spTree>
      <p:nvGrpSpPr>
        <p:cNvPr id="1" name=""/>
        <p:cNvGrpSpPr/>
        <p:nvPr/>
      </p:nvGrpSpPr>
      <p:grpSpPr>
        <a:xfrm>
          <a:off x="0" y="0"/>
          <a:ext cx="0" cy="0"/>
          <a:chOff x="0" y="0"/>
          <a:chExt cx="0" cy="0"/>
        </a:xfrm>
      </p:grpSpPr>
      <p:sp>
        <p:nvSpPr>
          <p:cNvPr id="2" name="Text 0"/>
          <p:cNvSpPr/>
          <p:nvPr/>
        </p:nvSpPr>
        <p:spPr>
          <a:xfrm>
            <a:off x="548640" y="228600"/>
            <a:ext cx="11064240" cy="274320"/>
          </a:xfrm>
          <a:prstGeom prst="rect">
            <a:avLst/>
          </a:prstGeom>
          <a:noFill/>
          <a:ln/>
        </p:spPr>
        <p:txBody>
          <a:bodyPr wrap="square" lIns="0" tIns="0" rIns="0" bIns="0" rtlCol="0" anchor="ctr"/>
          <a:lstStyle/>
          <a:p>
            <a:pPr indent="0" marL="0">
              <a:buNone/>
            </a:pPr>
            <a:r>
              <a:rPr lang="en-US" sz="1100" b="1" spc="600" kern="0" dirty="0">
                <a:solidFill>
                  <a:srgbClr val="F59E0B"/>
                </a:solidFill>
                <a:latin typeface="DM Sans" pitchFamily="34" charset="0"/>
                <a:ea typeface="DM Sans" pitchFamily="34" charset="-122"/>
                <a:cs typeface="DM Sans" pitchFamily="34" charset="-120"/>
              </a:rPr>
              <a:t>NO-SKILL → ENTRY  ·  PATHWAY 2 OF 3</a:t>
            </a:r>
            <a:endParaRPr lang="en-US" sz="1100" dirty="0"/>
          </a:p>
        </p:txBody>
      </p:sp>
      <p:sp>
        <p:nvSpPr>
          <p:cNvPr id="3" name="Text 1"/>
          <p:cNvSpPr/>
          <p:nvPr/>
        </p:nvSpPr>
        <p:spPr>
          <a:xfrm>
            <a:off x="548640" y="411480"/>
            <a:ext cx="11064240" cy="868680"/>
          </a:xfrm>
          <a:prstGeom prst="rect">
            <a:avLst/>
          </a:prstGeom>
          <a:noFill/>
          <a:ln/>
        </p:spPr>
        <p:txBody>
          <a:bodyPr wrap="square" lIns="0" tIns="0" rIns="0" bIns="0" rtlCol="0" anchor="ctr"/>
          <a:lstStyle/>
          <a:p>
            <a:pPr indent="0" marL="0">
              <a:buNone/>
            </a:pPr>
            <a:r>
              <a:rPr lang="en-US" sz="3600" b="1" i="1" dirty="0">
                <a:solidFill>
                  <a:srgbClr val="FAF6F0"/>
                </a:solidFill>
                <a:latin typeface="Cormorant Garamond" pitchFamily="34" charset="0"/>
                <a:ea typeface="Cormorant Garamond" pitchFamily="34" charset="-122"/>
                <a:cs typeface="Cormorant Garamond" pitchFamily="34" charset="-120"/>
              </a:rPr>
              <a:t>Google Project Management Certificate</a:t>
            </a:r>
            <a:endParaRPr lang="en-US" sz="3600" dirty="0"/>
          </a:p>
        </p:txBody>
      </p:sp>
      <p:sp>
        <p:nvSpPr>
          <p:cNvPr id="4" name="Shape 2"/>
          <p:cNvSpPr/>
          <p:nvPr/>
        </p:nvSpPr>
        <p:spPr>
          <a:xfrm>
            <a:off x="548640" y="1691640"/>
            <a:ext cx="3535680" cy="4297680"/>
          </a:xfrm>
          <a:prstGeom prst="rect">
            <a:avLst/>
          </a:prstGeom>
          <a:solidFill>
            <a:srgbClr val="1C1308"/>
          </a:solidFill>
          <a:ln w="12700">
            <a:solidFill>
              <a:srgbClr val="1C1308"/>
            </a:solidFill>
            <a:prstDash val="solid"/>
          </a:ln>
        </p:spPr>
      </p:sp>
      <p:sp>
        <p:nvSpPr>
          <p:cNvPr id="5" name="Shape 3"/>
          <p:cNvSpPr/>
          <p:nvPr/>
        </p:nvSpPr>
        <p:spPr>
          <a:xfrm>
            <a:off x="548640" y="1691640"/>
            <a:ext cx="3535680" cy="73152"/>
          </a:xfrm>
          <a:prstGeom prst="rect">
            <a:avLst/>
          </a:prstGeom>
          <a:solidFill>
            <a:srgbClr val="F59E0B"/>
          </a:solidFill>
          <a:ln w="12700">
            <a:solidFill>
              <a:srgbClr val="F59E0B"/>
            </a:solidFill>
            <a:prstDash val="solid"/>
          </a:ln>
        </p:spPr>
      </p:sp>
      <p:sp>
        <p:nvSpPr>
          <p:cNvPr id="6" name="Text 4"/>
          <p:cNvSpPr/>
          <p:nvPr/>
        </p:nvSpPr>
        <p:spPr>
          <a:xfrm>
            <a:off x="822960" y="1920240"/>
            <a:ext cx="2987040" cy="320040"/>
          </a:xfrm>
          <a:prstGeom prst="rect">
            <a:avLst/>
          </a:prstGeom>
          <a:noFill/>
          <a:ln/>
        </p:spPr>
        <p:txBody>
          <a:bodyPr wrap="square" lIns="0" tIns="0" rIns="0" bIns="0" rtlCol="0" anchor="ctr"/>
          <a:lstStyle/>
          <a:p>
            <a:pPr indent="0" marL="0">
              <a:buNone/>
            </a:pPr>
            <a:r>
              <a:rPr lang="en-US" sz="1000" b="1" spc="400" kern="0" dirty="0">
                <a:solidFill>
                  <a:srgbClr val="F59E0B"/>
                </a:solidFill>
                <a:latin typeface="DM Sans" pitchFamily="34" charset="0"/>
                <a:ea typeface="DM Sans" pitchFamily="34" charset="-122"/>
                <a:cs typeface="DM Sans" pitchFamily="34" charset="-120"/>
              </a:rPr>
              <a:t>WHAT THEY LEARN</a:t>
            </a:r>
            <a:endParaRPr lang="en-US" sz="1000" dirty="0"/>
          </a:p>
        </p:txBody>
      </p:sp>
      <p:sp>
        <p:nvSpPr>
          <p:cNvPr id="7" name="Text 5"/>
          <p:cNvSpPr/>
          <p:nvPr/>
        </p:nvSpPr>
        <p:spPr>
          <a:xfrm>
            <a:off x="82296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Agile, scrum, stakeholder management, problem-solving, organizational skills. 6 courses covering project initiation, planning, execution, agile delivery. Capstone project. 4.9★ / 121K reviews — highest-rated Career Certificate.</a:t>
            </a:r>
            <a:endParaRPr lang="en-US" sz="1200" dirty="0"/>
          </a:p>
        </p:txBody>
      </p:sp>
      <p:sp>
        <p:nvSpPr>
          <p:cNvPr id="8" name="Shape 6"/>
          <p:cNvSpPr/>
          <p:nvPr/>
        </p:nvSpPr>
        <p:spPr>
          <a:xfrm>
            <a:off x="4312920" y="1691640"/>
            <a:ext cx="3535680" cy="4297680"/>
          </a:xfrm>
          <a:prstGeom prst="rect">
            <a:avLst/>
          </a:prstGeom>
          <a:solidFill>
            <a:srgbClr val="1C1308"/>
          </a:solidFill>
          <a:ln w="12700">
            <a:solidFill>
              <a:srgbClr val="1C1308"/>
            </a:solidFill>
            <a:prstDash val="solid"/>
          </a:ln>
        </p:spPr>
      </p:sp>
      <p:sp>
        <p:nvSpPr>
          <p:cNvPr id="9" name="Shape 7"/>
          <p:cNvSpPr/>
          <p:nvPr/>
        </p:nvSpPr>
        <p:spPr>
          <a:xfrm>
            <a:off x="4312920" y="1691640"/>
            <a:ext cx="3535680" cy="73152"/>
          </a:xfrm>
          <a:prstGeom prst="rect">
            <a:avLst/>
          </a:prstGeom>
          <a:solidFill>
            <a:srgbClr val="84CC16"/>
          </a:solidFill>
          <a:ln w="12700">
            <a:solidFill>
              <a:srgbClr val="84CC16"/>
            </a:solidFill>
            <a:prstDash val="solid"/>
          </a:ln>
        </p:spPr>
      </p:sp>
      <p:sp>
        <p:nvSpPr>
          <p:cNvPr id="10" name="Text 8"/>
          <p:cNvSpPr/>
          <p:nvPr/>
        </p:nvSpPr>
        <p:spPr>
          <a:xfrm>
            <a:off x="4587240" y="1920240"/>
            <a:ext cx="2987040" cy="320040"/>
          </a:xfrm>
          <a:prstGeom prst="rect">
            <a:avLst/>
          </a:prstGeom>
          <a:noFill/>
          <a:ln/>
        </p:spPr>
        <p:txBody>
          <a:bodyPr wrap="square" lIns="0" tIns="0" rIns="0" bIns="0" rtlCol="0" anchor="ctr"/>
          <a:lstStyle/>
          <a:p>
            <a:pPr indent="0" marL="0">
              <a:buNone/>
            </a:pPr>
            <a:r>
              <a:rPr lang="en-US" sz="1000" b="1" spc="400" kern="0" dirty="0">
                <a:solidFill>
                  <a:srgbClr val="84CC16"/>
                </a:solidFill>
                <a:latin typeface="DM Sans" pitchFamily="34" charset="0"/>
                <a:ea typeface="DM Sans" pitchFamily="34" charset="-122"/>
                <a:cs typeface="DM Sans" pitchFamily="34" charset="-120"/>
              </a:rPr>
              <a:t>HOW IT HELPS PEARL PRIME</a:t>
            </a:r>
            <a:endParaRPr lang="en-US" sz="1000" dirty="0"/>
          </a:p>
        </p:txBody>
      </p:sp>
      <p:sp>
        <p:nvSpPr>
          <p:cNvPr id="11" name="Text 9"/>
          <p:cNvSpPr/>
          <p:nvPr/>
        </p:nvSpPr>
        <p:spPr>
          <a:xfrm>
            <a:off x="458724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Maps 1:1 onto Pearl Prime workstream coordination: ACTIVE_PROJECTS.tsv, ACTIVE_WORKSTREAMS.tsv, the STARTUP_RECEIPT / CLOSEOUT_RECEIPT protocol. Trainee pairs with Pearl_PM to open + close workstreams, audit project health, run weekly governance reviews. Subsystem: repo_coordination, marketing, brand_admin.</a:t>
            </a:r>
            <a:endParaRPr lang="en-US" sz="1200" dirty="0"/>
          </a:p>
        </p:txBody>
      </p:sp>
      <p:sp>
        <p:nvSpPr>
          <p:cNvPr id="12" name="Shape 10"/>
          <p:cNvSpPr/>
          <p:nvPr/>
        </p:nvSpPr>
        <p:spPr>
          <a:xfrm>
            <a:off x="8077200" y="1691640"/>
            <a:ext cx="3535680" cy="4297680"/>
          </a:xfrm>
          <a:prstGeom prst="rect">
            <a:avLst/>
          </a:prstGeom>
          <a:solidFill>
            <a:srgbClr val="1C1308"/>
          </a:solidFill>
          <a:ln w="12700">
            <a:solidFill>
              <a:srgbClr val="1C1308"/>
            </a:solidFill>
            <a:prstDash val="solid"/>
          </a:ln>
        </p:spPr>
      </p:sp>
      <p:sp>
        <p:nvSpPr>
          <p:cNvPr id="13" name="Shape 11"/>
          <p:cNvSpPr/>
          <p:nvPr/>
        </p:nvSpPr>
        <p:spPr>
          <a:xfrm>
            <a:off x="8077200" y="1691640"/>
            <a:ext cx="3535680" cy="73152"/>
          </a:xfrm>
          <a:prstGeom prst="rect">
            <a:avLst/>
          </a:prstGeom>
          <a:solidFill>
            <a:srgbClr val="0891B2"/>
          </a:solidFill>
          <a:ln w="12700">
            <a:solidFill>
              <a:srgbClr val="0891B2"/>
            </a:solidFill>
            <a:prstDash val="solid"/>
          </a:ln>
        </p:spPr>
      </p:sp>
      <p:sp>
        <p:nvSpPr>
          <p:cNvPr id="14" name="Text 12"/>
          <p:cNvSpPr/>
          <p:nvPr/>
        </p:nvSpPr>
        <p:spPr>
          <a:xfrm>
            <a:off x="8351520" y="1920240"/>
            <a:ext cx="2987040" cy="320040"/>
          </a:xfrm>
          <a:prstGeom prst="rect">
            <a:avLst/>
          </a:prstGeom>
          <a:noFill/>
          <a:ln/>
        </p:spPr>
        <p:txBody>
          <a:bodyPr wrap="square" lIns="0" tIns="0" rIns="0" bIns="0" rtlCol="0" anchor="ctr"/>
          <a:lstStyle/>
          <a:p>
            <a:pPr indent="0" marL="0">
              <a:buNone/>
            </a:pPr>
            <a:r>
              <a:rPr lang="en-US" sz="1000" b="1" spc="400" kern="0" dirty="0">
                <a:solidFill>
                  <a:srgbClr val="0891B2"/>
                </a:solidFill>
                <a:latin typeface="DM Sans" pitchFamily="34" charset="0"/>
                <a:ea typeface="DM Sans" pitchFamily="34" charset="-122"/>
                <a:cs typeface="DM Sans" pitchFamily="34" charset="-120"/>
              </a:rPr>
              <a:t>WHAT IT MEANS FOR THEIR CAREER</a:t>
            </a:r>
            <a:endParaRPr lang="en-US" sz="1000" dirty="0"/>
          </a:p>
        </p:txBody>
      </p:sp>
      <p:sp>
        <p:nvSpPr>
          <p:cNvPr id="15" name="Text 13"/>
          <p:cNvSpPr/>
          <p:nvPr/>
        </p:nvSpPr>
        <p:spPr>
          <a:xfrm>
            <a:off x="835152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BLS median $100,750 (May 2024 OEWS). +6% growth 2024-2034, 78,200 openings/yr. 3-yr progression: PM → Sr PM ($130-165K) → Program Manager. PMP credential adds ~20% premium. Hot factor: WARM. AI displacement risk: MEDIUM (tech-PM softer, healthcare + construction PM steady).</a:t>
            </a:r>
            <a:endParaRPr lang="en-US" sz="1200" dirty="0"/>
          </a:p>
        </p:txBody>
      </p:sp>
      <p:sp>
        <p:nvSpPr>
          <p:cNvPr id="16" name="Shape 14"/>
          <p:cNvSpPr/>
          <p:nvPr/>
        </p:nvSpPr>
        <p:spPr>
          <a:xfrm>
            <a:off x="548640" y="5989320"/>
            <a:ext cx="11064240" cy="411480"/>
          </a:xfrm>
          <a:prstGeom prst="rect">
            <a:avLst/>
          </a:prstGeom>
          <a:solidFill>
            <a:srgbClr val="2B1D0E"/>
          </a:solidFill>
          <a:ln w="12700">
            <a:solidFill>
              <a:srgbClr val="D97706"/>
            </a:solidFill>
            <a:prstDash val="solid"/>
          </a:ln>
        </p:spPr>
      </p:sp>
      <p:sp>
        <p:nvSpPr>
          <p:cNvPr id="17" name="Text 15"/>
          <p:cNvSpPr/>
          <p:nvPr/>
        </p:nvSpPr>
        <p:spPr>
          <a:xfrm>
            <a:off x="731520" y="5989320"/>
            <a:ext cx="10698480" cy="411480"/>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Course: </a:t>
            </a:r>
            <a:pPr indent="0" marL="0">
              <a:buNone/>
            </a:pPr>
            <a:r>
              <a:rPr lang="en-US" sz="1100" b="1" dirty="0">
                <a:solidFill>
                  <a:srgbClr val="FAF6F0"/>
                </a:solidFill>
                <a:latin typeface="DM Sans" pitchFamily="34" charset="0"/>
                <a:ea typeface="DM Sans" pitchFamily="34" charset="-122"/>
                <a:cs typeface="DM Sans" pitchFamily="34" charset="-120"/>
              </a:rPr>
              <a:t>Google Project Management Certificate</a:t>
            </a:r>
            <a:pPr indent="0" marL="0">
              <a:buNone/>
            </a:pPr>
            <a:r>
              <a:rPr lang="en-US" sz="1100" dirty="0">
                <a:solidFill>
                  <a:srgbClr val="C8BAA6"/>
                </a:solidFill>
                <a:latin typeface="DM Sans" pitchFamily="34" charset="0"/>
                <a:ea typeface="DM Sans" pitchFamily="34" charset="-122"/>
                <a:cs typeface="DM Sans" pitchFamily="34" charset="-120"/>
              </a:rPr>
              <a:t>  ·  $49 / mo  ·  ~180 hr (3-6 mo)  ·  Shadow: </a:t>
            </a:r>
            <a:pPr indent="0" marL="0">
              <a:buNone/>
            </a:pPr>
            <a:r>
              <a:rPr lang="en-US" sz="1100" b="1" dirty="0">
                <a:solidFill>
                  <a:srgbClr val="F59E0B"/>
                </a:solidFill>
                <a:latin typeface="DM Sans" pitchFamily="34" charset="0"/>
                <a:ea typeface="DM Sans" pitchFamily="34" charset="-122"/>
                <a:cs typeface="DM Sans" pitchFamily="34" charset="-120"/>
              </a:rPr>
              <a:t>Pearl_PM, Pearl_Architect</a:t>
            </a:r>
            <a:pPr indent="0" marL="0">
              <a:buNone/>
            </a:pPr>
            <a:r>
              <a:rPr lang="en-US" sz="1100" dirty="0">
                <a:solidFill>
                  <a:srgbClr val="C8BAA6"/>
                </a:solidFill>
                <a:latin typeface="DM Sans" pitchFamily="34" charset="0"/>
                <a:ea typeface="DM Sans" pitchFamily="34" charset="-122"/>
                <a:cs typeface="DM Sans" pitchFamily="34" charset="-120"/>
              </a:rPr>
              <a:t>  ·  Subsystem: </a:t>
            </a:r>
            <a:pPr indent="0" marL="0">
              <a:buNone/>
            </a:pPr>
            <a:r>
              <a:rPr lang="en-US" sz="1100" dirty="0">
                <a:solidFill>
                  <a:srgbClr val="FAF6F0"/>
                </a:solidFill>
                <a:latin typeface="DM Sans" pitchFamily="34" charset="0"/>
                <a:ea typeface="DM Sans" pitchFamily="34" charset="-122"/>
                <a:cs typeface="DM Sans" pitchFamily="34" charset="-120"/>
              </a:rPr>
              <a:t>repo_coordination</a:t>
            </a:r>
            <a:endParaRPr lang="en-US" sz="1100" dirty="0"/>
          </a:p>
        </p:txBody>
      </p:sp>
      <p:sp>
        <p:nvSpPr>
          <p:cNvPr id="18" name="Text 16"/>
          <p:cNvSpPr/>
          <p:nvPr/>
        </p:nvSpPr>
        <p:spPr>
          <a:xfrm>
            <a:off x="11064240" y="6492240"/>
            <a:ext cx="822960" cy="228600"/>
          </a:xfrm>
          <a:prstGeom prst="rect">
            <a:avLst/>
          </a:prstGeom>
          <a:noFill/>
          <a:ln/>
        </p:spPr>
        <p:txBody>
          <a:bodyPr wrap="square" lIns="0" tIns="0" rIns="0" bIns="0" rtlCol="0" anchor="ctr"/>
          <a:lstStyle/>
          <a:p>
            <a:pPr algn="r" indent="0" marL="0">
              <a:buNone/>
            </a:pPr>
            <a:r>
              <a:rPr lang="en-US" sz="900" dirty="0">
                <a:solidFill>
                  <a:srgbClr val="8A7A64"/>
                </a:solidFill>
                <a:latin typeface="DM Sans" pitchFamily="34" charset="0"/>
                <a:ea typeface="DM Sans" pitchFamily="34" charset="-122"/>
                <a:cs typeface="DM Sans" pitchFamily="34" charset="-120"/>
              </a:rPr>
              <a:t>6 / 17</a:t>
            </a:r>
            <a:endParaRPr lang="en-US" sz="900" dirty="0"/>
          </a:p>
        </p:txBody>
      </p:sp>
      <p:sp>
        <p:nvSpPr>
          <p:cNvPr id="19" name="Text 17"/>
          <p:cNvSpPr/>
          <p:nvPr/>
        </p:nvSpPr>
        <p:spPr>
          <a:xfrm>
            <a:off x="365760" y="6492240"/>
            <a:ext cx="4572000" cy="228600"/>
          </a:xfrm>
          <a:prstGeom prst="rect">
            <a:avLst/>
          </a:prstGeom>
          <a:noFill/>
          <a:ln/>
        </p:spPr>
        <p:txBody>
          <a:bodyPr wrap="square" lIns="0" tIns="0" rIns="0" bIns="0" rtlCol="0" anchor="ctr"/>
          <a:lstStyle/>
          <a:p>
            <a:pPr algn="l" indent="0" marL="0">
              <a:buNone/>
            </a:pPr>
            <a:r>
              <a:rPr lang="en-US" sz="900" dirty="0">
                <a:solidFill>
                  <a:srgbClr val="8A7A64"/>
                </a:solidFill>
                <a:latin typeface="DM Sans" pitchFamily="34" charset="0"/>
                <a:ea typeface="DM Sans" pitchFamily="34" charset="-122"/>
                <a:cs typeface="DM Sans" pitchFamily="34" charset="-120"/>
              </a:rPr>
              <a:t>PEARL_RESEARCH · 2026-06-09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A06"/>
        </a:solidFill>
      </p:bgPr>
    </p:bg>
    <p:spTree>
      <p:nvGrpSpPr>
        <p:cNvPr id="1" name=""/>
        <p:cNvGrpSpPr/>
        <p:nvPr/>
      </p:nvGrpSpPr>
      <p:grpSpPr>
        <a:xfrm>
          <a:off x="0" y="0"/>
          <a:ext cx="0" cy="0"/>
          <a:chOff x="0" y="0"/>
          <a:chExt cx="0" cy="0"/>
        </a:xfrm>
      </p:grpSpPr>
      <p:sp>
        <p:nvSpPr>
          <p:cNvPr id="2" name="Text 0"/>
          <p:cNvSpPr/>
          <p:nvPr/>
        </p:nvSpPr>
        <p:spPr>
          <a:xfrm>
            <a:off x="548640" y="228600"/>
            <a:ext cx="11064240" cy="274320"/>
          </a:xfrm>
          <a:prstGeom prst="rect">
            <a:avLst/>
          </a:prstGeom>
          <a:noFill/>
          <a:ln/>
        </p:spPr>
        <p:txBody>
          <a:bodyPr wrap="square" lIns="0" tIns="0" rIns="0" bIns="0" rtlCol="0" anchor="ctr"/>
          <a:lstStyle/>
          <a:p>
            <a:pPr indent="0" marL="0">
              <a:buNone/>
            </a:pPr>
            <a:r>
              <a:rPr lang="en-US" sz="1100" b="1" spc="600" kern="0" dirty="0">
                <a:solidFill>
                  <a:srgbClr val="F59E0B"/>
                </a:solidFill>
                <a:latin typeface="DM Sans" pitchFamily="34" charset="0"/>
                <a:ea typeface="DM Sans" pitchFamily="34" charset="-122"/>
                <a:cs typeface="DM Sans" pitchFamily="34" charset="-120"/>
              </a:rPr>
              <a:t>NO-SKILL → ENTRY  ·  PATHWAY 3 OF 3</a:t>
            </a:r>
            <a:endParaRPr lang="en-US" sz="1100" dirty="0"/>
          </a:p>
        </p:txBody>
      </p:sp>
      <p:sp>
        <p:nvSpPr>
          <p:cNvPr id="3" name="Text 1"/>
          <p:cNvSpPr/>
          <p:nvPr/>
        </p:nvSpPr>
        <p:spPr>
          <a:xfrm>
            <a:off x="548640" y="411480"/>
            <a:ext cx="11064240" cy="868680"/>
          </a:xfrm>
          <a:prstGeom prst="rect">
            <a:avLst/>
          </a:prstGeom>
          <a:noFill/>
          <a:ln/>
        </p:spPr>
        <p:txBody>
          <a:bodyPr wrap="square" lIns="0" tIns="0" rIns="0" bIns="0" rtlCol="0" anchor="ctr"/>
          <a:lstStyle/>
          <a:p>
            <a:pPr indent="0" marL="0">
              <a:buNone/>
            </a:pPr>
            <a:r>
              <a:rPr lang="en-US" sz="3600" b="1" i="1" dirty="0">
                <a:solidFill>
                  <a:srgbClr val="FAF6F0"/>
                </a:solidFill>
                <a:latin typeface="Cormorant Garamond" pitchFamily="34" charset="0"/>
                <a:ea typeface="Cormorant Garamond" pitchFamily="34" charset="-122"/>
                <a:cs typeface="Cormorant Garamond" pitchFamily="34" charset="-120"/>
              </a:rPr>
              <a:t>Google UX Design Certificate</a:t>
            </a:r>
            <a:endParaRPr lang="en-US" sz="3600" dirty="0"/>
          </a:p>
        </p:txBody>
      </p:sp>
      <p:sp>
        <p:nvSpPr>
          <p:cNvPr id="4" name="Shape 2"/>
          <p:cNvSpPr/>
          <p:nvPr/>
        </p:nvSpPr>
        <p:spPr>
          <a:xfrm>
            <a:off x="548640" y="1691640"/>
            <a:ext cx="3535680" cy="4297680"/>
          </a:xfrm>
          <a:prstGeom prst="rect">
            <a:avLst/>
          </a:prstGeom>
          <a:solidFill>
            <a:srgbClr val="1C1308"/>
          </a:solidFill>
          <a:ln w="12700">
            <a:solidFill>
              <a:srgbClr val="1C1308"/>
            </a:solidFill>
            <a:prstDash val="solid"/>
          </a:ln>
        </p:spPr>
      </p:sp>
      <p:sp>
        <p:nvSpPr>
          <p:cNvPr id="5" name="Shape 3"/>
          <p:cNvSpPr/>
          <p:nvPr/>
        </p:nvSpPr>
        <p:spPr>
          <a:xfrm>
            <a:off x="548640" y="1691640"/>
            <a:ext cx="3535680" cy="73152"/>
          </a:xfrm>
          <a:prstGeom prst="rect">
            <a:avLst/>
          </a:prstGeom>
          <a:solidFill>
            <a:srgbClr val="F59E0B"/>
          </a:solidFill>
          <a:ln w="12700">
            <a:solidFill>
              <a:srgbClr val="F59E0B"/>
            </a:solidFill>
            <a:prstDash val="solid"/>
          </a:ln>
        </p:spPr>
      </p:sp>
      <p:sp>
        <p:nvSpPr>
          <p:cNvPr id="6" name="Text 4"/>
          <p:cNvSpPr/>
          <p:nvPr/>
        </p:nvSpPr>
        <p:spPr>
          <a:xfrm>
            <a:off x="822960" y="1920240"/>
            <a:ext cx="2987040" cy="320040"/>
          </a:xfrm>
          <a:prstGeom prst="rect">
            <a:avLst/>
          </a:prstGeom>
          <a:noFill/>
          <a:ln/>
        </p:spPr>
        <p:txBody>
          <a:bodyPr wrap="square" lIns="0" tIns="0" rIns="0" bIns="0" rtlCol="0" anchor="ctr"/>
          <a:lstStyle/>
          <a:p>
            <a:pPr indent="0" marL="0">
              <a:buNone/>
            </a:pPr>
            <a:r>
              <a:rPr lang="en-US" sz="1000" b="1" spc="400" kern="0" dirty="0">
                <a:solidFill>
                  <a:srgbClr val="F59E0B"/>
                </a:solidFill>
                <a:latin typeface="DM Sans" pitchFamily="34" charset="0"/>
                <a:ea typeface="DM Sans" pitchFamily="34" charset="-122"/>
                <a:cs typeface="DM Sans" pitchFamily="34" charset="-120"/>
              </a:rPr>
              <a:t>WHAT THEY LEARN</a:t>
            </a:r>
            <a:endParaRPr lang="en-US" sz="1000" dirty="0"/>
          </a:p>
        </p:txBody>
      </p:sp>
      <p:sp>
        <p:nvSpPr>
          <p:cNvPr id="7" name="Text 5"/>
          <p:cNvSpPr/>
          <p:nvPr/>
        </p:nvSpPr>
        <p:spPr>
          <a:xfrm>
            <a:off x="82296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Figma, user research, prototyping, wireframing, usability testing, design thinking, creative problem-solving. Portfolio piece included. 4.8★ / 85K reviews.</a:t>
            </a:r>
            <a:endParaRPr lang="en-US" sz="1200" dirty="0"/>
          </a:p>
        </p:txBody>
      </p:sp>
      <p:sp>
        <p:nvSpPr>
          <p:cNvPr id="8" name="Shape 6"/>
          <p:cNvSpPr/>
          <p:nvPr/>
        </p:nvSpPr>
        <p:spPr>
          <a:xfrm>
            <a:off x="4312920" y="1691640"/>
            <a:ext cx="3535680" cy="4297680"/>
          </a:xfrm>
          <a:prstGeom prst="rect">
            <a:avLst/>
          </a:prstGeom>
          <a:solidFill>
            <a:srgbClr val="1C1308"/>
          </a:solidFill>
          <a:ln w="12700">
            <a:solidFill>
              <a:srgbClr val="1C1308"/>
            </a:solidFill>
            <a:prstDash val="solid"/>
          </a:ln>
        </p:spPr>
      </p:sp>
      <p:sp>
        <p:nvSpPr>
          <p:cNvPr id="9" name="Shape 7"/>
          <p:cNvSpPr/>
          <p:nvPr/>
        </p:nvSpPr>
        <p:spPr>
          <a:xfrm>
            <a:off x="4312920" y="1691640"/>
            <a:ext cx="3535680" cy="73152"/>
          </a:xfrm>
          <a:prstGeom prst="rect">
            <a:avLst/>
          </a:prstGeom>
          <a:solidFill>
            <a:srgbClr val="84CC16"/>
          </a:solidFill>
          <a:ln w="12700">
            <a:solidFill>
              <a:srgbClr val="84CC16"/>
            </a:solidFill>
            <a:prstDash val="solid"/>
          </a:ln>
        </p:spPr>
      </p:sp>
      <p:sp>
        <p:nvSpPr>
          <p:cNvPr id="10" name="Text 8"/>
          <p:cNvSpPr/>
          <p:nvPr/>
        </p:nvSpPr>
        <p:spPr>
          <a:xfrm>
            <a:off x="4587240" y="1920240"/>
            <a:ext cx="2987040" cy="320040"/>
          </a:xfrm>
          <a:prstGeom prst="rect">
            <a:avLst/>
          </a:prstGeom>
          <a:noFill/>
          <a:ln/>
        </p:spPr>
        <p:txBody>
          <a:bodyPr wrap="square" lIns="0" tIns="0" rIns="0" bIns="0" rtlCol="0" anchor="ctr"/>
          <a:lstStyle/>
          <a:p>
            <a:pPr indent="0" marL="0">
              <a:buNone/>
            </a:pPr>
            <a:r>
              <a:rPr lang="en-US" sz="1000" b="1" spc="400" kern="0" dirty="0">
                <a:solidFill>
                  <a:srgbClr val="84CC16"/>
                </a:solidFill>
                <a:latin typeface="DM Sans" pitchFamily="34" charset="0"/>
                <a:ea typeface="DM Sans" pitchFamily="34" charset="-122"/>
                <a:cs typeface="DM Sans" pitchFamily="34" charset="-120"/>
              </a:rPr>
              <a:t>HOW IT HELPS PEARL PRIME</a:t>
            </a:r>
            <a:endParaRPr lang="en-US" sz="1000" dirty="0"/>
          </a:p>
        </p:txBody>
      </p:sp>
      <p:sp>
        <p:nvSpPr>
          <p:cNvPr id="11" name="Text 9"/>
          <p:cNvSpPr/>
          <p:nvPr/>
        </p:nvSpPr>
        <p:spPr>
          <a:xfrm>
            <a:off x="458724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Pearl Prime frontend surfaces — brand-wizard-app (React + Vite + Tailwind), exec catalog dashboard (brand_admin_v2.html), brand-admin onboarding flow, Pearl News on WordPress. UX-trained contributor audits usability, designs new onboarding flows, turns wireframes into React components. Subsystem: brand_admin, dashboard.</a:t>
            </a:r>
            <a:endParaRPr lang="en-US" sz="1200" dirty="0"/>
          </a:p>
        </p:txBody>
      </p:sp>
      <p:sp>
        <p:nvSpPr>
          <p:cNvPr id="12" name="Shape 10"/>
          <p:cNvSpPr/>
          <p:nvPr/>
        </p:nvSpPr>
        <p:spPr>
          <a:xfrm>
            <a:off x="8077200" y="1691640"/>
            <a:ext cx="3535680" cy="4297680"/>
          </a:xfrm>
          <a:prstGeom prst="rect">
            <a:avLst/>
          </a:prstGeom>
          <a:solidFill>
            <a:srgbClr val="1C1308"/>
          </a:solidFill>
          <a:ln w="12700">
            <a:solidFill>
              <a:srgbClr val="1C1308"/>
            </a:solidFill>
            <a:prstDash val="solid"/>
          </a:ln>
        </p:spPr>
      </p:sp>
      <p:sp>
        <p:nvSpPr>
          <p:cNvPr id="13" name="Shape 11"/>
          <p:cNvSpPr/>
          <p:nvPr/>
        </p:nvSpPr>
        <p:spPr>
          <a:xfrm>
            <a:off x="8077200" y="1691640"/>
            <a:ext cx="3535680" cy="73152"/>
          </a:xfrm>
          <a:prstGeom prst="rect">
            <a:avLst/>
          </a:prstGeom>
          <a:solidFill>
            <a:srgbClr val="0891B2"/>
          </a:solidFill>
          <a:ln w="12700">
            <a:solidFill>
              <a:srgbClr val="0891B2"/>
            </a:solidFill>
            <a:prstDash val="solid"/>
          </a:ln>
        </p:spPr>
      </p:sp>
      <p:sp>
        <p:nvSpPr>
          <p:cNvPr id="14" name="Text 12"/>
          <p:cNvSpPr/>
          <p:nvPr/>
        </p:nvSpPr>
        <p:spPr>
          <a:xfrm>
            <a:off x="8351520" y="1920240"/>
            <a:ext cx="2987040" cy="320040"/>
          </a:xfrm>
          <a:prstGeom prst="rect">
            <a:avLst/>
          </a:prstGeom>
          <a:noFill/>
          <a:ln/>
        </p:spPr>
        <p:txBody>
          <a:bodyPr wrap="square" lIns="0" tIns="0" rIns="0" bIns="0" rtlCol="0" anchor="ctr"/>
          <a:lstStyle/>
          <a:p>
            <a:pPr indent="0" marL="0">
              <a:buNone/>
            </a:pPr>
            <a:r>
              <a:rPr lang="en-US" sz="1000" b="1" spc="400" kern="0" dirty="0">
                <a:solidFill>
                  <a:srgbClr val="0891B2"/>
                </a:solidFill>
                <a:latin typeface="DM Sans" pitchFamily="34" charset="0"/>
                <a:ea typeface="DM Sans" pitchFamily="34" charset="-122"/>
                <a:cs typeface="DM Sans" pitchFamily="34" charset="-120"/>
              </a:rPr>
              <a:t>WHAT IT MEANS FOR THEIR CAREER</a:t>
            </a:r>
            <a:endParaRPr lang="en-US" sz="1000" dirty="0"/>
          </a:p>
        </p:txBody>
      </p:sp>
      <p:sp>
        <p:nvSpPr>
          <p:cNvPr id="15" name="Text 13"/>
          <p:cNvSpPr/>
          <p:nvPr/>
        </p:nvSpPr>
        <p:spPr>
          <a:xfrm>
            <a:off x="835152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BLS Web &amp; Digital Interface Designers median $98,090 (May 2024). 3-yr progression: Sr UX $110-140K → Lead Designer $150-200K. Hot factor: COOL at junior / WARM mid+. AI displacement risk: HIGH at junior (Figma + Generate plugins eating wireframe work). Bundle with AI Essentials + portfolio.</a:t>
            </a:r>
            <a:endParaRPr lang="en-US" sz="1200" dirty="0"/>
          </a:p>
        </p:txBody>
      </p:sp>
      <p:sp>
        <p:nvSpPr>
          <p:cNvPr id="16" name="Shape 14"/>
          <p:cNvSpPr/>
          <p:nvPr/>
        </p:nvSpPr>
        <p:spPr>
          <a:xfrm>
            <a:off x="548640" y="5989320"/>
            <a:ext cx="11064240" cy="411480"/>
          </a:xfrm>
          <a:prstGeom prst="rect">
            <a:avLst/>
          </a:prstGeom>
          <a:solidFill>
            <a:srgbClr val="2B1D0E"/>
          </a:solidFill>
          <a:ln w="12700">
            <a:solidFill>
              <a:srgbClr val="D97706"/>
            </a:solidFill>
            <a:prstDash val="solid"/>
          </a:ln>
        </p:spPr>
      </p:sp>
      <p:sp>
        <p:nvSpPr>
          <p:cNvPr id="17" name="Text 15"/>
          <p:cNvSpPr/>
          <p:nvPr/>
        </p:nvSpPr>
        <p:spPr>
          <a:xfrm>
            <a:off x="731520" y="5989320"/>
            <a:ext cx="10698480" cy="411480"/>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Course: </a:t>
            </a:r>
            <a:pPr indent="0" marL="0">
              <a:buNone/>
            </a:pPr>
            <a:r>
              <a:rPr lang="en-US" sz="1100" b="1" dirty="0">
                <a:solidFill>
                  <a:srgbClr val="FAF6F0"/>
                </a:solidFill>
                <a:latin typeface="DM Sans" pitchFamily="34" charset="0"/>
                <a:ea typeface="DM Sans" pitchFamily="34" charset="-122"/>
                <a:cs typeface="DM Sans" pitchFamily="34" charset="-120"/>
              </a:rPr>
              <a:t>Google UX Design Certificate</a:t>
            </a:r>
            <a:pPr indent="0" marL="0">
              <a:buNone/>
            </a:pPr>
            <a:r>
              <a:rPr lang="en-US" sz="1100" dirty="0">
                <a:solidFill>
                  <a:srgbClr val="C8BAA6"/>
                </a:solidFill>
                <a:latin typeface="DM Sans" pitchFamily="34" charset="0"/>
                <a:ea typeface="DM Sans" pitchFamily="34" charset="-122"/>
                <a:cs typeface="DM Sans" pitchFamily="34" charset="-120"/>
              </a:rPr>
              <a:t>  ·  $49 / mo  ·  ~180 hr (3-6 mo)  ·  Shadow: </a:t>
            </a:r>
            <a:pPr indent="0" marL="0">
              <a:buNone/>
            </a:pPr>
            <a:r>
              <a:rPr lang="en-US" sz="1100" b="1" dirty="0">
                <a:solidFill>
                  <a:srgbClr val="F59E0B"/>
                </a:solidFill>
                <a:latin typeface="DM Sans" pitchFamily="34" charset="0"/>
                <a:ea typeface="DM Sans" pitchFamily="34" charset="-122"/>
                <a:cs typeface="DM Sans" pitchFamily="34" charset="-120"/>
              </a:rPr>
              <a:t>Pearl_Prez, Pearl_Brand</a:t>
            </a:r>
            <a:pPr indent="0" marL="0">
              <a:buNone/>
            </a:pPr>
            <a:r>
              <a:rPr lang="en-US" sz="1100" dirty="0">
                <a:solidFill>
                  <a:srgbClr val="C8BAA6"/>
                </a:solidFill>
                <a:latin typeface="DM Sans" pitchFamily="34" charset="0"/>
                <a:ea typeface="DM Sans" pitchFamily="34" charset="-122"/>
                <a:cs typeface="DM Sans" pitchFamily="34" charset="-120"/>
              </a:rPr>
              <a:t>  ·  Subsystem: </a:t>
            </a:r>
            <a:pPr indent="0" marL="0">
              <a:buNone/>
            </a:pPr>
            <a:r>
              <a:rPr lang="en-US" sz="1100" dirty="0">
                <a:solidFill>
                  <a:srgbClr val="FAF6F0"/>
                </a:solidFill>
                <a:latin typeface="DM Sans" pitchFamily="34" charset="0"/>
                <a:ea typeface="DM Sans" pitchFamily="34" charset="-122"/>
                <a:cs typeface="DM Sans" pitchFamily="34" charset="-120"/>
              </a:rPr>
              <a:t>brand_admin, dashboard</a:t>
            </a:r>
            <a:endParaRPr lang="en-US" sz="1100" dirty="0"/>
          </a:p>
        </p:txBody>
      </p:sp>
      <p:sp>
        <p:nvSpPr>
          <p:cNvPr id="18" name="Text 16"/>
          <p:cNvSpPr/>
          <p:nvPr/>
        </p:nvSpPr>
        <p:spPr>
          <a:xfrm>
            <a:off x="11064240" y="6492240"/>
            <a:ext cx="822960" cy="228600"/>
          </a:xfrm>
          <a:prstGeom prst="rect">
            <a:avLst/>
          </a:prstGeom>
          <a:noFill/>
          <a:ln/>
        </p:spPr>
        <p:txBody>
          <a:bodyPr wrap="square" lIns="0" tIns="0" rIns="0" bIns="0" rtlCol="0" anchor="ctr"/>
          <a:lstStyle/>
          <a:p>
            <a:pPr algn="r" indent="0" marL="0">
              <a:buNone/>
            </a:pPr>
            <a:r>
              <a:rPr lang="en-US" sz="900" dirty="0">
                <a:solidFill>
                  <a:srgbClr val="8A7A64"/>
                </a:solidFill>
                <a:latin typeface="DM Sans" pitchFamily="34" charset="0"/>
                <a:ea typeface="DM Sans" pitchFamily="34" charset="-122"/>
                <a:cs typeface="DM Sans" pitchFamily="34" charset="-120"/>
              </a:rPr>
              <a:t>7 / 17</a:t>
            </a:r>
            <a:endParaRPr lang="en-US" sz="900" dirty="0"/>
          </a:p>
        </p:txBody>
      </p:sp>
      <p:sp>
        <p:nvSpPr>
          <p:cNvPr id="19" name="Text 17"/>
          <p:cNvSpPr/>
          <p:nvPr/>
        </p:nvSpPr>
        <p:spPr>
          <a:xfrm>
            <a:off x="365760" y="6492240"/>
            <a:ext cx="4572000" cy="228600"/>
          </a:xfrm>
          <a:prstGeom prst="rect">
            <a:avLst/>
          </a:prstGeom>
          <a:noFill/>
          <a:ln/>
        </p:spPr>
        <p:txBody>
          <a:bodyPr wrap="square" lIns="0" tIns="0" rIns="0" bIns="0" rtlCol="0" anchor="ctr"/>
          <a:lstStyle/>
          <a:p>
            <a:pPr algn="l" indent="0" marL="0">
              <a:buNone/>
            </a:pPr>
            <a:r>
              <a:rPr lang="en-US" sz="900" dirty="0">
                <a:solidFill>
                  <a:srgbClr val="8A7A64"/>
                </a:solidFill>
                <a:latin typeface="DM Sans" pitchFamily="34" charset="0"/>
                <a:ea typeface="DM Sans" pitchFamily="34" charset="-122"/>
                <a:cs typeface="DM Sans" pitchFamily="34" charset="-120"/>
              </a:rPr>
              <a:t>PEARL_RESEARCH · 2026-06-09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A06"/>
        </a:solidFill>
      </p:bgPr>
    </p:bg>
    <p:spTree>
      <p:nvGrpSpPr>
        <p:cNvPr id="1" name=""/>
        <p:cNvGrpSpPr/>
        <p:nvPr/>
      </p:nvGrpSpPr>
      <p:grpSpPr>
        <a:xfrm>
          <a:off x="0" y="0"/>
          <a:ext cx="0" cy="0"/>
          <a:chOff x="0" y="0"/>
          <a:chExt cx="0" cy="0"/>
        </a:xfrm>
      </p:grpSpPr>
      <p:sp>
        <p:nvSpPr>
          <p:cNvPr id="2" name="Text 0"/>
          <p:cNvSpPr/>
          <p:nvPr/>
        </p:nvSpPr>
        <p:spPr>
          <a:xfrm>
            <a:off x="548640" y="228600"/>
            <a:ext cx="11064240" cy="274320"/>
          </a:xfrm>
          <a:prstGeom prst="rect">
            <a:avLst/>
          </a:prstGeom>
          <a:noFill/>
          <a:ln/>
        </p:spPr>
        <p:txBody>
          <a:bodyPr wrap="square" lIns="0" tIns="0" rIns="0" bIns="0" rtlCol="0" anchor="ctr"/>
          <a:lstStyle/>
          <a:p>
            <a:pPr indent="0" marL="0">
              <a:buNone/>
            </a:pPr>
            <a:r>
              <a:rPr lang="en-US" sz="1100" b="1" spc="600" kern="0" dirty="0">
                <a:solidFill>
                  <a:srgbClr val="F59E0B"/>
                </a:solidFill>
                <a:latin typeface="DM Sans" pitchFamily="34" charset="0"/>
                <a:ea typeface="DM Sans" pitchFamily="34" charset="-122"/>
                <a:cs typeface="DM Sans" pitchFamily="34" charset="-120"/>
              </a:rPr>
              <a:t>ENTRY → INTERMEDIATE  ·  PATHWAY 1 OF 3  ·  ★ TOP PICK</a:t>
            </a:r>
            <a:endParaRPr lang="en-US" sz="1100" dirty="0"/>
          </a:p>
        </p:txBody>
      </p:sp>
      <p:sp>
        <p:nvSpPr>
          <p:cNvPr id="3" name="Text 1"/>
          <p:cNvSpPr/>
          <p:nvPr/>
        </p:nvSpPr>
        <p:spPr>
          <a:xfrm>
            <a:off x="548640" y="411480"/>
            <a:ext cx="11064240" cy="868680"/>
          </a:xfrm>
          <a:prstGeom prst="rect">
            <a:avLst/>
          </a:prstGeom>
          <a:noFill/>
          <a:ln/>
        </p:spPr>
        <p:txBody>
          <a:bodyPr wrap="square" lIns="0" tIns="0" rIns="0" bIns="0" rtlCol="0" anchor="ctr"/>
          <a:lstStyle/>
          <a:p>
            <a:pPr indent="0" marL="0">
              <a:buNone/>
            </a:pPr>
            <a:r>
              <a:rPr lang="en-US" sz="3600" b="1" i="1" dirty="0">
                <a:solidFill>
                  <a:srgbClr val="FAF6F0"/>
                </a:solidFill>
                <a:latin typeface="Cormorant Garamond" pitchFamily="34" charset="0"/>
                <a:ea typeface="Cormorant Garamond" pitchFamily="34" charset="-122"/>
                <a:cs typeface="Cormorant Garamond" pitchFamily="34" charset="-120"/>
              </a:rPr>
              <a:t>Google IT Automation with Python</a:t>
            </a:r>
            <a:endParaRPr lang="en-US" sz="3600" dirty="0"/>
          </a:p>
        </p:txBody>
      </p:sp>
      <p:sp>
        <p:nvSpPr>
          <p:cNvPr id="4" name="Shape 2"/>
          <p:cNvSpPr/>
          <p:nvPr/>
        </p:nvSpPr>
        <p:spPr>
          <a:xfrm>
            <a:off x="548640" y="1691640"/>
            <a:ext cx="3535680" cy="4297680"/>
          </a:xfrm>
          <a:prstGeom prst="rect">
            <a:avLst/>
          </a:prstGeom>
          <a:solidFill>
            <a:srgbClr val="1C1308"/>
          </a:solidFill>
          <a:ln w="12700">
            <a:solidFill>
              <a:srgbClr val="1C1308"/>
            </a:solidFill>
            <a:prstDash val="solid"/>
          </a:ln>
        </p:spPr>
      </p:sp>
      <p:sp>
        <p:nvSpPr>
          <p:cNvPr id="5" name="Shape 3"/>
          <p:cNvSpPr/>
          <p:nvPr/>
        </p:nvSpPr>
        <p:spPr>
          <a:xfrm>
            <a:off x="548640" y="1691640"/>
            <a:ext cx="3535680" cy="73152"/>
          </a:xfrm>
          <a:prstGeom prst="rect">
            <a:avLst/>
          </a:prstGeom>
          <a:solidFill>
            <a:srgbClr val="F59E0B"/>
          </a:solidFill>
          <a:ln w="12700">
            <a:solidFill>
              <a:srgbClr val="F59E0B"/>
            </a:solidFill>
            <a:prstDash val="solid"/>
          </a:ln>
        </p:spPr>
      </p:sp>
      <p:sp>
        <p:nvSpPr>
          <p:cNvPr id="6" name="Text 4"/>
          <p:cNvSpPr/>
          <p:nvPr/>
        </p:nvSpPr>
        <p:spPr>
          <a:xfrm>
            <a:off x="822960" y="1920240"/>
            <a:ext cx="2987040" cy="320040"/>
          </a:xfrm>
          <a:prstGeom prst="rect">
            <a:avLst/>
          </a:prstGeom>
          <a:noFill/>
          <a:ln/>
        </p:spPr>
        <p:txBody>
          <a:bodyPr wrap="square" lIns="0" tIns="0" rIns="0" bIns="0" rtlCol="0" anchor="ctr"/>
          <a:lstStyle/>
          <a:p>
            <a:pPr indent="0" marL="0">
              <a:buNone/>
            </a:pPr>
            <a:r>
              <a:rPr lang="en-US" sz="1000" b="1" spc="400" kern="0" dirty="0">
                <a:solidFill>
                  <a:srgbClr val="F59E0B"/>
                </a:solidFill>
                <a:latin typeface="DM Sans" pitchFamily="34" charset="0"/>
                <a:ea typeface="DM Sans" pitchFamily="34" charset="-122"/>
                <a:cs typeface="DM Sans" pitchFamily="34" charset="-120"/>
              </a:rPr>
              <a:t>WHAT THEY LEARN</a:t>
            </a:r>
            <a:endParaRPr lang="en-US" sz="1000" dirty="0"/>
          </a:p>
        </p:txBody>
      </p:sp>
      <p:sp>
        <p:nvSpPr>
          <p:cNvPr id="7" name="Text 5"/>
          <p:cNvSpPr/>
          <p:nvPr/>
        </p:nvSpPr>
        <p:spPr>
          <a:xfrm>
            <a:off x="82296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Python scripting, automation, debugging, Git, regex, working with APIs, troubleshooting + debugging, configuration management. 6 courses building Python from zero through automated cloud workflows.</a:t>
            </a:r>
            <a:endParaRPr lang="en-US" sz="1200" dirty="0"/>
          </a:p>
        </p:txBody>
      </p:sp>
      <p:sp>
        <p:nvSpPr>
          <p:cNvPr id="8" name="Shape 6"/>
          <p:cNvSpPr/>
          <p:nvPr/>
        </p:nvSpPr>
        <p:spPr>
          <a:xfrm>
            <a:off x="4312920" y="1691640"/>
            <a:ext cx="3535680" cy="4297680"/>
          </a:xfrm>
          <a:prstGeom prst="rect">
            <a:avLst/>
          </a:prstGeom>
          <a:solidFill>
            <a:srgbClr val="1C1308"/>
          </a:solidFill>
          <a:ln w="12700">
            <a:solidFill>
              <a:srgbClr val="1C1308"/>
            </a:solidFill>
            <a:prstDash val="solid"/>
          </a:ln>
        </p:spPr>
      </p:sp>
      <p:sp>
        <p:nvSpPr>
          <p:cNvPr id="9" name="Shape 7"/>
          <p:cNvSpPr/>
          <p:nvPr/>
        </p:nvSpPr>
        <p:spPr>
          <a:xfrm>
            <a:off x="4312920" y="1691640"/>
            <a:ext cx="3535680" cy="73152"/>
          </a:xfrm>
          <a:prstGeom prst="rect">
            <a:avLst/>
          </a:prstGeom>
          <a:solidFill>
            <a:srgbClr val="84CC16"/>
          </a:solidFill>
          <a:ln w="12700">
            <a:solidFill>
              <a:srgbClr val="84CC16"/>
            </a:solidFill>
            <a:prstDash val="solid"/>
          </a:ln>
        </p:spPr>
      </p:sp>
      <p:sp>
        <p:nvSpPr>
          <p:cNvPr id="10" name="Text 8"/>
          <p:cNvSpPr/>
          <p:nvPr/>
        </p:nvSpPr>
        <p:spPr>
          <a:xfrm>
            <a:off x="4587240" y="1920240"/>
            <a:ext cx="2987040" cy="320040"/>
          </a:xfrm>
          <a:prstGeom prst="rect">
            <a:avLst/>
          </a:prstGeom>
          <a:noFill/>
          <a:ln/>
        </p:spPr>
        <p:txBody>
          <a:bodyPr wrap="square" lIns="0" tIns="0" rIns="0" bIns="0" rtlCol="0" anchor="ctr"/>
          <a:lstStyle/>
          <a:p>
            <a:pPr indent="0" marL="0">
              <a:buNone/>
            </a:pPr>
            <a:r>
              <a:rPr lang="en-US" sz="1000" b="1" spc="400" kern="0" dirty="0">
                <a:solidFill>
                  <a:srgbClr val="84CC16"/>
                </a:solidFill>
                <a:latin typeface="DM Sans" pitchFamily="34" charset="0"/>
                <a:ea typeface="DM Sans" pitchFamily="34" charset="-122"/>
                <a:cs typeface="DM Sans" pitchFamily="34" charset="-120"/>
              </a:rPr>
              <a:t>HOW IT HELPS PEARL PRIME</a:t>
            </a:r>
            <a:endParaRPr lang="en-US" sz="1000" dirty="0"/>
          </a:p>
        </p:txBody>
      </p:sp>
      <p:sp>
        <p:nvSpPr>
          <p:cNvPr id="11" name="Text 9"/>
          <p:cNvSpPr/>
          <p:nvPr/>
        </p:nvSpPr>
        <p:spPr>
          <a:xfrm>
            <a:off x="458724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 THE SINGLE HIGHEST-UTILITY COURSE. ~90% of Pearl Prime is Python. Trainee can immediately ship CI scripts in scripts/ci/, extend audiobook comparator loop, add manga gates to config/manga/gate_registry.yaml, refactor video pipeline stages, author EI v2 dimension gates. Git + automation patterns transfer directly to GitHub Actions + push-guard + preflight stack. Subsystem: core_pipeline, manga, audiobook, devops.</a:t>
            </a:r>
            <a:endParaRPr lang="en-US" sz="1200" dirty="0"/>
          </a:p>
        </p:txBody>
      </p:sp>
      <p:sp>
        <p:nvSpPr>
          <p:cNvPr id="12" name="Shape 10"/>
          <p:cNvSpPr/>
          <p:nvPr/>
        </p:nvSpPr>
        <p:spPr>
          <a:xfrm>
            <a:off x="8077200" y="1691640"/>
            <a:ext cx="3535680" cy="4297680"/>
          </a:xfrm>
          <a:prstGeom prst="rect">
            <a:avLst/>
          </a:prstGeom>
          <a:solidFill>
            <a:srgbClr val="1C1308"/>
          </a:solidFill>
          <a:ln w="12700">
            <a:solidFill>
              <a:srgbClr val="1C1308"/>
            </a:solidFill>
            <a:prstDash val="solid"/>
          </a:ln>
        </p:spPr>
      </p:sp>
      <p:sp>
        <p:nvSpPr>
          <p:cNvPr id="13" name="Shape 11"/>
          <p:cNvSpPr/>
          <p:nvPr/>
        </p:nvSpPr>
        <p:spPr>
          <a:xfrm>
            <a:off x="8077200" y="1691640"/>
            <a:ext cx="3535680" cy="73152"/>
          </a:xfrm>
          <a:prstGeom prst="rect">
            <a:avLst/>
          </a:prstGeom>
          <a:solidFill>
            <a:srgbClr val="0891B2"/>
          </a:solidFill>
          <a:ln w="12700">
            <a:solidFill>
              <a:srgbClr val="0891B2"/>
            </a:solidFill>
            <a:prstDash val="solid"/>
          </a:ln>
        </p:spPr>
      </p:sp>
      <p:sp>
        <p:nvSpPr>
          <p:cNvPr id="14" name="Text 12"/>
          <p:cNvSpPr/>
          <p:nvPr/>
        </p:nvSpPr>
        <p:spPr>
          <a:xfrm>
            <a:off x="8351520" y="1920240"/>
            <a:ext cx="2987040" cy="320040"/>
          </a:xfrm>
          <a:prstGeom prst="rect">
            <a:avLst/>
          </a:prstGeom>
          <a:noFill/>
          <a:ln/>
        </p:spPr>
        <p:txBody>
          <a:bodyPr wrap="square" lIns="0" tIns="0" rIns="0" bIns="0" rtlCol="0" anchor="ctr"/>
          <a:lstStyle/>
          <a:p>
            <a:pPr indent="0" marL="0">
              <a:buNone/>
            </a:pPr>
            <a:r>
              <a:rPr lang="en-US" sz="1000" b="1" spc="400" kern="0" dirty="0">
                <a:solidFill>
                  <a:srgbClr val="0891B2"/>
                </a:solidFill>
                <a:latin typeface="DM Sans" pitchFamily="34" charset="0"/>
                <a:ea typeface="DM Sans" pitchFamily="34" charset="-122"/>
                <a:cs typeface="DM Sans" pitchFamily="34" charset="-120"/>
              </a:rPr>
              <a:t>WHAT IT MEANS FOR THEIR CAREER</a:t>
            </a:r>
            <a:endParaRPr lang="en-US" sz="1000" dirty="0"/>
          </a:p>
        </p:txBody>
      </p:sp>
      <p:sp>
        <p:nvSpPr>
          <p:cNvPr id="15" name="Text 13"/>
          <p:cNvSpPr/>
          <p:nvPr/>
        </p:nvSpPr>
        <p:spPr>
          <a:xfrm>
            <a:off x="835152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Entry $75-130K. 3-yr progression: DevOps Engineer $110-135K → Sr DevOps / Platform Engineer $150-200K. Hot factor: WARM-to-HOT. AI displacement risk: LOW (ops-coded roles holding up better than junior dev roles in 2026 per Indeed Hiring Lab). Zero Tier-policy risk — Python carries no vendor lock-in.</a:t>
            </a:r>
            <a:endParaRPr lang="en-US" sz="1200" dirty="0"/>
          </a:p>
        </p:txBody>
      </p:sp>
      <p:sp>
        <p:nvSpPr>
          <p:cNvPr id="16" name="Shape 14"/>
          <p:cNvSpPr/>
          <p:nvPr/>
        </p:nvSpPr>
        <p:spPr>
          <a:xfrm>
            <a:off x="548640" y="5989320"/>
            <a:ext cx="11064240" cy="411480"/>
          </a:xfrm>
          <a:prstGeom prst="rect">
            <a:avLst/>
          </a:prstGeom>
          <a:solidFill>
            <a:srgbClr val="2B1D0E"/>
          </a:solidFill>
          <a:ln w="12700">
            <a:solidFill>
              <a:srgbClr val="D97706"/>
            </a:solidFill>
            <a:prstDash val="solid"/>
          </a:ln>
        </p:spPr>
      </p:sp>
      <p:sp>
        <p:nvSpPr>
          <p:cNvPr id="17" name="Text 15"/>
          <p:cNvSpPr/>
          <p:nvPr/>
        </p:nvSpPr>
        <p:spPr>
          <a:xfrm>
            <a:off x="731520" y="5989320"/>
            <a:ext cx="10698480" cy="411480"/>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Course: </a:t>
            </a:r>
            <a:pPr indent="0" marL="0">
              <a:buNone/>
            </a:pPr>
            <a:r>
              <a:rPr lang="en-US" sz="1100" b="1" dirty="0">
                <a:solidFill>
                  <a:srgbClr val="FAF6F0"/>
                </a:solidFill>
                <a:latin typeface="DM Sans" pitchFamily="34" charset="0"/>
                <a:ea typeface="DM Sans" pitchFamily="34" charset="-122"/>
                <a:cs typeface="DM Sans" pitchFamily="34" charset="-120"/>
              </a:rPr>
              <a:t>Google IT Automation with Python Certificate</a:t>
            </a:r>
            <a:pPr indent="0" marL="0">
              <a:buNone/>
            </a:pPr>
            <a:r>
              <a:rPr lang="en-US" sz="1100" dirty="0">
                <a:solidFill>
                  <a:srgbClr val="C8BAA6"/>
                </a:solidFill>
                <a:latin typeface="DM Sans" pitchFamily="34" charset="0"/>
                <a:ea typeface="DM Sans" pitchFamily="34" charset="-122"/>
                <a:cs typeface="DM Sans" pitchFamily="34" charset="-120"/>
              </a:rPr>
              <a:t>  ·  $49 / mo  ·  ~120 hr (3-4 mo)  ·  Shadow: </a:t>
            </a:r>
            <a:pPr indent="0" marL="0">
              <a:buNone/>
            </a:pPr>
            <a:r>
              <a:rPr lang="en-US" sz="1100" b="1" dirty="0">
                <a:solidFill>
                  <a:srgbClr val="F59E0B"/>
                </a:solidFill>
                <a:latin typeface="DM Sans" pitchFamily="34" charset="0"/>
                <a:ea typeface="DM Sans" pitchFamily="34" charset="-122"/>
                <a:cs typeface="DM Sans" pitchFamily="34" charset="-120"/>
              </a:rPr>
              <a:t>Pearl_Dev, Pearl_DevOps</a:t>
            </a:r>
            <a:pPr indent="0" marL="0">
              <a:buNone/>
            </a:pPr>
            <a:r>
              <a:rPr lang="en-US" sz="1100" dirty="0">
                <a:solidFill>
                  <a:srgbClr val="C8BAA6"/>
                </a:solidFill>
                <a:latin typeface="DM Sans" pitchFamily="34" charset="0"/>
                <a:ea typeface="DM Sans" pitchFamily="34" charset="-122"/>
                <a:cs typeface="DM Sans" pitchFamily="34" charset="-120"/>
              </a:rPr>
              <a:t>  ·  Subsystem: </a:t>
            </a:r>
            <a:pPr indent="0" marL="0">
              <a:buNone/>
            </a:pPr>
            <a:r>
              <a:rPr lang="en-US" sz="1100" dirty="0">
                <a:solidFill>
                  <a:srgbClr val="FAF6F0"/>
                </a:solidFill>
                <a:latin typeface="DM Sans" pitchFamily="34" charset="0"/>
                <a:ea typeface="DM Sans" pitchFamily="34" charset="-122"/>
                <a:cs typeface="DM Sans" pitchFamily="34" charset="-120"/>
              </a:rPr>
              <a:t>core_pipeline, manga, audiobook, devops</a:t>
            </a:r>
            <a:endParaRPr lang="en-US" sz="1100" dirty="0"/>
          </a:p>
        </p:txBody>
      </p:sp>
      <p:sp>
        <p:nvSpPr>
          <p:cNvPr id="18" name="Text 16"/>
          <p:cNvSpPr/>
          <p:nvPr/>
        </p:nvSpPr>
        <p:spPr>
          <a:xfrm>
            <a:off x="11064240" y="6492240"/>
            <a:ext cx="822960" cy="228600"/>
          </a:xfrm>
          <a:prstGeom prst="rect">
            <a:avLst/>
          </a:prstGeom>
          <a:noFill/>
          <a:ln/>
        </p:spPr>
        <p:txBody>
          <a:bodyPr wrap="square" lIns="0" tIns="0" rIns="0" bIns="0" rtlCol="0" anchor="ctr"/>
          <a:lstStyle/>
          <a:p>
            <a:pPr algn="r" indent="0" marL="0">
              <a:buNone/>
            </a:pPr>
            <a:r>
              <a:rPr lang="en-US" sz="900" dirty="0">
                <a:solidFill>
                  <a:srgbClr val="8A7A64"/>
                </a:solidFill>
                <a:latin typeface="DM Sans" pitchFamily="34" charset="0"/>
                <a:ea typeface="DM Sans" pitchFamily="34" charset="-122"/>
                <a:cs typeface="DM Sans" pitchFamily="34" charset="-120"/>
              </a:rPr>
              <a:t>8 / 17</a:t>
            </a:r>
            <a:endParaRPr lang="en-US" sz="900" dirty="0"/>
          </a:p>
        </p:txBody>
      </p:sp>
      <p:sp>
        <p:nvSpPr>
          <p:cNvPr id="19" name="Text 17"/>
          <p:cNvSpPr/>
          <p:nvPr/>
        </p:nvSpPr>
        <p:spPr>
          <a:xfrm>
            <a:off x="365760" y="6492240"/>
            <a:ext cx="4572000" cy="228600"/>
          </a:xfrm>
          <a:prstGeom prst="rect">
            <a:avLst/>
          </a:prstGeom>
          <a:noFill/>
          <a:ln/>
        </p:spPr>
        <p:txBody>
          <a:bodyPr wrap="square" lIns="0" tIns="0" rIns="0" bIns="0" rtlCol="0" anchor="ctr"/>
          <a:lstStyle/>
          <a:p>
            <a:pPr algn="l" indent="0" marL="0">
              <a:buNone/>
            </a:pPr>
            <a:r>
              <a:rPr lang="en-US" sz="900" dirty="0">
                <a:solidFill>
                  <a:srgbClr val="8A7A64"/>
                </a:solidFill>
                <a:latin typeface="DM Sans" pitchFamily="34" charset="0"/>
                <a:ea typeface="DM Sans" pitchFamily="34" charset="-122"/>
                <a:cs typeface="DM Sans" pitchFamily="34" charset="-120"/>
              </a:rPr>
              <a:t>PEARL_RESEARCH · 2026-06-09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A06"/>
        </a:solidFill>
      </p:bgPr>
    </p:bg>
    <p:spTree>
      <p:nvGrpSpPr>
        <p:cNvPr id="1" name=""/>
        <p:cNvGrpSpPr/>
        <p:nvPr/>
      </p:nvGrpSpPr>
      <p:grpSpPr>
        <a:xfrm>
          <a:off x="0" y="0"/>
          <a:ext cx="0" cy="0"/>
          <a:chOff x="0" y="0"/>
          <a:chExt cx="0" cy="0"/>
        </a:xfrm>
      </p:grpSpPr>
      <p:sp>
        <p:nvSpPr>
          <p:cNvPr id="2" name="Text 0"/>
          <p:cNvSpPr/>
          <p:nvPr/>
        </p:nvSpPr>
        <p:spPr>
          <a:xfrm>
            <a:off x="548640" y="228600"/>
            <a:ext cx="11064240" cy="274320"/>
          </a:xfrm>
          <a:prstGeom prst="rect">
            <a:avLst/>
          </a:prstGeom>
          <a:noFill/>
          <a:ln/>
        </p:spPr>
        <p:txBody>
          <a:bodyPr wrap="square" lIns="0" tIns="0" rIns="0" bIns="0" rtlCol="0" anchor="ctr"/>
          <a:lstStyle/>
          <a:p>
            <a:pPr indent="0" marL="0">
              <a:buNone/>
            </a:pPr>
            <a:r>
              <a:rPr lang="en-US" sz="1100" b="1" spc="600" kern="0" dirty="0">
                <a:solidFill>
                  <a:srgbClr val="F59E0B"/>
                </a:solidFill>
                <a:latin typeface="DM Sans" pitchFamily="34" charset="0"/>
                <a:ea typeface="DM Sans" pitchFamily="34" charset="-122"/>
                <a:cs typeface="DM Sans" pitchFamily="34" charset="-120"/>
              </a:rPr>
              <a:t>ENTRY → INTERMEDIATE  ·  PATHWAY 2 OF 3</a:t>
            </a:r>
            <a:endParaRPr lang="en-US" sz="1100" dirty="0"/>
          </a:p>
        </p:txBody>
      </p:sp>
      <p:sp>
        <p:nvSpPr>
          <p:cNvPr id="3" name="Text 1"/>
          <p:cNvSpPr/>
          <p:nvPr/>
        </p:nvSpPr>
        <p:spPr>
          <a:xfrm>
            <a:off x="548640" y="411480"/>
            <a:ext cx="11064240" cy="868680"/>
          </a:xfrm>
          <a:prstGeom prst="rect">
            <a:avLst/>
          </a:prstGeom>
          <a:noFill/>
          <a:ln/>
        </p:spPr>
        <p:txBody>
          <a:bodyPr wrap="square" lIns="0" tIns="0" rIns="0" bIns="0" rtlCol="0" anchor="ctr"/>
          <a:lstStyle/>
          <a:p>
            <a:pPr indent="0" marL="0">
              <a:buNone/>
            </a:pPr>
            <a:r>
              <a:rPr lang="en-US" sz="3600" b="1" i="1" dirty="0">
                <a:solidFill>
                  <a:srgbClr val="FAF6F0"/>
                </a:solidFill>
                <a:latin typeface="Cormorant Garamond" pitchFamily="34" charset="0"/>
                <a:ea typeface="Cormorant Garamond" pitchFamily="34" charset="-122"/>
                <a:cs typeface="Cormorant Garamond" pitchFamily="34" charset="-120"/>
              </a:rPr>
              <a:t>Google AI Professional Certificate</a:t>
            </a:r>
            <a:endParaRPr lang="en-US" sz="3600" dirty="0"/>
          </a:p>
        </p:txBody>
      </p:sp>
      <p:sp>
        <p:nvSpPr>
          <p:cNvPr id="4" name="Shape 2"/>
          <p:cNvSpPr/>
          <p:nvPr/>
        </p:nvSpPr>
        <p:spPr>
          <a:xfrm>
            <a:off x="548640" y="1691640"/>
            <a:ext cx="3535680" cy="4297680"/>
          </a:xfrm>
          <a:prstGeom prst="rect">
            <a:avLst/>
          </a:prstGeom>
          <a:solidFill>
            <a:srgbClr val="1C1308"/>
          </a:solidFill>
          <a:ln w="12700">
            <a:solidFill>
              <a:srgbClr val="1C1308"/>
            </a:solidFill>
            <a:prstDash val="solid"/>
          </a:ln>
        </p:spPr>
      </p:sp>
      <p:sp>
        <p:nvSpPr>
          <p:cNvPr id="5" name="Shape 3"/>
          <p:cNvSpPr/>
          <p:nvPr/>
        </p:nvSpPr>
        <p:spPr>
          <a:xfrm>
            <a:off x="548640" y="1691640"/>
            <a:ext cx="3535680" cy="73152"/>
          </a:xfrm>
          <a:prstGeom prst="rect">
            <a:avLst/>
          </a:prstGeom>
          <a:solidFill>
            <a:srgbClr val="F59E0B"/>
          </a:solidFill>
          <a:ln w="12700">
            <a:solidFill>
              <a:srgbClr val="F59E0B"/>
            </a:solidFill>
            <a:prstDash val="solid"/>
          </a:ln>
        </p:spPr>
      </p:sp>
      <p:sp>
        <p:nvSpPr>
          <p:cNvPr id="6" name="Text 4"/>
          <p:cNvSpPr/>
          <p:nvPr/>
        </p:nvSpPr>
        <p:spPr>
          <a:xfrm>
            <a:off x="822960" y="1920240"/>
            <a:ext cx="2987040" cy="320040"/>
          </a:xfrm>
          <a:prstGeom prst="rect">
            <a:avLst/>
          </a:prstGeom>
          <a:noFill/>
          <a:ln/>
        </p:spPr>
        <p:txBody>
          <a:bodyPr wrap="square" lIns="0" tIns="0" rIns="0" bIns="0" rtlCol="0" anchor="ctr"/>
          <a:lstStyle/>
          <a:p>
            <a:pPr indent="0" marL="0">
              <a:buNone/>
            </a:pPr>
            <a:r>
              <a:rPr lang="en-US" sz="1000" b="1" spc="400" kern="0" dirty="0">
                <a:solidFill>
                  <a:srgbClr val="F59E0B"/>
                </a:solidFill>
                <a:latin typeface="DM Sans" pitchFamily="34" charset="0"/>
                <a:ea typeface="DM Sans" pitchFamily="34" charset="-122"/>
                <a:cs typeface="DM Sans" pitchFamily="34" charset="-120"/>
              </a:rPr>
              <a:t>WHAT THEY LEARN</a:t>
            </a:r>
            <a:endParaRPr lang="en-US" sz="1000" dirty="0"/>
          </a:p>
        </p:txBody>
      </p:sp>
      <p:sp>
        <p:nvSpPr>
          <p:cNvPr id="7" name="Text 5"/>
          <p:cNvSpPr/>
          <p:nvPr/>
        </p:nvSpPr>
        <p:spPr>
          <a:xfrm>
            <a:off x="82296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7 modules launched Feb 2026. Hands-on with Gemini, building AI-powered solutions, AI agent architecture, prompt iteration, output evaluation. 20+ hands-on activities. Includes 3 months free Google AI Pro. 4.8★ / 1,174 reviews, 635K+ enrolled in 4 months.</a:t>
            </a:r>
            <a:endParaRPr lang="en-US" sz="1200" dirty="0"/>
          </a:p>
        </p:txBody>
      </p:sp>
      <p:sp>
        <p:nvSpPr>
          <p:cNvPr id="8" name="Shape 6"/>
          <p:cNvSpPr/>
          <p:nvPr/>
        </p:nvSpPr>
        <p:spPr>
          <a:xfrm>
            <a:off x="4312920" y="1691640"/>
            <a:ext cx="3535680" cy="4297680"/>
          </a:xfrm>
          <a:prstGeom prst="rect">
            <a:avLst/>
          </a:prstGeom>
          <a:solidFill>
            <a:srgbClr val="1C1308"/>
          </a:solidFill>
          <a:ln w="12700">
            <a:solidFill>
              <a:srgbClr val="1C1308"/>
            </a:solidFill>
            <a:prstDash val="solid"/>
          </a:ln>
        </p:spPr>
      </p:sp>
      <p:sp>
        <p:nvSpPr>
          <p:cNvPr id="9" name="Shape 7"/>
          <p:cNvSpPr/>
          <p:nvPr/>
        </p:nvSpPr>
        <p:spPr>
          <a:xfrm>
            <a:off x="4312920" y="1691640"/>
            <a:ext cx="3535680" cy="73152"/>
          </a:xfrm>
          <a:prstGeom prst="rect">
            <a:avLst/>
          </a:prstGeom>
          <a:solidFill>
            <a:srgbClr val="84CC16"/>
          </a:solidFill>
          <a:ln w="12700">
            <a:solidFill>
              <a:srgbClr val="84CC16"/>
            </a:solidFill>
            <a:prstDash val="solid"/>
          </a:ln>
        </p:spPr>
      </p:sp>
      <p:sp>
        <p:nvSpPr>
          <p:cNvPr id="10" name="Text 8"/>
          <p:cNvSpPr/>
          <p:nvPr/>
        </p:nvSpPr>
        <p:spPr>
          <a:xfrm>
            <a:off x="4587240" y="1920240"/>
            <a:ext cx="2987040" cy="320040"/>
          </a:xfrm>
          <a:prstGeom prst="rect">
            <a:avLst/>
          </a:prstGeom>
          <a:noFill/>
          <a:ln/>
        </p:spPr>
        <p:txBody>
          <a:bodyPr wrap="square" lIns="0" tIns="0" rIns="0" bIns="0" rtlCol="0" anchor="ctr"/>
          <a:lstStyle/>
          <a:p>
            <a:pPr indent="0" marL="0">
              <a:buNone/>
            </a:pPr>
            <a:r>
              <a:rPr lang="en-US" sz="1000" b="1" spc="400" kern="0" dirty="0">
                <a:solidFill>
                  <a:srgbClr val="84CC16"/>
                </a:solidFill>
                <a:latin typeface="DM Sans" pitchFamily="34" charset="0"/>
                <a:ea typeface="DM Sans" pitchFamily="34" charset="-122"/>
                <a:cs typeface="DM Sans" pitchFamily="34" charset="-120"/>
              </a:rPr>
              <a:t>HOW IT HELPS PEARL PRIME</a:t>
            </a:r>
            <a:endParaRPr lang="en-US" sz="1000" dirty="0"/>
          </a:p>
        </p:txBody>
      </p:sp>
      <p:sp>
        <p:nvSpPr>
          <p:cNvPr id="11" name="Text 9"/>
          <p:cNvSpPr/>
          <p:nvPr/>
        </p:nvSpPr>
        <p:spPr>
          <a:xfrm>
            <a:off x="458724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Gemini API banned in repo code per CLAUDE.md — BUT prompt engineering as a craft transfers 1:1. Trainee applies learnings to pearl_news/prompts/expansion_system.txt, prompts/draft_audiobook_v2.txt, manga writer + editor system prompts. Strictly Tier-2 Ollama or Tier-1 Claude in repo. Subsystem: core_pipeline, manga, pearl_news, audiobook.</a:t>
            </a:r>
            <a:endParaRPr lang="en-US" sz="1200" dirty="0"/>
          </a:p>
        </p:txBody>
      </p:sp>
      <p:sp>
        <p:nvSpPr>
          <p:cNvPr id="12" name="Shape 10"/>
          <p:cNvSpPr/>
          <p:nvPr/>
        </p:nvSpPr>
        <p:spPr>
          <a:xfrm>
            <a:off x="8077200" y="1691640"/>
            <a:ext cx="3535680" cy="4297680"/>
          </a:xfrm>
          <a:prstGeom prst="rect">
            <a:avLst/>
          </a:prstGeom>
          <a:solidFill>
            <a:srgbClr val="1C1308"/>
          </a:solidFill>
          <a:ln w="12700">
            <a:solidFill>
              <a:srgbClr val="1C1308"/>
            </a:solidFill>
            <a:prstDash val="solid"/>
          </a:ln>
        </p:spPr>
      </p:sp>
      <p:sp>
        <p:nvSpPr>
          <p:cNvPr id="13" name="Shape 11"/>
          <p:cNvSpPr/>
          <p:nvPr/>
        </p:nvSpPr>
        <p:spPr>
          <a:xfrm>
            <a:off x="8077200" y="1691640"/>
            <a:ext cx="3535680" cy="73152"/>
          </a:xfrm>
          <a:prstGeom prst="rect">
            <a:avLst/>
          </a:prstGeom>
          <a:solidFill>
            <a:srgbClr val="0891B2"/>
          </a:solidFill>
          <a:ln w="12700">
            <a:solidFill>
              <a:srgbClr val="0891B2"/>
            </a:solidFill>
            <a:prstDash val="solid"/>
          </a:ln>
        </p:spPr>
      </p:sp>
      <p:sp>
        <p:nvSpPr>
          <p:cNvPr id="14" name="Text 12"/>
          <p:cNvSpPr/>
          <p:nvPr/>
        </p:nvSpPr>
        <p:spPr>
          <a:xfrm>
            <a:off x="8351520" y="1920240"/>
            <a:ext cx="2987040" cy="320040"/>
          </a:xfrm>
          <a:prstGeom prst="rect">
            <a:avLst/>
          </a:prstGeom>
          <a:noFill/>
          <a:ln/>
        </p:spPr>
        <p:txBody>
          <a:bodyPr wrap="square" lIns="0" tIns="0" rIns="0" bIns="0" rtlCol="0" anchor="ctr"/>
          <a:lstStyle/>
          <a:p>
            <a:pPr indent="0" marL="0">
              <a:buNone/>
            </a:pPr>
            <a:r>
              <a:rPr lang="en-US" sz="1000" b="1" spc="400" kern="0" dirty="0">
                <a:solidFill>
                  <a:srgbClr val="0891B2"/>
                </a:solidFill>
                <a:latin typeface="DM Sans" pitchFamily="34" charset="0"/>
                <a:ea typeface="DM Sans" pitchFamily="34" charset="-122"/>
                <a:cs typeface="DM Sans" pitchFamily="34" charset="-120"/>
              </a:rPr>
              <a:t>WHAT IT MEANS FOR THEIR CAREER</a:t>
            </a:r>
            <a:endParaRPr lang="en-US" sz="1000" dirty="0"/>
          </a:p>
        </p:txBody>
      </p:sp>
      <p:sp>
        <p:nvSpPr>
          <p:cNvPr id="15" name="Text 13"/>
          <p:cNvSpPr/>
          <p:nvPr/>
        </p:nvSpPr>
        <p:spPr>
          <a:xfrm>
            <a:off x="835152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BLAZING. LinkedIn AI Engineer = top fastest-growing US role 2026. Prompt Engineer median $129,538 (Glassdoor); 25-75 pctl $102-166K. 3-yr progression: AI Eng / Forward-Deployed Eng $150-220K → AI Lead $200-350K+. AI displacement risk: NEGATIVE (AI creates demand). Caveat: 'Prompt Eng' title may compress into 'AI Eng' by end of 2026.</a:t>
            </a:r>
            <a:endParaRPr lang="en-US" sz="1200" dirty="0"/>
          </a:p>
        </p:txBody>
      </p:sp>
      <p:sp>
        <p:nvSpPr>
          <p:cNvPr id="16" name="Shape 14"/>
          <p:cNvSpPr/>
          <p:nvPr/>
        </p:nvSpPr>
        <p:spPr>
          <a:xfrm>
            <a:off x="548640" y="5989320"/>
            <a:ext cx="11064240" cy="411480"/>
          </a:xfrm>
          <a:prstGeom prst="rect">
            <a:avLst/>
          </a:prstGeom>
          <a:solidFill>
            <a:srgbClr val="2B1D0E"/>
          </a:solidFill>
          <a:ln w="12700">
            <a:solidFill>
              <a:srgbClr val="D97706"/>
            </a:solidFill>
            <a:prstDash val="solid"/>
          </a:ln>
        </p:spPr>
      </p:sp>
      <p:sp>
        <p:nvSpPr>
          <p:cNvPr id="17" name="Text 15"/>
          <p:cNvSpPr/>
          <p:nvPr/>
        </p:nvSpPr>
        <p:spPr>
          <a:xfrm>
            <a:off x="731520" y="5989320"/>
            <a:ext cx="10698480" cy="411480"/>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Course: </a:t>
            </a:r>
            <a:pPr indent="0" marL="0">
              <a:buNone/>
            </a:pPr>
            <a:r>
              <a:rPr lang="en-US" sz="1100" b="1" dirty="0">
                <a:solidFill>
                  <a:srgbClr val="FAF6F0"/>
                </a:solidFill>
                <a:latin typeface="DM Sans" pitchFamily="34" charset="0"/>
                <a:ea typeface="DM Sans" pitchFamily="34" charset="-122"/>
                <a:cs typeface="DM Sans" pitchFamily="34" charset="-120"/>
              </a:rPr>
              <a:t>Google AI Professional Certificate</a:t>
            </a:r>
            <a:pPr indent="0" marL="0">
              <a:buNone/>
            </a:pPr>
            <a:r>
              <a:rPr lang="en-US" sz="1100" dirty="0">
                <a:solidFill>
                  <a:srgbClr val="C8BAA6"/>
                </a:solidFill>
                <a:latin typeface="DM Sans" pitchFamily="34" charset="0"/>
                <a:ea typeface="DM Sans" pitchFamily="34" charset="-122"/>
                <a:cs typeface="DM Sans" pitchFamily="34" charset="-120"/>
              </a:rPr>
              <a:t>  ·  $49 / mo + 3 mo AI Pro free  ·  ~60 hr (3-6 mo at 10 hr/wk)  ·  Shadow: </a:t>
            </a:r>
            <a:pPr indent="0" marL="0">
              <a:buNone/>
            </a:pPr>
            <a:r>
              <a:rPr lang="en-US" sz="1100" b="1" dirty="0">
                <a:solidFill>
                  <a:srgbClr val="F59E0B"/>
                </a:solidFill>
                <a:latin typeface="DM Sans" pitchFamily="34" charset="0"/>
                <a:ea typeface="DM Sans" pitchFamily="34" charset="-122"/>
                <a:cs typeface="DM Sans" pitchFamily="34" charset="-120"/>
              </a:rPr>
              <a:t>Pearl_Dev, Pearl_Editor</a:t>
            </a:r>
            <a:pPr indent="0" marL="0">
              <a:buNone/>
            </a:pPr>
            <a:r>
              <a:rPr lang="en-US" sz="1100" dirty="0">
                <a:solidFill>
                  <a:srgbClr val="C8BAA6"/>
                </a:solidFill>
                <a:latin typeface="DM Sans" pitchFamily="34" charset="0"/>
                <a:ea typeface="DM Sans" pitchFamily="34" charset="-122"/>
                <a:cs typeface="DM Sans" pitchFamily="34" charset="-120"/>
              </a:rPr>
              <a:t>  ·  Subsystem: </a:t>
            </a:r>
            <a:pPr indent="0" marL="0">
              <a:buNone/>
            </a:pPr>
            <a:r>
              <a:rPr lang="en-US" sz="1100" dirty="0">
                <a:solidFill>
                  <a:srgbClr val="FAF6F0"/>
                </a:solidFill>
                <a:latin typeface="DM Sans" pitchFamily="34" charset="0"/>
                <a:ea typeface="DM Sans" pitchFamily="34" charset="-122"/>
                <a:cs typeface="DM Sans" pitchFamily="34" charset="-120"/>
              </a:rPr>
              <a:t>core_pipeline, manga, pearl_news</a:t>
            </a:r>
            <a:endParaRPr lang="en-US" sz="1100" dirty="0"/>
          </a:p>
        </p:txBody>
      </p:sp>
      <p:sp>
        <p:nvSpPr>
          <p:cNvPr id="18" name="Text 16"/>
          <p:cNvSpPr/>
          <p:nvPr/>
        </p:nvSpPr>
        <p:spPr>
          <a:xfrm>
            <a:off x="11064240" y="6492240"/>
            <a:ext cx="822960" cy="228600"/>
          </a:xfrm>
          <a:prstGeom prst="rect">
            <a:avLst/>
          </a:prstGeom>
          <a:noFill/>
          <a:ln/>
        </p:spPr>
        <p:txBody>
          <a:bodyPr wrap="square" lIns="0" tIns="0" rIns="0" bIns="0" rtlCol="0" anchor="ctr"/>
          <a:lstStyle/>
          <a:p>
            <a:pPr algn="r" indent="0" marL="0">
              <a:buNone/>
            </a:pPr>
            <a:r>
              <a:rPr lang="en-US" sz="900" dirty="0">
                <a:solidFill>
                  <a:srgbClr val="8A7A64"/>
                </a:solidFill>
                <a:latin typeface="DM Sans" pitchFamily="34" charset="0"/>
                <a:ea typeface="DM Sans" pitchFamily="34" charset="-122"/>
                <a:cs typeface="DM Sans" pitchFamily="34" charset="-120"/>
              </a:rPr>
              <a:t>9 / 17</a:t>
            </a:r>
            <a:endParaRPr lang="en-US" sz="900" dirty="0"/>
          </a:p>
        </p:txBody>
      </p:sp>
      <p:sp>
        <p:nvSpPr>
          <p:cNvPr id="19" name="Text 17"/>
          <p:cNvSpPr/>
          <p:nvPr/>
        </p:nvSpPr>
        <p:spPr>
          <a:xfrm>
            <a:off x="365760" y="6492240"/>
            <a:ext cx="4572000" cy="228600"/>
          </a:xfrm>
          <a:prstGeom prst="rect">
            <a:avLst/>
          </a:prstGeom>
          <a:noFill/>
          <a:ln/>
        </p:spPr>
        <p:txBody>
          <a:bodyPr wrap="square" lIns="0" tIns="0" rIns="0" bIns="0" rtlCol="0" anchor="ctr"/>
          <a:lstStyle/>
          <a:p>
            <a:pPr algn="l" indent="0" marL="0">
              <a:buNone/>
            </a:pPr>
            <a:r>
              <a:rPr lang="en-US" sz="900" dirty="0">
                <a:solidFill>
                  <a:srgbClr val="8A7A64"/>
                </a:solidFill>
                <a:latin typeface="DM Sans" pitchFamily="34" charset="0"/>
                <a:ea typeface="DM Sans" pitchFamily="34" charset="-122"/>
                <a:cs typeface="DM Sans" pitchFamily="34" charset="-120"/>
              </a:rPr>
              <a:t>PEARL_RESEARCH · 2026-06-09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0A06"/>
        </a:solidFill>
      </p:bgPr>
    </p:bg>
    <p:spTree>
      <p:nvGrpSpPr>
        <p:cNvPr id="1" name=""/>
        <p:cNvGrpSpPr/>
        <p:nvPr/>
      </p:nvGrpSpPr>
      <p:grpSpPr>
        <a:xfrm>
          <a:off x="0" y="0"/>
          <a:ext cx="0" cy="0"/>
          <a:chOff x="0" y="0"/>
          <a:chExt cx="0" cy="0"/>
        </a:xfrm>
      </p:grpSpPr>
      <p:sp>
        <p:nvSpPr>
          <p:cNvPr id="2" name="Text 0"/>
          <p:cNvSpPr/>
          <p:nvPr/>
        </p:nvSpPr>
        <p:spPr>
          <a:xfrm>
            <a:off x="548640" y="228600"/>
            <a:ext cx="11064240" cy="274320"/>
          </a:xfrm>
          <a:prstGeom prst="rect">
            <a:avLst/>
          </a:prstGeom>
          <a:noFill/>
          <a:ln/>
        </p:spPr>
        <p:txBody>
          <a:bodyPr wrap="square" lIns="0" tIns="0" rIns="0" bIns="0" rtlCol="0" anchor="ctr"/>
          <a:lstStyle/>
          <a:p>
            <a:pPr indent="0" marL="0">
              <a:buNone/>
            </a:pPr>
            <a:r>
              <a:rPr lang="en-US" sz="1100" b="1" spc="600" kern="0" dirty="0">
                <a:solidFill>
                  <a:srgbClr val="F59E0B"/>
                </a:solidFill>
                <a:latin typeface="DM Sans" pitchFamily="34" charset="0"/>
                <a:ea typeface="DM Sans" pitchFamily="34" charset="-122"/>
                <a:cs typeface="DM Sans" pitchFamily="34" charset="-120"/>
              </a:rPr>
              <a:t>ENTRY → INTERMEDIATE  ·  PATHWAY 3 OF 3</a:t>
            </a:r>
            <a:endParaRPr lang="en-US" sz="1100" dirty="0"/>
          </a:p>
        </p:txBody>
      </p:sp>
      <p:sp>
        <p:nvSpPr>
          <p:cNvPr id="3" name="Text 1"/>
          <p:cNvSpPr/>
          <p:nvPr/>
        </p:nvSpPr>
        <p:spPr>
          <a:xfrm>
            <a:off x="548640" y="411480"/>
            <a:ext cx="11064240" cy="868680"/>
          </a:xfrm>
          <a:prstGeom prst="rect">
            <a:avLst/>
          </a:prstGeom>
          <a:noFill/>
          <a:ln/>
        </p:spPr>
        <p:txBody>
          <a:bodyPr wrap="square" lIns="0" tIns="0" rIns="0" bIns="0" rtlCol="0" anchor="ctr"/>
          <a:lstStyle/>
          <a:p>
            <a:pPr indent="0" marL="0">
              <a:buNone/>
            </a:pPr>
            <a:r>
              <a:rPr lang="en-US" sz="3600" b="1" i="1" dirty="0">
                <a:solidFill>
                  <a:srgbClr val="FAF6F0"/>
                </a:solidFill>
                <a:latin typeface="Cormorant Garamond" pitchFamily="34" charset="0"/>
                <a:ea typeface="Cormorant Garamond" pitchFamily="34" charset="-122"/>
                <a:cs typeface="Cormorant Garamond" pitchFamily="34" charset="-120"/>
              </a:rPr>
              <a:t>Google Advanced Data Analytics</a:t>
            </a:r>
            <a:endParaRPr lang="en-US" sz="3600" dirty="0"/>
          </a:p>
        </p:txBody>
      </p:sp>
      <p:sp>
        <p:nvSpPr>
          <p:cNvPr id="4" name="Shape 2"/>
          <p:cNvSpPr/>
          <p:nvPr/>
        </p:nvSpPr>
        <p:spPr>
          <a:xfrm>
            <a:off x="548640" y="1691640"/>
            <a:ext cx="3535680" cy="4297680"/>
          </a:xfrm>
          <a:prstGeom prst="rect">
            <a:avLst/>
          </a:prstGeom>
          <a:solidFill>
            <a:srgbClr val="1C1308"/>
          </a:solidFill>
          <a:ln w="12700">
            <a:solidFill>
              <a:srgbClr val="1C1308"/>
            </a:solidFill>
            <a:prstDash val="solid"/>
          </a:ln>
        </p:spPr>
      </p:sp>
      <p:sp>
        <p:nvSpPr>
          <p:cNvPr id="5" name="Shape 3"/>
          <p:cNvSpPr/>
          <p:nvPr/>
        </p:nvSpPr>
        <p:spPr>
          <a:xfrm>
            <a:off x="548640" y="1691640"/>
            <a:ext cx="3535680" cy="73152"/>
          </a:xfrm>
          <a:prstGeom prst="rect">
            <a:avLst/>
          </a:prstGeom>
          <a:solidFill>
            <a:srgbClr val="F59E0B"/>
          </a:solidFill>
          <a:ln w="12700">
            <a:solidFill>
              <a:srgbClr val="F59E0B"/>
            </a:solidFill>
            <a:prstDash val="solid"/>
          </a:ln>
        </p:spPr>
      </p:sp>
      <p:sp>
        <p:nvSpPr>
          <p:cNvPr id="6" name="Text 4"/>
          <p:cNvSpPr/>
          <p:nvPr/>
        </p:nvSpPr>
        <p:spPr>
          <a:xfrm>
            <a:off x="822960" y="1920240"/>
            <a:ext cx="2987040" cy="320040"/>
          </a:xfrm>
          <a:prstGeom prst="rect">
            <a:avLst/>
          </a:prstGeom>
          <a:noFill/>
          <a:ln/>
        </p:spPr>
        <p:txBody>
          <a:bodyPr wrap="square" lIns="0" tIns="0" rIns="0" bIns="0" rtlCol="0" anchor="ctr"/>
          <a:lstStyle/>
          <a:p>
            <a:pPr indent="0" marL="0">
              <a:buNone/>
            </a:pPr>
            <a:r>
              <a:rPr lang="en-US" sz="1000" b="1" spc="400" kern="0" dirty="0">
                <a:solidFill>
                  <a:srgbClr val="F59E0B"/>
                </a:solidFill>
                <a:latin typeface="DM Sans" pitchFamily="34" charset="0"/>
                <a:ea typeface="DM Sans" pitchFamily="34" charset="-122"/>
                <a:cs typeface="DM Sans" pitchFamily="34" charset="-120"/>
              </a:rPr>
              <a:t>WHAT THEY LEARN</a:t>
            </a:r>
            <a:endParaRPr lang="en-US" sz="1000" dirty="0"/>
          </a:p>
        </p:txBody>
      </p:sp>
      <p:sp>
        <p:nvSpPr>
          <p:cNvPr id="7" name="Text 5"/>
          <p:cNvSpPr/>
          <p:nvPr/>
        </p:nvSpPr>
        <p:spPr>
          <a:xfrm>
            <a:off x="82296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Python, statistical inference, regression analysis, ML modeling, experimental design. Builds on the foundational Data Analytics cert. R + Python + SQL with deeper stats and modeling. Industry stack-ons available (Finance, Public Sector).</a:t>
            </a:r>
            <a:endParaRPr lang="en-US" sz="1200" dirty="0"/>
          </a:p>
        </p:txBody>
      </p:sp>
      <p:sp>
        <p:nvSpPr>
          <p:cNvPr id="8" name="Shape 6"/>
          <p:cNvSpPr/>
          <p:nvPr/>
        </p:nvSpPr>
        <p:spPr>
          <a:xfrm>
            <a:off x="4312920" y="1691640"/>
            <a:ext cx="3535680" cy="4297680"/>
          </a:xfrm>
          <a:prstGeom prst="rect">
            <a:avLst/>
          </a:prstGeom>
          <a:solidFill>
            <a:srgbClr val="1C1308"/>
          </a:solidFill>
          <a:ln w="12700">
            <a:solidFill>
              <a:srgbClr val="1C1308"/>
            </a:solidFill>
            <a:prstDash val="solid"/>
          </a:ln>
        </p:spPr>
      </p:sp>
      <p:sp>
        <p:nvSpPr>
          <p:cNvPr id="9" name="Shape 7"/>
          <p:cNvSpPr/>
          <p:nvPr/>
        </p:nvSpPr>
        <p:spPr>
          <a:xfrm>
            <a:off x="4312920" y="1691640"/>
            <a:ext cx="3535680" cy="73152"/>
          </a:xfrm>
          <a:prstGeom prst="rect">
            <a:avLst/>
          </a:prstGeom>
          <a:solidFill>
            <a:srgbClr val="84CC16"/>
          </a:solidFill>
          <a:ln w="12700">
            <a:solidFill>
              <a:srgbClr val="84CC16"/>
            </a:solidFill>
            <a:prstDash val="solid"/>
          </a:ln>
        </p:spPr>
      </p:sp>
      <p:sp>
        <p:nvSpPr>
          <p:cNvPr id="10" name="Text 8"/>
          <p:cNvSpPr/>
          <p:nvPr/>
        </p:nvSpPr>
        <p:spPr>
          <a:xfrm>
            <a:off x="4587240" y="1920240"/>
            <a:ext cx="2987040" cy="320040"/>
          </a:xfrm>
          <a:prstGeom prst="rect">
            <a:avLst/>
          </a:prstGeom>
          <a:noFill/>
          <a:ln/>
        </p:spPr>
        <p:txBody>
          <a:bodyPr wrap="square" lIns="0" tIns="0" rIns="0" bIns="0" rtlCol="0" anchor="ctr"/>
          <a:lstStyle/>
          <a:p>
            <a:pPr indent="0" marL="0">
              <a:buNone/>
            </a:pPr>
            <a:r>
              <a:rPr lang="en-US" sz="1000" b="1" spc="400" kern="0" dirty="0">
                <a:solidFill>
                  <a:srgbClr val="84CC16"/>
                </a:solidFill>
                <a:latin typeface="DM Sans" pitchFamily="34" charset="0"/>
                <a:ea typeface="DM Sans" pitchFamily="34" charset="-122"/>
                <a:cs typeface="DM Sans" pitchFamily="34" charset="-120"/>
              </a:rPr>
              <a:t>HOW IT HELPS PEARL PRIME</a:t>
            </a:r>
            <a:endParaRPr lang="en-US" sz="1000" dirty="0"/>
          </a:p>
        </p:txBody>
      </p:sp>
      <p:sp>
        <p:nvSpPr>
          <p:cNvPr id="11" name="Text 9"/>
          <p:cNvSpPr/>
          <p:nvPr/>
        </p:nvSpPr>
        <p:spPr>
          <a:xfrm>
            <a:off x="458724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Pearl Prime EI v2 quality engine (phoenix_v4/quality/ei_v2/) does emotional-intelligence scoring across dimensions and runs calibration sweeps via scripts/ci/run_ei_v2_catalog_calibration.py. Adv-Analytics trained contributor helps Pearl_Research tune dimension gates, audit hybrid_selector scoring, analyze catalog QA drift. Subsystem: ei_v2, recommendations.</a:t>
            </a:r>
            <a:endParaRPr lang="en-US" sz="1200" dirty="0"/>
          </a:p>
        </p:txBody>
      </p:sp>
      <p:sp>
        <p:nvSpPr>
          <p:cNvPr id="12" name="Shape 10"/>
          <p:cNvSpPr/>
          <p:nvPr/>
        </p:nvSpPr>
        <p:spPr>
          <a:xfrm>
            <a:off x="8077200" y="1691640"/>
            <a:ext cx="3535680" cy="4297680"/>
          </a:xfrm>
          <a:prstGeom prst="rect">
            <a:avLst/>
          </a:prstGeom>
          <a:solidFill>
            <a:srgbClr val="1C1308"/>
          </a:solidFill>
          <a:ln w="12700">
            <a:solidFill>
              <a:srgbClr val="1C1308"/>
            </a:solidFill>
            <a:prstDash val="solid"/>
          </a:ln>
        </p:spPr>
      </p:sp>
      <p:sp>
        <p:nvSpPr>
          <p:cNvPr id="13" name="Shape 11"/>
          <p:cNvSpPr/>
          <p:nvPr/>
        </p:nvSpPr>
        <p:spPr>
          <a:xfrm>
            <a:off x="8077200" y="1691640"/>
            <a:ext cx="3535680" cy="73152"/>
          </a:xfrm>
          <a:prstGeom prst="rect">
            <a:avLst/>
          </a:prstGeom>
          <a:solidFill>
            <a:srgbClr val="0891B2"/>
          </a:solidFill>
          <a:ln w="12700">
            <a:solidFill>
              <a:srgbClr val="0891B2"/>
            </a:solidFill>
            <a:prstDash val="solid"/>
          </a:ln>
        </p:spPr>
      </p:sp>
      <p:sp>
        <p:nvSpPr>
          <p:cNvPr id="14" name="Text 12"/>
          <p:cNvSpPr/>
          <p:nvPr/>
        </p:nvSpPr>
        <p:spPr>
          <a:xfrm>
            <a:off x="8351520" y="1920240"/>
            <a:ext cx="2987040" cy="320040"/>
          </a:xfrm>
          <a:prstGeom prst="rect">
            <a:avLst/>
          </a:prstGeom>
          <a:noFill/>
          <a:ln/>
        </p:spPr>
        <p:txBody>
          <a:bodyPr wrap="square" lIns="0" tIns="0" rIns="0" bIns="0" rtlCol="0" anchor="ctr"/>
          <a:lstStyle/>
          <a:p>
            <a:pPr indent="0" marL="0">
              <a:buNone/>
            </a:pPr>
            <a:r>
              <a:rPr lang="en-US" sz="1000" b="1" spc="400" kern="0" dirty="0">
                <a:solidFill>
                  <a:srgbClr val="0891B2"/>
                </a:solidFill>
                <a:latin typeface="DM Sans" pitchFamily="34" charset="0"/>
                <a:ea typeface="DM Sans" pitchFamily="34" charset="-122"/>
                <a:cs typeface="DM Sans" pitchFamily="34" charset="-120"/>
              </a:rPr>
              <a:t>WHAT IT MEANS FOR THEIR CAREER</a:t>
            </a:r>
            <a:endParaRPr lang="en-US" sz="1000" dirty="0"/>
          </a:p>
        </p:txBody>
      </p:sp>
      <p:sp>
        <p:nvSpPr>
          <p:cNvPr id="15" name="Text 13"/>
          <p:cNvSpPr/>
          <p:nvPr/>
        </p:nvSpPr>
        <p:spPr>
          <a:xfrm>
            <a:off x="835152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Senior Data Analyst median ~$108K (Glassdoor crowd). 3-yr progression: Analytics Manager $125-160K → Director of Analytics $165-220K. Hot factor: WARM. AI displacement risk: LOW (Python + statistical storytelling adds resilience vs entry-level SQL/Excel work).</a:t>
            </a:r>
            <a:endParaRPr lang="en-US" sz="1200" dirty="0"/>
          </a:p>
        </p:txBody>
      </p:sp>
      <p:sp>
        <p:nvSpPr>
          <p:cNvPr id="16" name="Shape 14"/>
          <p:cNvSpPr/>
          <p:nvPr/>
        </p:nvSpPr>
        <p:spPr>
          <a:xfrm>
            <a:off x="548640" y="5989320"/>
            <a:ext cx="11064240" cy="411480"/>
          </a:xfrm>
          <a:prstGeom prst="rect">
            <a:avLst/>
          </a:prstGeom>
          <a:solidFill>
            <a:srgbClr val="2B1D0E"/>
          </a:solidFill>
          <a:ln w="12700">
            <a:solidFill>
              <a:srgbClr val="D97706"/>
            </a:solidFill>
            <a:prstDash val="solid"/>
          </a:ln>
        </p:spPr>
      </p:sp>
      <p:sp>
        <p:nvSpPr>
          <p:cNvPr id="17" name="Text 15"/>
          <p:cNvSpPr/>
          <p:nvPr/>
        </p:nvSpPr>
        <p:spPr>
          <a:xfrm>
            <a:off x="731520" y="5989320"/>
            <a:ext cx="10698480" cy="411480"/>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Course: </a:t>
            </a:r>
            <a:pPr indent="0" marL="0">
              <a:buNone/>
            </a:pPr>
            <a:r>
              <a:rPr lang="en-US" sz="1100" b="1" dirty="0">
                <a:solidFill>
                  <a:srgbClr val="FAF6F0"/>
                </a:solidFill>
                <a:latin typeface="DM Sans" pitchFamily="34" charset="0"/>
                <a:ea typeface="DM Sans" pitchFamily="34" charset="-122"/>
                <a:cs typeface="DM Sans" pitchFamily="34" charset="-120"/>
              </a:rPr>
              <a:t>Google Advanced Data Analytics Certificate</a:t>
            </a:r>
            <a:pPr indent="0" marL="0">
              <a:buNone/>
            </a:pPr>
            <a:r>
              <a:rPr lang="en-US" sz="1100" dirty="0">
                <a:solidFill>
                  <a:srgbClr val="C8BAA6"/>
                </a:solidFill>
                <a:latin typeface="DM Sans" pitchFamily="34" charset="0"/>
                <a:ea typeface="DM Sans" pitchFamily="34" charset="-122"/>
                <a:cs typeface="DM Sans" pitchFamily="34" charset="-120"/>
              </a:rPr>
              <a:t>  ·  $49 / mo  ·  ~120 hr (1-3 mo post-foundational)  ·  Shadow: </a:t>
            </a:r>
            <a:pPr indent="0" marL="0">
              <a:buNone/>
            </a:pPr>
            <a:r>
              <a:rPr lang="en-US" sz="1100" b="1" dirty="0">
                <a:solidFill>
                  <a:srgbClr val="F59E0B"/>
                </a:solidFill>
                <a:latin typeface="DM Sans" pitchFamily="34" charset="0"/>
                <a:ea typeface="DM Sans" pitchFamily="34" charset="-122"/>
                <a:cs typeface="DM Sans" pitchFamily="34" charset="-120"/>
              </a:rPr>
              <a:t>Pearl_Research</a:t>
            </a:r>
            <a:pPr indent="0" marL="0">
              <a:buNone/>
            </a:pPr>
            <a:r>
              <a:rPr lang="en-US" sz="1100" dirty="0">
                <a:solidFill>
                  <a:srgbClr val="C8BAA6"/>
                </a:solidFill>
                <a:latin typeface="DM Sans" pitchFamily="34" charset="0"/>
                <a:ea typeface="DM Sans" pitchFamily="34" charset="-122"/>
                <a:cs typeface="DM Sans" pitchFamily="34" charset="-120"/>
              </a:rPr>
              <a:t>  ·  Subsystem: </a:t>
            </a:r>
            <a:pPr indent="0" marL="0">
              <a:buNone/>
            </a:pPr>
            <a:r>
              <a:rPr lang="en-US" sz="1100" dirty="0">
                <a:solidFill>
                  <a:srgbClr val="FAF6F0"/>
                </a:solidFill>
                <a:latin typeface="DM Sans" pitchFamily="34" charset="0"/>
                <a:ea typeface="DM Sans" pitchFamily="34" charset="-122"/>
                <a:cs typeface="DM Sans" pitchFamily="34" charset="-120"/>
              </a:rPr>
              <a:t>ei_v2, recommendations</a:t>
            </a:r>
            <a:endParaRPr lang="en-US" sz="1100" dirty="0"/>
          </a:p>
        </p:txBody>
      </p:sp>
      <p:sp>
        <p:nvSpPr>
          <p:cNvPr id="18" name="Text 16"/>
          <p:cNvSpPr/>
          <p:nvPr/>
        </p:nvSpPr>
        <p:spPr>
          <a:xfrm>
            <a:off x="11064240" y="6492240"/>
            <a:ext cx="822960" cy="228600"/>
          </a:xfrm>
          <a:prstGeom prst="rect">
            <a:avLst/>
          </a:prstGeom>
          <a:noFill/>
          <a:ln/>
        </p:spPr>
        <p:txBody>
          <a:bodyPr wrap="square" lIns="0" tIns="0" rIns="0" bIns="0" rtlCol="0" anchor="ctr"/>
          <a:lstStyle/>
          <a:p>
            <a:pPr algn="r" indent="0" marL="0">
              <a:buNone/>
            </a:pPr>
            <a:r>
              <a:rPr lang="en-US" sz="900" dirty="0">
                <a:solidFill>
                  <a:srgbClr val="8A7A64"/>
                </a:solidFill>
                <a:latin typeface="DM Sans" pitchFamily="34" charset="0"/>
                <a:ea typeface="DM Sans" pitchFamily="34" charset="-122"/>
                <a:cs typeface="DM Sans" pitchFamily="34" charset="-120"/>
              </a:rPr>
              <a:t>10 / 17</a:t>
            </a:r>
            <a:endParaRPr lang="en-US" sz="900" dirty="0"/>
          </a:p>
        </p:txBody>
      </p:sp>
      <p:sp>
        <p:nvSpPr>
          <p:cNvPr id="19" name="Text 17"/>
          <p:cNvSpPr/>
          <p:nvPr/>
        </p:nvSpPr>
        <p:spPr>
          <a:xfrm>
            <a:off x="365760" y="6492240"/>
            <a:ext cx="4572000" cy="228600"/>
          </a:xfrm>
          <a:prstGeom prst="rect">
            <a:avLst/>
          </a:prstGeom>
          <a:noFill/>
          <a:ln/>
        </p:spPr>
        <p:txBody>
          <a:bodyPr wrap="square" lIns="0" tIns="0" rIns="0" bIns="0" rtlCol="0" anchor="ctr"/>
          <a:lstStyle/>
          <a:p>
            <a:pPr algn="l" indent="0" marL="0">
              <a:buNone/>
            </a:pPr>
            <a:r>
              <a:rPr lang="en-US" sz="900" dirty="0">
                <a:solidFill>
                  <a:srgbClr val="8A7A64"/>
                </a:solidFill>
                <a:latin typeface="DM Sans" pitchFamily="34" charset="0"/>
                <a:ea typeface="DM Sans" pitchFamily="34" charset="-122"/>
                <a:cs typeface="DM Sans" pitchFamily="34" charset="-120"/>
              </a:rPr>
              <a:t>PEARL_RESEARCH · 2026-06-09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0A06"/>
        </a:solidFill>
      </p:bgPr>
    </p:bg>
    <p:spTree>
      <p:nvGrpSpPr>
        <p:cNvPr id="1" name=""/>
        <p:cNvGrpSpPr/>
        <p:nvPr/>
      </p:nvGrpSpPr>
      <p:grpSpPr>
        <a:xfrm>
          <a:off x="0" y="0"/>
          <a:ext cx="0" cy="0"/>
          <a:chOff x="0" y="0"/>
          <a:chExt cx="0" cy="0"/>
        </a:xfrm>
      </p:grpSpPr>
      <p:sp>
        <p:nvSpPr>
          <p:cNvPr id="2" name="Text 0"/>
          <p:cNvSpPr/>
          <p:nvPr/>
        </p:nvSpPr>
        <p:spPr>
          <a:xfrm>
            <a:off x="548640" y="228600"/>
            <a:ext cx="11064240" cy="274320"/>
          </a:xfrm>
          <a:prstGeom prst="rect">
            <a:avLst/>
          </a:prstGeom>
          <a:noFill/>
          <a:ln/>
        </p:spPr>
        <p:txBody>
          <a:bodyPr wrap="square" lIns="0" tIns="0" rIns="0" bIns="0" rtlCol="0" anchor="ctr"/>
          <a:lstStyle/>
          <a:p>
            <a:pPr indent="0" marL="0">
              <a:buNone/>
            </a:pPr>
            <a:r>
              <a:rPr lang="en-US" sz="1100" b="1" spc="600" kern="0" dirty="0">
                <a:solidFill>
                  <a:srgbClr val="F59E0B"/>
                </a:solidFill>
                <a:latin typeface="DM Sans" pitchFamily="34" charset="0"/>
                <a:ea typeface="DM Sans" pitchFamily="34" charset="-122"/>
                <a:cs typeface="DM Sans" pitchFamily="34" charset="-120"/>
              </a:rPr>
              <a:t>INTERMEDIATE → ADVANCED  ·  PATHWAY 1 OF 2</a:t>
            </a:r>
            <a:endParaRPr lang="en-US" sz="1100" dirty="0"/>
          </a:p>
        </p:txBody>
      </p:sp>
      <p:sp>
        <p:nvSpPr>
          <p:cNvPr id="3" name="Text 1"/>
          <p:cNvSpPr/>
          <p:nvPr/>
        </p:nvSpPr>
        <p:spPr>
          <a:xfrm>
            <a:off x="548640" y="411480"/>
            <a:ext cx="11064240" cy="868680"/>
          </a:xfrm>
          <a:prstGeom prst="rect">
            <a:avLst/>
          </a:prstGeom>
          <a:noFill/>
          <a:ln/>
        </p:spPr>
        <p:txBody>
          <a:bodyPr wrap="square" lIns="0" tIns="0" rIns="0" bIns="0" rtlCol="0" anchor="ctr"/>
          <a:lstStyle/>
          <a:p>
            <a:pPr indent="0" marL="0">
              <a:buNone/>
            </a:pPr>
            <a:r>
              <a:rPr lang="en-US" sz="3600" b="1" i="1" dirty="0">
                <a:solidFill>
                  <a:srgbClr val="FAF6F0"/>
                </a:solidFill>
                <a:latin typeface="Cormorant Garamond" pitchFamily="34" charset="0"/>
                <a:ea typeface="Cormorant Garamond" pitchFamily="34" charset="-122"/>
                <a:cs typeface="Cormorant Garamond" pitchFamily="34" charset="-120"/>
              </a:rPr>
              <a:t>Generative AI Leader</a:t>
            </a:r>
            <a:endParaRPr lang="en-US" sz="3600" dirty="0"/>
          </a:p>
        </p:txBody>
      </p:sp>
      <p:sp>
        <p:nvSpPr>
          <p:cNvPr id="4" name="Shape 2"/>
          <p:cNvSpPr/>
          <p:nvPr/>
        </p:nvSpPr>
        <p:spPr>
          <a:xfrm>
            <a:off x="548640" y="1691640"/>
            <a:ext cx="3535680" cy="4297680"/>
          </a:xfrm>
          <a:prstGeom prst="rect">
            <a:avLst/>
          </a:prstGeom>
          <a:solidFill>
            <a:srgbClr val="1C1308"/>
          </a:solidFill>
          <a:ln w="12700">
            <a:solidFill>
              <a:srgbClr val="1C1308"/>
            </a:solidFill>
            <a:prstDash val="solid"/>
          </a:ln>
        </p:spPr>
      </p:sp>
      <p:sp>
        <p:nvSpPr>
          <p:cNvPr id="5" name="Shape 3"/>
          <p:cNvSpPr/>
          <p:nvPr/>
        </p:nvSpPr>
        <p:spPr>
          <a:xfrm>
            <a:off x="548640" y="1691640"/>
            <a:ext cx="3535680" cy="73152"/>
          </a:xfrm>
          <a:prstGeom prst="rect">
            <a:avLst/>
          </a:prstGeom>
          <a:solidFill>
            <a:srgbClr val="F59E0B"/>
          </a:solidFill>
          <a:ln w="12700">
            <a:solidFill>
              <a:srgbClr val="F59E0B"/>
            </a:solidFill>
            <a:prstDash val="solid"/>
          </a:ln>
        </p:spPr>
      </p:sp>
      <p:sp>
        <p:nvSpPr>
          <p:cNvPr id="6" name="Text 4"/>
          <p:cNvSpPr/>
          <p:nvPr/>
        </p:nvSpPr>
        <p:spPr>
          <a:xfrm>
            <a:off x="822960" y="1920240"/>
            <a:ext cx="2987040" cy="320040"/>
          </a:xfrm>
          <a:prstGeom prst="rect">
            <a:avLst/>
          </a:prstGeom>
          <a:noFill/>
          <a:ln/>
        </p:spPr>
        <p:txBody>
          <a:bodyPr wrap="square" lIns="0" tIns="0" rIns="0" bIns="0" rtlCol="0" anchor="ctr"/>
          <a:lstStyle/>
          <a:p>
            <a:pPr indent="0" marL="0">
              <a:buNone/>
            </a:pPr>
            <a:r>
              <a:rPr lang="en-US" sz="1000" b="1" spc="400" kern="0" dirty="0">
                <a:solidFill>
                  <a:srgbClr val="F59E0B"/>
                </a:solidFill>
                <a:latin typeface="DM Sans" pitchFamily="34" charset="0"/>
                <a:ea typeface="DM Sans" pitchFamily="34" charset="-122"/>
                <a:cs typeface="DM Sans" pitchFamily="34" charset="-120"/>
              </a:rPr>
              <a:t>WHAT THEY LEARN</a:t>
            </a:r>
            <a:endParaRPr lang="en-US" sz="1000" dirty="0"/>
          </a:p>
        </p:txBody>
      </p:sp>
      <p:sp>
        <p:nvSpPr>
          <p:cNvPr id="7" name="Text 5"/>
          <p:cNvSpPr/>
          <p:nvPr/>
        </p:nvSpPr>
        <p:spPr>
          <a:xfrm>
            <a:off x="82296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Business + strategy layer of GenAI. When to use which model. How to evaluate vendors. How to design AI-augmented workflows. Responsible AI governance. How to scale AI adoption. 90-min exam, 50-60 scenario-style MCQ, 75% pass. Lowest-cost cert with highest strategic value.</a:t>
            </a:r>
            <a:endParaRPr lang="en-US" sz="1200" dirty="0"/>
          </a:p>
        </p:txBody>
      </p:sp>
      <p:sp>
        <p:nvSpPr>
          <p:cNvPr id="8" name="Shape 6"/>
          <p:cNvSpPr/>
          <p:nvPr/>
        </p:nvSpPr>
        <p:spPr>
          <a:xfrm>
            <a:off x="4312920" y="1691640"/>
            <a:ext cx="3535680" cy="4297680"/>
          </a:xfrm>
          <a:prstGeom prst="rect">
            <a:avLst/>
          </a:prstGeom>
          <a:solidFill>
            <a:srgbClr val="1C1308"/>
          </a:solidFill>
          <a:ln w="12700">
            <a:solidFill>
              <a:srgbClr val="1C1308"/>
            </a:solidFill>
            <a:prstDash val="solid"/>
          </a:ln>
        </p:spPr>
      </p:sp>
      <p:sp>
        <p:nvSpPr>
          <p:cNvPr id="9" name="Shape 7"/>
          <p:cNvSpPr/>
          <p:nvPr/>
        </p:nvSpPr>
        <p:spPr>
          <a:xfrm>
            <a:off x="4312920" y="1691640"/>
            <a:ext cx="3535680" cy="73152"/>
          </a:xfrm>
          <a:prstGeom prst="rect">
            <a:avLst/>
          </a:prstGeom>
          <a:solidFill>
            <a:srgbClr val="84CC16"/>
          </a:solidFill>
          <a:ln w="12700">
            <a:solidFill>
              <a:srgbClr val="84CC16"/>
            </a:solidFill>
            <a:prstDash val="solid"/>
          </a:ln>
        </p:spPr>
      </p:sp>
      <p:sp>
        <p:nvSpPr>
          <p:cNvPr id="10" name="Text 8"/>
          <p:cNvSpPr/>
          <p:nvPr/>
        </p:nvSpPr>
        <p:spPr>
          <a:xfrm>
            <a:off x="4587240" y="1920240"/>
            <a:ext cx="2987040" cy="320040"/>
          </a:xfrm>
          <a:prstGeom prst="rect">
            <a:avLst/>
          </a:prstGeom>
          <a:noFill/>
          <a:ln/>
        </p:spPr>
        <p:txBody>
          <a:bodyPr wrap="square" lIns="0" tIns="0" rIns="0" bIns="0" rtlCol="0" anchor="ctr"/>
          <a:lstStyle/>
          <a:p>
            <a:pPr indent="0" marL="0">
              <a:buNone/>
            </a:pPr>
            <a:r>
              <a:rPr lang="en-US" sz="1000" b="1" spc="400" kern="0" dirty="0">
                <a:solidFill>
                  <a:srgbClr val="84CC16"/>
                </a:solidFill>
                <a:latin typeface="DM Sans" pitchFamily="34" charset="0"/>
                <a:ea typeface="DM Sans" pitchFamily="34" charset="-122"/>
                <a:cs typeface="DM Sans" pitchFamily="34" charset="-120"/>
              </a:rPr>
              <a:t>HOW IT HELPS PEARL PRIME</a:t>
            </a:r>
            <a:endParaRPr lang="en-US" sz="1000" dirty="0"/>
          </a:p>
        </p:txBody>
      </p:sp>
      <p:sp>
        <p:nvSpPr>
          <p:cNvPr id="11" name="Text 9"/>
          <p:cNvSpPr/>
          <p:nvPr/>
        </p:nvSpPr>
        <p:spPr>
          <a:xfrm>
            <a:off x="458724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Strategy-level — no API integration risk. Senior contributor authors Pearl Prime AI-feature roadmap reviews, evaluates Tier-2 (Ollama) vs Tier-1 (Claude) tradeoffs for new pipelines, contributes to docs/PEARL_PM_STATE.md AI-strategy entries, designs EI v2 dimension priorities. Subsystem: cross-cutting strategy.</a:t>
            </a:r>
            <a:endParaRPr lang="en-US" sz="1200" dirty="0"/>
          </a:p>
        </p:txBody>
      </p:sp>
      <p:sp>
        <p:nvSpPr>
          <p:cNvPr id="12" name="Shape 10"/>
          <p:cNvSpPr/>
          <p:nvPr/>
        </p:nvSpPr>
        <p:spPr>
          <a:xfrm>
            <a:off x="8077200" y="1691640"/>
            <a:ext cx="3535680" cy="4297680"/>
          </a:xfrm>
          <a:prstGeom prst="rect">
            <a:avLst/>
          </a:prstGeom>
          <a:solidFill>
            <a:srgbClr val="1C1308"/>
          </a:solidFill>
          <a:ln w="12700">
            <a:solidFill>
              <a:srgbClr val="1C1308"/>
            </a:solidFill>
            <a:prstDash val="solid"/>
          </a:ln>
        </p:spPr>
      </p:sp>
      <p:sp>
        <p:nvSpPr>
          <p:cNvPr id="13" name="Shape 11"/>
          <p:cNvSpPr/>
          <p:nvPr/>
        </p:nvSpPr>
        <p:spPr>
          <a:xfrm>
            <a:off x="8077200" y="1691640"/>
            <a:ext cx="3535680" cy="73152"/>
          </a:xfrm>
          <a:prstGeom prst="rect">
            <a:avLst/>
          </a:prstGeom>
          <a:solidFill>
            <a:srgbClr val="0891B2"/>
          </a:solidFill>
          <a:ln w="12700">
            <a:solidFill>
              <a:srgbClr val="0891B2"/>
            </a:solidFill>
            <a:prstDash val="solid"/>
          </a:ln>
        </p:spPr>
      </p:sp>
      <p:sp>
        <p:nvSpPr>
          <p:cNvPr id="14" name="Text 12"/>
          <p:cNvSpPr/>
          <p:nvPr/>
        </p:nvSpPr>
        <p:spPr>
          <a:xfrm>
            <a:off x="8351520" y="1920240"/>
            <a:ext cx="2987040" cy="320040"/>
          </a:xfrm>
          <a:prstGeom prst="rect">
            <a:avLst/>
          </a:prstGeom>
          <a:noFill/>
          <a:ln/>
        </p:spPr>
        <p:txBody>
          <a:bodyPr wrap="square" lIns="0" tIns="0" rIns="0" bIns="0" rtlCol="0" anchor="ctr"/>
          <a:lstStyle/>
          <a:p>
            <a:pPr indent="0" marL="0">
              <a:buNone/>
            </a:pPr>
            <a:r>
              <a:rPr lang="en-US" sz="1000" b="1" spc="400" kern="0" dirty="0">
                <a:solidFill>
                  <a:srgbClr val="0891B2"/>
                </a:solidFill>
                <a:latin typeface="DM Sans" pitchFamily="34" charset="0"/>
                <a:ea typeface="DM Sans" pitchFamily="34" charset="-122"/>
                <a:cs typeface="DM Sans" pitchFamily="34" charset="-120"/>
              </a:rPr>
              <a:t>WHAT IT MEANS FOR THEIR CAREER</a:t>
            </a:r>
            <a:endParaRPr lang="en-US" sz="1000" dirty="0"/>
          </a:p>
        </p:txBody>
      </p:sp>
      <p:sp>
        <p:nvSpPr>
          <p:cNvPr id="15" name="Text 13"/>
          <p:cNvSpPr/>
          <p:nvPr/>
        </p:nvSpPr>
        <p:spPr>
          <a:xfrm>
            <a:off x="835152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BLAZING. AI Product Manager Glassdoor median $196,459 (Jun 2026); 25-75 pctl $163-242K. 3-yr progression: Sr AI PM $210-260K → Group PM / Head of AI $260-400K+. Every Fortune 500 is hiring AI strategy roles in 2026 (LinkedIn Jobs on the Rise).</a:t>
            </a:r>
            <a:endParaRPr lang="en-US" sz="1200" dirty="0"/>
          </a:p>
        </p:txBody>
      </p:sp>
      <p:sp>
        <p:nvSpPr>
          <p:cNvPr id="16" name="Shape 14"/>
          <p:cNvSpPr/>
          <p:nvPr/>
        </p:nvSpPr>
        <p:spPr>
          <a:xfrm>
            <a:off x="548640" y="5989320"/>
            <a:ext cx="11064240" cy="411480"/>
          </a:xfrm>
          <a:prstGeom prst="rect">
            <a:avLst/>
          </a:prstGeom>
          <a:solidFill>
            <a:srgbClr val="2B1D0E"/>
          </a:solidFill>
          <a:ln w="12700">
            <a:solidFill>
              <a:srgbClr val="D97706"/>
            </a:solidFill>
            <a:prstDash val="solid"/>
          </a:ln>
        </p:spPr>
      </p:sp>
      <p:sp>
        <p:nvSpPr>
          <p:cNvPr id="17" name="Text 15"/>
          <p:cNvSpPr/>
          <p:nvPr/>
        </p:nvSpPr>
        <p:spPr>
          <a:xfrm>
            <a:off x="731520" y="5989320"/>
            <a:ext cx="10698480" cy="411480"/>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Course: </a:t>
            </a:r>
            <a:pPr indent="0" marL="0">
              <a:buNone/>
            </a:pPr>
            <a:r>
              <a:rPr lang="en-US" sz="1100" b="1" dirty="0">
                <a:solidFill>
                  <a:srgbClr val="FAF6F0"/>
                </a:solidFill>
                <a:latin typeface="DM Sans" pitchFamily="34" charset="0"/>
                <a:ea typeface="DM Sans" pitchFamily="34" charset="-122"/>
                <a:cs typeface="DM Sans" pitchFamily="34" charset="-120"/>
              </a:rPr>
              <a:t>Google Cloud Generative AI Leader</a:t>
            </a:r>
            <a:pPr indent="0" marL="0">
              <a:buNone/>
            </a:pPr>
            <a:r>
              <a:rPr lang="en-US" sz="1100" dirty="0">
                <a:solidFill>
                  <a:srgbClr val="C8BAA6"/>
                </a:solidFill>
                <a:latin typeface="DM Sans" pitchFamily="34" charset="0"/>
                <a:ea typeface="DM Sans" pitchFamily="34" charset="-122"/>
                <a:cs typeface="DM Sans" pitchFamily="34" charset="-120"/>
              </a:rPr>
              <a:t>  ·  $99 exam  ·  ~30 hr prep  ·  Shadow: </a:t>
            </a:r>
            <a:pPr indent="0" marL="0">
              <a:buNone/>
            </a:pPr>
            <a:r>
              <a:rPr lang="en-US" sz="1100" b="1" dirty="0">
                <a:solidFill>
                  <a:srgbClr val="F59E0B"/>
                </a:solidFill>
                <a:latin typeface="DM Sans" pitchFamily="34" charset="0"/>
                <a:ea typeface="DM Sans" pitchFamily="34" charset="-122"/>
                <a:cs typeface="DM Sans" pitchFamily="34" charset="-120"/>
              </a:rPr>
              <a:t>Pearl_PM, Pearl_Architect</a:t>
            </a:r>
            <a:pPr indent="0" marL="0">
              <a:buNone/>
            </a:pPr>
            <a:r>
              <a:rPr lang="en-US" sz="1100" dirty="0">
                <a:solidFill>
                  <a:srgbClr val="C8BAA6"/>
                </a:solidFill>
                <a:latin typeface="DM Sans" pitchFamily="34" charset="0"/>
                <a:ea typeface="DM Sans" pitchFamily="34" charset="-122"/>
                <a:cs typeface="DM Sans" pitchFamily="34" charset="-120"/>
              </a:rPr>
              <a:t>  ·  Subsystem: </a:t>
            </a:r>
            <a:pPr indent="0" marL="0">
              <a:buNone/>
            </a:pPr>
            <a:r>
              <a:rPr lang="en-US" sz="1100" dirty="0">
                <a:solidFill>
                  <a:srgbClr val="FAF6F0"/>
                </a:solidFill>
                <a:latin typeface="DM Sans" pitchFamily="34" charset="0"/>
                <a:ea typeface="DM Sans" pitchFamily="34" charset="-122"/>
                <a:cs typeface="DM Sans" pitchFamily="34" charset="-120"/>
              </a:rPr>
              <a:t>cross-cutting</a:t>
            </a:r>
            <a:endParaRPr lang="en-US" sz="1100" dirty="0"/>
          </a:p>
        </p:txBody>
      </p:sp>
      <p:sp>
        <p:nvSpPr>
          <p:cNvPr id="18" name="Text 16"/>
          <p:cNvSpPr/>
          <p:nvPr/>
        </p:nvSpPr>
        <p:spPr>
          <a:xfrm>
            <a:off x="11064240" y="6492240"/>
            <a:ext cx="822960" cy="228600"/>
          </a:xfrm>
          <a:prstGeom prst="rect">
            <a:avLst/>
          </a:prstGeom>
          <a:noFill/>
          <a:ln/>
        </p:spPr>
        <p:txBody>
          <a:bodyPr wrap="square" lIns="0" tIns="0" rIns="0" bIns="0" rtlCol="0" anchor="ctr"/>
          <a:lstStyle/>
          <a:p>
            <a:pPr algn="r" indent="0" marL="0">
              <a:buNone/>
            </a:pPr>
            <a:r>
              <a:rPr lang="en-US" sz="900" dirty="0">
                <a:solidFill>
                  <a:srgbClr val="8A7A64"/>
                </a:solidFill>
                <a:latin typeface="DM Sans" pitchFamily="34" charset="0"/>
                <a:ea typeface="DM Sans" pitchFamily="34" charset="-122"/>
                <a:cs typeface="DM Sans" pitchFamily="34" charset="-120"/>
              </a:rPr>
              <a:t>11 / 17</a:t>
            </a:r>
            <a:endParaRPr lang="en-US" sz="900" dirty="0"/>
          </a:p>
        </p:txBody>
      </p:sp>
      <p:sp>
        <p:nvSpPr>
          <p:cNvPr id="19" name="Text 17"/>
          <p:cNvSpPr/>
          <p:nvPr/>
        </p:nvSpPr>
        <p:spPr>
          <a:xfrm>
            <a:off x="365760" y="6492240"/>
            <a:ext cx="4572000" cy="228600"/>
          </a:xfrm>
          <a:prstGeom prst="rect">
            <a:avLst/>
          </a:prstGeom>
          <a:noFill/>
          <a:ln/>
        </p:spPr>
        <p:txBody>
          <a:bodyPr wrap="square" lIns="0" tIns="0" rIns="0" bIns="0" rtlCol="0" anchor="ctr"/>
          <a:lstStyle/>
          <a:p>
            <a:pPr algn="l" indent="0" marL="0">
              <a:buNone/>
            </a:pPr>
            <a:r>
              <a:rPr lang="en-US" sz="900" dirty="0">
                <a:solidFill>
                  <a:srgbClr val="8A7A64"/>
                </a:solidFill>
                <a:latin typeface="DM Sans" pitchFamily="34" charset="0"/>
                <a:ea typeface="DM Sans" pitchFamily="34" charset="-122"/>
                <a:cs typeface="DM Sans" pitchFamily="34" charset="-120"/>
              </a:rPr>
              <a:t>PEARL_RESEARCH · 2026-06-09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0A06"/>
        </a:solidFill>
      </p:bgPr>
    </p:bg>
    <p:spTree>
      <p:nvGrpSpPr>
        <p:cNvPr id="1" name=""/>
        <p:cNvGrpSpPr/>
        <p:nvPr/>
      </p:nvGrpSpPr>
      <p:grpSpPr>
        <a:xfrm>
          <a:off x="0" y="0"/>
          <a:ext cx="0" cy="0"/>
          <a:chOff x="0" y="0"/>
          <a:chExt cx="0" cy="0"/>
        </a:xfrm>
      </p:grpSpPr>
      <p:sp>
        <p:nvSpPr>
          <p:cNvPr id="2" name="Text 0"/>
          <p:cNvSpPr/>
          <p:nvPr/>
        </p:nvSpPr>
        <p:spPr>
          <a:xfrm>
            <a:off x="548640" y="228600"/>
            <a:ext cx="11064240" cy="274320"/>
          </a:xfrm>
          <a:prstGeom prst="rect">
            <a:avLst/>
          </a:prstGeom>
          <a:noFill/>
          <a:ln/>
        </p:spPr>
        <p:txBody>
          <a:bodyPr wrap="square" lIns="0" tIns="0" rIns="0" bIns="0" rtlCol="0" anchor="ctr"/>
          <a:lstStyle/>
          <a:p>
            <a:pPr indent="0" marL="0">
              <a:buNone/>
            </a:pPr>
            <a:r>
              <a:rPr lang="en-US" sz="1100" b="1" spc="600" kern="0" dirty="0">
                <a:solidFill>
                  <a:srgbClr val="F59E0B"/>
                </a:solidFill>
                <a:latin typeface="DM Sans" pitchFamily="34" charset="0"/>
                <a:ea typeface="DM Sans" pitchFamily="34" charset="-122"/>
                <a:cs typeface="DM Sans" pitchFamily="34" charset="-120"/>
              </a:rPr>
              <a:t>INTERMEDIATE → ADVANCED  ·  PATHWAY 2 OF 2</a:t>
            </a:r>
            <a:endParaRPr lang="en-US" sz="1100" dirty="0"/>
          </a:p>
        </p:txBody>
      </p:sp>
      <p:sp>
        <p:nvSpPr>
          <p:cNvPr id="3" name="Text 1"/>
          <p:cNvSpPr/>
          <p:nvPr/>
        </p:nvSpPr>
        <p:spPr>
          <a:xfrm>
            <a:off x="548640" y="411480"/>
            <a:ext cx="11064240" cy="868680"/>
          </a:xfrm>
          <a:prstGeom prst="rect">
            <a:avLst/>
          </a:prstGeom>
          <a:noFill/>
          <a:ln/>
        </p:spPr>
        <p:txBody>
          <a:bodyPr wrap="square" lIns="0" tIns="0" rIns="0" bIns="0" rtlCol="0" anchor="ctr"/>
          <a:lstStyle/>
          <a:p>
            <a:pPr indent="0" marL="0">
              <a:buNone/>
            </a:pPr>
            <a:r>
              <a:rPr lang="en-US" sz="3600" b="1" i="1" dirty="0">
                <a:solidFill>
                  <a:srgbClr val="FAF6F0"/>
                </a:solidFill>
                <a:latin typeface="Cormorant Garamond" pitchFamily="34" charset="0"/>
                <a:ea typeface="Cormorant Garamond" pitchFamily="34" charset="-122"/>
                <a:cs typeface="Cormorant Garamond" pitchFamily="34" charset="-120"/>
              </a:rPr>
              <a:t>ML Crash Course + Skills Boost Agents path</a:t>
            </a:r>
            <a:endParaRPr lang="en-US" sz="3600" dirty="0"/>
          </a:p>
        </p:txBody>
      </p:sp>
      <p:sp>
        <p:nvSpPr>
          <p:cNvPr id="4" name="Shape 2"/>
          <p:cNvSpPr/>
          <p:nvPr/>
        </p:nvSpPr>
        <p:spPr>
          <a:xfrm>
            <a:off x="548640" y="1691640"/>
            <a:ext cx="3535680" cy="4297680"/>
          </a:xfrm>
          <a:prstGeom prst="rect">
            <a:avLst/>
          </a:prstGeom>
          <a:solidFill>
            <a:srgbClr val="1C1308"/>
          </a:solidFill>
          <a:ln w="12700">
            <a:solidFill>
              <a:srgbClr val="1C1308"/>
            </a:solidFill>
            <a:prstDash val="solid"/>
          </a:ln>
        </p:spPr>
      </p:sp>
      <p:sp>
        <p:nvSpPr>
          <p:cNvPr id="5" name="Shape 3"/>
          <p:cNvSpPr/>
          <p:nvPr/>
        </p:nvSpPr>
        <p:spPr>
          <a:xfrm>
            <a:off x="548640" y="1691640"/>
            <a:ext cx="3535680" cy="73152"/>
          </a:xfrm>
          <a:prstGeom prst="rect">
            <a:avLst/>
          </a:prstGeom>
          <a:solidFill>
            <a:srgbClr val="F59E0B"/>
          </a:solidFill>
          <a:ln w="12700">
            <a:solidFill>
              <a:srgbClr val="F59E0B"/>
            </a:solidFill>
            <a:prstDash val="solid"/>
          </a:ln>
        </p:spPr>
      </p:sp>
      <p:sp>
        <p:nvSpPr>
          <p:cNvPr id="6" name="Text 4"/>
          <p:cNvSpPr/>
          <p:nvPr/>
        </p:nvSpPr>
        <p:spPr>
          <a:xfrm>
            <a:off x="822960" y="1920240"/>
            <a:ext cx="2987040" cy="320040"/>
          </a:xfrm>
          <a:prstGeom prst="rect">
            <a:avLst/>
          </a:prstGeom>
          <a:noFill/>
          <a:ln/>
        </p:spPr>
        <p:txBody>
          <a:bodyPr wrap="square" lIns="0" tIns="0" rIns="0" bIns="0" rtlCol="0" anchor="ctr"/>
          <a:lstStyle/>
          <a:p>
            <a:pPr indent="0" marL="0">
              <a:buNone/>
            </a:pPr>
            <a:r>
              <a:rPr lang="en-US" sz="1000" b="1" spc="400" kern="0" dirty="0">
                <a:solidFill>
                  <a:srgbClr val="F59E0B"/>
                </a:solidFill>
                <a:latin typeface="DM Sans" pitchFamily="34" charset="0"/>
                <a:ea typeface="DM Sans" pitchFamily="34" charset="-122"/>
                <a:cs typeface="DM Sans" pitchFamily="34" charset="-120"/>
              </a:rPr>
              <a:t>WHAT THEY LEARN</a:t>
            </a:r>
            <a:endParaRPr lang="en-US" sz="1000" dirty="0"/>
          </a:p>
        </p:txBody>
      </p:sp>
      <p:sp>
        <p:nvSpPr>
          <p:cNvPr id="7" name="Text 5"/>
          <p:cNvSpPr/>
          <p:nvPr/>
        </p:nvSpPr>
        <p:spPr>
          <a:xfrm>
            <a:off x="82296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Rigorous foundation in regression, classification, neural networks, embeddings, production ML systems, fairness + responsible AI. Plus agent-orchestration patterns from Vertex AI Agent Builder — planner / executor / tool-calling / state management / error handling.</a:t>
            </a:r>
            <a:endParaRPr lang="en-US" sz="1200" dirty="0"/>
          </a:p>
        </p:txBody>
      </p:sp>
      <p:sp>
        <p:nvSpPr>
          <p:cNvPr id="8" name="Shape 6"/>
          <p:cNvSpPr/>
          <p:nvPr/>
        </p:nvSpPr>
        <p:spPr>
          <a:xfrm>
            <a:off x="4312920" y="1691640"/>
            <a:ext cx="3535680" cy="4297680"/>
          </a:xfrm>
          <a:prstGeom prst="rect">
            <a:avLst/>
          </a:prstGeom>
          <a:solidFill>
            <a:srgbClr val="1C1308"/>
          </a:solidFill>
          <a:ln w="12700">
            <a:solidFill>
              <a:srgbClr val="1C1308"/>
            </a:solidFill>
            <a:prstDash val="solid"/>
          </a:ln>
        </p:spPr>
      </p:sp>
      <p:sp>
        <p:nvSpPr>
          <p:cNvPr id="9" name="Shape 7"/>
          <p:cNvSpPr/>
          <p:nvPr/>
        </p:nvSpPr>
        <p:spPr>
          <a:xfrm>
            <a:off x="4312920" y="1691640"/>
            <a:ext cx="3535680" cy="73152"/>
          </a:xfrm>
          <a:prstGeom prst="rect">
            <a:avLst/>
          </a:prstGeom>
          <a:solidFill>
            <a:srgbClr val="84CC16"/>
          </a:solidFill>
          <a:ln w="12700">
            <a:solidFill>
              <a:srgbClr val="84CC16"/>
            </a:solidFill>
            <a:prstDash val="solid"/>
          </a:ln>
        </p:spPr>
      </p:sp>
      <p:sp>
        <p:nvSpPr>
          <p:cNvPr id="10" name="Text 8"/>
          <p:cNvSpPr/>
          <p:nvPr/>
        </p:nvSpPr>
        <p:spPr>
          <a:xfrm>
            <a:off x="4587240" y="1920240"/>
            <a:ext cx="2987040" cy="320040"/>
          </a:xfrm>
          <a:prstGeom prst="rect">
            <a:avLst/>
          </a:prstGeom>
          <a:noFill/>
          <a:ln/>
        </p:spPr>
        <p:txBody>
          <a:bodyPr wrap="square" lIns="0" tIns="0" rIns="0" bIns="0" rtlCol="0" anchor="ctr"/>
          <a:lstStyle/>
          <a:p>
            <a:pPr indent="0" marL="0">
              <a:buNone/>
            </a:pPr>
            <a:r>
              <a:rPr lang="en-US" sz="1000" b="1" spc="400" kern="0" dirty="0">
                <a:solidFill>
                  <a:srgbClr val="84CC16"/>
                </a:solidFill>
                <a:latin typeface="DM Sans" pitchFamily="34" charset="0"/>
                <a:ea typeface="DM Sans" pitchFamily="34" charset="-122"/>
                <a:cs typeface="DM Sans" pitchFamily="34" charset="-120"/>
              </a:rPr>
              <a:t>HOW IT HELPS PEARL PRIME</a:t>
            </a:r>
            <a:endParaRPr lang="en-US" sz="1000" dirty="0"/>
          </a:p>
        </p:txBody>
      </p:sp>
      <p:sp>
        <p:nvSpPr>
          <p:cNvPr id="11" name="Text 9"/>
          <p:cNvSpPr/>
          <p:nvPr/>
        </p:nvSpPr>
        <p:spPr>
          <a:xfrm>
            <a:off x="458724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Both are FREE and carry zero Tier-policy risk (pedagogy not API integration). ML literacy strengthens EI v2 work + dimension-gate calibration. Agent patterns from Vertex AI map directly onto Pearl Prime 14-agent registry (config/agents/agent_registry.yaml). Senior contributor can pick one Integration roadmap item and ship it. Subsystem: ei_v2, manga (7-agent pipeline).</a:t>
            </a:r>
            <a:endParaRPr lang="en-US" sz="1200" dirty="0"/>
          </a:p>
        </p:txBody>
      </p:sp>
      <p:sp>
        <p:nvSpPr>
          <p:cNvPr id="12" name="Shape 10"/>
          <p:cNvSpPr/>
          <p:nvPr/>
        </p:nvSpPr>
        <p:spPr>
          <a:xfrm>
            <a:off x="8077200" y="1691640"/>
            <a:ext cx="3535680" cy="4297680"/>
          </a:xfrm>
          <a:prstGeom prst="rect">
            <a:avLst/>
          </a:prstGeom>
          <a:solidFill>
            <a:srgbClr val="1C1308"/>
          </a:solidFill>
          <a:ln w="12700">
            <a:solidFill>
              <a:srgbClr val="1C1308"/>
            </a:solidFill>
            <a:prstDash val="solid"/>
          </a:ln>
        </p:spPr>
      </p:sp>
      <p:sp>
        <p:nvSpPr>
          <p:cNvPr id="13" name="Shape 11"/>
          <p:cNvSpPr/>
          <p:nvPr/>
        </p:nvSpPr>
        <p:spPr>
          <a:xfrm>
            <a:off x="8077200" y="1691640"/>
            <a:ext cx="3535680" cy="73152"/>
          </a:xfrm>
          <a:prstGeom prst="rect">
            <a:avLst/>
          </a:prstGeom>
          <a:solidFill>
            <a:srgbClr val="0891B2"/>
          </a:solidFill>
          <a:ln w="12700">
            <a:solidFill>
              <a:srgbClr val="0891B2"/>
            </a:solidFill>
            <a:prstDash val="solid"/>
          </a:ln>
        </p:spPr>
      </p:sp>
      <p:sp>
        <p:nvSpPr>
          <p:cNvPr id="14" name="Text 12"/>
          <p:cNvSpPr/>
          <p:nvPr/>
        </p:nvSpPr>
        <p:spPr>
          <a:xfrm>
            <a:off x="8351520" y="1920240"/>
            <a:ext cx="2987040" cy="320040"/>
          </a:xfrm>
          <a:prstGeom prst="rect">
            <a:avLst/>
          </a:prstGeom>
          <a:noFill/>
          <a:ln/>
        </p:spPr>
        <p:txBody>
          <a:bodyPr wrap="square" lIns="0" tIns="0" rIns="0" bIns="0" rtlCol="0" anchor="ctr"/>
          <a:lstStyle/>
          <a:p>
            <a:pPr indent="0" marL="0">
              <a:buNone/>
            </a:pPr>
            <a:r>
              <a:rPr lang="en-US" sz="1000" b="1" spc="400" kern="0" dirty="0">
                <a:solidFill>
                  <a:srgbClr val="0891B2"/>
                </a:solidFill>
                <a:latin typeface="DM Sans" pitchFamily="34" charset="0"/>
                <a:ea typeface="DM Sans" pitchFamily="34" charset="-122"/>
                <a:cs typeface="DM Sans" pitchFamily="34" charset="-120"/>
              </a:rPr>
              <a:t>WHAT IT MEANS FOR THEIR CAREER</a:t>
            </a:r>
            <a:endParaRPr lang="en-US" sz="1000" dirty="0"/>
          </a:p>
        </p:txBody>
      </p:sp>
      <p:sp>
        <p:nvSpPr>
          <p:cNvPr id="15" name="Text 13"/>
          <p:cNvSpPr/>
          <p:nvPr/>
        </p:nvSpPr>
        <p:spPr>
          <a:xfrm>
            <a:off x="8351520" y="2331720"/>
            <a:ext cx="2987040" cy="3474720"/>
          </a:xfrm>
          <a:prstGeom prst="rect">
            <a:avLst/>
          </a:prstGeom>
          <a:noFill/>
          <a:ln/>
        </p:spPr>
        <p:txBody>
          <a:bodyPr wrap="square" lIns="0" tIns="0" rIns="0" bIns="0" rtlCol="0" anchor="ctr"/>
          <a:lstStyle/>
          <a:p>
            <a:pPr indent="0" marL="0">
              <a:spcAft>
                <a:spcPts val="600"/>
              </a:spcAft>
              <a:buNone/>
            </a:pPr>
            <a:r>
              <a:rPr lang="en-US" sz="1200" dirty="0">
                <a:solidFill>
                  <a:srgbClr val="FAF6F0"/>
                </a:solidFill>
                <a:latin typeface="DM Sans" pitchFamily="34" charset="0"/>
                <a:ea typeface="DM Sans" pitchFamily="34" charset="-122"/>
                <a:cs typeface="DM Sans" pitchFamily="34" charset="-120"/>
              </a:rPr>
              <a:t>Strong supporting credential rather than headline. AI/ML literacy + agent orchestration command BLAZING salaries when paired with shipped portfolio (ML Eng $150-220K mid-senior; MLOps premium +25-40%). At advanced tier the career-value-per-hour shifts from cert badges to shipped integrations.</a:t>
            </a:r>
            <a:endParaRPr lang="en-US" sz="1200" dirty="0"/>
          </a:p>
        </p:txBody>
      </p:sp>
      <p:sp>
        <p:nvSpPr>
          <p:cNvPr id="16" name="Shape 14"/>
          <p:cNvSpPr/>
          <p:nvPr/>
        </p:nvSpPr>
        <p:spPr>
          <a:xfrm>
            <a:off x="548640" y="5989320"/>
            <a:ext cx="11064240" cy="411480"/>
          </a:xfrm>
          <a:prstGeom prst="rect">
            <a:avLst/>
          </a:prstGeom>
          <a:solidFill>
            <a:srgbClr val="2B1D0E"/>
          </a:solidFill>
          <a:ln w="12700">
            <a:solidFill>
              <a:srgbClr val="D97706"/>
            </a:solidFill>
            <a:prstDash val="solid"/>
          </a:ln>
        </p:spPr>
      </p:sp>
      <p:sp>
        <p:nvSpPr>
          <p:cNvPr id="17" name="Text 15"/>
          <p:cNvSpPr/>
          <p:nvPr/>
        </p:nvSpPr>
        <p:spPr>
          <a:xfrm>
            <a:off x="731520" y="5989320"/>
            <a:ext cx="10698480" cy="411480"/>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Course: </a:t>
            </a:r>
            <a:pPr indent="0" marL="0">
              <a:buNone/>
            </a:pPr>
            <a:r>
              <a:rPr lang="en-US" sz="1100" b="1" dirty="0">
                <a:solidFill>
                  <a:srgbClr val="FAF6F0"/>
                </a:solidFill>
                <a:latin typeface="DM Sans" pitchFamily="34" charset="0"/>
                <a:ea typeface="DM Sans" pitchFamily="34" charset="-122"/>
                <a:cs typeface="DM Sans" pitchFamily="34" charset="-120"/>
              </a:rPr>
              <a:t>ML Crash Course + Skills Boost Agents path</a:t>
            </a:r>
            <a:pPr indent="0" marL="0">
              <a:buNone/>
            </a:pPr>
            <a:r>
              <a:rPr lang="en-US" sz="1100" dirty="0">
                <a:solidFill>
                  <a:srgbClr val="C8BAA6"/>
                </a:solidFill>
                <a:latin typeface="DM Sans" pitchFamily="34" charset="0"/>
                <a:ea typeface="DM Sans" pitchFamily="34" charset="-122"/>
                <a:cs typeface="DM Sans" pitchFamily="34" charset="-120"/>
              </a:rPr>
              <a:t>  ·  Free  ·  ~60 hr combined  ·  Shadow: </a:t>
            </a:r>
            <a:pPr indent="0" marL="0">
              <a:buNone/>
            </a:pPr>
            <a:r>
              <a:rPr lang="en-US" sz="1100" b="1" dirty="0">
                <a:solidFill>
                  <a:srgbClr val="F59E0B"/>
                </a:solidFill>
                <a:latin typeface="DM Sans" pitchFamily="34" charset="0"/>
                <a:ea typeface="DM Sans" pitchFamily="34" charset="-122"/>
                <a:cs typeface="DM Sans" pitchFamily="34" charset="-120"/>
              </a:rPr>
              <a:t>Pearl_Research, Pearl_Dev</a:t>
            </a:r>
            <a:pPr indent="0" marL="0">
              <a:buNone/>
            </a:pPr>
            <a:r>
              <a:rPr lang="en-US" sz="1100" dirty="0">
                <a:solidFill>
                  <a:srgbClr val="C8BAA6"/>
                </a:solidFill>
                <a:latin typeface="DM Sans" pitchFamily="34" charset="0"/>
                <a:ea typeface="DM Sans" pitchFamily="34" charset="-122"/>
                <a:cs typeface="DM Sans" pitchFamily="34" charset="-120"/>
              </a:rPr>
              <a:t>  ·  Subsystem: </a:t>
            </a:r>
            <a:pPr indent="0" marL="0">
              <a:buNone/>
            </a:pPr>
            <a:r>
              <a:rPr lang="en-US" sz="1100" dirty="0">
                <a:solidFill>
                  <a:srgbClr val="FAF6F0"/>
                </a:solidFill>
                <a:latin typeface="DM Sans" pitchFamily="34" charset="0"/>
                <a:ea typeface="DM Sans" pitchFamily="34" charset="-122"/>
                <a:cs typeface="DM Sans" pitchFamily="34" charset="-120"/>
              </a:rPr>
              <a:t>ei_v2, manga</a:t>
            </a:r>
            <a:endParaRPr lang="en-US" sz="1100" dirty="0"/>
          </a:p>
        </p:txBody>
      </p:sp>
      <p:sp>
        <p:nvSpPr>
          <p:cNvPr id="18" name="Text 16"/>
          <p:cNvSpPr/>
          <p:nvPr/>
        </p:nvSpPr>
        <p:spPr>
          <a:xfrm>
            <a:off x="11064240" y="6492240"/>
            <a:ext cx="822960" cy="228600"/>
          </a:xfrm>
          <a:prstGeom prst="rect">
            <a:avLst/>
          </a:prstGeom>
          <a:noFill/>
          <a:ln/>
        </p:spPr>
        <p:txBody>
          <a:bodyPr wrap="square" lIns="0" tIns="0" rIns="0" bIns="0" rtlCol="0" anchor="ctr"/>
          <a:lstStyle/>
          <a:p>
            <a:pPr algn="r" indent="0" marL="0">
              <a:buNone/>
            </a:pPr>
            <a:r>
              <a:rPr lang="en-US" sz="900" dirty="0">
                <a:solidFill>
                  <a:srgbClr val="8A7A64"/>
                </a:solidFill>
                <a:latin typeface="DM Sans" pitchFamily="34" charset="0"/>
                <a:ea typeface="DM Sans" pitchFamily="34" charset="-122"/>
                <a:cs typeface="DM Sans" pitchFamily="34" charset="-120"/>
              </a:rPr>
              <a:t>12 / 17</a:t>
            </a:r>
            <a:endParaRPr lang="en-US" sz="900" dirty="0"/>
          </a:p>
        </p:txBody>
      </p:sp>
      <p:sp>
        <p:nvSpPr>
          <p:cNvPr id="19" name="Text 17"/>
          <p:cNvSpPr/>
          <p:nvPr/>
        </p:nvSpPr>
        <p:spPr>
          <a:xfrm>
            <a:off x="365760" y="6492240"/>
            <a:ext cx="4572000" cy="228600"/>
          </a:xfrm>
          <a:prstGeom prst="rect">
            <a:avLst/>
          </a:prstGeom>
          <a:noFill/>
          <a:ln/>
        </p:spPr>
        <p:txBody>
          <a:bodyPr wrap="square" lIns="0" tIns="0" rIns="0" bIns="0" rtlCol="0" anchor="ctr"/>
          <a:lstStyle/>
          <a:p>
            <a:pPr algn="l" indent="0" marL="0">
              <a:buNone/>
            </a:pPr>
            <a:r>
              <a:rPr lang="en-US" sz="900" dirty="0">
                <a:solidFill>
                  <a:srgbClr val="8A7A64"/>
                </a:solidFill>
                <a:latin typeface="DM Sans" pitchFamily="34" charset="0"/>
                <a:ea typeface="DM Sans" pitchFamily="34" charset="-122"/>
                <a:cs typeface="DM Sans" pitchFamily="34" charset="-120"/>
              </a:rPr>
              <a:t>PEARL_RESEARCH · 2026-06-09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0A06"/>
        </a:solidFill>
      </p:bgPr>
    </p:bg>
    <p:spTree>
      <p:nvGrpSpPr>
        <p:cNvPr id="1" name=""/>
        <p:cNvGrpSpPr/>
        <p:nvPr/>
      </p:nvGrpSpPr>
      <p:grpSpPr>
        <a:xfrm>
          <a:off x="0" y="0"/>
          <a:ext cx="0" cy="0"/>
          <a:chOff x="0" y="0"/>
          <a:chExt cx="0" cy="0"/>
        </a:xfrm>
      </p:grpSpPr>
      <p:sp>
        <p:nvSpPr>
          <p:cNvPr id="2" name="Text 0"/>
          <p:cNvSpPr/>
          <p:nvPr/>
        </p:nvSpPr>
        <p:spPr>
          <a:xfrm>
            <a:off x="548640" y="228600"/>
            <a:ext cx="11064240" cy="274320"/>
          </a:xfrm>
          <a:prstGeom prst="rect">
            <a:avLst/>
          </a:prstGeom>
          <a:noFill/>
          <a:ln/>
        </p:spPr>
        <p:txBody>
          <a:bodyPr wrap="square" lIns="0" tIns="0" rIns="0" bIns="0" rtlCol="0" anchor="ctr"/>
          <a:lstStyle/>
          <a:p>
            <a:pPr indent="0" marL="0">
              <a:buNone/>
            </a:pPr>
            <a:r>
              <a:rPr lang="en-US" sz="1100" b="1" spc="600" kern="0" dirty="0">
                <a:solidFill>
                  <a:srgbClr val="F59E0B"/>
                </a:solidFill>
                <a:latin typeface="DM Sans" pitchFamily="34" charset="0"/>
                <a:ea typeface="DM Sans" pitchFamily="34" charset="-122"/>
                <a:cs typeface="DM Sans" pitchFamily="34" charset="-120"/>
              </a:rPr>
              <a:t>GAP ANALYSIS</a:t>
            </a:r>
            <a:endParaRPr lang="en-US" sz="1100" dirty="0"/>
          </a:p>
        </p:txBody>
      </p:sp>
      <p:sp>
        <p:nvSpPr>
          <p:cNvPr id="3" name="Text 1"/>
          <p:cNvSpPr/>
          <p:nvPr/>
        </p:nvSpPr>
        <p:spPr>
          <a:xfrm>
            <a:off x="548640" y="411480"/>
            <a:ext cx="11064240" cy="868680"/>
          </a:xfrm>
          <a:prstGeom prst="rect">
            <a:avLst/>
          </a:prstGeom>
          <a:noFill/>
          <a:ln/>
        </p:spPr>
        <p:txBody>
          <a:bodyPr wrap="square" lIns="0" tIns="0" rIns="0" bIns="0" rtlCol="0" anchor="ctr"/>
          <a:lstStyle/>
          <a:p>
            <a:pPr indent="0" marL="0">
              <a:buNone/>
            </a:pPr>
            <a:r>
              <a:rPr lang="en-US" sz="3600" b="1" i="1" dirty="0">
                <a:solidFill>
                  <a:srgbClr val="FAF6F0"/>
                </a:solidFill>
                <a:latin typeface="Cormorant Garamond" pitchFamily="34" charset="0"/>
                <a:ea typeface="Cormorant Garamond" pitchFamily="34" charset="-122"/>
                <a:cs typeface="Cormorant Garamond" pitchFamily="34" charset="-120"/>
              </a:rPr>
              <a:t>Hot in market but NOT in Pearl Prime today</a:t>
            </a:r>
            <a:endParaRPr lang="en-US" sz="3600" dirty="0"/>
          </a:p>
        </p:txBody>
      </p:sp>
      <p:sp>
        <p:nvSpPr>
          <p:cNvPr id="4" name="Text 2"/>
          <p:cNvSpPr/>
          <p:nvPr/>
        </p:nvSpPr>
        <p:spPr>
          <a:xfrm>
            <a:off x="548640" y="1417320"/>
            <a:ext cx="5029200" cy="228600"/>
          </a:xfrm>
          <a:prstGeom prst="rect">
            <a:avLst/>
          </a:prstGeom>
          <a:noFill/>
          <a:ln/>
        </p:spPr>
        <p:txBody>
          <a:bodyPr wrap="square" lIns="0" tIns="0" rIns="0" bIns="0" rtlCol="0" anchor="ctr"/>
          <a:lstStyle/>
          <a:p>
            <a:pPr indent="0" marL="0">
              <a:buNone/>
            </a:pPr>
            <a:r>
              <a:rPr lang="en-US" sz="900" b="1" spc="300" kern="0" dirty="0">
                <a:solidFill>
                  <a:srgbClr val="8A7A64"/>
                </a:solidFill>
                <a:latin typeface="DM Sans" pitchFamily="34" charset="0"/>
                <a:ea typeface="DM Sans" pitchFamily="34" charset="-122"/>
                <a:cs typeface="DM Sans" pitchFamily="34" charset="-120"/>
              </a:rPr>
              <a:t>HOT SKILL AREA</a:t>
            </a:r>
            <a:endParaRPr lang="en-US" sz="900" dirty="0"/>
          </a:p>
        </p:txBody>
      </p:sp>
      <p:sp>
        <p:nvSpPr>
          <p:cNvPr id="5" name="Text 3"/>
          <p:cNvSpPr/>
          <p:nvPr/>
        </p:nvSpPr>
        <p:spPr>
          <a:xfrm>
            <a:off x="5577840" y="1417320"/>
            <a:ext cx="2743200" cy="228600"/>
          </a:xfrm>
          <a:prstGeom prst="rect">
            <a:avLst/>
          </a:prstGeom>
          <a:noFill/>
          <a:ln/>
        </p:spPr>
        <p:txBody>
          <a:bodyPr wrap="square" lIns="0" tIns="0" rIns="0" bIns="0" rtlCol="0" anchor="ctr"/>
          <a:lstStyle/>
          <a:p>
            <a:pPr indent="0" marL="0">
              <a:buNone/>
            </a:pPr>
            <a:r>
              <a:rPr lang="en-US" sz="900" b="1" spc="300" kern="0" dirty="0">
                <a:solidFill>
                  <a:srgbClr val="8A7A64"/>
                </a:solidFill>
                <a:latin typeface="DM Sans" pitchFamily="34" charset="0"/>
                <a:ea typeface="DM Sans" pitchFamily="34" charset="-122"/>
                <a:cs typeface="DM Sans" pitchFamily="34" charset="-120"/>
              </a:rPr>
              <a:t>2026 US MARKET SIGNAL</a:t>
            </a:r>
            <a:endParaRPr lang="en-US" sz="900" dirty="0"/>
          </a:p>
        </p:txBody>
      </p:sp>
      <p:sp>
        <p:nvSpPr>
          <p:cNvPr id="6" name="Text 4"/>
          <p:cNvSpPr/>
          <p:nvPr/>
        </p:nvSpPr>
        <p:spPr>
          <a:xfrm>
            <a:off x="8321040" y="1417320"/>
            <a:ext cx="1463040" cy="228600"/>
          </a:xfrm>
          <a:prstGeom prst="rect">
            <a:avLst/>
          </a:prstGeom>
          <a:noFill/>
          <a:ln/>
        </p:spPr>
        <p:txBody>
          <a:bodyPr wrap="square" lIns="0" tIns="0" rIns="0" bIns="0" rtlCol="0" anchor="ctr"/>
          <a:lstStyle/>
          <a:p>
            <a:pPr indent="0" marL="0">
              <a:buNone/>
            </a:pPr>
            <a:r>
              <a:rPr lang="en-US" sz="900" b="1" spc="300" kern="0" dirty="0">
                <a:solidFill>
                  <a:srgbClr val="8A7A64"/>
                </a:solidFill>
                <a:latin typeface="DM Sans" pitchFamily="34" charset="0"/>
                <a:ea typeface="DM Sans" pitchFamily="34" charset="-122"/>
                <a:cs typeface="DM Sans" pitchFamily="34" charset="-120"/>
              </a:rPr>
              <a:t>VERDICT</a:t>
            </a:r>
            <a:endParaRPr lang="en-US" sz="900" dirty="0"/>
          </a:p>
        </p:txBody>
      </p:sp>
      <p:sp>
        <p:nvSpPr>
          <p:cNvPr id="7" name="Text 5"/>
          <p:cNvSpPr/>
          <p:nvPr/>
        </p:nvSpPr>
        <p:spPr>
          <a:xfrm>
            <a:off x="9784080" y="1417320"/>
            <a:ext cx="1828800" cy="228600"/>
          </a:xfrm>
          <a:prstGeom prst="rect">
            <a:avLst/>
          </a:prstGeom>
          <a:noFill/>
          <a:ln/>
        </p:spPr>
        <p:txBody>
          <a:bodyPr wrap="square" lIns="0" tIns="0" rIns="0" bIns="0" rtlCol="0" anchor="ctr"/>
          <a:lstStyle/>
          <a:p>
            <a:pPr indent="0" marL="0">
              <a:buNone/>
            </a:pPr>
            <a:r>
              <a:rPr lang="en-US" sz="900" b="1" spc="300" kern="0" dirty="0">
                <a:solidFill>
                  <a:srgbClr val="8A7A64"/>
                </a:solidFill>
                <a:latin typeface="DM Sans" pitchFamily="34" charset="0"/>
                <a:ea typeface="DM Sans" pitchFamily="34" charset="-122"/>
                <a:cs typeface="DM Sans" pitchFamily="34" charset="-120"/>
              </a:rPr>
              <a:t>PROPOSED PATH</a:t>
            </a:r>
            <a:endParaRPr lang="en-US" sz="900" dirty="0"/>
          </a:p>
        </p:txBody>
      </p:sp>
      <p:sp>
        <p:nvSpPr>
          <p:cNvPr id="8" name="Shape 6"/>
          <p:cNvSpPr/>
          <p:nvPr/>
        </p:nvSpPr>
        <p:spPr>
          <a:xfrm>
            <a:off x="548640" y="1691640"/>
            <a:ext cx="11064240" cy="384048"/>
          </a:xfrm>
          <a:prstGeom prst="rect">
            <a:avLst/>
          </a:prstGeom>
          <a:solidFill>
            <a:srgbClr val="1C1308"/>
          </a:solidFill>
          <a:ln w="12700">
            <a:solidFill>
              <a:srgbClr val="1C1308"/>
            </a:solidFill>
            <a:prstDash val="solid"/>
          </a:ln>
        </p:spPr>
      </p:sp>
      <p:sp>
        <p:nvSpPr>
          <p:cNvPr id="9" name="Text 7"/>
          <p:cNvSpPr/>
          <p:nvPr/>
        </p:nvSpPr>
        <p:spPr>
          <a:xfrm>
            <a:off x="731520" y="1691640"/>
            <a:ext cx="4846320" cy="384048"/>
          </a:xfrm>
          <a:prstGeom prst="rect">
            <a:avLst/>
          </a:prstGeom>
          <a:noFill/>
          <a:ln/>
        </p:spPr>
        <p:txBody>
          <a:bodyPr wrap="square" lIns="0" tIns="0" rIns="0" bIns="0" rtlCol="0" anchor="ctr"/>
          <a:lstStyle/>
          <a:p>
            <a:pPr indent="0" marL="0">
              <a:buNone/>
            </a:pPr>
            <a:r>
              <a:rPr lang="en-US" sz="1100" dirty="0">
                <a:solidFill>
                  <a:srgbClr val="FAF6F0"/>
                </a:solidFill>
                <a:latin typeface="DM Sans" pitchFamily="34" charset="0"/>
                <a:ea typeface="DM Sans" pitchFamily="34" charset="-122"/>
                <a:cs typeface="DM Sans" pitchFamily="34" charset="-120"/>
              </a:rPr>
              <a:t>GCP Cloud Architecture (Pro Cloud Architect)</a:t>
            </a:r>
            <a:endParaRPr lang="en-US" sz="1100" dirty="0"/>
          </a:p>
        </p:txBody>
      </p:sp>
      <p:sp>
        <p:nvSpPr>
          <p:cNvPr id="10" name="Text 8"/>
          <p:cNvSpPr/>
          <p:nvPr/>
        </p:nvSpPr>
        <p:spPr>
          <a:xfrm>
            <a:off x="5577840" y="1691640"/>
            <a:ext cx="2743200" cy="384048"/>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$165-210K → $300K+</a:t>
            </a:r>
            <a:endParaRPr lang="en-US" sz="1100" dirty="0"/>
          </a:p>
        </p:txBody>
      </p:sp>
      <p:sp>
        <p:nvSpPr>
          <p:cNvPr id="11" name="Shape 9"/>
          <p:cNvSpPr/>
          <p:nvPr/>
        </p:nvSpPr>
        <p:spPr>
          <a:xfrm>
            <a:off x="8275320" y="1746504"/>
            <a:ext cx="1463040" cy="274320"/>
          </a:xfrm>
          <a:prstGeom prst="rect">
            <a:avLst/>
          </a:prstGeom>
          <a:solidFill>
            <a:srgbClr val="EF4444"/>
          </a:solidFill>
          <a:ln w="12700">
            <a:solidFill>
              <a:srgbClr val="EF4444"/>
            </a:solidFill>
            <a:prstDash val="solid"/>
          </a:ln>
        </p:spPr>
      </p:sp>
      <p:sp>
        <p:nvSpPr>
          <p:cNvPr id="12" name="Text 10"/>
          <p:cNvSpPr/>
          <p:nvPr/>
        </p:nvSpPr>
        <p:spPr>
          <a:xfrm>
            <a:off x="8275320" y="1746504"/>
            <a:ext cx="1463040" cy="274320"/>
          </a:xfrm>
          <a:prstGeom prst="rect">
            <a:avLst/>
          </a:prstGeom>
          <a:noFill/>
          <a:ln/>
        </p:spPr>
        <p:txBody>
          <a:bodyPr wrap="square" lIns="0" tIns="0" rIns="0" bIns="0" rtlCol="0" anchor="ctr"/>
          <a:lstStyle/>
          <a:p>
            <a:pPr algn="ctr" indent="0" marL="0">
              <a:buNone/>
            </a:pPr>
            <a:r>
              <a:rPr lang="en-US" sz="900" b="1" spc="100" kern="0" dirty="0">
                <a:solidFill>
                  <a:srgbClr val="0E0A06"/>
                </a:solidFill>
                <a:latin typeface="DM Sans" pitchFamily="34" charset="0"/>
                <a:ea typeface="DM Sans" pitchFamily="34" charset="-122"/>
                <a:cs typeface="DM Sans" pitchFamily="34" charset="-120"/>
              </a:rPr>
              <a:t>NO direct</a:t>
            </a:r>
            <a:endParaRPr lang="en-US" sz="900" dirty="0"/>
          </a:p>
        </p:txBody>
      </p:sp>
      <p:sp>
        <p:nvSpPr>
          <p:cNvPr id="13" name="Text 11"/>
          <p:cNvSpPr/>
          <p:nvPr/>
        </p:nvSpPr>
        <p:spPr>
          <a:xfrm>
            <a:off x="9829800" y="1691640"/>
            <a:ext cx="1828800" cy="384048"/>
          </a:xfrm>
          <a:prstGeom prst="rect">
            <a:avLst/>
          </a:prstGeom>
          <a:noFill/>
          <a:ln/>
        </p:spPr>
        <p:txBody>
          <a:bodyPr wrap="square" lIns="0" tIns="0" rIns="0" bIns="0" rtlCol="0" anchor="ctr"/>
          <a:lstStyle/>
          <a:p>
            <a:pPr indent="0" marL="0">
              <a:buNone/>
            </a:pPr>
            <a:r>
              <a:rPr lang="en-US" sz="1000" i="1" dirty="0">
                <a:solidFill>
                  <a:srgbClr val="C8BAA6"/>
                </a:solidFill>
                <a:latin typeface="DM Sans" pitchFamily="34" charset="0"/>
                <a:ea typeface="DM Sans" pitchFamily="34" charset="-122"/>
                <a:cs typeface="DM Sans" pitchFamily="34" charset="-120"/>
              </a:rPr>
              <a:t>Concepts → Cloudflare</a:t>
            </a:r>
            <a:endParaRPr lang="en-US" sz="1000" dirty="0"/>
          </a:p>
        </p:txBody>
      </p:sp>
      <p:sp>
        <p:nvSpPr>
          <p:cNvPr id="14" name="Shape 12"/>
          <p:cNvSpPr/>
          <p:nvPr/>
        </p:nvSpPr>
        <p:spPr>
          <a:xfrm>
            <a:off x="548640" y="2121408"/>
            <a:ext cx="11064240" cy="384048"/>
          </a:xfrm>
          <a:prstGeom prst="rect">
            <a:avLst/>
          </a:prstGeom>
          <a:solidFill>
            <a:srgbClr val="1C1308"/>
          </a:solidFill>
          <a:ln w="12700">
            <a:solidFill>
              <a:srgbClr val="1C1308"/>
            </a:solidFill>
            <a:prstDash val="solid"/>
          </a:ln>
        </p:spPr>
      </p:sp>
      <p:sp>
        <p:nvSpPr>
          <p:cNvPr id="15" name="Text 13"/>
          <p:cNvSpPr/>
          <p:nvPr/>
        </p:nvSpPr>
        <p:spPr>
          <a:xfrm>
            <a:off x="731520" y="2121408"/>
            <a:ext cx="4846320" cy="384048"/>
          </a:xfrm>
          <a:prstGeom prst="rect">
            <a:avLst/>
          </a:prstGeom>
          <a:noFill/>
          <a:ln/>
        </p:spPr>
        <p:txBody>
          <a:bodyPr wrap="square" lIns="0" tIns="0" rIns="0" bIns="0" rtlCol="0" anchor="ctr"/>
          <a:lstStyle/>
          <a:p>
            <a:pPr indent="0" marL="0">
              <a:buNone/>
            </a:pPr>
            <a:r>
              <a:rPr lang="en-US" sz="1100" dirty="0">
                <a:solidFill>
                  <a:srgbClr val="FAF6F0"/>
                </a:solidFill>
                <a:latin typeface="DM Sans" pitchFamily="34" charset="0"/>
                <a:ea typeface="DM Sans" pitchFamily="34" charset="-122"/>
                <a:cs typeface="DM Sans" pitchFamily="34" charset="-120"/>
              </a:rPr>
              <a:t>GCP Data Engineering (Pro Data Engineer)</a:t>
            </a:r>
            <a:endParaRPr lang="en-US" sz="1100" dirty="0"/>
          </a:p>
        </p:txBody>
      </p:sp>
      <p:sp>
        <p:nvSpPr>
          <p:cNvPr id="16" name="Text 14"/>
          <p:cNvSpPr/>
          <p:nvPr/>
        </p:nvSpPr>
        <p:spPr>
          <a:xfrm>
            <a:off x="5577840" y="2121408"/>
            <a:ext cx="2743200" cy="384048"/>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$165K+ ($135-205K)</a:t>
            </a:r>
            <a:endParaRPr lang="en-US" sz="1100" dirty="0"/>
          </a:p>
        </p:txBody>
      </p:sp>
      <p:sp>
        <p:nvSpPr>
          <p:cNvPr id="17" name="Shape 15"/>
          <p:cNvSpPr/>
          <p:nvPr/>
        </p:nvSpPr>
        <p:spPr>
          <a:xfrm>
            <a:off x="8275320" y="2176272"/>
            <a:ext cx="1463040" cy="274320"/>
          </a:xfrm>
          <a:prstGeom prst="rect">
            <a:avLst/>
          </a:prstGeom>
          <a:solidFill>
            <a:srgbClr val="F59E0B"/>
          </a:solidFill>
          <a:ln w="12700">
            <a:solidFill>
              <a:srgbClr val="F59E0B"/>
            </a:solidFill>
            <a:prstDash val="solid"/>
          </a:ln>
        </p:spPr>
      </p:sp>
      <p:sp>
        <p:nvSpPr>
          <p:cNvPr id="18" name="Text 16"/>
          <p:cNvSpPr/>
          <p:nvPr/>
        </p:nvSpPr>
        <p:spPr>
          <a:xfrm>
            <a:off x="8275320" y="2176272"/>
            <a:ext cx="1463040" cy="274320"/>
          </a:xfrm>
          <a:prstGeom prst="rect">
            <a:avLst/>
          </a:prstGeom>
          <a:noFill/>
          <a:ln/>
        </p:spPr>
        <p:txBody>
          <a:bodyPr wrap="square" lIns="0" tIns="0" rIns="0" bIns="0" rtlCol="0" anchor="ctr"/>
          <a:lstStyle/>
          <a:p>
            <a:pPr algn="ctr" indent="0" marL="0">
              <a:buNone/>
            </a:pPr>
            <a:r>
              <a:rPr lang="en-US" sz="900" b="1" spc="100" kern="0" dirty="0">
                <a:solidFill>
                  <a:srgbClr val="0E0A06"/>
                </a:solidFill>
                <a:latin typeface="DM Sans" pitchFamily="34" charset="0"/>
                <a:ea typeface="DM Sans" pitchFamily="34" charset="-122"/>
                <a:cs typeface="DM Sans" pitchFamily="34" charset="-120"/>
              </a:rPr>
              <a:t>PARTIAL</a:t>
            </a:r>
            <a:endParaRPr lang="en-US" sz="900" dirty="0"/>
          </a:p>
        </p:txBody>
      </p:sp>
      <p:sp>
        <p:nvSpPr>
          <p:cNvPr id="19" name="Text 17"/>
          <p:cNvSpPr/>
          <p:nvPr/>
        </p:nvSpPr>
        <p:spPr>
          <a:xfrm>
            <a:off x="9829800" y="2121408"/>
            <a:ext cx="1828800" cy="384048"/>
          </a:xfrm>
          <a:prstGeom prst="rect">
            <a:avLst/>
          </a:prstGeom>
          <a:noFill/>
          <a:ln/>
        </p:spPr>
        <p:txBody>
          <a:bodyPr wrap="square" lIns="0" tIns="0" rIns="0" bIns="0" rtlCol="0" anchor="ctr"/>
          <a:lstStyle/>
          <a:p>
            <a:pPr indent="0" marL="0">
              <a:buNone/>
            </a:pPr>
            <a:r>
              <a:rPr lang="en-US" sz="1000" i="1" dirty="0">
                <a:solidFill>
                  <a:srgbClr val="C8BAA6"/>
                </a:solidFill>
                <a:latin typeface="DM Sans" pitchFamily="34" charset="0"/>
                <a:ea typeface="DM Sans" pitchFamily="34" charset="-122"/>
                <a:cs typeface="DM Sans" pitchFamily="34" charset="-120"/>
              </a:rPr>
              <a:t>→ DuckDB on YAML SSOT</a:t>
            </a:r>
            <a:endParaRPr lang="en-US" sz="1000" dirty="0"/>
          </a:p>
        </p:txBody>
      </p:sp>
      <p:sp>
        <p:nvSpPr>
          <p:cNvPr id="20" name="Shape 18"/>
          <p:cNvSpPr/>
          <p:nvPr/>
        </p:nvSpPr>
        <p:spPr>
          <a:xfrm>
            <a:off x="548640" y="2551176"/>
            <a:ext cx="11064240" cy="384048"/>
          </a:xfrm>
          <a:prstGeom prst="rect">
            <a:avLst/>
          </a:prstGeom>
          <a:solidFill>
            <a:srgbClr val="1C1308"/>
          </a:solidFill>
          <a:ln w="12700">
            <a:solidFill>
              <a:srgbClr val="1C1308"/>
            </a:solidFill>
            <a:prstDash val="solid"/>
          </a:ln>
        </p:spPr>
      </p:sp>
      <p:sp>
        <p:nvSpPr>
          <p:cNvPr id="21" name="Text 19"/>
          <p:cNvSpPr/>
          <p:nvPr/>
        </p:nvSpPr>
        <p:spPr>
          <a:xfrm>
            <a:off x="731520" y="2551176"/>
            <a:ext cx="4846320" cy="384048"/>
          </a:xfrm>
          <a:prstGeom prst="rect">
            <a:avLst/>
          </a:prstGeom>
          <a:noFill/>
          <a:ln/>
        </p:spPr>
        <p:txBody>
          <a:bodyPr wrap="square" lIns="0" tIns="0" rIns="0" bIns="0" rtlCol="0" anchor="ctr"/>
          <a:lstStyle/>
          <a:p>
            <a:pPr indent="0" marL="0">
              <a:buNone/>
            </a:pPr>
            <a:r>
              <a:rPr lang="en-US" sz="1100" dirty="0">
                <a:solidFill>
                  <a:srgbClr val="FAF6F0"/>
                </a:solidFill>
                <a:latin typeface="DM Sans" pitchFamily="34" charset="0"/>
                <a:ea typeface="DM Sans" pitchFamily="34" charset="-122"/>
                <a:cs typeface="DM Sans" pitchFamily="34" charset="-120"/>
              </a:rPr>
              <a:t>GCP ML Engineering (Pro ML Engineer)</a:t>
            </a:r>
            <a:endParaRPr lang="en-US" sz="1100" dirty="0"/>
          </a:p>
        </p:txBody>
      </p:sp>
      <p:sp>
        <p:nvSpPr>
          <p:cNvPr id="22" name="Text 20"/>
          <p:cNvSpPr/>
          <p:nvPr/>
        </p:nvSpPr>
        <p:spPr>
          <a:xfrm>
            <a:off x="5577840" y="2551176"/>
            <a:ext cx="2743200" cy="384048"/>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$150-220K → $400K+</a:t>
            </a:r>
            <a:endParaRPr lang="en-US" sz="1100" dirty="0"/>
          </a:p>
        </p:txBody>
      </p:sp>
      <p:sp>
        <p:nvSpPr>
          <p:cNvPr id="23" name="Shape 21"/>
          <p:cNvSpPr/>
          <p:nvPr/>
        </p:nvSpPr>
        <p:spPr>
          <a:xfrm>
            <a:off x="8275320" y="2606040"/>
            <a:ext cx="1463040" cy="274320"/>
          </a:xfrm>
          <a:prstGeom prst="rect">
            <a:avLst/>
          </a:prstGeom>
          <a:solidFill>
            <a:srgbClr val="EF4444"/>
          </a:solidFill>
          <a:ln w="12700">
            <a:solidFill>
              <a:srgbClr val="EF4444"/>
            </a:solidFill>
            <a:prstDash val="solid"/>
          </a:ln>
        </p:spPr>
      </p:sp>
      <p:sp>
        <p:nvSpPr>
          <p:cNvPr id="24" name="Text 22"/>
          <p:cNvSpPr/>
          <p:nvPr/>
        </p:nvSpPr>
        <p:spPr>
          <a:xfrm>
            <a:off x="8275320" y="2606040"/>
            <a:ext cx="1463040" cy="274320"/>
          </a:xfrm>
          <a:prstGeom prst="rect">
            <a:avLst/>
          </a:prstGeom>
          <a:noFill/>
          <a:ln/>
        </p:spPr>
        <p:txBody>
          <a:bodyPr wrap="square" lIns="0" tIns="0" rIns="0" bIns="0" rtlCol="0" anchor="ctr"/>
          <a:lstStyle/>
          <a:p>
            <a:pPr algn="ctr" indent="0" marL="0">
              <a:buNone/>
            </a:pPr>
            <a:r>
              <a:rPr lang="en-US" sz="900" b="1" spc="100" kern="0" dirty="0">
                <a:solidFill>
                  <a:srgbClr val="0E0A06"/>
                </a:solidFill>
                <a:latin typeface="DM Sans" pitchFamily="34" charset="0"/>
                <a:ea typeface="DM Sans" pitchFamily="34" charset="-122"/>
                <a:cs typeface="DM Sans" pitchFamily="34" charset="-120"/>
              </a:rPr>
              <a:t>NO (Tier banned)</a:t>
            </a:r>
            <a:endParaRPr lang="en-US" sz="900" dirty="0"/>
          </a:p>
        </p:txBody>
      </p:sp>
      <p:sp>
        <p:nvSpPr>
          <p:cNvPr id="25" name="Text 23"/>
          <p:cNvSpPr/>
          <p:nvPr/>
        </p:nvSpPr>
        <p:spPr>
          <a:xfrm>
            <a:off x="9829800" y="2551176"/>
            <a:ext cx="1828800" cy="384048"/>
          </a:xfrm>
          <a:prstGeom prst="rect">
            <a:avLst/>
          </a:prstGeom>
          <a:noFill/>
          <a:ln/>
        </p:spPr>
        <p:txBody>
          <a:bodyPr wrap="square" lIns="0" tIns="0" rIns="0" bIns="0" rtlCol="0" anchor="ctr"/>
          <a:lstStyle/>
          <a:p>
            <a:pPr indent="0" marL="0">
              <a:buNone/>
            </a:pPr>
            <a:r>
              <a:rPr lang="en-US" sz="1000" i="1" dirty="0">
                <a:solidFill>
                  <a:srgbClr val="C8BAA6"/>
                </a:solidFill>
                <a:latin typeface="DM Sans" pitchFamily="34" charset="0"/>
                <a:ea typeface="DM Sans" pitchFamily="34" charset="-122"/>
                <a:cs typeface="DM Sans" pitchFamily="34" charset="-120"/>
              </a:rPr>
              <a:t>Vertex AI banned</a:t>
            </a:r>
            <a:endParaRPr lang="en-US" sz="1000" dirty="0"/>
          </a:p>
        </p:txBody>
      </p:sp>
      <p:sp>
        <p:nvSpPr>
          <p:cNvPr id="26" name="Shape 24"/>
          <p:cNvSpPr/>
          <p:nvPr/>
        </p:nvSpPr>
        <p:spPr>
          <a:xfrm>
            <a:off x="548640" y="2980944"/>
            <a:ext cx="11064240" cy="384048"/>
          </a:xfrm>
          <a:prstGeom prst="rect">
            <a:avLst/>
          </a:prstGeom>
          <a:solidFill>
            <a:srgbClr val="1C1308"/>
          </a:solidFill>
          <a:ln w="12700">
            <a:solidFill>
              <a:srgbClr val="1C1308"/>
            </a:solidFill>
            <a:prstDash val="solid"/>
          </a:ln>
        </p:spPr>
      </p:sp>
      <p:sp>
        <p:nvSpPr>
          <p:cNvPr id="27" name="Text 25"/>
          <p:cNvSpPr/>
          <p:nvPr/>
        </p:nvSpPr>
        <p:spPr>
          <a:xfrm>
            <a:off x="731520" y="2980944"/>
            <a:ext cx="4846320" cy="384048"/>
          </a:xfrm>
          <a:prstGeom prst="rect">
            <a:avLst/>
          </a:prstGeom>
          <a:noFill/>
          <a:ln/>
        </p:spPr>
        <p:txBody>
          <a:bodyPr wrap="square" lIns="0" tIns="0" rIns="0" bIns="0" rtlCol="0" anchor="ctr"/>
          <a:lstStyle/>
          <a:p>
            <a:pPr indent="0" marL="0">
              <a:buNone/>
            </a:pPr>
            <a:r>
              <a:rPr lang="en-US" sz="1100" dirty="0">
                <a:solidFill>
                  <a:srgbClr val="FAF6F0"/>
                </a:solidFill>
                <a:latin typeface="DM Sans" pitchFamily="34" charset="0"/>
                <a:ea typeface="DM Sans" pitchFamily="34" charset="-122"/>
                <a:cs typeface="DM Sans" pitchFamily="34" charset="-120"/>
              </a:rPr>
              <a:t>GCP Cloud Security (Pro Cloud Security)</a:t>
            </a:r>
            <a:endParaRPr lang="en-US" sz="1100" dirty="0"/>
          </a:p>
        </p:txBody>
      </p:sp>
      <p:sp>
        <p:nvSpPr>
          <p:cNvPr id="28" name="Text 26"/>
          <p:cNvSpPr/>
          <p:nvPr/>
        </p:nvSpPr>
        <p:spPr>
          <a:xfrm>
            <a:off x="5577840" y="2980944"/>
            <a:ext cx="2743200" cy="384048"/>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$152-205K mid-sr</a:t>
            </a:r>
            <a:endParaRPr lang="en-US" sz="1100" dirty="0"/>
          </a:p>
        </p:txBody>
      </p:sp>
      <p:sp>
        <p:nvSpPr>
          <p:cNvPr id="29" name="Shape 27"/>
          <p:cNvSpPr/>
          <p:nvPr/>
        </p:nvSpPr>
        <p:spPr>
          <a:xfrm>
            <a:off x="8275320" y="3035808"/>
            <a:ext cx="1463040" cy="274320"/>
          </a:xfrm>
          <a:prstGeom prst="rect">
            <a:avLst/>
          </a:prstGeom>
          <a:solidFill>
            <a:srgbClr val="F59E0B"/>
          </a:solidFill>
          <a:ln w="12700">
            <a:solidFill>
              <a:srgbClr val="F59E0B"/>
            </a:solidFill>
            <a:prstDash val="solid"/>
          </a:ln>
        </p:spPr>
      </p:sp>
      <p:sp>
        <p:nvSpPr>
          <p:cNvPr id="30" name="Text 28"/>
          <p:cNvSpPr/>
          <p:nvPr/>
        </p:nvSpPr>
        <p:spPr>
          <a:xfrm>
            <a:off x="8275320" y="3035808"/>
            <a:ext cx="1463040" cy="274320"/>
          </a:xfrm>
          <a:prstGeom prst="rect">
            <a:avLst/>
          </a:prstGeom>
          <a:noFill/>
          <a:ln/>
        </p:spPr>
        <p:txBody>
          <a:bodyPr wrap="square" lIns="0" tIns="0" rIns="0" bIns="0" rtlCol="0" anchor="ctr"/>
          <a:lstStyle/>
          <a:p>
            <a:pPr algn="ctr" indent="0" marL="0">
              <a:buNone/>
            </a:pPr>
            <a:r>
              <a:rPr lang="en-US" sz="900" b="1" spc="100" kern="0" dirty="0">
                <a:solidFill>
                  <a:srgbClr val="0E0A06"/>
                </a:solidFill>
                <a:latin typeface="DM Sans" pitchFamily="34" charset="0"/>
                <a:ea typeface="DM Sans" pitchFamily="34" charset="-122"/>
                <a:cs typeface="DM Sans" pitchFamily="34" charset="-120"/>
              </a:rPr>
              <a:t>PARTIAL</a:t>
            </a:r>
            <a:endParaRPr lang="en-US" sz="900" dirty="0"/>
          </a:p>
        </p:txBody>
      </p:sp>
      <p:sp>
        <p:nvSpPr>
          <p:cNvPr id="31" name="Text 29"/>
          <p:cNvSpPr/>
          <p:nvPr/>
        </p:nvSpPr>
        <p:spPr>
          <a:xfrm>
            <a:off x="9829800" y="2980944"/>
            <a:ext cx="1828800" cy="384048"/>
          </a:xfrm>
          <a:prstGeom prst="rect">
            <a:avLst/>
          </a:prstGeom>
          <a:noFill/>
          <a:ln/>
        </p:spPr>
        <p:txBody>
          <a:bodyPr wrap="square" lIns="0" tIns="0" rIns="0" bIns="0" rtlCol="0" anchor="ctr"/>
          <a:lstStyle/>
          <a:p>
            <a:pPr indent="0" marL="0">
              <a:buNone/>
            </a:pPr>
            <a:r>
              <a:rPr lang="en-US" sz="1000" i="1" dirty="0">
                <a:solidFill>
                  <a:srgbClr val="C8BAA6"/>
                </a:solidFill>
                <a:latin typeface="DM Sans" pitchFamily="34" charset="0"/>
                <a:ea typeface="DM Sans" pitchFamily="34" charset="-122"/>
                <a:cs typeface="DM Sans" pitchFamily="34" charset="-120"/>
              </a:rPr>
              <a:t>Concepts → CF + push-guard</a:t>
            </a:r>
            <a:endParaRPr lang="en-US" sz="1000" dirty="0"/>
          </a:p>
        </p:txBody>
      </p:sp>
      <p:sp>
        <p:nvSpPr>
          <p:cNvPr id="32" name="Shape 30"/>
          <p:cNvSpPr/>
          <p:nvPr/>
        </p:nvSpPr>
        <p:spPr>
          <a:xfrm>
            <a:off x="548640" y="3410712"/>
            <a:ext cx="11064240" cy="384048"/>
          </a:xfrm>
          <a:prstGeom prst="rect">
            <a:avLst/>
          </a:prstGeom>
          <a:solidFill>
            <a:srgbClr val="1C1308"/>
          </a:solidFill>
          <a:ln w="12700">
            <a:solidFill>
              <a:srgbClr val="1C1308"/>
            </a:solidFill>
            <a:prstDash val="solid"/>
          </a:ln>
        </p:spPr>
      </p:sp>
      <p:sp>
        <p:nvSpPr>
          <p:cNvPr id="33" name="Text 31"/>
          <p:cNvSpPr/>
          <p:nvPr/>
        </p:nvSpPr>
        <p:spPr>
          <a:xfrm>
            <a:off x="731520" y="3410712"/>
            <a:ext cx="4846320" cy="384048"/>
          </a:xfrm>
          <a:prstGeom prst="rect">
            <a:avLst/>
          </a:prstGeom>
          <a:noFill/>
          <a:ln/>
        </p:spPr>
        <p:txBody>
          <a:bodyPr wrap="square" lIns="0" tIns="0" rIns="0" bIns="0" rtlCol="0" anchor="ctr"/>
          <a:lstStyle/>
          <a:p>
            <a:pPr indent="0" marL="0">
              <a:buNone/>
            </a:pPr>
            <a:r>
              <a:rPr lang="en-US" sz="1100" dirty="0">
                <a:solidFill>
                  <a:srgbClr val="FAF6F0"/>
                </a:solidFill>
                <a:latin typeface="DM Sans" pitchFamily="34" charset="0"/>
                <a:ea typeface="DM Sans" pitchFamily="34" charset="-122"/>
                <a:cs typeface="DM Sans" pitchFamily="34" charset="-120"/>
              </a:rPr>
              <a:t>GCP Cloud DevOps / SRE</a:t>
            </a:r>
            <a:endParaRPr lang="en-US" sz="1100" dirty="0"/>
          </a:p>
        </p:txBody>
      </p:sp>
      <p:sp>
        <p:nvSpPr>
          <p:cNvPr id="34" name="Text 32"/>
          <p:cNvSpPr/>
          <p:nvPr/>
        </p:nvSpPr>
        <p:spPr>
          <a:xfrm>
            <a:off x="5577840" y="3410712"/>
            <a:ext cx="2743200" cy="384048"/>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$162K SRE avg → $260K</a:t>
            </a:r>
            <a:endParaRPr lang="en-US" sz="1100" dirty="0"/>
          </a:p>
        </p:txBody>
      </p:sp>
      <p:sp>
        <p:nvSpPr>
          <p:cNvPr id="35" name="Shape 33"/>
          <p:cNvSpPr/>
          <p:nvPr/>
        </p:nvSpPr>
        <p:spPr>
          <a:xfrm>
            <a:off x="8275320" y="3465576"/>
            <a:ext cx="1463040" cy="274320"/>
          </a:xfrm>
          <a:prstGeom prst="rect">
            <a:avLst/>
          </a:prstGeom>
          <a:solidFill>
            <a:srgbClr val="84CC16"/>
          </a:solidFill>
          <a:ln w="12700">
            <a:solidFill>
              <a:srgbClr val="84CC16"/>
            </a:solidFill>
            <a:prstDash val="solid"/>
          </a:ln>
        </p:spPr>
      </p:sp>
      <p:sp>
        <p:nvSpPr>
          <p:cNvPr id="36" name="Text 34"/>
          <p:cNvSpPr/>
          <p:nvPr/>
        </p:nvSpPr>
        <p:spPr>
          <a:xfrm>
            <a:off x="8275320" y="3465576"/>
            <a:ext cx="1463040" cy="274320"/>
          </a:xfrm>
          <a:prstGeom prst="rect">
            <a:avLst/>
          </a:prstGeom>
          <a:noFill/>
          <a:ln/>
        </p:spPr>
        <p:txBody>
          <a:bodyPr wrap="square" lIns="0" tIns="0" rIns="0" bIns="0" rtlCol="0" anchor="ctr"/>
          <a:lstStyle/>
          <a:p>
            <a:pPr algn="ctr" indent="0" marL="0">
              <a:buNone/>
            </a:pPr>
            <a:r>
              <a:rPr lang="en-US" sz="900" b="1" spc="100" kern="0" dirty="0">
                <a:solidFill>
                  <a:srgbClr val="0E0A06"/>
                </a:solidFill>
                <a:latin typeface="DM Sans" pitchFamily="34" charset="0"/>
                <a:ea typeface="DM Sans" pitchFamily="34" charset="-122"/>
                <a:cs typeface="DM Sans" pitchFamily="34" charset="-120"/>
              </a:rPr>
              <a:t>PARTIAL → YES</a:t>
            </a:r>
            <a:endParaRPr lang="en-US" sz="900" dirty="0"/>
          </a:p>
        </p:txBody>
      </p:sp>
      <p:sp>
        <p:nvSpPr>
          <p:cNvPr id="37" name="Text 35"/>
          <p:cNvSpPr/>
          <p:nvPr/>
        </p:nvSpPr>
        <p:spPr>
          <a:xfrm>
            <a:off x="9829800" y="3410712"/>
            <a:ext cx="1828800" cy="384048"/>
          </a:xfrm>
          <a:prstGeom prst="rect">
            <a:avLst/>
          </a:prstGeom>
          <a:noFill/>
          <a:ln/>
        </p:spPr>
        <p:txBody>
          <a:bodyPr wrap="square" lIns="0" tIns="0" rIns="0" bIns="0" rtlCol="0" anchor="ctr"/>
          <a:lstStyle/>
          <a:p>
            <a:pPr indent="0" marL="0">
              <a:buNone/>
            </a:pPr>
            <a:r>
              <a:rPr lang="en-US" sz="1000" i="1" dirty="0">
                <a:solidFill>
                  <a:srgbClr val="C8BAA6"/>
                </a:solidFill>
                <a:latin typeface="DM Sans" pitchFamily="34" charset="0"/>
                <a:ea typeface="DM Sans" pitchFamily="34" charset="-122"/>
                <a:cs typeface="DM Sans" pitchFamily="34" charset="-120"/>
              </a:rPr>
              <a:t>→ SLO definitions</a:t>
            </a:r>
            <a:endParaRPr lang="en-US" sz="1000" dirty="0"/>
          </a:p>
        </p:txBody>
      </p:sp>
      <p:sp>
        <p:nvSpPr>
          <p:cNvPr id="38" name="Shape 36"/>
          <p:cNvSpPr/>
          <p:nvPr/>
        </p:nvSpPr>
        <p:spPr>
          <a:xfrm>
            <a:off x="548640" y="3840480"/>
            <a:ext cx="11064240" cy="384048"/>
          </a:xfrm>
          <a:prstGeom prst="rect">
            <a:avLst/>
          </a:prstGeom>
          <a:solidFill>
            <a:srgbClr val="1C1308"/>
          </a:solidFill>
          <a:ln w="12700">
            <a:solidFill>
              <a:srgbClr val="1C1308"/>
            </a:solidFill>
            <a:prstDash val="solid"/>
          </a:ln>
        </p:spPr>
      </p:sp>
      <p:sp>
        <p:nvSpPr>
          <p:cNvPr id="39" name="Text 37"/>
          <p:cNvSpPr/>
          <p:nvPr/>
        </p:nvSpPr>
        <p:spPr>
          <a:xfrm>
            <a:off x="731520" y="3840480"/>
            <a:ext cx="4846320" cy="384048"/>
          </a:xfrm>
          <a:prstGeom prst="rect">
            <a:avLst/>
          </a:prstGeom>
          <a:noFill/>
          <a:ln/>
        </p:spPr>
        <p:txBody>
          <a:bodyPr wrap="square" lIns="0" tIns="0" rIns="0" bIns="0" rtlCol="0" anchor="ctr"/>
          <a:lstStyle/>
          <a:p>
            <a:pPr indent="0" marL="0">
              <a:buNone/>
            </a:pPr>
            <a:r>
              <a:rPr lang="en-US" sz="1100" dirty="0">
                <a:solidFill>
                  <a:srgbClr val="FAF6F0"/>
                </a:solidFill>
                <a:latin typeface="DM Sans" pitchFamily="34" charset="0"/>
                <a:ea typeface="DM Sans" pitchFamily="34" charset="-122"/>
                <a:cs typeface="DM Sans" pitchFamily="34" charset="-120"/>
              </a:rPr>
              <a:t>Vertex AI Agent Builder</a:t>
            </a:r>
            <a:endParaRPr lang="en-US" sz="1100" dirty="0"/>
          </a:p>
        </p:txBody>
      </p:sp>
      <p:sp>
        <p:nvSpPr>
          <p:cNvPr id="40" name="Text 38"/>
          <p:cNvSpPr/>
          <p:nvPr/>
        </p:nvSpPr>
        <p:spPr>
          <a:xfrm>
            <a:off x="5577840" y="3840480"/>
            <a:ext cx="2743200" cy="384048"/>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Embedded in AI Eng</a:t>
            </a:r>
            <a:endParaRPr lang="en-US" sz="1100" dirty="0"/>
          </a:p>
        </p:txBody>
      </p:sp>
      <p:sp>
        <p:nvSpPr>
          <p:cNvPr id="41" name="Shape 39"/>
          <p:cNvSpPr/>
          <p:nvPr/>
        </p:nvSpPr>
        <p:spPr>
          <a:xfrm>
            <a:off x="8275320" y="3895344"/>
            <a:ext cx="1463040" cy="274320"/>
          </a:xfrm>
          <a:prstGeom prst="rect">
            <a:avLst/>
          </a:prstGeom>
          <a:solidFill>
            <a:srgbClr val="EF4444"/>
          </a:solidFill>
          <a:ln w="12700">
            <a:solidFill>
              <a:srgbClr val="EF4444"/>
            </a:solidFill>
            <a:prstDash val="solid"/>
          </a:ln>
        </p:spPr>
      </p:sp>
      <p:sp>
        <p:nvSpPr>
          <p:cNvPr id="42" name="Text 40"/>
          <p:cNvSpPr/>
          <p:nvPr/>
        </p:nvSpPr>
        <p:spPr>
          <a:xfrm>
            <a:off x="8275320" y="3895344"/>
            <a:ext cx="1463040" cy="274320"/>
          </a:xfrm>
          <a:prstGeom prst="rect">
            <a:avLst/>
          </a:prstGeom>
          <a:noFill/>
          <a:ln/>
        </p:spPr>
        <p:txBody>
          <a:bodyPr wrap="square" lIns="0" tIns="0" rIns="0" bIns="0" rtlCol="0" anchor="ctr"/>
          <a:lstStyle/>
          <a:p>
            <a:pPr algn="ctr" indent="0" marL="0">
              <a:buNone/>
            </a:pPr>
            <a:r>
              <a:rPr lang="en-US" sz="900" b="1" spc="100" kern="0" dirty="0">
                <a:solidFill>
                  <a:srgbClr val="0E0A06"/>
                </a:solidFill>
                <a:latin typeface="DM Sans" pitchFamily="34" charset="0"/>
                <a:ea typeface="DM Sans" pitchFamily="34" charset="-122"/>
                <a:cs typeface="DM Sans" pitchFamily="34" charset="-120"/>
              </a:rPr>
              <a:t>NO (Tier banned)</a:t>
            </a:r>
            <a:endParaRPr lang="en-US" sz="900" dirty="0"/>
          </a:p>
        </p:txBody>
      </p:sp>
      <p:sp>
        <p:nvSpPr>
          <p:cNvPr id="43" name="Text 41"/>
          <p:cNvSpPr/>
          <p:nvPr/>
        </p:nvSpPr>
        <p:spPr>
          <a:xfrm>
            <a:off x="9829800" y="3840480"/>
            <a:ext cx="1828800" cy="384048"/>
          </a:xfrm>
          <a:prstGeom prst="rect">
            <a:avLst/>
          </a:prstGeom>
          <a:noFill/>
          <a:ln/>
        </p:spPr>
        <p:txBody>
          <a:bodyPr wrap="square" lIns="0" tIns="0" rIns="0" bIns="0" rtlCol="0" anchor="ctr"/>
          <a:lstStyle/>
          <a:p>
            <a:pPr indent="0" marL="0">
              <a:buNone/>
            </a:pPr>
            <a:r>
              <a:rPr lang="en-US" sz="1000" i="1" dirty="0">
                <a:solidFill>
                  <a:srgbClr val="C8BAA6"/>
                </a:solidFill>
                <a:latin typeface="DM Sans" pitchFamily="34" charset="0"/>
                <a:ea typeface="DM Sans" pitchFamily="34" charset="-122"/>
                <a:cs typeface="DM Sans" pitchFamily="34" charset="-120"/>
              </a:rPr>
              <a:t>Concepts → 14-agent reg</a:t>
            </a:r>
            <a:endParaRPr lang="en-US" sz="1000" dirty="0"/>
          </a:p>
        </p:txBody>
      </p:sp>
      <p:sp>
        <p:nvSpPr>
          <p:cNvPr id="44" name="Shape 42"/>
          <p:cNvSpPr/>
          <p:nvPr/>
        </p:nvSpPr>
        <p:spPr>
          <a:xfrm>
            <a:off x="548640" y="4270248"/>
            <a:ext cx="11064240" cy="384048"/>
          </a:xfrm>
          <a:prstGeom prst="rect">
            <a:avLst/>
          </a:prstGeom>
          <a:solidFill>
            <a:srgbClr val="1C1308"/>
          </a:solidFill>
          <a:ln w="12700">
            <a:solidFill>
              <a:srgbClr val="1C1308"/>
            </a:solidFill>
            <a:prstDash val="solid"/>
          </a:ln>
        </p:spPr>
      </p:sp>
      <p:sp>
        <p:nvSpPr>
          <p:cNvPr id="45" name="Text 43"/>
          <p:cNvSpPr/>
          <p:nvPr/>
        </p:nvSpPr>
        <p:spPr>
          <a:xfrm>
            <a:off x="731520" y="4270248"/>
            <a:ext cx="4846320" cy="384048"/>
          </a:xfrm>
          <a:prstGeom prst="rect">
            <a:avLst/>
          </a:prstGeom>
          <a:noFill/>
          <a:ln/>
        </p:spPr>
        <p:txBody>
          <a:bodyPr wrap="square" lIns="0" tIns="0" rIns="0" bIns="0" rtlCol="0" anchor="ctr"/>
          <a:lstStyle/>
          <a:p>
            <a:pPr indent="0" marL="0">
              <a:buNone/>
            </a:pPr>
            <a:r>
              <a:rPr lang="en-US" sz="1100" dirty="0">
                <a:solidFill>
                  <a:srgbClr val="FAF6F0"/>
                </a:solidFill>
                <a:latin typeface="DM Sans" pitchFamily="34" charset="0"/>
                <a:ea typeface="DM Sans" pitchFamily="34" charset="-122"/>
                <a:cs typeface="DM Sans" pitchFamily="34" charset="-120"/>
              </a:rPr>
              <a:t>GenAI / Prompt Engineering</a:t>
            </a:r>
            <a:endParaRPr lang="en-US" sz="1100" dirty="0"/>
          </a:p>
        </p:txBody>
      </p:sp>
      <p:sp>
        <p:nvSpPr>
          <p:cNvPr id="46" name="Text 44"/>
          <p:cNvSpPr/>
          <p:nvPr/>
        </p:nvSpPr>
        <p:spPr>
          <a:xfrm>
            <a:off x="5577840" y="4270248"/>
            <a:ext cx="2743200" cy="384048"/>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$129-166K Prompt Eng</a:t>
            </a:r>
            <a:endParaRPr lang="en-US" sz="1100" dirty="0"/>
          </a:p>
        </p:txBody>
      </p:sp>
      <p:sp>
        <p:nvSpPr>
          <p:cNvPr id="47" name="Shape 45"/>
          <p:cNvSpPr/>
          <p:nvPr/>
        </p:nvSpPr>
        <p:spPr>
          <a:xfrm>
            <a:off x="8275320" y="4325112"/>
            <a:ext cx="1463040" cy="274320"/>
          </a:xfrm>
          <a:prstGeom prst="rect">
            <a:avLst/>
          </a:prstGeom>
          <a:solidFill>
            <a:srgbClr val="84CC16"/>
          </a:solidFill>
          <a:ln w="12700">
            <a:solidFill>
              <a:srgbClr val="84CC16"/>
            </a:solidFill>
            <a:prstDash val="solid"/>
          </a:ln>
        </p:spPr>
      </p:sp>
      <p:sp>
        <p:nvSpPr>
          <p:cNvPr id="48" name="Text 46"/>
          <p:cNvSpPr/>
          <p:nvPr/>
        </p:nvSpPr>
        <p:spPr>
          <a:xfrm>
            <a:off x="8275320" y="4325112"/>
            <a:ext cx="1463040" cy="274320"/>
          </a:xfrm>
          <a:prstGeom prst="rect">
            <a:avLst/>
          </a:prstGeom>
          <a:noFill/>
          <a:ln/>
        </p:spPr>
        <p:txBody>
          <a:bodyPr wrap="square" lIns="0" tIns="0" rIns="0" bIns="0" rtlCol="0" anchor="ctr"/>
          <a:lstStyle/>
          <a:p>
            <a:pPr algn="ctr" indent="0" marL="0">
              <a:buNone/>
            </a:pPr>
            <a:r>
              <a:rPr lang="en-US" sz="900" b="1" spc="100" kern="0" dirty="0">
                <a:solidFill>
                  <a:srgbClr val="0E0A06"/>
                </a:solidFill>
                <a:latin typeface="DM Sans" pitchFamily="34" charset="0"/>
                <a:ea typeface="DM Sans" pitchFamily="34" charset="-122"/>
                <a:cs typeface="DM Sans" pitchFamily="34" charset="-120"/>
              </a:rPr>
              <a:t>YES (Tier-2 only)</a:t>
            </a:r>
            <a:endParaRPr lang="en-US" sz="900" dirty="0"/>
          </a:p>
        </p:txBody>
      </p:sp>
      <p:sp>
        <p:nvSpPr>
          <p:cNvPr id="49" name="Text 47"/>
          <p:cNvSpPr/>
          <p:nvPr/>
        </p:nvSpPr>
        <p:spPr>
          <a:xfrm>
            <a:off x="9829800" y="4270248"/>
            <a:ext cx="1828800" cy="384048"/>
          </a:xfrm>
          <a:prstGeom prst="rect">
            <a:avLst/>
          </a:prstGeom>
          <a:noFill/>
          <a:ln/>
        </p:spPr>
        <p:txBody>
          <a:bodyPr wrap="square" lIns="0" tIns="0" rIns="0" bIns="0" rtlCol="0" anchor="ctr"/>
          <a:lstStyle/>
          <a:p>
            <a:pPr indent="0" marL="0">
              <a:buNone/>
            </a:pPr>
            <a:r>
              <a:rPr lang="en-US" sz="1000" i="1" dirty="0">
                <a:solidFill>
                  <a:srgbClr val="C8BAA6"/>
                </a:solidFill>
                <a:latin typeface="DM Sans" pitchFamily="34" charset="0"/>
                <a:ea typeface="DM Sans" pitchFamily="34" charset="-122"/>
                <a:cs typeface="DM Sans" pitchFamily="34" charset="-120"/>
              </a:rPr>
              <a:t>Ollama + Claude prompts</a:t>
            </a:r>
            <a:endParaRPr lang="en-US" sz="1000" dirty="0"/>
          </a:p>
        </p:txBody>
      </p:sp>
      <p:sp>
        <p:nvSpPr>
          <p:cNvPr id="50" name="Shape 48"/>
          <p:cNvSpPr/>
          <p:nvPr/>
        </p:nvSpPr>
        <p:spPr>
          <a:xfrm>
            <a:off x="548640" y="4700016"/>
            <a:ext cx="11064240" cy="384048"/>
          </a:xfrm>
          <a:prstGeom prst="rect">
            <a:avLst/>
          </a:prstGeom>
          <a:solidFill>
            <a:srgbClr val="1C1308"/>
          </a:solidFill>
          <a:ln w="12700">
            <a:solidFill>
              <a:srgbClr val="1C1308"/>
            </a:solidFill>
            <a:prstDash val="solid"/>
          </a:ln>
        </p:spPr>
      </p:sp>
      <p:sp>
        <p:nvSpPr>
          <p:cNvPr id="51" name="Text 49"/>
          <p:cNvSpPr/>
          <p:nvPr/>
        </p:nvSpPr>
        <p:spPr>
          <a:xfrm>
            <a:off x="731520" y="4700016"/>
            <a:ext cx="4846320" cy="384048"/>
          </a:xfrm>
          <a:prstGeom prst="rect">
            <a:avLst/>
          </a:prstGeom>
          <a:noFill/>
          <a:ln/>
        </p:spPr>
        <p:txBody>
          <a:bodyPr wrap="square" lIns="0" tIns="0" rIns="0" bIns="0" rtlCol="0" anchor="ctr"/>
          <a:lstStyle/>
          <a:p>
            <a:pPr indent="0" marL="0">
              <a:buNone/>
            </a:pPr>
            <a:r>
              <a:rPr lang="en-US" sz="1100" dirty="0">
                <a:solidFill>
                  <a:srgbClr val="FAF6F0"/>
                </a:solidFill>
                <a:latin typeface="DM Sans" pitchFamily="34" charset="0"/>
                <a:ea typeface="DM Sans" pitchFamily="34" charset="-122"/>
                <a:cs typeface="DM Sans" pitchFamily="34" charset="-120"/>
              </a:rPr>
              <a:t>AI PM / AI Strategy</a:t>
            </a:r>
            <a:endParaRPr lang="en-US" sz="1100" dirty="0"/>
          </a:p>
        </p:txBody>
      </p:sp>
      <p:sp>
        <p:nvSpPr>
          <p:cNvPr id="52" name="Text 50"/>
          <p:cNvSpPr/>
          <p:nvPr/>
        </p:nvSpPr>
        <p:spPr>
          <a:xfrm>
            <a:off x="5577840" y="4700016"/>
            <a:ext cx="2743200" cy="384048"/>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$196-242K AI PM</a:t>
            </a:r>
            <a:endParaRPr lang="en-US" sz="1100" dirty="0"/>
          </a:p>
        </p:txBody>
      </p:sp>
      <p:sp>
        <p:nvSpPr>
          <p:cNvPr id="53" name="Shape 51"/>
          <p:cNvSpPr/>
          <p:nvPr/>
        </p:nvSpPr>
        <p:spPr>
          <a:xfrm>
            <a:off x="8275320" y="4754880"/>
            <a:ext cx="1463040" cy="274320"/>
          </a:xfrm>
          <a:prstGeom prst="rect">
            <a:avLst/>
          </a:prstGeom>
          <a:solidFill>
            <a:srgbClr val="84CC16"/>
          </a:solidFill>
          <a:ln w="12700">
            <a:solidFill>
              <a:srgbClr val="84CC16"/>
            </a:solidFill>
            <a:prstDash val="solid"/>
          </a:ln>
        </p:spPr>
      </p:sp>
      <p:sp>
        <p:nvSpPr>
          <p:cNvPr id="54" name="Text 52"/>
          <p:cNvSpPr/>
          <p:nvPr/>
        </p:nvSpPr>
        <p:spPr>
          <a:xfrm>
            <a:off x="8275320" y="4754880"/>
            <a:ext cx="1463040" cy="274320"/>
          </a:xfrm>
          <a:prstGeom prst="rect">
            <a:avLst/>
          </a:prstGeom>
          <a:noFill/>
          <a:ln/>
        </p:spPr>
        <p:txBody>
          <a:bodyPr wrap="square" lIns="0" tIns="0" rIns="0" bIns="0" rtlCol="0" anchor="ctr"/>
          <a:lstStyle/>
          <a:p>
            <a:pPr algn="ctr" indent="0" marL="0">
              <a:buNone/>
            </a:pPr>
            <a:r>
              <a:rPr lang="en-US" sz="900" b="1" spc="100" kern="0" dirty="0">
                <a:solidFill>
                  <a:srgbClr val="0E0A06"/>
                </a:solidFill>
                <a:latin typeface="DM Sans" pitchFamily="34" charset="0"/>
                <a:ea typeface="DM Sans" pitchFamily="34" charset="-122"/>
                <a:cs typeface="DM Sans" pitchFamily="34" charset="-120"/>
              </a:rPr>
              <a:t>YES</a:t>
            </a:r>
            <a:endParaRPr lang="en-US" sz="900" dirty="0"/>
          </a:p>
        </p:txBody>
      </p:sp>
      <p:sp>
        <p:nvSpPr>
          <p:cNvPr id="55" name="Text 53"/>
          <p:cNvSpPr/>
          <p:nvPr/>
        </p:nvSpPr>
        <p:spPr>
          <a:xfrm>
            <a:off x="9829800" y="4700016"/>
            <a:ext cx="1828800" cy="384048"/>
          </a:xfrm>
          <a:prstGeom prst="rect">
            <a:avLst/>
          </a:prstGeom>
          <a:noFill/>
          <a:ln/>
        </p:spPr>
        <p:txBody>
          <a:bodyPr wrap="square" lIns="0" tIns="0" rIns="0" bIns="0" rtlCol="0" anchor="ctr"/>
          <a:lstStyle/>
          <a:p>
            <a:pPr indent="0" marL="0">
              <a:buNone/>
            </a:pPr>
            <a:r>
              <a:rPr lang="en-US" sz="1000" i="1" dirty="0">
                <a:solidFill>
                  <a:srgbClr val="C8BAA6"/>
                </a:solidFill>
                <a:latin typeface="DM Sans" pitchFamily="34" charset="0"/>
                <a:ea typeface="DM Sans" pitchFamily="34" charset="-122"/>
                <a:cs typeface="DM Sans" pitchFamily="34" charset="-120"/>
              </a:rPr>
              <a:t>Roadmap authoring</a:t>
            </a:r>
            <a:endParaRPr lang="en-US" sz="1000" dirty="0"/>
          </a:p>
        </p:txBody>
      </p:sp>
      <p:sp>
        <p:nvSpPr>
          <p:cNvPr id="56" name="Shape 54"/>
          <p:cNvSpPr/>
          <p:nvPr/>
        </p:nvSpPr>
        <p:spPr>
          <a:xfrm>
            <a:off x="548640" y="5129784"/>
            <a:ext cx="11064240" cy="384048"/>
          </a:xfrm>
          <a:prstGeom prst="rect">
            <a:avLst/>
          </a:prstGeom>
          <a:solidFill>
            <a:srgbClr val="1C1308"/>
          </a:solidFill>
          <a:ln w="12700">
            <a:solidFill>
              <a:srgbClr val="1C1308"/>
            </a:solidFill>
            <a:prstDash val="solid"/>
          </a:ln>
        </p:spPr>
      </p:sp>
      <p:sp>
        <p:nvSpPr>
          <p:cNvPr id="57" name="Text 55"/>
          <p:cNvSpPr/>
          <p:nvPr/>
        </p:nvSpPr>
        <p:spPr>
          <a:xfrm>
            <a:off x="731520" y="5129784"/>
            <a:ext cx="4846320" cy="384048"/>
          </a:xfrm>
          <a:prstGeom prst="rect">
            <a:avLst/>
          </a:prstGeom>
          <a:noFill/>
          <a:ln/>
        </p:spPr>
        <p:txBody>
          <a:bodyPr wrap="square" lIns="0" tIns="0" rIns="0" bIns="0" rtlCol="0" anchor="ctr"/>
          <a:lstStyle/>
          <a:p>
            <a:pPr indent="0" marL="0">
              <a:buNone/>
            </a:pPr>
            <a:r>
              <a:rPr lang="en-US" sz="1100" dirty="0">
                <a:solidFill>
                  <a:srgbClr val="FAF6F0"/>
                </a:solidFill>
                <a:latin typeface="DM Sans" pitchFamily="34" charset="0"/>
                <a:ea typeface="DM Sans" pitchFamily="34" charset="-122"/>
                <a:cs typeface="DM Sans" pitchFamily="34" charset="-120"/>
              </a:rPr>
              <a:t>BigQuery / Snowflake / dbt / Tableau</a:t>
            </a:r>
            <a:endParaRPr lang="en-US" sz="1100" dirty="0"/>
          </a:p>
        </p:txBody>
      </p:sp>
      <p:sp>
        <p:nvSpPr>
          <p:cNvPr id="58" name="Text 56"/>
          <p:cNvSpPr/>
          <p:nvPr/>
        </p:nvSpPr>
        <p:spPr>
          <a:xfrm>
            <a:off x="5577840" y="5129784"/>
            <a:ext cx="2743200" cy="384048"/>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Embedded in BI</a:t>
            </a:r>
            <a:endParaRPr lang="en-US" sz="1100" dirty="0"/>
          </a:p>
        </p:txBody>
      </p:sp>
      <p:sp>
        <p:nvSpPr>
          <p:cNvPr id="59" name="Shape 57"/>
          <p:cNvSpPr/>
          <p:nvPr/>
        </p:nvSpPr>
        <p:spPr>
          <a:xfrm>
            <a:off x="8275320" y="5184648"/>
            <a:ext cx="1463040" cy="274320"/>
          </a:xfrm>
          <a:prstGeom prst="rect">
            <a:avLst/>
          </a:prstGeom>
          <a:solidFill>
            <a:srgbClr val="EF4444"/>
          </a:solidFill>
          <a:ln w="12700">
            <a:solidFill>
              <a:srgbClr val="EF4444"/>
            </a:solidFill>
            <a:prstDash val="solid"/>
          </a:ln>
        </p:spPr>
      </p:sp>
      <p:sp>
        <p:nvSpPr>
          <p:cNvPr id="60" name="Text 58"/>
          <p:cNvSpPr/>
          <p:nvPr/>
        </p:nvSpPr>
        <p:spPr>
          <a:xfrm>
            <a:off x="8275320" y="5184648"/>
            <a:ext cx="1463040" cy="274320"/>
          </a:xfrm>
          <a:prstGeom prst="rect">
            <a:avLst/>
          </a:prstGeom>
          <a:noFill/>
          <a:ln/>
        </p:spPr>
        <p:txBody>
          <a:bodyPr wrap="square" lIns="0" tIns="0" rIns="0" bIns="0" rtlCol="0" anchor="ctr"/>
          <a:lstStyle/>
          <a:p>
            <a:pPr algn="ctr" indent="0" marL="0">
              <a:buNone/>
            </a:pPr>
            <a:r>
              <a:rPr lang="en-US" sz="900" b="1" spc="100" kern="0" dirty="0">
                <a:solidFill>
                  <a:srgbClr val="0E0A06"/>
                </a:solidFill>
                <a:latin typeface="DM Sans" pitchFamily="34" charset="0"/>
                <a:ea typeface="DM Sans" pitchFamily="34" charset="-122"/>
                <a:cs typeface="DM Sans" pitchFamily="34" charset="-120"/>
              </a:rPr>
              <a:t>NO</a:t>
            </a:r>
            <a:endParaRPr lang="en-US" sz="900" dirty="0"/>
          </a:p>
        </p:txBody>
      </p:sp>
      <p:sp>
        <p:nvSpPr>
          <p:cNvPr id="61" name="Text 59"/>
          <p:cNvSpPr/>
          <p:nvPr/>
        </p:nvSpPr>
        <p:spPr>
          <a:xfrm>
            <a:off x="9829800" y="5129784"/>
            <a:ext cx="1828800" cy="384048"/>
          </a:xfrm>
          <a:prstGeom prst="rect">
            <a:avLst/>
          </a:prstGeom>
          <a:noFill/>
          <a:ln/>
        </p:spPr>
        <p:txBody>
          <a:bodyPr wrap="square" lIns="0" tIns="0" rIns="0" bIns="0" rtlCol="0" anchor="ctr"/>
          <a:lstStyle/>
          <a:p>
            <a:pPr indent="0" marL="0">
              <a:buNone/>
            </a:pPr>
            <a:r>
              <a:rPr lang="en-US" sz="1000" i="1" dirty="0">
                <a:solidFill>
                  <a:srgbClr val="C8BAA6"/>
                </a:solidFill>
                <a:latin typeface="DM Sans" pitchFamily="34" charset="0"/>
                <a:ea typeface="DM Sans" pitchFamily="34" charset="-122"/>
                <a:cs typeface="DM Sans" pitchFamily="34" charset="-120"/>
              </a:rPr>
              <a:t>DuckDB sufficient</a:t>
            </a:r>
            <a:endParaRPr lang="en-US" sz="1000" dirty="0"/>
          </a:p>
        </p:txBody>
      </p:sp>
      <p:sp>
        <p:nvSpPr>
          <p:cNvPr id="62" name="Shape 60"/>
          <p:cNvSpPr/>
          <p:nvPr/>
        </p:nvSpPr>
        <p:spPr>
          <a:xfrm>
            <a:off x="548640" y="5559552"/>
            <a:ext cx="11064240" cy="384048"/>
          </a:xfrm>
          <a:prstGeom prst="rect">
            <a:avLst/>
          </a:prstGeom>
          <a:solidFill>
            <a:srgbClr val="1C1308"/>
          </a:solidFill>
          <a:ln w="12700">
            <a:solidFill>
              <a:srgbClr val="1C1308"/>
            </a:solidFill>
            <a:prstDash val="solid"/>
          </a:ln>
        </p:spPr>
      </p:sp>
      <p:sp>
        <p:nvSpPr>
          <p:cNvPr id="63" name="Text 61"/>
          <p:cNvSpPr/>
          <p:nvPr/>
        </p:nvSpPr>
        <p:spPr>
          <a:xfrm>
            <a:off x="731520" y="5559552"/>
            <a:ext cx="4846320" cy="384048"/>
          </a:xfrm>
          <a:prstGeom prst="rect">
            <a:avLst/>
          </a:prstGeom>
          <a:noFill/>
          <a:ln/>
        </p:spPr>
        <p:txBody>
          <a:bodyPr wrap="square" lIns="0" tIns="0" rIns="0" bIns="0" rtlCol="0" anchor="ctr"/>
          <a:lstStyle/>
          <a:p>
            <a:pPr indent="0" marL="0">
              <a:buNone/>
            </a:pPr>
            <a:r>
              <a:rPr lang="en-US" sz="1100" dirty="0">
                <a:solidFill>
                  <a:srgbClr val="FAF6F0"/>
                </a:solidFill>
                <a:latin typeface="DM Sans" pitchFamily="34" charset="0"/>
                <a:ea typeface="DM Sans" pitchFamily="34" charset="-122"/>
                <a:cs typeface="DM Sans" pitchFamily="34" charset="-120"/>
              </a:rPr>
              <a:t>Generative AI for Search</a:t>
            </a:r>
            <a:endParaRPr lang="en-US" sz="1100" dirty="0"/>
          </a:p>
        </p:txBody>
      </p:sp>
      <p:sp>
        <p:nvSpPr>
          <p:cNvPr id="64" name="Text 62"/>
          <p:cNvSpPr/>
          <p:nvPr/>
        </p:nvSpPr>
        <p:spPr>
          <a:xfrm>
            <a:off x="5577840" y="5559552"/>
            <a:ext cx="2743200" cy="384048"/>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Embedded</a:t>
            </a:r>
            <a:endParaRPr lang="en-US" sz="1100" dirty="0"/>
          </a:p>
        </p:txBody>
      </p:sp>
      <p:sp>
        <p:nvSpPr>
          <p:cNvPr id="65" name="Shape 63"/>
          <p:cNvSpPr/>
          <p:nvPr/>
        </p:nvSpPr>
        <p:spPr>
          <a:xfrm>
            <a:off x="8275320" y="5614416"/>
            <a:ext cx="1463040" cy="274320"/>
          </a:xfrm>
          <a:prstGeom prst="rect">
            <a:avLst/>
          </a:prstGeom>
          <a:solidFill>
            <a:srgbClr val="EF4444"/>
          </a:solidFill>
          <a:ln w="12700">
            <a:solidFill>
              <a:srgbClr val="EF4444"/>
            </a:solidFill>
            <a:prstDash val="solid"/>
          </a:ln>
        </p:spPr>
      </p:sp>
      <p:sp>
        <p:nvSpPr>
          <p:cNvPr id="66" name="Text 64"/>
          <p:cNvSpPr/>
          <p:nvPr/>
        </p:nvSpPr>
        <p:spPr>
          <a:xfrm>
            <a:off x="8275320" y="5614416"/>
            <a:ext cx="1463040" cy="274320"/>
          </a:xfrm>
          <a:prstGeom prst="rect">
            <a:avLst/>
          </a:prstGeom>
          <a:noFill/>
          <a:ln/>
        </p:spPr>
        <p:txBody>
          <a:bodyPr wrap="square" lIns="0" tIns="0" rIns="0" bIns="0" rtlCol="0" anchor="ctr"/>
          <a:lstStyle/>
          <a:p>
            <a:pPr algn="ctr" indent="0" marL="0">
              <a:buNone/>
            </a:pPr>
            <a:r>
              <a:rPr lang="en-US" sz="900" b="1" spc="100" kern="0" dirty="0">
                <a:solidFill>
                  <a:srgbClr val="0E0A06"/>
                </a:solidFill>
                <a:latin typeface="DM Sans" pitchFamily="34" charset="0"/>
                <a:ea typeface="DM Sans" pitchFamily="34" charset="-122"/>
                <a:cs typeface="DM Sans" pitchFamily="34" charset="-120"/>
              </a:rPr>
              <a:t>NO (Tier banned)</a:t>
            </a:r>
            <a:endParaRPr lang="en-US" sz="900" dirty="0"/>
          </a:p>
        </p:txBody>
      </p:sp>
      <p:sp>
        <p:nvSpPr>
          <p:cNvPr id="67" name="Text 65"/>
          <p:cNvSpPr/>
          <p:nvPr/>
        </p:nvSpPr>
        <p:spPr>
          <a:xfrm>
            <a:off x="9829800" y="5559552"/>
            <a:ext cx="1828800" cy="384048"/>
          </a:xfrm>
          <a:prstGeom prst="rect">
            <a:avLst/>
          </a:prstGeom>
          <a:noFill/>
          <a:ln/>
        </p:spPr>
        <p:txBody>
          <a:bodyPr wrap="square" lIns="0" tIns="0" rIns="0" bIns="0" rtlCol="0" anchor="ctr"/>
          <a:lstStyle/>
          <a:p>
            <a:pPr indent="0" marL="0">
              <a:buNone/>
            </a:pPr>
            <a:r>
              <a:rPr lang="en-US" sz="1000" i="1" dirty="0">
                <a:solidFill>
                  <a:srgbClr val="C8BAA6"/>
                </a:solidFill>
                <a:latin typeface="DM Sans" pitchFamily="34" charset="0"/>
                <a:ea typeface="DM Sans" pitchFamily="34" charset="-122"/>
                <a:cs typeface="DM Sans" pitchFamily="34" charset="-120"/>
              </a:rPr>
              <a:t>Vertex AI Search banned</a:t>
            </a:r>
            <a:endParaRPr lang="en-US" sz="1000" dirty="0"/>
          </a:p>
        </p:txBody>
      </p:sp>
      <p:sp>
        <p:nvSpPr>
          <p:cNvPr id="68" name="Text 66"/>
          <p:cNvSpPr/>
          <p:nvPr/>
        </p:nvSpPr>
        <p:spPr>
          <a:xfrm>
            <a:off x="548640" y="6080760"/>
            <a:ext cx="11064240" cy="365760"/>
          </a:xfrm>
          <a:prstGeom prst="rect">
            <a:avLst/>
          </a:prstGeom>
          <a:noFill/>
          <a:ln/>
        </p:spPr>
        <p:txBody>
          <a:bodyPr wrap="square" lIns="0" tIns="0" rIns="0" bIns="0" rtlCol="0" anchor="ctr"/>
          <a:lstStyle/>
          <a:p>
            <a:pPr algn="ctr" indent="0" marL="0">
              <a:buNone/>
            </a:pPr>
            <a:r>
              <a:rPr lang="en-US" sz="1300" i="1" dirty="0">
                <a:solidFill>
                  <a:srgbClr val="F59E0B"/>
                </a:solidFill>
                <a:latin typeface="DM Sans" pitchFamily="34" charset="0"/>
                <a:ea typeface="DM Sans" pitchFamily="34" charset="-122"/>
                <a:cs typeface="DM Sans" pitchFamily="34" charset="-120"/>
              </a:rPr>
              <a:t>10 gap items inventoried · 7 integration-feasible (PARTIAL or YES) · 3 career-only (NO)</a:t>
            </a:r>
            <a:endParaRPr lang="en-US" sz="1300" dirty="0"/>
          </a:p>
        </p:txBody>
      </p:sp>
      <p:sp>
        <p:nvSpPr>
          <p:cNvPr id="69" name="Text 67"/>
          <p:cNvSpPr/>
          <p:nvPr/>
        </p:nvSpPr>
        <p:spPr>
          <a:xfrm>
            <a:off x="11064240" y="6492240"/>
            <a:ext cx="822960" cy="228600"/>
          </a:xfrm>
          <a:prstGeom prst="rect">
            <a:avLst/>
          </a:prstGeom>
          <a:noFill/>
          <a:ln/>
        </p:spPr>
        <p:txBody>
          <a:bodyPr wrap="square" lIns="0" tIns="0" rIns="0" bIns="0" rtlCol="0" anchor="ctr"/>
          <a:lstStyle/>
          <a:p>
            <a:pPr algn="r" indent="0" marL="0">
              <a:buNone/>
            </a:pPr>
            <a:r>
              <a:rPr lang="en-US" sz="900" dirty="0">
                <a:solidFill>
                  <a:srgbClr val="8A7A64"/>
                </a:solidFill>
                <a:latin typeface="DM Sans" pitchFamily="34" charset="0"/>
                <a:ea typeface="DM Sans" pitchFamily="34" charset="-122"/>
                <a:cs typeface="DM Sans" pitchFamily="34" charset="-120"/>
              </a:rPr>
              <a:t>13 / 17</a:t>
            </a:r>
            <a:endParaRPr lang="en-US" sz="900" dirty="0"/>
          </a:p>
        </p:txBody>
      </p:sp>
      <p:sp>
        <p:nvSpPr>
          <p:cNvPr id="70" name="Text 68"/>
          <p:cNvSpPr/>
          <p:nvPr/>
        </p:nvSpPr>
        <p:spPr>
          <a:xfrm>
            <a:off x="365760" y="6492240"/>
            <a:ext cx="4572000" cy="228600"/>
          </a:xfrm>
          <a:prstGeom prst="rect">
            <a:avLst/>
          </a:prstGeom>
          <a:noFill/>
          <a:ln/>
        </p:spPr>
        <p:txBody>
          <a:bodyPr wrap="square" lIns="0" tIns="0" rIns="0" bIns="0" rtlCol="0" anchor="ctr"/>
          <a:lstStyle/>
          <a:p>
            <a:pPr algn="l" indent="0" marL="0">
              <a:buNone/>
            </a:pPr>
            <a:r>
              <a:rPr lang="en-US" sz="900" dirty="0">
                <a:solidFill>
                  <a:srgbClr val="8A7A64"/>
                </a:solidFill>
                <a:latin typeface="DM Sans" pitchFamily="34" charset="0"/>
                <a:ea typeface="DM Sans" pitchFamily="34" charset="-122"/>
                <a:cs typeface="DM Sans" pitchFamily="34" charset="-120"/>
              </a:rPr>
              <a:t>PEARL_RESEARCH · 2026-06-09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0A06"/>
        </a:solidFill>
      </p:bgPr>
    </p:bg>
    <p:spTree>
      <p:nvGrpSpPr>
        <p:cNvPr id="1" name=""/>
        <p:cNvGrpSpPr/>
        <p:nvPr/>
      </p:nvGrpSpPr>
      <p:grpSpPr>
        <a:xfrm>
          <a:off x="0" y="0"/>
          <a:ext cx="0" cy="0"/>
          <a:chOff x="0" y="0"/>
          <a:chExt cx="0" cy="0"/>
        </a:xfrm>
      </p:grpSpPr>
      <p:sp>
        <p:nvSpPr>
          <p:cNvPr id="2" name="Text 0"/>
          <p:cNvSpPr/>
          <p:nvPr/>
        </p:nvSpPr>
        <p:spPr>
          <a:xfrm>
            <a:off x="548640" y="228600"/>
            <a:ext cx="11064240" cy="274320"/>
          </a:xfrm>
          <a:prstGeom prst="rect">
            <a:avLst/>
          </a:prstGeom>
          <a:noFill/>
          <a:ln/>
        </p:spPr>
        <p:txBody>
          <a:bodyPr wrap="square" lIns="0" tIns="0" rIns="0" bIns="0" rtlCol="0" anchor="ctr"/>
          <a:lstStyle/>
          <a:p>
            <a:pPr indent="0" marL="0">
              <a:buNone/>
            </a:pPr>
            <a:r>
              <a:rPr lang="en-US" sz="1100" b="1" spc="600" kern="0" dirty="0">
                <a:solidFill>
                  <a:srgbClr val="F59E0B"/>
                </a:solidFill>
                <a:latin typeface="DM Sans" pitchFamily="34" charset="0"/>
                <a:ea typeface="DM Sans" pitchFamily="34" charset="-122"/>
                <a:cs typeface="DM Sans" pitchFamily="34" charset="-120"/>
              </a:rPr>
              <a:t>INTEGRATION ROADMAP</a:t>
            </a:r>
            <a:endParaRPr lang="en-US" sz="1100" dirty="0"/>
          </a:p>
        </p:txBody>
      </p:sp>
      <p:sp>
        <p:nvSpPr>
          <p:cNvPr id="3" name="Text 1"/>
          <p:cNvSpPr/>
          <p:nvPr/>
        </p:nvSpPr>
        <p:spPr>
          <a:xfrm>
            <a:off x="548640" y="411480"/>
            <a:ext cx="11064240" cy="868680"/>
          </a:xfrm>
          <a:prstGeom prst="rect">
            <a:avLst/>
          </a:prstGeom>
          <a:noFill/>
          <a:ln/>
        </p:spPr>
        <p:txBody>
          <a:bodyPr wrap="square" lIns="0" tIns="0" rIns="0" bIns="0" rtlCol="0" anchor="ctr"/>
          <a:lstStyle/>
          <a:p>
            <a:pPr indent="0" marL="0">
              <a:buNone/>
            </a:pPr>
            <a:r>
              <a:rPr lang="en-US" sz="3600" b="1" i="1" dirty="0">
                <a:solidFill>
                  <a:srgbClr val="FAF6F0"/>
                </a:solidFill>
                <a:latin typeface="Cormorant Garamond" pitchFamily="34" charset="0"/>
                <a:ea typeface="Cormorant Garamond" pitchFamily="34" charset="-122"/>
                <a:cs typeface="Cormorant Garamond" pitchFamily="34" charset="-120"/>
              </a:rPr>
              <a:t>If Pearl Prime absorbed the top 2 capabilities</a:t>
            </a:r>
            <a:endParaRPr lang="en-US" sz="3600" dirty="0"/>
          </a:p>
        </p:txBody>
      </p:sp>
      <p:sp>
        <p:nvSpPr>
          <p:cNvPr id="4" name="Shape 2"/>
          <p:cNvSpPr/>
          <p:nvPr/>
        </p:nvSpPr>
        <p:spPr>
          <a:xfrm>
            <a:off x="548640" y="1691640"/>
            <a:ext cx="5486400" cy="4754880"/>
          </a:xfrm>
          <a:prstGeom prst="rect">
            <a:avLst/>
          </a:prstGeom>
          <a:solidFill>
            <a:srgbClr val="1C1308"/>
          </a:solidFill>
          <a:ln w="12700">
            <a:solidFill>
              <a:srgbClr val="1C1308"/>
            </a:solidFill>
            <a:prstDash val="solid"/>
          </a:ln>
        </p:spPr>
      </p:sp>
      <p:sp>
        <p:nvSpPr>
          <p:cNvPr id="5" name="Shape 3"/>
          <p:cNvSpPr/>
          <p:nvPr/>
        </p:nvSpPr>
        <p:spPr>
          <a:xfrm>
            <a:off x="548640" y="1691640"/>
            <a:ext cx="5486400" cy="91440"/>
          </a:xfrm>
          <a:prstGeom prst="rect">
            <a:avLst/>
          </a:prstGeom>
          <a:solidFill>
            <a:srgbClr val="D97706"/>
          </a:solidFill>
          <a:ln w="12700">
            <a:solidFill>
              <a:srgbClr val="D97706"/>
            </a:solidFill>
            <a:prstDash val="solid"/>
          </a:ln>
        </p:spPr>
      </p:sp>
      <p:sp>
        <p:nvSpPr>
          <p:cNvPr id="6" name="Text 4"/>
          <p:cNvSpPr/>
          <p:nvPr/>
        </p:nvSpPr>
        <p:spPr>
          <a:xfrm>
            <a:off x="822960" y="1920240"/>
            <a:ext cx="4937760" cy="274320"/>
          </a:xfrm>
          <a:prstGeom prst="rect">
            <a:avLst/>
          </a:prstGeom>
          <a:noFill/>
          <a:ln/>
        </p:spPr>
        <p:txBody>
          <a:bodyPr wrap="square" lIns="0" tIns="0" rIns="0" bIns="0" rtlCol="0" anchor="ctr"/>
          <a:lstStyle/>
          <a:p>
            <a:pPr indent="0" marL="0">
              <a:buNone/>
            </a:pPr>
            <a:r>
              <a:rPr lang="en-US" sz="1100" b="1" spc="400" kern="0" dirty="0">
                <a:solidFill>
                  <a:srgbClr val="F59E0B"/>
                </a:solidFill>
                <a:latin typeface="DM Sans" pitchFamily="34" charset="0"/>
                <a:ea typeface="DM Sans" pitchFamily="34" charset="-122"/>
                <a:cs typeface="DM Sans" pitchFamily="34" charset="-120"/>
              </a:rPr>
              <a:t>INTEGRATION #1</a:t>
            </a:r>
            <a:endParaRPr lang="en-US" sz="1100" dirty="0"/>
          </a:p>
        </p:txBody>
      </p:sp>
      <p:sp>
        <p:nvSpPr>
          <p:cNvPr id="7" name="Text 5"/>
          <p:cNvSpPr/>
          <p:nvPr/>
        </p:nvSpPr>
        <p:spPr>
          <a:xfrm>
            <a:off x="822960" y="2240280"/>
            <a:ext cx="4937760" cy="640080"/>
          </a:xfrm>
          <a:prstGeom prst="rect">
            <a:avLst/>
          </a:prstGeom>
          <a:noFill/>
          <a:ln/>
        </p:spPr>
        <p:txBody>
          <a:bodyPr wrap="square" lIns="0" tIns="0" rIns="0" bIns="0" rtlCol="0" anchor="ctr"/>
          <a:lstStyle/>
          <a:p>
            <a:pPr indent="0" marL="0">
              <a:buNone/>
            </a:pPr>
            <a:r>
              <a:rPr lang="en-US" sz="2600" b="1" i="1" dirty="0">
                <a:solidFill>
                  <a:srgbClr val="FAF6F0"/>
                </a:solidFill>
                <a:latin typeface="Cormorant Garamond" pitchFamily="34" charset="0"/>
                <a:ea typeface="Cormorant Garamond" pitchFamily="34" charset="-122"/>
                <a:cs typeface="Cormorant Garamond" pitchFamily="34" charset="-120"/>
              </a:rPr>
              <a:t>DuckDB over YAML SSOT</a:t>
            </a:r>
            <a:endParaRPr lang="en-US" sz="2600" dirty="0"/>
          </a:p>
        </p:txBody>
      </p:sp>
      <p:sp>
        <p:nvSpPr>
          <p:cNvPr id="8" name="Text 6"/>
          <p:cNvSpPr/>
          <p:nvPr/>
        </p:nvSpPr>
        <p:spPr>
          <a:xfrm>
            <a:off x="822960" y="2926080"/>
            <a:ext cx="4937760" cy="274320"/>
          </a:xfrm>
          <a:prstGeom prst="rect">
            <a:avLst/>
          </a:prstGeom>
          <a:noFill/>
          <a:ln/>
        </p:spPr>
        <p:txBody>
          <a:bodyPr wrap="square" lIns="0" tIns="0" rIns="0" bIns="0" rtlCol="0" anchor="ctr"/>
          <a:lstStyle/>
          <a:p>
            <a:pPr indent="0" marL="0">
              <a:buNone/>
            </a:pPr>
            <a:r>
              <a:rPr lang="en-US" sz="1100" i="1" dirty="0">
                <a:solidFill>
                  <a:srgbClr val="C8BAA6"/>
                </a:solidFill>
                <a:latin typeface="DM Sans" pitchFamily="34" charset="0"/>
                <a:ea typeface="DM Sans" pitchFamily="34" charset="-122"/>
                <a:cs typeface="DM Sans" pitchFamily="34" charset="-120"/>
              </a:rPr>
              <a:t>2-3 weeks · Pearl_Dev + Pearl_Research</a:t>
            </a:r>
            <a:endParaRPr lang="en-US" sz="1100" dirty="0"/>
          </a:p>
        </p:txBody>
      </p:sp>
      <p:sp>
        <p:nvSpPr>
          <p:cNvPr id="9" name="Text 7"/>
          <p:cNvSpPr/>
          <p:nvPr/>
        </p:nvSpPr>
        <p:spPr>
          <a:xfrm>
            <a:off x="822960" y="3291840"/>
            <a:ext cx="4937760" cy="228600"/>
          </a:xfrm>
          <a:prstGeom prst="rect">
            <a:avLst/>
          </a:prstGeom>
          <a:noFill/>
          <a:ln/>
        </p:spPr>
        <p:txBody>
          <a:bodyPr wrap="square" lIns="0" tIns="0" rIns="0" bIns="0" rtlCol="0" anchor="ctr"/>
          <a:lstStyle/>
          <a:p>
            <a:pPr indent="0" marL="0">
              <a:buNone/>
            </a:pPr>
            <a:r>
              <a:rPr lang="en-US" sz="900" b="1" spc="300" kern="0" dirty="0">
                <a:solidFill>
                  <a:srgbClr val="F59E0B"/>
                </a:solidFill>
                <a:latin typeface="DM Sans" pitchFamily="34" charset="0"/>
                <a:ea typeface="DM Sans" pitchFamily="34" charset="-122"/>
                <a:cs typeface="DM Sans" pitchFamily="34" charset="-120"/>
              </a:rPr>
              <a:t>SCOPE</a:t>
            </a:r>
            <a:endParaRPr lang="en-US" sz="900" dirty="0"/>
          </a:p>
        </p:txBody>
      </p:sp>
      <p:sp>
        <p:nvSpPr>
          <p:cNvPr id="10" name="Text 8"/>
          <p:cNvSpPr/>
          <p:nvPr/>
        </p:nvSpPr>
        <p:spPr>
          <a:xfrm>
            <a:off x="822960" y="3520440"/>
            <a:ext cx="4937760" cy="1188720"/>
          </a:xfrm>
          <a:prstGeom prst="rect">
            <a:avLst/>
          </a:prstGeom>
          <a:noFill/>
          <a:ln/>
        </p:spPr>
        <p:txBody>
          <a:bodyPr wrap="square" lIns="0" tIns="0" rIns="0" bIns="0" rtlCol="0" anchor="ctr"/>
          <a:lstStyle/>
          <a:p>
            <a:pPr indent="0" marL="0">
              <a:buNone/>
            </a:pPr>
            <a:r>
              <a:rPr lang="en-US" sz="1100" dirty="0">
                <a:solidFill>
                  <a:srgbClr val="FAF6F0"/>
                </a:solidFill>
                <a:latin typeface="DM Sans" pitchFamily="34" charset="0"/>
                <a:ea typeface="DM Sans" pitchFamily="34" charset="-122"/>
                <a:cs typeface="DM Sans" pitchFamily="34" charset="-120"/>
              </a:rPr>
              <a:t>Wrap config/source_of_truth/manga_series_plans/ (1,350 YAMLs × 5 locales) + manga_book_plans/ (18,900 YAMLs) in a DuckDB read-only view materialized at startup. Add scripts/catalog/duckdb_view.py. Export query examples in docs/CATALOG_QUERY_GUIDE.md.</a:t>
            </a:r>
            <a:endParaRPr lang="en-US" sz="1100" dirty="0"/>
          </a:p>
        </p:txBody>
      </p:sp>
      <p:sp>
        <p:nvSpPr>
          <p:cNvPr id="11" name="Text 9"/>
          <p:cNvSpPr/>
          <p:nvPr/>
        </p:nvSpPr>
        <p:spPr>
          <a:xfrm>
            <a:off x="822960" y="4754880"/>
            <a:ext cx="4937760" cy="228600"/>
          </a:xfrm>
          <a:prstGeom prst="rect">
            <a:avLst/>
          </a:prstGeom>
          <a:noFill/>
          <a:ln/>
        </p:spPr>
        <p:txBody>
          <a:bodyPr wrap="square" lIns="0" tIns="0" rIns="0" bIns="0" rtlCol="0" anchor="ctr"/>
          <a:lstStyle/>
          <a:p>
            <a:pPr indent="0" marL="0">
              <a:buNone/>
            </a:pPr>
            <a:r>
              <a:rPr lang="en-US" sz="900" b="1" spc="300" kern="0" dirty="0">
                <a:solidFill>
                  <a:srgbClr val="84CC16"/>
                </a:solidFill>
                <a:latin typeface="DM Sans" pitchFamily="34" charset="0"/>
                <a:ea typeface="DM Sans" pitchFamily="34" charset="-122"/>
                <a:cs typeface="DM Sans" pitchFamily="34" charset="-120"/>
              </a:rPr>
              <a:t>WHY IT WORKS</a:t>
            </a:r>
            <a:endParaRPr lang="en-US" sz="900" dirty="0"/>
          </a:p>
        </p:txBody>
      </p:sp>
      <p:sp>
        <p:nvSpPr>
          <p:cNvPr id="12" name="Text 10"/>
          <p:cNvSpPr/>
          <p:nvPr/>
        </p:nvSpPr>
        <p:spPr>
          <a:xfrm>
            <a:off x="822960" y="4983480"/>
            <a:ext cx="4937760" cy="1005840"/>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YAML-as-SSOT preserved. SQL-as-query-interface added. No vendor lock-in. No cloud cost. Pure embedded SQL. Trainee with Pro Data Engineer concepts (NOT BigQuery) can ship this with Pearl_Research + Pearl_Dev shadowing.</a:t>
            </a:r>
            <a:endParaRPr lang="en-US" sz="1100" dirty="0"/>
          </a:p>
        </p:txBody>
      </p:sp>
      <p:sp>
        <p:nvSpPr>
          <p:cNvPr id="13" name="Text 11"/>
          <p:cNvSpPr/>
          <p:nvPr/>
        </p:nvSpPr>
        <p:spPr>
          <a:xfrm>
            <a:off x="822960" y="6035040"/>
            <a:ext cx="4937760" cy="365760"/>
          </a:xfrm>
          <a:prstGeom prst="rect">
            <a:avLst/>
          </a:prstGeom>
          <a:noFill/>
          <a:ln/>
        </p:spPr>
        <p:txBody>
          <a:bodyPr wrap="square" lIns="0" tIns="0" rIns="0" bIns="0" rtlCol="0" anchor="ctr"/>
          <a:lstStyle/>
          <a:p>
            <a:pPr indent="0" marL="0">
              <a:buNone/>
            </a:pPr>
            <a:r>
              <a:rPr lang="en-US" sz="1000" i="1" dirty="0">
                <a:solidFill>
                  <a:srgbClr val="EF4444"/>
                </a:solidFill>
                <a:latin typeface="DM Sans" pitchFamily="34" charset="0"/>
                <a:ea typeface="DM Sans" pitchFamily="34" charset="-122"/>
                <a:cs typeface="DM Sans" pitchFamily="34" charset="-120"/>
              </a:rPr>
              <a:t>NOT BigQuery / Snowflake — Tier-policy violation. DuckDB is sufficient at the data scale (~20K rows).</a:t>
            </a:r>
            <a:endParaRPr lang="en-US" sz="1000" dirty="0"/>
          </a:p>
        </p:txBody>
      </p:sp>
      <p:sp>
        <p:nvSpPr>
          <p:cNvPr id="14" name="Shape 12"/>
          <p:cNvSpPr/>
          <p:nvPr/>
        </p:nvSpPr>
        <p:spPr>
          <a:xfrm>
            <a:off x="6309360" y="1691640"/>
            <a:ext cx="5486400" cy="4754880"/>
          </a:xfrm>
          <a:prstGeom prst="rect">
            <a:avLst/>
          </a:prstGeom>
          <a:solidFill>
            <a:srgbClr val="1C1308"/>
          </a:solidFill>
          <a:ln w="12700">
            <a:solidFill>
              <a:srgbClr val="1C1308"/>
            </a:solidFill>
            <a:prstDash val="solid"/>
          </a:ln>
        </p:spPr>
      </p:sp>
      <p:sp>
        <p:nvSpPr>
          <p:cNvPr id="15" name="Shape 13"/>
          <p:cNvSpPr/>
          <p:nvPr/>
        </p:nvSpPr>
        <p:spPr>
          <a:xfrm>
            <a:off x="6309360" y="1691640"/>
            <a:ext cx="5486400" cy="91440"/>
          </a:xfrm>
          <a:prstGeom prst="rect">
            <a:avLst/>
          </a:prstGeom>
          <a:solidFill>
            <a:srgbClr val="D97706"/>
          </a:solidFill>
          <a:ln w="12700">
            <a:solidFill>
              <a:srgbClr val="D97706"/>
            </a:solidFill>
            <a:prstDash val="solid"/>
          </a:ln>
        </p:spPr>
      </p:sp>
      <p:sp>
        <p:nvSpPr>
          <p:cNvPr id="16" name="Text 14"/>
          <p:cNvSpPr/>
          <p:nvPr/>
        </p:nvSpPr>
        <p:spPr>
          <a:xfrm>
            <a:off x="6583680" y="1920240"/>
            <a:ext cx="4937760" cy="274320"/>
          </a:xfrm>
          <a:prstGeom prst="rect">
            <a:avLst/>
          </a:prstGeom>
          <a:noFill/>
          <a:ln/>
        </p:spPr>
        <p:txBody>
          <a:bodyPr wrap="square" lIns="0" tIns="0" rIns="0" bIns="0" rtlCol="0" anchor="ctr"/>
          <a:lstStyle/>
          <a:p>
            <a:pPr indent="0" marL="0">
              <a:buNone/>
            </a:pPr>
            <a:r>
              <a:rPr lang="en-US" sz="1100" b="1" spc="400" kern="0" dirty="0">
                <a:solidFill>
                  <a:srgbClr val="F59E0B"/>
                </a:solidFill>
                <a:latin typeface="DM Sans" pitchFamily="34" charset="0"/>
                <a:ea typeface="DM Sans" pitchFamily="34" charset="-122"/>
                <a:cs typeface="DM Sans" pitchFamily="34" charset="-120"/>
              </a:rPr>
              <a:t>INTEGRATION #2</a:t>
            </a:r>
            <a:endParaRPr lang="en-US" sz="1100" dirty="0"/>
          </a:p>
        </p:txBody>
      </p:sp>
      <p:sp>
        <p:nvSpPr>
          <p:cNvPr id="17" name="Text 15"/>
          <p:cNvSpPr/>
          <p:nvPr/>
        </p:nvSpPr>
        <p:spPr>
          <a:xfrm>
            <a:off x="6583680" y="2240280"/>
            <a:ext cx="4937760" cy="640080"/>
          </a:xfrm>
          <a:prstGeom prst="rect">
            <a:avLst/>
          </a:prstGeom>
          <a:noFill/>
          <a:ln/>
        </p:spPr>
        <p:txBody>
          <a:bodyPr wrap="square" lIns="0" tIns="0" rIns="0" bIns="0" rtlCol="0" anchor="ctr"/>
          <a:lstStyle/>
          <a:p>
            <a:pPr indent="0" marL="0">
              <a:buNone/>
            </a:pPr>
            <a:r>
              <a:rPr lang="en-US" sz="2600" b="1" i="1" dirty="0">
                <a:solidFill>
                  <a:srgbClr val="FAF6F0"/>
                </a:solidFill>
                <a:latin typeface="Cormorant Garamond" pitchFamily="34" charset="0"/>
                <a:ea typeface="Cormorant Garamond" pitchFamily="34" charset="-122"/>
                <a:cs typeface="Cormorant Garamond" pitchFamily="34" charset="-120"/>
              </a:rPr>
              <a:t>SRE-style SLO definitions</a:t>
            </a:r>
            <a:endParaRPr lang="en-US" sz="2600" dirty="0"/>
          </a:p>
        </p:txBody>
      </p:sp>
      <p:sp>
        <p:nvSpPr>
          <p:cNvPr id="18" name="Text 16"/>
          <p:cNvSpPr/>
          <p:nvPr/>
        </p:nvSpPr>
        <p:spPr>
          <a:xfrm>
            <a:off x="6583680" y="2926080"/>
            <a:ext cx="4937760" cy="274320"/>
          </a:xfrm>
          <a:prstGeom prst="rect">
            <a:avLst/>
          </a:prstGeom>
          <a:noFill/>
          <a:ln/>
        </p:spPr>
        <p:txBody>
          <a:bodyPr wrap="square" lIns="0" tIns="0" rIns="0" bIns="0" rtlCol="0" anchor="ctr"/>
          <a:lstStyle/>
          <a:p>
            <a:pPr indent="0" marL="0">
              <a:buNone/>
            </a:pPr>
            <a:r>
              <a:rPr lang="en-US" sz="1100" i="1" dirty="0">
                <a:solidFill>
                  <a:srgbClr val="C8BAA6"/>
                </a:solidFill>
                <a:latin typeface="DM Sans" pitchFamily="34" charset="0"/>
                <a:ea typeface="DM Sans" pitchFamily="34" charset="-122"/>
                <a:cs typeface="DM Sans" pitchFamily="34" charset="-120"/>
              </a:rPr>
              <a:t>1-2 weeks · Pearl_DevOps + Pearl_PM</a:t>
            </a:r>
            <a:endParaRPr lang="en-US" sz="1100" dirty="0"/>
          </a:p>
        </p:txBody>
      </p:sp>
      <p:sp>
        <p:nvSpPr>
          <p:cNvPr id="19" name="Text 17"/>
          <p:cNvSpPr/>
          <p:nvPr/>
        </p:nvSpPr>
        <p:spPr>
          <a:xfrm>
            <a:off x="6583680" y="3291840"/>
            <a:ext cx="4937760" cy="228600"/>
          </a:xfrm>
          <a:prstGeom prst="rect">
            <a:avLst/>
          </a:prstGeom>
          <a:noFill/>
          <a:ln/>
        </p:spPr>
        <p:txBody>
          <a:bodyPr wrap="square" lIns="0" tIns="0" rIns="0" bIns="0" rtlCol="0" anchor="ctr"/>
          <a:lstStyle/>
          <a:p>
            <a:pPr indent="0" marL="0">
              <a:buNone/>
            </a:pPr>
            <a:r>
              <a:rPr lang="en-US" sz="900" b="1" spc="300" kern="0" dirty="0">
                <a:solidFill>
                  <a:srgbClr val="F59E0B"/>
                </a:solidFill>
                <a:latin typeface="DM Sans" pitchFamily="34" charset="0"/>
                <a:ea typeface="DM Sans" pitchFamily="34" charset="-122"/>
                <a:cs typeface="DM Sans" pitchFamily="34" charset="-120"/>
              </a:rPr>
              <a:t>SCOPE</a:t>
            </a:r>
            <a:endParaRPr lang="en-US" sz="900" dirty="0"/>
          </a:p>
        </p:txBody>
      </p:sp>
      <p:sp>
        <p:nvSpPr>
          <p:cNvPr id="20" name="Text 18"/>
          <p:cNvSpPr/>
          <p:nvPr/>
        </p:nvSpPr>
        <p:spPr>
          <a:xfrm>
            <a:off x="6583680" y="3520440"/>
            <a:ext cx="4937760" cy="1188720"/>
          </a:xfrm>
          <a:prstGeom prst="rect">
            <a:avLst/>
          </a:prstGeom>
          <a:noFill/>
          <a:ln/>
        </p:spPr>
        <p:txBody>
          <a:bodyPr wrap="square" lIns="0" tIns="0" rIns="0" bIns="0" rtlCol="0" anchor="ctr"/>
          <a:lstStyle/>
          <a:p>
            <a:pPr indent="0" marL="0">
              <a:buNone/>
            </a:pPr>
            <a:r>
              <a:rPr lang="en-US" sz="1100" dirty="0">
                <a:solidFill>
                  <a:srgbClr val="FAF6F0"/>
                </a:solidFill>
                <a:latin typeface="DM Sans" pitchFamily="34" charset="0"/>
                <a:ea typeface="DM Sans" pitchFamily="34" charset="-122"/>
                <a:cs typeface="DM Sans" pitchFamily="34" charset="-120"/>
              </a:rPr>
              <a:t>Author docs/SLO_REGISTRY.md with SLO/SLI/error-budget definitions: weekly manga rollout (≥95% success, 4-wk rolling); audiobook comparator manual-review queue (&lt;10% throughput); Pearl News daily publish (no missed days, 7-day rolling); Cloudflare Pages deploy (≥99%, 30-day rolling).</a:t>
            </a:r>
            <a:endParaRPr lang="en-US" sz="1100" dirty="0"/>
          </a:p>
        </p:txBody>
      </p:sp>
      <p:sp>
        <p:nvSpPr>
          <p:cNvPr id="21" name="Text 19"/>
          <p:cNvSpPr/>
          <p:nvPr/>
        </p:nvSpPr>
        <p:spPr>
          <a:xfrm>
            <a:off x="6583680" y="4754880"/>
            <a:ext cx="4937760" cy="228600"/>
          </a:xfrm>
          <a:prstGeom prst="rect">
            <a:avLst/>
          </a:prstGeom>
          <a:noFill/>
          <a:ln/>
        </p:spPr>
        <p:txBody>
          <a:bodyPr wrap="square" lIns="0" tIns="0" rIns="0" bIns="0" rtlCol="0" anchor="ctr"/>
          <a:lstStyle/>
          <a:p>
            <a:pPr indent="0" marL="0">
              <a:buNone/>
            </a:pPr>
            <a:r>
              <a:rPr lang="en-US" sz="900" b="1" spc="300" kern="0" dirty="0">
                <a:solidFill>
                  <a:srgbClr val="84CC16"/>
                </a:solidFill>
                <a:latin typeface="DM Sans" pitchFamily="34" charset="0"/>
                <a:ea typeface="DM Sans" pitchFamily="34" charset="-122"/>
                <a:cs typeface="DM Sans" pitchFamily="34" charset="-120"/>
              </a:rPr>
              <a:t>WHY IT WORKS</a:t>
            </a:r>
            <a:endParaRPr lang="en-US" sz="900" dirty="0"/>
          </a:p>
        </p:txBody>
      </p:sp>
      <p:sp>
        <p:nvSpPr>
          <p:cNvPr id="22" name="Text 20"/>
          <p:cNvSpPr/>
          <p:nvPr/>
        </p:nvSpPr>
        <p:spPr>
          <a:xfrm>
            <a:off x="6583680" y="4983480"/>
            <a:ext cx="4937760" cy="1005840"/>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Aligns with existing change-impact.yml + marketing-continuous.yml patterns. Operator-tier value = visible health dashboard. Pure GitHub Actions + grep + jq computation. Trainee with Pro Cloud DevOps Engineer concepts can ship this with Pearl_DevOps shadowing.</a:t>
            </a:r>
            <a:endParaRPr lang="en-US" sz="1100" dirty="0"/>
          </a:p>
        </p:txBody>
      </p:sp>
      <p:sp>
        <p:nvSpPr>
          <p:cNvPr id="23" name="Text 21"/>
          <p:cNvSpPr/>
          <p:nvPr/>
        </p:nvSpPr>
        <p:spPr>
          <a:xfrm>
            <a:off x="6583680" y="6035040"/>
            <a:ext cx="4937760" cy="365760"/>
          </a:xfrm>
          <a:prstGeom prst="rect">
            <a:avLst/>
          </a:prstGeom>
          <a:noFill/>
          <a:ln/>
        </p:spPr>
        <p:txBody>
          <a:bodyPr wrap="square" lIns="0" tIns="0" rIns="0" bIns="0" rtlCol="0" anchor="ctr"/>
          <a:lstStyle/>
          <a:p>
            <a:pPr indent="0" marL="0">
              <a:buNone/>
            </a:pPr>
            <a:r>
              <a:rPr lang="en-US" sz="1000" i="1" dirty="0">
                <a:solidFill>
                  <a:srgbClr val="EF4444"/>
                </a:solidFill>
                <a:latin typeface="DM Sans" pitchFamily="34" charset="0"/>
                <a:ea typeface="DM Sans" pitchFamily="34" charset="-122"/>
                <a:cs typeface="DM Sans" pitchFamily="34" charset="-120"/>
              </a:rPr>
              <a:t>NOT Datadog / New Relic — cost. Pearl Prime CI already emits structured logs.</a:t>
            </a:r>
            <a:endParaRPr lang="en-US" sz="1000" dirty="0"/>
          </a:p>
        </p:txBody>
      </p:sp>
      <p:sp>
        <p:nvSpPr>
          <p:cNvPr id="24" name="Text 22"/>
          <p:cNvSpPr/>
          <p:nvPr/>
        </p:nvSpPr>
        <p:spPr>
          <a:xfrm>
            <a:off x="11064240" y="6492240"/>
            <a:ext cx="822960" cy="228600"/>
          </a:xfrm>
          <a:prstGeom prst="rect">
            <a:avLst/>
          </a:prstGeom>
          <a:noFill/>
          <a:ln/>
        </p:spPr>
        <p:txBody>
          <a:bodyPr wrap="square" lIns="0" tIns="0" rIns="0" bIns="0" rtlCol="0" anchor="ctr"/>
          <a:lstStyle/>
          <a:p>
            <a:pPr algn="r" indent="0" marL="0">
              <a:buNone/>
            </a:pPr>
            <a:r>
              <a:rPr lang="en-US" sz="900" dirty="0">
                <a:solidFill>
                  <a:srgbClr val="8A7A64"/>
                </a:solidFill>
                <a:latin typeface="DM Sans" pitchFamily="34" charset="0"/>
                <a:ea typeface="DM Sans" pitchFamily="34" charset="-122"/>
                <a:cs typeface="DM Sans" pitchFamily="34" charset="-120"/>
              </a:rPr>
              <a:t>14 / 17</a:t>
            </a:r>
            <a:endParaRPr lang="en-US" sz="900" dirty="0"/>
          </a:p>
        </p:txBody>
      </p:sp>
      <p:sp>
        <p:nvSpPr>
          <p:cNvPr id="25" name="Text 23"/>
          <p:cNvSpPr/>
          <p:nvPr/>
        </p:nvSpPr>
        <p:spPr>
          <a:xfrm>
            <a:off x="365760" y="6492240"/>
            <a:ext cx="4572000" cy="228600"/>
          </a:xfrm>
          <a:prstGeom prst="rect">
            <a:avLst/>
          </a:prstGeom>
          <a:noFill/>
          <a:ln/>
        </p:spPr>
        <p:txBody>
          <a:bodyPr wrap="square" lIns="0" tIns="0" rIns="0" bIns="0" rtlCol="0" anchor="ctr"/>
          <a:lstStyle/>
          <a:p>
            <a:pPr algn="l" indent="0" marL="0">
              <a:buNone/>
            </a:pPr>
            <a:r>
              <a:rPr lang="en-US" sz="900" dirty="0">
                <a:solidFill>
                  <a:srgbClr val="8A7A64"/>
                </a:solidFill>
                <a:latin typeface="DM Sans" pitchFamily="34" charset="0"/>
                <a:ea typeface="DM Sans" pitchFamily="34" charset="-122"/>
                <a:cs typeface="DM Sans" pitchFamily="34" charset="-120"/>
              </a:rPr>
              <a:t>PEARL_RESEARCH · 2026-06-09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0A06"/>
        </a:solidFill>
      </p:bgPr>
    </p:bg>
    <p:spTree>
      <p:nvGrpSpPr>
        <p:cNvPr id="1" name=""/>
        <p:cNvGrpSpPr/>
        <p:nvPr/>
      </p:nvGrpSpPr>
      <p:grpSpPr>
        <a:xfrm>
          <a:off x="0" y="0"/>
          <a:ext cx="0" cy="0"/>
          <a:chOff x="0" y="0"/>
          <a:chExt cx="0" cy="0"/>
        </a:xfrm>
      </p:grpSpPr>
      <p:sp>
        <p:nvSpPr>
          <p:cNvPr id="2" name="Text 0"/>
          <p:cNvSpPr/>
          <p:nvPr/>
        </p:nvSpPr>
        <p:spPr>
          <a:xfrm>
            <a:off x="548640" y="228600"/>
            <a:ext cx="11064240" cy="274320"/>
          </a:xfrm>
          <a:prstGeom prst="rect">
            <a:avLst/>
          </a:prstGeom>
          <a:noFill/>
          <a:ln/>
        </p:spPr>
        <p:txBody>
          <a:bodyPr wrap="square" lIns="0" tIns="0" rIns="0" bIns="0" rtlCol="0" anchor="ctr"/>
          <a:lstStyle/>
          <a:p>
            <a:pPr indent="0" marL="0">
              <a:buNone/>
            </a:pPr>
            <a:r>
              <a:rPr lang="en-US" sz="1100" b="1" spc="600" kern="0" dirty="0">
                <a:solidFill>
                  <a:srgbClr val="F59E0B"/>
                </a:solidFill>
                <a:latin typeface="DM Sans" pitchFamily="34" charset="0"/>
                <a:ea typeface="DM Sans" pitchFamily="34" charset="-122"/>
                <a:cs typeface="DM Sans" pitchFamily="34" charset="-120"/>
              </a:rPr>
              <a:t>TIER-POLICY GUARDRAILS</a:t>
            </a:r>
            <a:endParaRPr lang="en-US" sz="1100" dirty="0"/>
          </a:p>
        </p:txBody>
      </p:sp>
      <p:sp>
        <p:nvSpPr>
          <p:cNvPr id="3" name="Text 1"/>
          <p:cNvSpPr/>
          <p:nvPr/>
        </p:nvSpPr>
        <p:spPr>
          <a:xfrm>
            <a:off x="548640" y="411480"/>
            <a:ext cx="11064240" cy="868680"/>
          </a:xfrm>
          <a:prstGeom prst="rect">
            <a:avLst/>
          </a:prstGeom>
          <a:noFill/>
          <a:ln/>
        </p:spPr>
        <p:txBody>
          <a:bodyPr wrap="square" lIns="0" tIns="0" rIns="0" bIns="0" rtlCol="0" anchor="ctr"/>
          <a:lstStyle/>
          <a:p>
            <a:pPr indent="0" marL="0">
              <a:buNone/>
            </a:pPr>
            <a:r>
              <a:rPr lang="en-US" sz="3600" b="1" i="1" dirty="0">
                <a:solidFill>
                  <a:srgbClr val="FAF6F0"/>
                </a:solidFill>
                <a:latin typeface="Cormorant Garamond" pitchFamily="34" charset="0"/>
                <a:ea typeface="Cormorant Garamond" pitchFamily="34" charset="-122"/>
                <a:cs typeface="Cormorant Garamond" pitchFamily="34" charset="-120"/>
              </a:rPr>
              <a:t>What trainees CANNOT ship into Pearl Prime repo</a:t>
            </a:r>
            <a:endParaRPr lang="en-US" sz="3600" dirty="0"/>
          </a:p>
        </p:txBody>
      </p:sp>
      <p:sp>
        <p:nvSpPr>
          <p:cNvPr id="4" name="Shape 2"/>
          <p:cNvSpPr/>
          <p:nvPr/>
        </p:nvSpPr>
        <p:spPr>
          <a:xfrm>
            <a:off x="548640" y="1691640"/>
            <a:ext cx="3535680" cy="3931920"/>
          </a:xfrm>
          <a:prstGeom prst="rect">
            <a:avLst/>
          </a:prstGeom>
          <a:solidFill>
            <a:srgbClr val="1C1308"/>
          </a:solidFill>
          <a:ln w="12700">
            <a:solidFill>
              <a:srgbClr val="1C1308"/>
            </a:solidFill>
            <a:prstDash val="solid"/>
          </a:ln>
        </p:spPr>
      </p:sp>
      <p:sp>
        <p:nvSpPr>
          <p:cNvPr id="5" name="Shape 3"/>
          <p:cNvSpPr/>
          <p:nvPr/>
        </p:nvSpPr>
        <p:spPr>
          <a:xfrm>
            <a:off x="548640" y="1691640"/>
            <a:ext cx="3535680" cy="91440"/>
          </a:xfrm>
          <a:prstGeom prst="rect">
            <a:avLst/>
          </a:prstGeom>
          <a:solidFill>
            <a:srgbClr val="84CC16"/>
          </a:solidFill>
          <a:ln w="12700">
            <a:solidFill>
              <a:srgbClr val="84CC16"/>
            </a:solidFill>
            <a:prstDash val="solid"/>
          </a:ln>
        </p:spPr>
      </p:sp>
      <p:sp>
        <p:nvSpPr>
          <p:cNvPr id="6" name="Text 4"/>
          <p:cNvSpPr/>
          <p:nvPr/>
        </p:nvSpPr>
        <p:spPr>
          <a:xfrm>
            <a:off x="822960" y="1920240"/>
            <a:ext cx="2987040" cy="320040"/>
          </a:xfrm>
          <a:prstGeom prst="rect">
            <a:avLst/>
          </a:prstGeom>
          <a:noFill/>
          <a:ln/>
        </p:spPr>
        <p:txBody>
          <a:bodyPr wrap="square" lIns="0" tIns="0" rIns="0" bIns="0" rtlCol="0" anchor="ctr"/>
          <a:lstStyle/>
          <a:p>
            <a:pPr indent="0" marL="0">
              <a:buNone/>
            </a:pPr>
            <a:r>
              <a:rPr lang="en-US" sz="1000" b="1" spc="400" kern="0" dirty="0">
                <a:solidFill>
                  <a:srgbClr val="84CC16"/>
                </a:solidFill>
                <a:latin typeface="DM Sans" pitchFamily="34" charset="0"/>
                <a:ea typeface="DM Sans" pitchFamily="34" charset="-122"/>
                <a:cs typeface="DM Sans" pitchFamily="34" charset="-120"/>
              </a:rPr>
              <a:t>TIER 1 — ALLOWED</a:t>
            </a:r>
            <a:endParaRPr lang="en-US" sz="1000" dirty="0"/>
          </a:p>
        </p:txBody>
      </p:sp>
      <p:sp>
        <p:nvSpPr>
          <p:cNvPr id="7" name="Text 5"/>
          <p:cNvSpPr/>
          <p:nvPr/>
        </p:nvSpPr>
        <p:spPr>
          <a:xfrm>
            <a:off x="822960" y="2331720"/>
            <a:ext cx="2987040" cy="548640"/>
          </a:xfrm>
          <a:prstGeom prst="rect">
            <a:avLst/>
          </a:prstGeom>
          <a:noFill/>
          <a:ln/>
        </p:spPr>
        <p:txBody>
          <a:bodyPr wrap="square" lIns="0" tIns="0" rIns="0" bIns="0" rtlCol="0" anchor="ctr"/>
          <a:lstStyle/>
          <a:p>
            <a:pPr indent="0" marL="0">
              <a:buNone/>
            </a:pPr>
            <a:r>
              <a:rPr lang="en-US" sz="2200" b="1" i="1" dirty="0">
                <a:solidFill>
                  <a:srgbClr val="FAF6F0"/>
                </a:solidFill>
                <a:latin typeface="Cormorant Garamond" pitchFamily="34" charset="0"/>
                <a:ea typeface="Cormorant Garamond" pitchFamily="34" charset="-122"/>
                <a:cs typeface="Cormorant Garamond" pitchFamily="34" charset="-120"/>
              </a:rPr>
              <a:t>Claude Code subscription</a:t>
            </a:r>
            <a:endParaRPr lang="en-US" sz="2200" dirty="0"/>
          </a:p>
        </p:txBody>
      </p:sp>
      <p:sp>
        <p:nvSpPr>
          <p:cNvPr id="8" name="Text 6"/>
          <p:cNvSpPr/>
          <p:nvPr/>
        </p:nvSpPr>
        <p:spPr>
          <a:xfrm>
            <a:off x="822960" y="2971800"/>
            <a:ext cx="2987040" cy="2514600"/>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Operator-present only. All refactors, features, analysis, research, prose generation, bestseller chapters, manga scripts. Anywhere a human reviews output before it ships.</a:t>
            </a:r>
            <a:endParaRPr lang="en-US" sz="1100" dirty="0"/>
          </a:p>
        </p:txBody>
      </p:sp>
      <p:sp>
        <p:nvSpPr>
          <p:cNvPr id="9" name="Shape 7"/>
          <p:cNvSpPr/>
          <p:nvPr/>
        </p:nvSpPr>
        <p:spPr>
          <a:xfrm>
            <a:off x="4312920" y="1691640"/>
            <a:ext cx="3535680" cy="3931920"/>
          </a:xfrm>
          <a:prstGeom prst="rect">
            <a:avLst/>
          </a:prstGeom>
          <a:solidFill>
            <a:srgbClr val="1C1308"/>
          </a:solidFill>
          <a:ln w="12700">
            <a:solidFill>
              <a:srgbClr val="1C1308"/>
            </a:solidFill>
            <a:prstDash val="solid"/>
          </a:ln>
        </p:spPr>
      </p:sp>
      <p:sp>
        <p:nvSpPr>
          <p:cNvPr id="10" name="Shape 8"/>
          <p:cNvSpPr/>
          <p:nvPr/>
        </p:nvSpPr>
        <p:spPr>
          <a:xfrm>
            <a:off x="4312920" y="1691640"/>
            <a:ext cx="3535680" cy="91440"/>
          </a:xfrm>
          <a:prstGeom prst="rect">
            <a:avLst/>
          </a:prstGeom>
          <a:solidFill>
            <a:srgbClr val="F59E0B"/>
          </a:solidFill>
          <a:ln w="12700">
            <a:solidFill>
              <a:srgbClr val="F59E0B"/>
            </a:solidFill>
            <a:prstDash val="solid"/>
          </a:ln>
        </p:spPr>
      </p:sp>
      <p:sp>
        <p:nvSpPr>
          <p:cNvPr id="11" name="Text 9"/>
          <p:cNvSpPr/>
          <p:nvPr/>
        </p:nvSpPr>
        <p:spPr>
          <a:xfrm>
            <a:off x="4587240" y="1920240"/>
            <a:ext cx="2987040" cy="320040"/>
          </a:xfrm>
          <a:prstGeom prst="rect">
            <a:avLst/>
          </a:prstGeom>
          <a:noFill/>
          <a:ln/>
        </p:spPr>
        <p:txBody>
          <a:bodyPr wrap="square" lIns="0" tIns="0" rIns="0" bIns="0" rtlCol="0" anchor="ctr"/>
          <a:lstStyle/>
          <a:p>
            <a:pPr indent="0" marL="0">
              <a:buNone/>
            </a:pPr>
            <a:r>
              <a:rPr lang="en-US" sz="1000" b="1" spc="400" kern="0" dirty="0">
                <a:solidFill>
                  <a:srgbClr val="F59E0B"/>
                </a:solidFill>
                <a:latin typeface="DM Sans" pitchFamily="34" charset="0"/>
                <a:ea typeface="DM Sans" pitchFamily="34" charset="-122"/>
                <a:cs typeface="DM Sans" pitchFamily="34" charset="-120"/>
              </a:rPr>
              <a:t>TIER 2 — ALLOWED</a:t>
            </a:r>
            <a:endParaRPr lang="en-US" sz="1000" dirty="0"/>
          </a:p>
        </p:txBody>
      </p:sp>
      <p:sp>
        <p:nvSpPr>
          <p:cNvPr id="12" name="Text 10"/>
          <p:cNvSpPr/>
          <p:nvPr/>
        </p:nvSpPr>
        <p:spPr>
          <a:xfrm>
            <a:off x="4587240" y="2331720"/>
            <a:ext cx="2987040" cy="548640"/>
          </a:xfrm>
          <a:prstGeom prst="rect">
            <a:avLst/>
          </a:prstGeom>
          <a:noFill/>
          <a:ln/>
        </p:spPr>
        <p:txBody>
          <a:bodyPr wrap="square" lIns="0" tIns="0" rIns="0" bIns="0" rtlCol="0" anchor="ctr"/>
          <a:lstStyle/>
          <a:p>
            <a:pPr indent="0" marL="0">
              <a:buNone/>
            </a:pPr>
            <a:r>
              <a:rPr lang="en-US" sz="2200" b="1" i="1" dirty="0">
                <a:solidFill>
                  <a:srgbClr val="FAF6F0"/>
                </a:solidFill>
                <a:latin typeface="Cormorant Garamond" pitchFamily="34" charset="0"/>
                <a:ea typeface="Cormorant Garamond" pitchFamily="34" charset="-122"/>
                <a:cs typeface="Cormorant Garamond" pitchFamily="34" charset="-120"/>
              </a:rPr>
              <a:t>Ollama on Pearl Star</a:t>
            </a:r>
            <a:endParaRPr lang="en-US" sz="2200" dirty="0"/>
          </a:p>
        </p:txBody>
      </p:sp>
      <p:sp>
        <p:nvSpPr>
          <p:cNvPr id="13" name="Text 11"/>
          <p:cNvSpPr/>
          <p:nvPr/>
        </p:nvSpPr>
        <p:spPr>
          <a:xfrm>
            <a:off x="4587240" y="2971800"/>
            <a:ext cx="2987040" cy="2514600"/>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Free + unattended. Gemma3:27b (EN) + Qwen2.5:14b (CJK6). Scheduled pipelines: weekly manga rollout, nightly regression, Pearl News daily, brand digest, audiobook comparator. Any pipeline step that fires when no operator is present.</a:t>
            </a:r>
            <a:endParaRPr lang="en-US" sz="1100" dirty="0"/>
          </a:p>
        </p:txBody>
      </p:sp>
      <p:sp>
        <p:nvSpPr>
          <p:cNvPr id="14" name="Shape 12"/>
          <p:cNvSpPr/>
          <p:nvPr/>
        </p:nvSpPr>
        <p:spPr>
          <a:xfrm>
            <a:off x="8077200" y="1691640"/>
            <a:ext cx="3535680" cy="3931920"/>
          </a:xfrm>
          <a:prstGeom prst="rect">
            <a:avLst/>
          </a:prstGeom>
          <a:solidFill>
            <a:srgbClr val="1C1308"/>
          </a:solidFill>
          <a:ln w="12700">
            <a:solidFill>
              <a:srgbClr val="1C1308"/>
            </a:solidFill>
            <a:prstDash val="solid"/>
          </a:ln>
        </p:spPr>
      </p:sp>
      <p:sp>
        <p:nvSpPr>
          <p:cNvPr id="15" name="Shape 13"/>
          <p:cNvSpPr/>
          <p:nvPr/>
        </p:nvSpPr>
        <p:spPr>
          <a:xfrm>
            <a:off x="8077200" y="1691640"/>
            <a:ext cx="3535680" cy="91440"/>
          </a:xfrm>
          <a:prstGeom prst="rect">
            <a:avLst/>
          </a:prstGeom>
          <a:solidFill>
            <a:srgbClr val="EF4444"/>
          </a:solidFill>
          <a:ln w="12700">
            <a:solidFill>
              <a:srgbClr val="EF4444"/>
            </a:solidFill>
            <a:prstDash val="solid"/>
          </a:ln>
        </p:spPr>
      </p:sp>
      <p:sp>
        <p:nvSpPr>
          <p:cNvPr id="16" name="Text 14"/>
          <p:cNvSpPr/>
          <p:nvPr/>
        </p:nvSpPr>
        <p:spPr>
          <a:xfrm>
            <a:off x="8351520" y="1920240"/>
            <a:ext cx="2987040" cy="320040"/>
          </a:xfrm>
          <a:prstGeom prst="rect">
            <a:avLst/>
          </a:prstGeom>
          <a:noFill/>
          <a:ln/>
        </p:spPr>
        <p:txBody>
          <a:bodyPr wrap="square" lIns="0" tIns="0" rIns="0" bIns="0" rtlCol="0" anchor="ctr"/>
          <a:lstStyle/>
          <a:p>
            <a:pPr indent="0" marL="0">
              <a:buNone/>
            </a:pPr>
            <a:r>
              <a:rPr lang="en-US" sz="1000" b="1" spc="400" kern="0" dirty="0">
                <a:solidFill>
                  <a:srgbClr val="EF4444"/>
                </a:solidFill>
                <a:latin typeface="DM Sans" pitchFamily="34" charset="0"/>
                <a:ea typeface="DM Sans" pitchFamily="34" charset="-122"/>
                <a:cs typeface="DM Sans" pitchFamily="34" charset="-120"/>
              </a:rPr>
              <a:t>BANNED IN REPO CODE</a:t>
            </a:r>
            <a:endParaRPr lang="en-US" sz="1000" dirty="0"/>
          </a:p>
        </p:txBody>
      </p:sp>
      <p:sp>
        <p:nvSpPr>
          <p:cNvPr id="17" name="Text 15"/>
          <p:cNvSpPr/>
          <p:nvPr/>
        </p:nvSpPr>
        <p:spPr>
          <a:xfrm>
            <a:off x="8351520" y="2331720"/>
            <a:ext cx="2987040" cy="548640"/>
          </a:xfrm>
          <a:prstGeom prst="rect">
            <a:avLst/>
          </a:prstGeom>
          <a:noFill/>
          <a:ln/>
        </p:spPr>
        <p:txBody>
          <a:bodyPr wrap="square" lIns="0" tIns="0" rIns="0" bIns="0" rtlCol="0" anchor="ctr"/>
          <a:lstStyle/>
          <a:p>
            <a:pPr indent="0" marL="0">
              <a:buNone/>
            </a:pPr>
            <a:r>
              <a:rPr lang="en-US" sz="2200" b="1" i="1" dirty="0">
                <a:solidFill>
                  <a:srgbClr val="FAF6F0"/>
                </a:solidFill>
                <a:latin typeface="Cormorant Garamond" pitchFamily="34" charset="0"/>
                <a:ea typeface="Cormorant Garamond" pitchFamily="34" charset="-122"/>
                <a:cs typeface="Cormorant Garamond" pitchFamily="34" charset="-120"/>
              </a:rPr>
              <a:t>Paid LLM APIs</a:t>
            </a:r>
            <a:endParaRPr lang="en-US" sz="2200" dirty="0"/>
          </a:p>
        </p:txBody>
      </p:sp>
      <p:sp>
        <p:nvSpPr>
          <p:cNvPr id="18" name="Text 16"/>
          <p:cNvSpPr/>
          <p:nvPr/>
        </p:nvSpPr>
        <p:spPr>
          <a:xfrm>
            <a:off x="8351520" y="2971800"/>
            <a:ext cx="2987040" cy="2514600"/>
          </a:xfrm>
          <a:prstGeom prst="rect">
            <a:avLst/>
          </a:prstGeom>
          <a:noFill/>
          <a:ln/>
        </p:spPr>
        <p:txBody>
          <a:bodyPr wrap="square" lIns="0" tIns="0" rIns="0" bIns="0" rtlCol="0" anchor="ctr"/>
          <a:lstStyle/>
          <a:p>
            <a:pPr indent="0" marL="0">
              <a:buNone/>
            </a:pPr>
            <a:r>
              <a:rPr lang="en-US" sz="1100" dirty="0">
                <a:solidFill>
                  <a:srgbClr val="C8BAA6"/>
                </a:solidFill>
                <a:latin typeface="DM Sans" pitchFamily="34" charset="0"/>
                <a:ea typeface="DM Sans" pitchFamily="34" charset="-122"/>
                <a:cs typeface="DM Sans" pitchFamily="34" charset="-120"/>
              </a:rPr>
              <a:t>ANTHROPIC_API_KEY · CLAUDE_API_KEY · OpenAI cloud · Google AI cloud (Vertex AI / Gemini API) · DashScope cloud · Together cloud · Replicate · Perplexity · Cohere · Mistral paid. Enforced by .github/workflows/llm-policy-enforcement.yml + scripts/ci/audit_llm_callers.py.</a:t>
            </a:r>
            <a:endParaRPr lang="en-US" sz="1100" dirty="0"/>
          </a:p>
        </p:txBody>
      </p:sp>
      <p:sp>
        <p:nvSpPr>
          <p:cNvPr id="19" name="Shape 17"/>
          <p:cNvSpPr/>
          <p:nvPr/>
        </p:nvSpPr>
        <p:spPr>
          <a:xfrm>
            <a:off x="548640" y="5715000"/>
            <a:ext cx="11064240" cy="731520"/>
          </a:xfrm>
          <a:prstGeom prst="rect">
            <a:avLst/>
          </a:prstGeom>
          <a:solidFill>
            <a:srgbClr val="2B1D0E"/>
          </a:solidFill>
          <a:ln w="12700">
            <a:solidFill>
              <a:srgbClr val="D97706"/>
            </a:solidFill>
            <a:prstDash val="solid"/>
          </a:ln>
        </p:spPr>
      </p:sp>
      <p:sp>
        <p:nvSpPr>
          <p:cNvPr id="20" name="Text 18"/>
          <p:cNvSpPr/>
          <p:nvPr/>
        </p:nvSpPr>
        <p:spPr>
          <a:xfrm>
            <a:off x="731520" y="5806440"/>
            <a:ext cx="10698480" cy="594360"/>
          </a:xfrm>
          <a:prstGeom prst="rect">
            <a:avLst/>
          </a:prstGeom>
          <a:noFill/>
          <a:ln/>
        </p:spPr>
        <p:txBody>
          <a:bodyPr wrap="square" lIns="0" tIns="0" rIns="0" bIns="0" rtlCol="0" anchor="ctr"/>
          <a:lstStyle/>
          <a:p>
            <a:pPr indent="0" marL="0">
              <a:buNone/>
            </a:pPr>
            <a:r>
              <a:rPr lang="en-US" sz="1200" dirty="0">
                <a:solidFill>
                  <a:srgbClr val="C8BAA6"/>
                </a:solidFill>
                <a:latin typeface="DM Sans" pitchFamily="34" charset="0"/>
                <a:ea typeface="DM Sans" pitchFamily="34" charset="-122"/>
                <a:cs typeface="DM Sans" pitchFamily="34" charset="-120"/>
              </a:rPr>
              <a:t>What this means for trainees who complete Google AI Professional Cert, GenAI Leader, Skills Boost AI/ML, or Pro ML Engineer: </a:t>
            </a:r>
            <a:endParaRPr lang="en-US" sz="1200" dirty="0"/>
          </a:p>
          <a:p>
            <a:pPr indent="0" marL="0">
              <a:buNone/>
            </a:pPr>
            <a:r>
              <a:rPr lang="en-US" sz="1200" dirty="0">
                <a:solidFill>
                  <a:srgbClr val="FAF6F0"/>
                </a:solidFill>
                <a:latin typeface="DM Sans" pitchFamily="34" charset="0"/>
                <a:ea typeface="DM Sans" pitchFamily="34" charset="-122"/>
                <a:cs typeface="DM Sans" pitchFamily="34" charset="-120"/>
              </a:rPr>
              <a:t>  →  Apply concepts to Tier-2 Ollama prompts (recommended) · Tier-1 Claude orchestration · personal career value.  </a:t>
            </a:r>
            <a:pPr indent="0" marL="0">
              <a:buNone/>
            </a:pPr>
            <a:r>
              <a:rPr lang="en-US" sz="1200" b="1" i="1" dirty="0">
                <a:solidFill>
                  <a:srgbClr val="F59E0B"/>
                </a:solidFill>
                <a:latin typeface="DM Sans" pitchFamily="34" charset="0"/>
                <a:ea typeface="DM Sans" pitchFamily="34" charset="-122"/>
                <a:cs typeface="DM Sans" pitchFamily="34" charset="-120"/>
              </a:rPr>
              <a:t>Career salaries above are real even where Pearl Prime can't ship the vendor.</a:t>
            </a:r>
            <a:endParaRPr lang="en-US" sz="1200" dirty="0"/>
          </a:p>
        </p:txBody>
      </p:sp>
      <p:sp>
        <p:nvSpPr>
          <p:cNvPr id="21" name="Text 19"/>
          <p:cNvSpPr/>
          <p:nvPr/>
        </p:nvSpPr>
        <p:spPr>
          <a:xfrm>
            <a:off x="11064240" y="6492240"/>
            <a:ext cx="822960" cy="228600"/>
          </a:xfrm>
          <a:prstGeom prst="rect">
            <a:avLst/>
          </a:prstGeom>
          <a:noFill/>
          <a:ln/>
        </p:spPr>
        <p:txBody>
          <a:bodyPr wrap="square" lIns="0" tIns="0" rIns="0" bIns="0" rtlCol="0" anchor="ctr"/>
          <a:lstStyle/>
          <a:p>
            <a:pPr algn="r" indent="0" marL="0">
              <a:buNone/>
            </a:pPr>
            <a:r>
              <a:rPr lang="en-US" sz="900" dirty="0">
                <a:solidFill>
                  <a:srgbClr val="8A7A64"/>
                </a:solidFill>
                <a:latin typeface="DM Sans" pitchFamily="34" charset="0"/>
                <a:ea typeface="DM Sans" pitchFamily="34" charset="-122"/>
                <a:cs typeface="DM Sans" pitchFamily="34" charset="-120"/>
              </a:rPr>
              <a:t>15 / 17</a:t>
            </a:r>
            <a:endParaRPr lang="en-US" sz="900" dirty="0"/>
          </a:p>
        </p:txBody>
      </p:sp>
      <p:sp>
        <p:nvSpPr>
          <p:cNvPr id="22" name="Text 20"/>
          <p:cNvSpPr/>
          <p:nvPr/>
        </p:nvSpPr>
        <p:spPr>
          <a:xfrm>
            <a:off x="365760" y="6492240"/>
            <a:ext cx="4572000" cy="228600"/>
          </a:xfrm>
          <a:prstGeom prst="rect">
            <a:avLst/>
          </a:prstGeom>
          <a:noFill/>
          <a:ln/>
        </p:spPr>
        <p:txBody>
          <a:bodyPr wrap="square" lIns="0" tIns="0" rIns="0" bIns="0" rtlCol="0" anchor="ctr"/>
          <a:lstStyle/>
          <a:p>
            <a:pPr algn="l" indent="0" marL="0">
              <a:buNone/>
            </a:pPr>
            <a:r>
              <a:rPr lang="en-US" sz="900" dirty="0">
                <a:solidFill>
                  <a:srgbClr val="8A7A64"/>
                </a:solidFill>
                <a:latin typeface="DM Sans" pitchFamily="34" charset="0"/>
                <a:ea typeface="DM Sans" pitchFamily="34" charset="-122"/>
                <a:cs typeface="DM Sans" pitchFamily="34" charset="-120"/>
              </a:rPr>
              <a:t>PEARL_RESEARCH · 2026-06-09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0A06"/>
        </a:solidFill>
      </p:bgPr>
    </p:bg>
    <p:spTree>
      <p:nvGrpSpPr>
        <p:cNvPr id="1" name=""/>
        <p:cNvGrpSpPr/>
        <p:nvPr/>
      </p:nvGrpSpPr>
      <p:grpSpPr>
        <a:xfrm>
          <a:off x="0" y="0"/>
          <a:ext cx="0" cy="0"/>
          <a:chOff x="0" y="0"/>
          <a:chExt cx="0" cy="0"/>
        </a:xfrm>
      </p:grpSpPr>
      <p:sp>
        <p:nvSpPr>
          <p:cNvPr id="2" name="Text 0"/>
          <p:cNvSpPr/>
          <p:nvPr/>
        </p:nvSpPr>
        <p:spPr>
          <a:xfrm>
            <a:off x="548640" y="228600"/>
            <a:ext cx="11064240" cy="274320"/>
          </a:xfrm>
          <a:prstGeom prst="rect">
            <a:avLst/>
          </a:prstGeom>
          <a:noFill/>
          <a:ln/>
        </p:spPr>
        <p:txBody>
          <a:bodyPr wrap="square" lIns="0" tIns="0" rIns="0" bIns="0" rtlCol="0" anchor="ctr"/>
          <a:lstStyle/>
          <a:p>
            <a:pPr indent="0" marL="0">
              <a:buNone/>
            </a:pPr>
            <a:r>
              <a:rPr lang="en-US" sz="1100" b="1" spc="600" kern="0" dirty="0">
                <a:solidFill>
                  <a:srgbClr val="F59E0B"/>
                </a:solidFill>
                <a:latin typeface="DM Sans" pitchFamily="34" charset="0"/>
                <a:ea typeface="DM Sans" pitchFamily="34" charset="-122"/>
                <a:cs typeface="DM Sans" pitchFamily="34" charset="-120"/>
              </a:rPr>
              <a:t>ONBOARDING SEQUENCING</a:t>
            </a:r>
            <a:endParaRPr lang="en-US" sz="1100" dirty="0"/>
          </a:p>
        </p:txBody>
      </p:sp>
      <p:sp>
        <p:nvSpPr>
          <p:cNvPr id="3" name="Text 1"/>
          <p:cNvSpPr/>
          <p:nvPr/>
        </p:nvSpPr>
        <p:spPr>
          <a:xfrm>
            <a:off x="548640" y="411480"/>
            <a:ext cx="11064240" cy="868680"/>
          </a:xfrm>
          <a:prstGeom prst="rect">
            <a:avLst/>
          </a:prstGeom>
          <a:noFill/>
          <a:ln/>
        </p:spPr>
        <p:txBody>
          <a:bodyPr wrap="square" lIns="0" tIns="0" rIns="0" bIns="0" rtlCol="0" anchor="ctr"/>
          <a:lstStyle/>
          <a:p>
            <a:pPr indent="0" marL="0">
              <a:buNone/>
            </a:pPr>
            <a:r>
              <a:rPr lang="en-US" sz="3600" b="1" i="1" dirty="0">
                <a:solidFill>
                  <a:srgbClr val="FAF6F0"/>
                </a:solidFill>
                <a:latin typeface="Cormorant Garamond" pitchFamily="34" charset="0"/>
                <a:ea typeface="Cormorant Garamond" pitchFamily="34" charset="-122"/>
                <a:cs typeface="Cormorant Garamond" pitchFamily="34" charset="-120"/>
              </a:rPr>
              <a:t>30 / 90 / 180 day curriculum by contributor profile</a:t>
            </a:r>
            <a:endParaRPr lang="en-US" sz="3600" dirty="0"/>
          </a:p>
        </p:txBody>
      </p:sp>
      <p:sp>
        <p:nvSpPr>
          <p:cNvPr id="4" name="Text 2"/>
          <p:cNvSpPr/>
          <p:nvPr/>
        </p:nvSpPr>
        <p:spPr>
          <a:xfrm>
            <a:off x="685800" y="1554480"/>
            <a:ext cx="2423160" cy="274320"/>
          </a:xfrm>
          <a:prstGeom prst="rect">
            <a:avLst/>
          </a:prstGeom>
          <a:noFill/>
          <a:ln/>
        </p:spPr>
        <p:txBody>
          <a:bodyPr wrap="square" lIns="0" tIns="0" rIns="0" bIns="0" rtlCol="0" anchor="ctr"/>
          <a:lstStyle/>
          <a:p>
            <a:pPr indent="0" marL="0">
              <a:buNone/>
            </a:pPr>
            <a:r>
              <a:rPr lang="en-US" sz="900" b="1" spc="300" kern="0" dirty="0">
                <a:solidFill>
                  <a:srgbClr val="8A7A64"/>
                </a:solidFill>
                <a:latin typeface="DM Sans" pitchFamily="34" charset="0"/>
                <a:ea typeface="DM Sans" pitchFamily="34" charset="-122"/>
                <a:cs typeface="DM Sans" pitchFamily="34" charset="-120"/>
              </a:rPr>
              <a:t>PROFILE</a:t>
            </a:r>
            <a:endParaRPr lang="en-US" sz="900" dirty="0"/>
          </a:p>
        </p:txBody>
      </p:sp>
      <p:sp>
        <p:nvSpPr>
          <p:cNvPr id="5" name="Text 3"/>
          <p:cNvSpPr/>
          <p:nvPr/>
        </p:nvSpPr>
        <p:spPr>
          <a:xfrm>
            <a:off x="3246120" y="1554480"/>
            <a:ext cx="2697480" cy="274320"/>
          </a:xfrm>
          <a:prstGeom prst="rect">
            <a:avLst/>
          </a:prstGeom>
          <a:noFill/>
          <a:ln/>
        </p:spPr>
        <p:txBody>
          <a:bodyPr wrap="square" lIns="0" tIns="0" rIns="0" bIns="0" rtlCol="0" anchor="ctr"/>
          <a:lstStyle/>
          <a:p>
            <a:pPr indent="0" marL="0">
              <a:buNone/>
            </a:pPr>
            <a:r>
              <a:rPr lang="en-US" sz="900" b="1" spc="300" kern="0" dirty="0">
                <a:solidFill>
                  <a:srgbClr val="F59E0B"/>
                </a:solidFill>
                <a:latin typeface="DM Sans" pitchFamily="34" charset="0"/>
                <a:ea typeface="DM Sans" pitchFamily="34" charset="-122"/>
                <a:cs typeface="DM Sans" pitchFamily="34" charset="-120"/>
              </a:rPr>
              <a:t>DAY 1-30</a:t>
            </a:r>
            <a:endParaRPr lang="en-US" sz="900" dirty="0"/>
          </a:p>
        </p:txBody>
      </p:sp>
      <p:sp>
        <p:nvSpPr>
          <p:cNvPr id="6" name="Text 4"/>
          <p:cNvSpPr/>
          <p:nvPr/>
        </p:nvSpPr>
        <p:spPr>
          <a:xfrm>
            <a:off x="6080760" y="1554480"/>
            <a:ext cx="2697480" cy="274320"/>
          </a:xfrm>
          <a:prstGeom prst="rect">
            <a:avLst/>
          </a:prstGeom>
          <a:noFill/>
          <a:ln/>
        </p:spPr>
        <p:txBody>
          <a:bodyPr wrap="square" lIns="0" tIns="0" rIns="0" bIns="0" rtlCol="0" anchor="ctr"/>
          <a:lstStyle/>
          <a:p>
            <a:pPr indent="0" marL="0">
              <a:buNone/>
            </a:pPr>
            <a:r>
              <a:rPr lang="en-US" sz="900" b="1" spc="300" kern="0" dirty="0">
                <a:solidFill>
                  <a:srgbClr val="F59E0B"/>
                </a:solidFill>
                <a:latin typeface="DM Sans" pitchFamily="34" charset="0"/>
                <a:ea typeface="DM Sans" pitchFamily="34" charset="-122"/>
                <a:cs typeface="DM Sans" pitchFamily="34" charset="-120"/>
              </a:rPr>
              <a:t>DAY 31-90</a:t>
            </a:r>
            <a:endParaRPr lang="en-US" sz="900" dirty="0"/>
          </a:p>
        </p:txBody>
      </p:sp>
      <p:sp>
        <p:nvSpPr>
          <p:cNvPr id="7" name="Text 5"/>
          <p:cNvSpPr/>
          <p:nvPr/>
        </p:nvSpPr>
        <p:spPr>
          <a:xfrm>
            <a:off x="8915400" y="1554480"/>
            <a:ext cx="2697480" cy="274320"/>
          </a:xfrm>
          <a:prstGeom prst="rect">
            <a:avLst/>
          </a:prstGeom>
          <a:noFill/>
          <a:ln/>
        </p:spPr>
        <p:txBody>
          <a:bodyPr wrap="square" lIns="0" tIns="0" rIns="0" bIns="0" rtlCol="0" anchor="ctr"/>
          <a:lstStyle/>
          <a:p>
            <a:pPr indent="0" marL="0">
              <a:buNone/>
            </a:pPr>
            <a:r>
              <a:rPr lang="en-US" sz="900" b="1" spc="300" kern="0" dirty="0">
                <a:solidFill>
                  <a:srgbClr val="F59E0B"/>
                </a:solidFill>
                <a:latin typeface="DM Sans" pitchFamily="34" charset="0"/>
                <a:ea typeface="DM Sans" pitchFamily="34" charset="-122"/>
                <a:cs typeface="DM Sans" pitchFamily="34" charset="-120"/>
              </a:rPr>
              <a:t>DAY 91-180</a:t>
            </a:r>
            <a:endParaRPr lang="en-US" sz="900" dirty="0"/>
          </a:p>
        </p:txBody>
      </p:sp>
      <p:sp>
        <p:nvSpPr>
          <p:cNvPr id="8" name="Shape 6"/>
          <p:cNvSpPr/>
          <p:nvPr/>
        </p:nvSpPr>
        <p:spPr>
          <a:xfrm>
            <a:off x="548640" y="1920240"/>
            <a:ext cx="2560320" cy="1143000"/>
          </a:xfrm>
          <a:prstGeom prst="rect">
            <a:avLst/>
          </a:prstGeom>
          <a:solidFill>
            <a:srgbClr val="2B1D0E"/>
          </a:solidFill>
          <a:ln w="12700">
            <a:solidFill>
              <a:srgbClr val="2B1D0E"/>
            </a:solidFill>
            <a:prstDash val="solid"/>
          </a:ln>
        </p:spPr>
      </p:sp>
      <p:sp>
        <p:nvSpPr>
          <p:cNvPr id="9" name="Shape 7"/>
          <p:cNvSpPr/>
          <p:nvPr/>
        </p:nvSpPr>
        <p:spPr>
          <a:xfrm>
            <a:off x="548640" y="1920240"/>
            <a:ext cx="91440" cy="1143000"/>
          </a:xfrm>
          <a:prstGeom prst="rect">
            <a:avLst/>
          </a:prstGeom>
          <a:solidFill>
            <a:srgbClr val="0891B2"/>
          </a:solidFill>
          <a:ln w="12700">
            <a:solidFill>
              <a:srgbClr val="0891B2"/>
            </a:solidFill>
            <a:prstDash val="solid"/>
          </a:ln>
        </p:spPr>
      </p:sp>
      <p:sp>
        <p:nvSpPr>
          <p:cNvPr id="10" name="Text 8"/>
          <p:cNvSpPr/>
          <p:nvPr/>
        </p:nvSpPr>
        <p:spPr>
          <a:xfrm>
            <a:off x="777240" y="1920240"/>
            <a:ext cx="2240280" cy="1143000"/>
          </a:xfrm>
          <a:prstGeom prst="rect">
            <a:avLst/>
          </a:prstGeom>
          <a:noFill/>
          <a:ln/>
        </p:spPr>
        <p:txBody>
          <a:bodyPr wrap="square" lIns="0" tIns="0" rIns="0" bIns="0" rtlCol="0" anchor="ctr"/>
          <a:lstStyle/>
          <a:p>
            <a:pPr indent="0" marL="0">
              <a:buNone/>
            </a:pPr>
            <a:r>
              <a:rPr lang="en-US" sz="1400" b="1" i="1" dirty="0">
                <a:solidFill>
                  <a:srgbClr val="FAF6F0"/>
                </a:solidFill>
                <a:latin typeface="Cormorant Garamond" pitchFamily="34" charset="0"/>
                <a:ea typeface="Cormorant Garamond" pitchFamily="34" charset="-122"/>
                <a:cs typeface="Cormorant Garamond" pitchFamily="34" charset="-120"/>
              </a:rPr>
              <a:t>A — No-skill generalist</a:t>
            </a:r>
            <a:endParaRPr lang="en-US" sz="1400" dirty="0"/>
          </a:p>
        </p:txBody>
      </p:sp>
      <p:sp>
        <p:nvSpPr>
          <p:cNvPr id="11" name="Shape 9"/>
          <p:cNvSpPr/>
          <p:nvPr/>
        </p:nvSpPr>
        <p:spPr>
          <a:xfrm>
            <a:off x="3108960" y="1920240"/>
            <a:ext cx="2798064" cy="1143000"/>
          </a:xfrm>
          <a:prstGeom prst="rect">
            <a:avLst/>
          </a:prstGeom>
          <a:solidFill>
            <a:srgbClr val="1C1308"/>
          </a:solidFill>
          <a:ln w="12700">
            <a:solidFill>
              <a:srgbClr val="1C1308"/>
            </a:solidFill>
            <a:prstDash val="solid"/>
          </a:ln>
        </p:spPr>
      </p:sp>
      <p:sp>
        <p:nvSpPr>
          <p:cNvPr id="12" name="Text 10"/>
          <p:cNvSpPr/>
          <p:nvPr/>
        </p:nvSpPr>
        <p:spPr>
          <a:xfrm>
            <a:off x="3246120" y="2011680"/>
            <a:ext cx="2606040" cy="960120"/>
          </a:xfrm>
          <a:prstGeom prst="rect">
            <a:avLst/>
          </a:prstGeom>
          <a:noFill/>
          <a:ln/>
        </p:spPr>
        <p:txBody>
          <a:bodyPr wrap="square" lIns="0" tIns="0" rIns="0" bIns="0" rtlCol="0" anchor="ctr"/>
          <a:lstStyle/>
          <a:p>
            <a:pPr indent="0" marL="0">
              <a:buNone/>
            </a:pPr>
            <a:r>
              <a:rPr lang="en-US" sz="1000" dirty="0">
                <a:solidFill>
                  <a:srgbClr val="FAF6F0"/>
                </a:solidFill>
                <a:latin typeface="DM Sans" pitchFamily="34" charset="0"/>
                <a:ea typeface="DM Sans" pitchFamily="34" charset="-122"/>
                <a:cs typeface="DM Sans" pitchFamily="34" charset="-120"/>
              </a:rPr>
              <a:t>AI Essentials (&lt;5 hr) + AI for Small Businesses + read DOCS_INDEX, CLAUDE.md, SYSTEM_OWNER_VISION. Shadow Pearl_PM.</a:t>
            </a:r>
            <a:endParaRPr lang="en-US" sz="1000" dirty="0"/>
          </a:p>
        </p:txBody>
      </p:sp>
      <p:sp>
        <p:nvSpPr>
          <p:cNvPr id="13" name="Shape 11"/>
          <p:cNvSpPr/>
          <p:nvPr/>
        </p:nvSpPr>
        <p:spPr>
          <a:xfrm>
            <a:off x="5943600" y="1920240"/>
            <a:ext cx="2798064" cy="1143000"/>
          </a:xfrm>
          <a:prstGeom prst="rect">
            <a:avLst/>
          </a:prstGeom>
          <a:solidFill>
            <a:srgbClr val="1C1308"/>
          </a:solidFill>
          <a:ln w="12700">
            <a:solidFill>
              <a:srgbClr val="1C1308"/>
            </a:solidFill>
            <a:prstDash val="solid"/>
          </a:ln>
        </p:spPr>
      </p:sp>
      <p:sp>
        <p:nvSpPr>
          <p:cNvPr id="14" name="Text 12"/>
          <p:cNvSpPr/>
          <p:nvPr/>
        </p:nvSpPr>
        <p:spPr>
          <a:xfrm>
            <a:off x="6080760" y="2011680"/>
            <a:ext cx="2606040" cy="960120"/>
          </a:xfrm>
          <a:prstGeom prst="rect">
            <a:avLst/>
          </a:prstGeom>
          <a:noFill/>
          <a:ln/>
        </p:spPr>
        <p:txBody>
          <a:bodyPr wrap="square" lIns="0" tIns="0" rIns="0" bIns="0" rtlCol="0" anchor="ctr"/>
          <a:lstStyle/>
          <a:p>
            <a:pPr indent="0" marL="0">
              <a:buNone/>
            </a:pPr>
            <a:r>
              <a:rPr lang="en-US" sz="1000" dirty="0">
                <a:solidFill>
                  <a:srgbClr val="FAF6F0"/>
                </a:solidFill>
                <a:latin typeface="DM Sans" pitchFamily="34" charset="0"/>
                <a:ea typeface="DM Sans" pitchFamily="34" charset="-122"/>
                <a:cs typeface="DM Sans" pitchFamily="34" charset="-120"/>
              </a:rPr>
              <a:t>Begin PM Cert (~180 hr / 4-5 mo). Pair with operator on workstream creation. Author first STARTUP_RECEIPT.</a:t>
            </a:r>
            <a:endParaRPr lang="en-US" sz="1000" dirty="0"/>
          </a:p>
        </p:txBody>
      </p:sp>
      <p:sp>
        <p:nvSpPr>
          <p:cNvPr id="15" name="Shape 13"/>
          <p:cNvSpPr/>
          <p:nvPr/>
        </p:nvSpPr>
        <p:spPr>
          <a:xfrm>
            <a:off x="8778240" y="1920240"/>
            <a:ext cx="2798064" cy="1143000"/>
          </a:xfrm>
          <a:prstGeom prst="rect">
            <a:avLst/>
          </a:prstGeom>
          <a:solidFill>
            <a:srgbClr val="1C1308"/>
          </a:solidFill>
          <a:ln w="12700">
            <a:solidFill>
              <a:srgbClr val="1C1308"/>
            </a:solidFill>
            <a:prstDash val="solid"/>
          </a:ln>
        </p:spPr>
      </p:sp>
      <p:sp>
        <p:nvSpPr>
          <p:cNvPr id="16" name="Text 14"/>
          <p:cNvSpPr/>
          <p:nvPr/>
        </p:nvSpPr>
        <p:spPr>
          <a:xfrm>
            <a:off x="8915400" y="2011680"/>
            <a:ext cx="2606040" cy="960120"/>
          </a:xfrm>
          <a:prstGeom prst="rect">
            <a:avLst/>
          </a:prstGeom>
          <a:noFill/>
          <a:ln/>
        </p:spPr>
        <p:txBody>
          <a:bodyPr wrap="square" lIns="0" tIns="0" rIns="0" bIns="0" rtlCol="0" anchor="ctr"/>
          <a:lstStyle/>
          <a:p>
            <a:pPr indent="0" marL="0">
              <a:buNone/>
            </a:pPr>
            <a:r>
              <a:rPr lang="en-US" sz="1000" dirty="0">
                <a:solidFill>
                  <a:srgbClr val="FAF6F0"/>
                </a:solidFill>
                <a:latin typeface="DM Sans" pitchFamily="34" charset="0"/>
                <a:ea typeface="DM Sans" pitchFamily="34" charset="-122"/>
                <a:cs typeface="DM Sans" pitchFamily="34" charset="-120"/>
              </a:rPr>
              <a:t>Skillshop Google Ads + GA4 (~30 hr, free). Owns marketing-content + freebie funnel work with Pearl_Marketing.</a:t>
            </a:r>
            <a:endParaRPr lang="en-US" sz="1000" dirty="0"/>
          </a:p>
        </p:txBody>
      </p:sp>
      <p:sp>
        <p:nvSpPr>
          <p:cNvPr id="17" name="Shape 15"/>
          <p:cNvSpPr/>
          <p:nvPr/>
        </p:nvSpPr>
        <p:spPr>
          <a:xfrm>
            <a:off x="548640" y="3136392"/>
            <a:ext cx="2560320" cy="1143000"/>
          </a:xfrm>
          <a:prstGeom prst="rect">
            <a:avLst/>
          </a:prstGeom>
          <a:solidFill>
            <a:srgbClr val="2B1D0E"/>
          </a:solidFill>
          <a:ln w="12700">
            <a:solidFill>
              <a:srgbClr val="2B1D0E"/>
            </a:solidFill>
            <a:prstDash val="solid"/>
          </a:ln>
        </p:spPr>
      </p:sp>
      <p:sp>
        <p:nvSpPr>
          <p:cNvPr id="18" name="Shape 16"/>
          <p:cNvSpPr/>
          <p:nvPr/>
        </p:nvSpPr>
        <p:spPr>
          <a:xfrm>
            <a:off x="548640" y="3136392"/>
            <a:ext cx="91440" cy="1143000"/>
          </a:xfrm>
          <a:prstGeom prst="rect">
            <a:avLst/>
          </a:prstGeom>
          <a:solidFill>
            <a:srgbClr val="84CC16"/>
          </a:solidFill>
          <a:ln w="12700">
            <a:solidFill>
              <a:srgbClr val="84CC16"/>
            </a:solidFill>
            <a:prstDash val="solid"/>
          </a:ln>
        </p:spPr>
      </p:sp>
      <p:sp>
        <p:nvSpPr>
          <p:cNvPr id="19" name="Text 17"/>
          <p:cNvSpPr/>
          <p:nvPr/>
        </p:nvSpPr>
        <p:spPr>
          <a:xfrm>
            <a:off x="777240" y="3136392"/>
            <a:ext cx="2240280" cy="1143000"/>
          </a:xfrm>
          <a:prstGeom prst="rect">
            <a:avLst/>
          </a:prstGeom>
          <a:noFill/>
          <a:ln/>
        </p:spPr>
        <p:txBody>
          <a:bodyPr wrap="square" lIns="0" tIns="0" rIns="0" bIns="0" rtlCol="0" anchor="ctr"/>
          <a:lstStyle/>
          <a:p>
            <a:pPr indent="0" marL="0">
              <a:buNone/>
            </a:pPr>
            <a:r>
              <a:rPr lang="en-US" sz="1400" b="1" i="1" dirty="0">
                <a:solidFill>
                  <a:srgbClr val="FAF6F0"/>
                </a:solidFill>
                <a:latin typeface="Cormorant Garamond" pitchFamily="34" charset="0"/>
                <a:ea typeface="Cormorant Garamond" pitchFamily="34" charset="-122"/>
                <a:cs typeface="Cormorant Garamond" pitchFamily="34" charset="-120"/>
              </a:rPr>
              <a:t>B — Entry technical</a:t>
            </a:r>
            <a:endParaRPr lang="en-US" sz="1400" dirty="0"/>
          </a:p>
        </p:txBody>
      </p:sp>
      <p:sp>
        <p:nvSpPr>
          <p:cNvPr id="20" name="Shape 18"/>
          <p:cNvSpPr/>
          <p:nvPr/>
        </p:nvSpPr>
        <p:spPr>
          <a:xfrm>
            <a:off x="3108960" y="3136392"/>
            <a:ext cx="2798064" cy="1143000"/>
          </a:xfrm>
          <a:prstGeom prst="rect">
            <a:avLst/>
          </a:prstGeom>
          <a:solidFill>
            <a:srgbClr val="1C1308"/>
          </a:solidFill>
          <a:ln w="12700">
            <a:solidFill>
              <a:srgbClr val="1C1308"/>
            </a:solidFill>
            <a:prstDash val="solid"/>
          </a:ln>
        </p:spPr>
      </p:sp>
      <p:sp>
        <p:nvSpPr>
          <p:cNvPr id="21" name="Text 19"/>
          <p:cNvSpPr/>
          <p:nvPr/>
        </p:nvSpPr>
        <p:spPr>
          <a:xfrm>
            <a:off x="3246120" y="3227832"/>
            <a:ext cx="2606040" cy="960120"/>
          </a:xfrm>
          <a:prstGeom prst="rect">
            <a:avLst/>
          </a:prstGeom>
          <a:noFill/>
          <a:ln/>
        </p:spPr>
        <p:txBody>
          <a:bodyPr wrap="square" lIns="0" tIns="0" rIns="0" bIns="0" rtlCol="0" anchor="ctr"/>
          <a:lstStyle/>
          <a:p>
            <a:pPr indent="0" marL="0">
              <a:buNone/>
            </a:pPr>
            <a:r>
              <a:rPr lang="en-US" sz="1000" dirty="0">
                <a:solidFill>
                  <a:srgbClr val="FAF6F0"/>
                </a:solidFill>
                <a:latin typeface="DM Sans" pitchFamily="34" charset="0"/>
                <a:ea typeface="DM Sans" pitchFamily="34" charset="-122"/>
                <a:cs typeface="DM Sans" pitchFamily="34" charset="-120"/>
              </a:rPr>
              <a:t>AI Essentials. Read scripts/run_pipeline.py + PHOENIX_V4_5_WRITER_SPEC §1-5. Pair-program with Pearl_Dev on smallest open ws.</a:t>
            </a:r>
            <a:endParaRPr lang="en-US" sz="1000" dirty="0"/>
          </a:p>
        </p:txBody>
      </p:sp>
      <p:sp>
        <p:nvSpPr>
          <p:cNvPr id="22" name="Shape 20"/>
          <p:cNvSpPr/>
          <p:nvPr/>
        </p:nvSpPr>
        <p:spPr>
          <a:xfrm>
            <a:off x="5943600" y="3136392"/>
            <a:ext cx="2798064" cy="1143000"/>
          </a:xfrm>
          <a:prstGeom prst="rect">
            <a:avLst/>
          </a:prstGeom>
          <a:solidFill>
            <a:srgbClr val="1C1308"/>
          </a:solidFill>
          <a:ln w="12700">
            <a:solidFill>
              <a:srgbClr val="1C1308"/>
            </a:solidFill>
            <a:prstDash val="solid"/>
          </a:ln>
        </p:spPr>
      </p:sp>
      <p:sp>
        <p:nvSpPr>
          <p:cNvPr id="23" name="Text 21"/>
          <p:cNvSpPr/>
          <p:nvPr/>
        </p:nvSpPr>
        <p:spPr>
          <a:xfrm>
            <a:off x="6080760" y="3227832"/>
            <a:ext cx="2606040" cy="960120"/>
          </a:xfrm>
          <a:prstGeom prst="rect">
            <a:avLst/>
          </a:prstGeom>
          <a:noFill/>
          <a:ln/>
        </p:spPr>
        <p:txBody>
          <a:bodyPr wrap="square" lIns="0" tIns="0" rIns="0" bIns="0" rtlCol="0" anchor="ctr"/>
          <a:lstStyle/>
          <a:p>
            <a:pPr indent="0" marL="0">
              <a:buNone/>
            </a:pPr>
            <a:r>
              <a:rPr lang="en-US" sz="1000" dirty="0">
                <a:solidFill>
                  <a:srgbClr val="FAF6F0"/>
                </a:solidFill>
                <a:latin typeface="DM Sans" pitchFamily="34" charset="0"/>
                <a:ea typeface="DM Sans" pitchFamily="34" charset="-122"/>
                <a:cs typeface="DM Sans" pitchFamily="34" charset="-120"/>
              </a:rPr>
              <a:t>★ IT Automation w/ Python (~120 hr / 3-4 mo). Complete fully — single highest-utility cert.</a:t>
            </a:r>
            <a:endParaRPr lang="en-US" sz="1000" dirty="0"/>
          </a:p>
        </p:txBody>
      </p:sp>
      <p:sp>
        <p:nvSpPr>
          <p:cNvPr id="24" name="Shape 22"/>
          <p:cNvSpPr/>
          <p:nvPr/>
        </p:nvSpPr>
        <p:spPr>
          <a:xfrm>
            <a:off x="8778240" y="3136392"/>
            <a:ext cx="2798064" cy="1143000"/>
          </a:xfrm>
          <a:prstGeom prst="rect">
            <a:avLst/>
          </a:prstGeom>
          <a:solidFill>
            <a:srgbClr val="1C1308"/>
          </a:solidFill>
          <a:ln w="12700">
            <a:solidFill>
              <a:srgbClr val="1C1308"/>
            </a:solidFill>
            <a:prstDash val="solid"/>
          </a:ln>
        </p:spPr>
      </p:sp>
      <p:sp>
        <p:nvSpPr>
          <p:cNvPr id="25" name="Text 23"/>
          <p:cNvSpPr/>
          <p:nvPr/>
        </p:nvSpPr>
        <p:spPr>
          <a:xfrm>
            <a:off x="8915400" y="3227832"/>
            <a:ext cx="2606040" cy="960120"/>
          </a:xfrm>
          <a:prstGeom prst="rect">
            <a:avLst/>
          </a:prstGeom>
          <a:noFill/>
          <a:ln/>
        </p:spPr>
        <p:txBody>
          <a:bodyPr wrap="square" lIns="0" tIns="0" rIns="0" bIns="0" rtlCol="0" anchor="ctr"/>
          <a:lstStyle/>
          <a:p>
            <a:pPr indent="0" marL="0">
              <a:buNone/>
            </a:pPr>
            <a:r>
              <a:rPr lang="en-US" sz="1000" dirty="0">
                <a:solidFill>
                  <a:srgbClr val="FAF6F0"/>
                </a:solidFill>
                <a:latin typeface="DM Sans" pitchFamily="34" charset="0"/>
                <a:ea typeface="DM Sans" pitchFamily="34" charset="-122"/>
                <a:cs typeface="DM Sans" pitchFamily="34" charset="-120"/>
              </a:rPr>
              <a:t>AI Professional Cert (~60 hr). Apply to repo prompts. Tier-2 Ollama or Tier-1 Claude only — no Gemini API in repo.</a:t>
            </a:r>
            <a:endParaRPr lang="en-US" sz="1000" dirty="0"/>
          </a:p>
        </p:txBody>
      </p:sp>
      <p:sp>
        <p:nvSpPr>
          <p:cNvPr id="26" name="Shape 24"/>
          <p:cNvSpPr/>
          <p:nvPr/>
        </p:nvSpPr>
        <p:spPr>
          <a:xfrm>
            <a:off x="548640" y="4352544"/>
            <a:ext cx="2560320" cy="1143000"/>
          </a:xfrm>
          <a:prstGeom prst="rect">
            <a:avLst/>
          </a:prstGeom>
          <a:solidFill>
            <a:srgbClr val="2B1D0E"/>
          </a:solidFill>
          <a:ln w="12700">
            <a:solidFill>
              <a:srgbClr val="2B1D0E"/>
            </a:solidFill>
            <a:prstDash val="solid"/>
          </a:ln>
        </p:spPr>
      </p:sp>
      <p:sp>
        <p:nvSpPr>
          <p:cNvPr id="27" name="Shape 25"/>
          <p:cNvSpPr/>
          <p:nvPr/>
        </p:nvSpPr>
        <p:spPr>
          <a:xfrm>
            <a:off x="548640" y="4352544"/>
            <a:ext cx="91440" cy="1143000"/>
          </a:xfrm>
          <a:prstGeom prst="rect">
            <a:avLst/>
          </a:prstGeom>
          <a:solidFill>
            <a:srgbClr val="F59E0B"/>
          </a:solidFill>
          <a:ln w="12700">
            <a:solidFill>
              <a:srgbClr val="F59E0B"/>
            </a:solidFill>
            <a:prstDash val="solid"/>
          </a:ln>
        </p:spPr>
      </p:sp>
      <p:sp>
        <p:nvSpPr>
          <p:cNvPr id="28" name="Text 26"/>
          <p:cNvSpPr/>
          <p:nvPr/>
        </p:nvSpPr>
        <p:spPr>
          <a:xfrm>
            <a:off x="777240" y="4352544"/>
            <a:ext cx="2240280" cy="1143000"/>
          </a:xfrm>
          <a:prstGeom prst="rect">
            <a:avLst/>
          </a:prstGeom>
          <a:noFill/>
          <a:ln/>
        </p:spPr>
        <p:txBody>
          <a:bodyPr wrap="square" lIns="0" tIns="0" rIns="0" bIns="0" rtlCol="0" anchor="ctr"/>
          <a:lstStyle/>
          <a:p>
            <a:pPr indent="0" marL="0">
              <a:buNone/>
            </a:pPr>
            <a:r>
              <a:rPr lang="en-US" sz="1400" b="1" i="1" dirty="0">
                <a:solidFill>
                  <a:srgbClr val="FAF6F0"/>
                </a:solidFill>
                <a:latin typeface="Cormorant Garamond" pitchFamily="34" charset="0"/>
                <a:ea typeface="Cormorant Garamond" pitchFamily="34" charset="-122"/>
                <a:cs typeface="Cormorant Garamond" pitchFamily="34" charset="-120"/>
              </a:rPr>
              <a:t>C — Intermediate</a:t>
            </a:r>
            <a:endParaRPr lang="en-US" sz="1400" dirty="0"/>
          </a:p>
        </p:txBody>
      </p:sp>
      <p:sp>
        <p:nvSpPr>
          <p:cNvPr id="29" name="Shape 27"/>
          <p:cNvSpPr/>
          <p:nvPr/>
        </p:nvSpPr>
        <p:spPr>
          <a:xfrm>
            <a:off x="3108960" y="4352544"/>
            <a:ext cx="2798064" cy="1143000"/>
          </a:xfrm>
          <a:prstGeom prst="rect">
            <a:avLst/>
          </a:prstGeom>
          <a:solidFill>
            <a:srgbClr val="1C1308"/>
          </a:solidFill>
          <a:ln w="12700">
            <a:solidFill>
              <a:srgbClr val="1C1308"/>
            </a:solidFill>
            <a:prstDash val="solid"/>
          </a:ln>
        </p:spPr>
      </p:sp>
      <p:sp>
        <p:nvSpPr>
          <p:cNvPr id="30" name="Text 28"/>
          <p:cNvSpPr/>
          <p:nvPr/>
        </p:nvSpPr>
        <p:spPr>
          <a:xfrm>
            <a:off x="3246120" y="4443984"/>
            <a:ext cx="2606040" cy="960120"/>
          </a:xfrm>
          <a:prstGeom prst="rect">
            <a:avLst/>
          </a:prstGeom>
          <a:noFill/>
          <a:ln/>
        </p:spPr>
        <p:txBody>
          <a:bodyPr wrap="square" lIns="0" tIns="0" rIns="0" bIns="0" rtlCol="0" anchor="ctr"/>
          <a:lstStyle/>
          <a:p>
            <a:pPr indent="0" marL="0">
              <a:buNone/>
            </a:pPr>
            <a:r>
              <a:rPr lang="en-US" sz="1000" dirty="0">
                <a:solidFill>
                  <a:srgbClr val="FAF6F0"/>
                </a:solidFill>
                <a:latin typeface="DM Sans" pitchFamily="34" charset="0"/>
                <a:ea typeface="DM Sans" pitchFamily="34" charset="-122"/>
                <a:cs typeface="DM Sans" pitchFamily="34" charset="-120"/>
              </a:rPr>
              <a:t>Skim AI_MANGA_PIPELINE_SUMMARY + AUDIOBOOK_PIPELINE_SPEC + VIDEO_PIPELINE_SPEC. Run ep_001 on Pearl Star.</a:t>
            </a:r>
            <a:endParaRPr lang="en-US" sz="1000" dirty="0"/>
          </a:p>
        </p:txBody>
      </p:sp>
      <p:sp>
        <p:nvSpPr>
          <p:cNvPr id="31" name="Shape 29"/>
          <p:cNvSpPr/>
          <p:nvPr/>
        </p:nvSpPr>
        <p:spPr>
          <a:xfrm>
            <a:off x="5943600" y="4352544"/>
            <a:ext cx="2798064" cy="1143000"/>
          </a:xfrm>
          <a:prstGeom prst="rect">
            <a:avLst/>
          </a:prstGeom>
          <a:solidFill>
            <a:srgbClr val="1C1308"/>
          </a:solidFill>
          <a:ln w="12700">
            <a:solidFill>
              <a:srgbClr val="1C1308"/>
            </a:solidFill>
            <a:prstDash val="solid"/>
          </a:ln>
        </p:spPr>
      </p:sp>
      <p:sp>
        <p:nvSpPr>
          <p:cNvPr id="32" name="Text 30"/>
          <p:cNvSpPr/>
          <p:nvPr/>
        </p:nvSpPr>
        <p:spPr>
          <a:xfrm>
            <a:off x="6080760" y="4443984"/>
            <a:ext cx="2606040" cy="960120"/>
          </a:xfrm>
          <a:prstGeom prst="rect">
            <a:avLst/>
          </a:prstGeom>
          <a:noFill/>
          <a:ln/>
        </p:spPr>
        <p:txBody>
          <a:bodyPr wrap="square" lIns="0" tIns="0" rIns="0" bIns="0" rtlCol="0" anchor="ctr"/>
          <a:lstStyle/>
          <a:p>
            <a:pPr indent="0" marL="0">
              <a:buNone/>
            </a:pPr>
            <a:r>
              <a:rPr lang="en-US" sz="1000" dirty="0">
                <a:solidFill>
                  <a:srgbClr val="FAF6F0"/>
                </a:solidFill>
                <a:latin typeface="DM Sans" pitchFamily="34" charset="0"/>
                <a:ea typeface="DM Sans" pitchFamily="34" charset="-122"/>
                <a:cs typeface="DM Sans" pitchFamily="34" charset="-120"/>
              </a:rPr>
              <a:t>ML Crash Course (~40 hr, free, no banned-API risk). Pair w/ Pearl_Research on EI v2 calibration.</a:t>
            </a:r>
            <a:endParaRPr lang="en-US" sz="1000" dirty="0"/>
          </a:p>
        </p:txBody>
      </p:sp>
      <p:sp>
        <p:nvSpPr>
          <p:cNvPr id="33" name="Shape 31"/>
          <p:cNvSpPr/>
          <p:nvPr/>
        </p:nvSpPr>
        <p:spPr>
          <a:xfrm>
            <a:off x="8778240" y="4352544"/>
            <a:ext cx="2798064" cy="1143000"/>
          </a:xfrm>
          <a:prstGeom prst="rect">
            <a:avLst/>
          </a:prstGeom>
          <a:solidFill>
            <a:srgbClr val="1C1308"/>
          </a:solidFill>
          <a:ln w="12700">
            <a:solidFill>
              <a:srgbClr val="1C1308"/>
            </a:solidFill>
            <a:prstDash val="solid"/>
          </a:ln>
        </p:spPr>
      </p:sp>
      <p:sp>
        <p:nvSpPr>
          <p:cNvPr id="34" name="Text 32"/>
          <p:cNvSpPr/>
          <p:nvPr/>
        </p:nvSpPr>
        <p:spPr>
          <a:xfrm>
            <a:off x="8915400" y="4443984"/>
            <a:ext cx="2606040" cy="960120"/>
          </a:xfrm>
          <a:prstGeom prst="rect">
            <a:avLst/>
          </a:prstGeom>
          <a:noFill/>
          <a:ln/>
        </p:spPr>
        <p:txBody>
          <a:bodyPr wrap="square" lIns="0" tIns="0" rIns="0" bIns="0" rtlCol="0" anchor="ctr"/>
          <a:lstStyle/>
          <a:p>
            <a:pPr indent="0" marL="0">
              <a:buNone/>
            </a:pPr>
            <a:r>
              <a:rPr lang="en-US" sz="1000" dirty="0">
                <a:solidFill>
                  <a:srgbClr val="FAF6F0"/>
                </a:solidFill>
                <a:latin typeface="DM Sans" pitchFamily="34" charset="0"/>
                <a:ea typeface="DM Sans" pitchFamily="34" charset="-122"/>
                <a:cs typeface="DM Sans" pitchFamily="34" charset="-120"/>
              </a:rPr>
              <a:t>Skills Boost Agents path (free). Apply to 14-agent registry. Optional GenAI Leader ($99, ~30 hr).</a:t>
            </a:r>
            <a:endParaRPr lang="en-US" sz="1000" dirty="0"/>
          </a:p>
        </p:txBody>
      </p:sp>
      <p:sp>
        <p:nvSpPr>
          <p:cNvPr id="35" name="Shape 33"/>
          <p:cNvSpPr/>
          <p:nvPr/>
        </p:nvSpPr>
        <p:spPr>
          <a:xfrm>
            <a:off x="548640" y="5568696"/>
            <a:ext cx="2560320" cy="1143000"/>
          </a:xfrm>
          <a:prstGeom prst="rect">
            <a:avLst/>
          </a:prstGeom>
          <a:solidFill>
            <a:srgbClr val="2B1D0E"/>
          </a:solidFill>
          <a:ln w="12700">
            <a:solidFill>
              <a:srgbClr val="2B1D0E"/>
            </a:solidFill>
            <a:prstDash val="solid"/>
          </a:ln>
        </p:spPr>
      </p:sp>
      <p:sp>
        <p:nvSpPr>
          <p:cNvPr id="36" name="Shape 34"/>
          <p:cNvSpPr/>
          <p:nvPr/>
        </p:nvSpPr>
        <p:spPr>
          <a:xfrm>
            <a:off x="548640" y="5568696"/>
            <a:ext cx="91440" cy="1143000"/>
          </a:xfrm>
          <a:prstGeom prst="rect">
            <a:avLst/>
          </a:prstGeom>
          <a:solidFill>
            <a:srgbClr val="D97706"/>
          </a:solidFill>
          <a:ln w="12700">
            <a:solidFill>
              <a:srgbClr val="D97706"/>
            </a:solidFill>
            <a:prstDash val="solid"/>
          </a:ln>
        </p:spPr>
      </p:sp>
      <p:sp>
        <p:nvSpPr>
          <p:cNvPr id="37" name="Text 35"/>
          <p:cNvSpPr/>
          <p:nvPr/>
        </p:nvSpPr>
        <p:spPr>
          <a:xfrm>
            <a:off x="777240" y="5568696"/>
            <a:ext cx="2240280" cy="1143000"/>
          </a:xfrm>
          <a:prstGeom prst="rect">
            <a:avLst/>
          </a:prstGeom>
          <a:noFill/>
          <a:ln/>
        </p:spPr>
        <p:txBody>
          <a:bodyPr wrap="square" lIns="0" tIns="0" rIns="0" bIns="0" rtlCol="0" anchor="ctr"/>
          <a:lstStyle/>
          <a:p>
            <a:pPr indent="0" marL="0">
              <a:buNone/>
            </a:pPr>
            <a:r>
              <a:rPr lang="en-US" sz="1400" b="1" i="1" dirty="0">
                <a:solidFill>
                  <a:srgbClr val="FAF6F0"/>
                </a:solidFill>
                <a:latin typeface="Cormorant Garamond" pitchFamily="34" charset="0"/>
                <a:ea typeface="Cormorant Garamond" pitchFamily="34" charset="-122"/>
                <a:cs typeface="Cormorant Garamond" pitchFamily="34" charset="-120"/>
              </a:rPr>
              <a:t>D — Advanced</a:t>
            </a:r>
            <a:endParaRPr lang="en-US" sz="1400" dirty="0"/>
          </a:p>
        </p:txBody>
      </p:sp>
      <p:sp>
        <p:nvSpPr>
          <p:cNvPr id="38" name="Shape 36"/>
          <p:cNvSpPr/>
          <p:nvPr/>
        </p:nvSpPr>
        <p:spPr>
          <a:xfrm>
            <a:off x="3108960" y="5568696"/>
            <a:ext cx="2798064" cy="1143000"/>
          </a:xfrm>
          <a:prstGeom prst="rect">
            <a:avLst/>
          </a:prstGeom>
          <a:solidFill>
            <a:srgbClr val="1C1308"/>
          </a:solidFill>
          <a:ln w="12700">
            <a:solidFill>
              <a:srgbClr val="1C1308"/>
            </a:solidFill>
            <a:prstDash val="solid"/>
          </a:ln>
        </p:spPr>
      </p:sp>
      <p:sp>
        <p:nvSpPr>
          <p:cNvPr id="39" name="Text 37"/>
          <p:cNvSpPr/>
          <p:nvPr/>
        </p:nvSpPr>
        <p:spPr>
          <a:xfrm>
            <a:off x="3246120" y="5660136"/>
            <a:ext cx="2606040" cy="960120"/>
          </a:xfrm>
          <a:prstGeom prst="rect">
            <a:avLst/>
          </a:prstGeom>
          <a:noFill/>
          <a:ln/>
        </p:spPr>
        <p:txBody>
          <a:bodyPr wrap="square" lIns="0" tIns="0" rIns="0" bIns="0" rtlCol="0" anchor="ctr"/>
          <a:lstStyle/>
          <a:p>
            <a:pPr indent="0" marL="0">
              <a:buNone/>
            </a:pPr>
            <a:r>
              <a:rPr lang="en-US" sz="1000" dirty="0">
                <a:solidFill>
                  <a:srgbClr val="FAF6F0"/>
                </a:solidFill>
                <a:latin typeface="DM Sans" pitchFamily="34" charset="0"/>
                <a:ea typeface="DM Sans" pitchFamily="34" charset="-122"/>
                <a:cs typeface="DM Sans" pitchFamily="34" charset="-120"/>
              </a:rPr>
              <a:t>Read all 19 subsystem authority docs. Author DISCOVERY REPORT for first non-trivial PR.</a:t>
            </a:r>
            <a:endParaRPr lang="en-US" sz="1000" dirty="0"/>
          </a:p>
        </p:txBody>
      </p:sp>
      <p:sp>
        <p:nvSpPr>
          <p:cNvPr id="40" name="Shape 38"/>
          <p:cNvSpPr/>
          <p:nvPr/>
        </p:nvSpPr>
        <p:spPr>
          <a:xfrm>
            <a:off x="5943600" y="5568696"/>
            <a:ext cx="2798064" cy="1143000"/>
          </a:xfrm>
          <a:prstGeom prst="rect">
            <a:avLst/>
          </a:prstGeom>
          <a:solidFill>
            <a:srgbClr val="1C1308"/>
          </a:solidFill>
          <a:ln w="12700">
            <a:solidFill>
              <a:srgbClr val="1C1308"/>
            </a:solidFill>
            <a:prstDash val="solid"/>
          </a:ln>
        </p:spPr>
      </p:sp>
      <p:sp>
        <p:nvSpPr>
          <p:cNvPr id="41" name="Text 39"/>
          <p:cNvSpPr/>
          <p:nvPr/>
        </p:nvSpPr>
        <p:spPr>
          <a:xfrm>
            <a:off x="6080760" y="5660136"/>
            <a:ext cx="2606040" cy="960120"/>
          </a:xfrm>
          <a:prstGeom prst="rect">
            <a:avLst/>
          </a:prstGeom>
          <a:noFill/>
          <a:ln/>
        </p:spPr>
        <p:txBody>
          <a:bodyPr wrap="square" lIns="0" tIns="0" rIns="0" bIns="0" rtlCol="0" anchor="ctr"/>
          <a:lstStyle/>
          <a:p>
            <a:pPr indent="0" marL="0">
              <a:buNone/>
            </a:pPr>
            <a:r>
              <a:rPr lang="en-US" sz="1000" dirty="0">
                <a:solidFill>
                  <a:srgbClr val="FAF6F0"/>
                </a:solidFill>
                <a:latin typeface="DM Sans" pitchFamily="34" charset="0"/>
                <a:ea typeface="DM Sans" pitchFamily="34" charset="-122"/>
                <a:cs typeface="DM Sans" pitchFamily="34" charset="-120"/>
              </a:rPr>
              <a:t>Pick one Integration roadmap item and ship it. Suggested: DuckDB-on-YAML SSOT.</a:t>
            </a:r>
            <a:endParaRPr lang="en-US" sz="1000" dirty="0"/>
          </a:p>
        </p:txBody>
      </p:sp>
      <p:sp>
        <p:nvSpPr>
          <p:cNvPr id="42" name="Shape 40"/>
          <p:cNvSpPr/>
          <p:nvPr/>
        </p:nvSpPr>
        <p:spPr>
          <a:xfrm>
            <a:off x="8778240" y="5568696"/>
            <a:ext cx="2798064" cy="1143000"/>
          </a:xfrm>
          <a:prstGeom prst="rect">
            <a:avLst/>
          </a:prstGeom>
          <a:solidFill>
            <a:srgbClr val="1C1308"/>
          </a:solidFill>
          <a:ln w="12700">
            <a:solidFill>
              <a:srgbClr val="1C1308"/>
            </a:solidFill>
            <a:prstDash val="solid"/>
          </a:ln>
        </p:spPr>
      </p:sp>
      <p:sp>
        <p:nvSpPr>
          <p:cNvPr id="43" name="Text 41"/>
          <p:cNvSpPr/>
          <p:nvPr/>
        </p:nvSpPr>
        <p:spPr>
          <a:xfrm>
            <a:off x="8915400" y="5660136"/>
            <a:ext cx="2606040" cy="960120"/>
          </a:xfrm>
          <a:prstGeom prst="rect">
            <a:avLst/>
          </a:prstGeom>
          <a:noFill/>
          <a:ln/>
        </p:spPr>
        <p:txBody>
          <a:bodyPr wrap="square" lIns="0" tIns="0" rIns="0" bIns="0" rtlCol="0" anchor="ctr"/>
          <a:lstStyle/>
          <a:p>
            <a:pPr indent="0" marL="0">
              <a:buNone/>
            </a:pPr>
            <a:r>
              <a:rPr lang="en-US" sz="1000" dirty="0">
                <a:solidFill>
                  <a:srgbClr val="FAF6F0"/>
                </a:solidFill>
                <a:latin typeface="DM Sans" pitchFamily="34" charset="0"/>
                <a:ea typeface="DM Sans" pitchFamily="34" charset="-122"/>
                <a:cs typeface="DM Sans" pitchFamily="34" charset="-120"/>
              </a:rPr>
              <a:t>Optional GCP Pro cert ($200) for career value. Pair with author of SLO_REGISTRY (Integration #2).</a:t>
            </a:r>
            <a:endParaRPr lang="en-US" sz="1000" dirty="0"/>
          </a:p>
        </p:txBody>
      </p:sp>
      <p:sp>
        <p:nvSpPr>
          <p:cNvPr id="44" name="Text 42"/>
          <p:cNvSpPr/>
          <p:nvPr/>
        </p:nvSpPr>
        <p:spPr>
          <a:xfrm>
            <a:off x="11064240" y="6492240"/>
            <a:ext cx="822960" cy="228600"/>
          </a:xfrm>
          <a:prstGeom prst="rect">
            <a:avLst/>
          </a:prstGeom>
          <a:noFill/>
          <a:ln/>
        </p:spPr>
        <p:txBody>
          <a:bodyPr wrap="square" lIns="0" tIns="0" rIns="0" bIns="0" rtlCol="0" anchor="ctr"/>
          <a:lstStyle/>
          <a:p>
            <a:pPr algn="r" indent="0" marL="0">
              <a:buNone/>
            </a:pPr>
            <a:r>
              <a:rPr lang="en-US" sz="900" dirty="0">
                <a:solidFill>
                  <a:srgbClr val="8A7A64"/>
                </a:solidFill>
                <a:latin typeface="DM Sans" pitchFamily="34" charset="0"/>
                <a:ea typeface="DM Sans" pitchFamily="34" charset="-122"/>
                <a:cs typeface="DM Sans" pitchFamily="34" charset="-120"/>
              </a:rPr>
              <a:t>16 / 17</a:t>
            </a:r>
            <a:endParaRPr lang="en-US" sz="900" dirty="0"/>
          </a:p>
        </p:txBody>
      </p:sp>
      <p:sp>
        <p:nvSpPr>
          <p:cNvPr id="45" name="Text 43"/>
          <p:cNvSpPr/>
          <p:nvPr/>
        </p:nvSpPr>
        <p:spPr>
          <a:xfrm>
            <a:off x="365760" y="6492240"/>
            <a:ext cx="4572000" cy="228600"/>
          </a:xfrm>
          <a:prstGeom prst="rect">
            <a:avLst/>
          </a:prstGeom>
          <a:noFill/>
          <a:ln/>
        </p:spPr>
        <p:txBody>
          <a:bodyPr wrap="square" lIns="0" tIns="0" rIns="0" bIns="0" rtlCol="0" anchor="ctr"/>
          <a:lstStyle/>
          <a:p>
            <a:pPr algn="l" indent="0" marL="0">
              <a:buNone/>
            </a:pPr>
            <a:r>
              <a:rPr lang="en-US" sz="900" dirty="0">
                <a:solidFill>
                  <a:srgbClr val="8A7A64"/>
                </a:solidFill>
                <a:latin typeface="DM Sans" pitchFamily="34" charset="0"/>
                <a:ea typeface="DM Sans" pitchFamily="34" charset="-122"/>
                <a:cs typeface="DM Sans" pitchFamily="34" charset="-120"/>
              </a:rPr>
              <a:t>PEARL_RESEARCH · 2026-06-09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0A06"/>
        </a:solidFill>
      </p:bgPr>
    </p:bg>
    <p:spTree>
      <p:nvGrpSpPr>
        <p:cNvPr id="1" name=""/>
        <p:cNvGrpSpPr/>
        <p:nvPr/>
      </p:nvGrpSpPr>
      <p:grpSpPr>
        <a:xfrm>
          <a:off x="0" y="0"/>
          <a:ext cx="0" cy="0"/>
          <a:chOff x="0" y="0"/>
          <a:chExt cx="0" cy="0"/>
        </a:xfrm>
      </p:grpSpPr>
      <p:sp>
        <p:nvSpPr>
          <p:cNvPr id="2" name="Text 0"/>
          <p:cNvSpPr/>
          <p:nvPr/>
        </p:nvSpPr>
        <p:spPr>
          <a:xfrm>
            <a:off x="548640" y="228600"/>
            <a:ext cx="11064240" cy="274320"/>
          </a:xfrm>
          <a:prstGeom prst="rect">
            <a:avLst/>
          </a:prstGeom>
          <a:noFill/>
          <a:ln/>
        </p:spPr>
        <p:txBody>
          <a:bodyPr wrap="square" lIns="0" tIns="0" rIns="0" bIns="0" rtlCol="0" anchor="ctr"/>
          <a:lstStyle/>
          <a:p>
            <a:pPr indent="0" marL="0">
              <a:buNone/>
            </a:pPr>
            <a:r>
              <a:rPr lang="en-US" sz="1100" b="1" spc="600" kern="0" dirty="0">
                <a:solidFill>
                  <a:srgbClr val="F59E0B"/>
                </a:solidFill>
                <a:latin typeface="DM Sans" pitchFamily="34" charset="0"/>
                <a:ea typeface="DM Sans" pitchFamily="34" charset="-122"/>
                <a:cs typeface="DM Sans" pitchFamily="34" charset="-120"/>
              </a:rPr>
              <a:t>APPENDIX</a:t>
            </a:r>
            <a:endParaRPr lang="en-US" sz="1100" dirty="0"/>
          </a:p>
        </p:txBody>
      </p:sp>
      <p:sp>
        <p:nvSpPr>
          <p:cNvPr id="3" name="Text 1"/>
          <p:cNvSpPr/>
          <p:nvPr/>
        </p:nvSpPr>
        <p:spPr>
          <a:xfrm>
            <a:off x="548640" y="411480"/>
            <a:ext cx="11064240" cy="868680"/>
          </a:xfrm>
          <a:prstGeom prst="rect">
            <a:avLst/>
          </a:prstGeom>
          <a:noFill/>
          <a:ln/>
        </p:spPr>
        <p:txBody>
          <a:bodyPr wrap="square" lIns="0" tIns="0" rIns="0" bIns="0" rtlCol="0" anchor="ctr"/>
          <a:lstStyle/>
          <a:p>
            <a:pPr indent="0" marL="0">
              <a:buNone/>
            </a:pPr>
            <a:r>
              <a:rPr lang="en-US" sz="3600" b="1" i="1" dirty="0">
                <a:solidFill>
                  <a:srgbClr val="FAF6F0"/>
                </a:solidFill>
                <a:latin typeface="Cormorant Garamond" pitchFamily="34" charset="0"/>
                <a:ea typeface="Cormorant Garamond" pitchFamily="34" charset="-122"/>
                <a:cs typeface="Cormorant Garamond" pitchFamily="34" charset="-120"/>
              </a:rPr>
              <a:t>Citations &amp; verification</a:t>
            </a:r>
            <a:endParaRPr lang="en-US" sz="3600" dirty="0"/>
          </a:p>
        </p:txBody>
      </p:sp>
      <p:sp>
        <p:nvSpPr>
          <p:cNvPr id="4" name="Shape 2"/>
          <p:cNvSpPr/>
          <p:nvPr/>
        </p:nvSpPr>
        <p:spPr>
          <a:xfrm>
            <a:off x="548640" y="1691640"/>
            <a:ext cx="3535680" cy="4206240"/>
          </a:xfrm>
          <a:prstGeom prst="rect">
            <a:avLst/>
          </a:prstGeom>
          <a:solidFill>
            <a:srgbClr val="1C1308"/>
          </a:solidFill>
          <a:ln w="12700">
            <a:solidFill>
              <a:srgbClr val="1C1308"/>
            </a:solidFill>
            <a:prstDash val="solid"/>
          </a:ln>
        </p:spPr>
      </p:sp>
      <p:sp>
        <p:nvSpPr>
          <p:cNvPr id="5" name="Shape 3"/>
          <p:cNvSpPr/>
          <p:nvPr/>
        </p:nvSpPr>
        <p:spPr>
          <a:xfrm>
            <a:off x="4312920" y="1691640"/>
            <a:ext cx="3535680" cy="4206240"/>
          </a:xfrm>
          <a:prstGeom prst="rect">
            <a:avLst/>
          </a:prstGeom>
          <a:solidFill>
            <a:srgbClr val="1C1308"/>
          </a:solidFill>
          <a:ln w="12700">
            <a:solidFill>
              <a:srgbClr val="1C1308"/>
            </a:solidFill>
            <a:prstDash val="solid"/>
          </a:ln>
        </p:spPr>
      </p:sp>
      <p:sp>
        <p:nvSpPr>
          <p:cNvPr id="6" name="Shape 4"/>
          <p:cNvSpPr/>
          <p:nvPr/>
        </p:nvSpPr>
        <p:spPr>
          <a:xfrm>
            <a:off x="8077200" y="1691640"/>
            <a:ext cx="3535680" cy="4206240"/>
          </a:xfrm>
          <a:prstGeom prst="rect">
            <a:avLst/>
          </a:prstGeom>
          <a:solidFill>
            <a:srgbClr val="1C1308"/>
          </a:solidFill>
          <a:ln w="12700">
            <a:solidFill>
              <a:srgbClr val="1C1308"/>
            </a:solidFill>
            <a:prstDash val="solid"/>
          </a:ln>
        </p:spPr>
      </p:sp>
      <p:sp>
        <p:nvSpPr>
          <p:cNvPr id="7" name="Text 5"/>
          <p:cNvSpPr/>
          <p:nvPr/>
        </p:nvSpPr>
        <p:spPr>
          <a:xfrm>
            <a:off x="731520" y="1691640"/>
            <a:ext cx="3169920" cy="365760"/>
          </a:xfrm>
          <a:prstGeom prst="rect">
            <a:avLst/>
          </a:prstGeom>
          <a:noFill/>
          <a:ln/>
        </p:spPr>
        <p:txBody>
          <a:bodyPr wrap="square" lIns="0" tIns="0" rIns="0" bIns="0" rtlCol="0" anchor="ctr"/>
          <a:lstStyle/>
          <a:p>
            <a:pPr indent="0" marL="0">
              <a:buNone/>
            </a:pPr>
            <a:r>
              <a:rPr lang="en-US" sz="1000" b="1" spc="300" kern="0" dirty="0">
                <a:solidFill>
                  <a:srgbClr val="F59E0B"/>
                </a:solidFill>
                <a:latin typeface="DM Sans" pitchFamily="34" charset="0"/>
                <a:ea typeface="DM Sans" pitchFamily="34" charset="-122"/>
                <a:cs typeface="DM Sans" pitchFamily="34" charset="-120"/>
              </a:rPr>
              <a:t>PRIMARY — GOOGLE OFFICIAL</a:t>
            </a:r>
            <a:endParaRPr lang="en-US" sz="1000" dirty="0"/>
          </a:p>
        </p:txBody>
      </p:sp>
      <p:sp>
        <p:nvSpPr>
          <p:cNvPr id="8" name="Text 6"/>
          <p:cNvSpPr/>
          <p:nvPr/>
        </p:nvSpPr>
        <p:spPr>
          <a:xfrm>
            <a:off x="731520" y="210312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grow.google/certificates</a:t>
            </a:r>
            <a:endParaRPr lang="en-US" sz="1000" dirty="0"/>
          </a:p>
        </p:txBody>
      </p:sp>
      <p:sp>
        <p:nvSpPr>
          <p:cNvPr id="9" name="Text 7"/>
          <p:cNvSpPr/>
          <p:nvPr/>
        </p:nvSpPr>
        <p:spPr>
          <a:xfrm>
            <a:off x="731520" y="242316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coursera.org/google-certificates/*</a:t>
            </a:r>
            <a:endParaRPr lang="en-US" sz="1000" dirty="0"/>
          </a:p>
        </p:txBody>
      </p:sp>
      <p:sp>
        <p:nvSpPr>
          <p:cNvPr id="10" name="Text 8"/>
          <p:cNvSpPr/>
          <p:nvPr/>
        </p:nvSpPr>
        <p:spPr>
          <a:xfrm>
            <a:off x="731520" y="274320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coursera.org/professional-certificates/google-ai</a:t>
            </a:r>
            <a:endParaRPr lang="en-US" sz="1000" dirty="0"/>
          </a:p>
        </p:txBody>
      </p:sp>
      <p:sp>
        <p:nvSpPr>
          <p:cNvPr id="11" name="Text 9"/>
          <p:cNvSpPr/>
          <p:nvPr/>
        </p:nvSpPr>
        <p:spPr>
          <a:xfrm>
            <a:off x="731520" y="306324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cloud.google.com/learn/certification (14 certs)</a:t>
            </a:r>
            <a:endParaRPr lang="en-US" sz="1000" dirty="0"/>
          </a:p>
        </p:txBody>
      </p:sp>
      <p:sp>
        <p:nvSpPr>
          <p:cNvPr id="12" name="Text 10"/>
          <p:cNvSpPr/>
          <p:nvPr/>
        </p:nvSpPr>
        <p:spPr>
          <a:xfrm>
            <a:off x="731520" y="338328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skills.google/paths</a:t>
            </a:r>
            <a:endParaRPr lang="en-US" sz="1000" dirty="0"/>
          </a:p>
        </p:txBody>
      </p:sp>
      <p:sp>
        <p:nvSpPr>
          <p:cNvPr id="13" name="Text 11"/>
          <p:cNvSpPr/>
          <p:nvPr/>
        </p:nvSpPr>
        <p:spPr>
          <a:xfrm>
            <a:off x="731520" y="370332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developers.google.com/machine-learning/crash-course</a:t>
            </a:r>
            <a:endParaRPr lang="en-US" sz="1000" dirty="0"/>
          </a:p>
        </p:txBody>
      </p:sp>
      <p:sp>
        <p:nvSpPr>
          <p:cNvPr id="14" name="Text 12"/>
          <p:cNvSpPr/>
          <p:nvPr/>
        </p:nvSpPr>
        <p:spPr>
          <a:xfrm>
            <a:off x="731520" y="402336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ai.google/learn-ai-skills</a:t>
            </a:r>
            <a:endParaRPr lang="en-US" sz="1000" dirty="0"/>
          </a:p>
        </p:txBody>
      </p:sp>
      <p:sp>
        <p:nvSpPr>
          <p:cNvPr id="15" name="Text 13"/>
          <p:cNvSpPr/>
          <p:nvPr/>
        </p:nvSpPr>
        <p:spPr>
          <a:xfrm>
            <a:off x="731520" y="434340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skillshop.withgoogle.com (10 product certs)</a:t>
            </a:r>
            <a:endParaRPr lang="en-US" sz="1000" dirty="0"/>
          </a:p>
        </p:txBody>
      </p:sp>
      <p:sp>
        <p:nvSpPr>
          <p:cNvPr id="16" name="Text 14"/>
          <p:cNvSpPr/>
          <p:nvPr/>
        </p:nvSpPr>
        <p:spPr>
          <a:xfrm>
            <a:off x="731520" y="466344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edu.google.com (6 educator credentials)</a:t>
            </a:r>
            <a:endParaRPr lang="en-US" sz="1000" dirty="0"/>
          </a:p>
        </p:txBody>
      </p:sp>
      <p:sp>
        <p:nvSpPr>
          <p:cNvPr id="17" name="Text 15"/>
          <p:cNvSpPr/>
          <p:nvPr/>
        </p:nvSpPr>
        <p:spPr>
          <a:xfrm>
            <a:off x="4495800" y="1691640"/>
            <a:ext cx="3169920" cy="365760"/>
          </a:xfrm>
          <a:prstGeom prst="rect">
            <a:avLst/>
          </a:prstGeom>
          <a:noFill/>
          <a:ln/>
        </p:spPr>
        <p:txBody>
          <a:bodyPr wrap="square" lIns="0" tIns="0" rIns="0" bIns="0" rtlCol="0" anchor="ctr"/>
          <a:lstStyle/>
          <a:p>
            <a:pPr indent="0" marL="0">
              <a:buNone/>
            </a:pPr>
            <a:r>
              <a:rPr lang="en-US" sz="1000" b="1" spc="300" kern="0" dirty="0">
                <a:solidFill>
                  <a:srgbClr val="84CC16"/>
                </a:solidFill>
                <a:latin typeface="DM Sans" pitchFamily="34" charset="0"/>
                <a:ea typeface="DM Sans" pitchFamily="34" charset="-122"/>
                <a:cs typeface="DM Sans" pitchFamily="34" charset="-120"/>
              </a:rPr>
              <a:t>JOB MARKET — AUTHORITATIVE</a:t>
            </a:r>
            <a:endParaRPr lang="en-US" sz="1000" dirty="0"/>
          </a:p>
        </p:txBody>
      </p:sp>
      <p:sp>
        <p:nvSpPr>
          <p:cNvPr id="18" name="Text 16"/>
          <p:cNvSpPr/>
          <p:nvPr/>
        </p:nvSpPr>
        <p:spPr>
          <a:xfrm>
            <a:off x="4495800" y="210312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BLS OOH (Computer Support, Data Scientists, Info Security, PM, Web/Digital Designer, Market Research Analyst)</a:t>
            </a:r>
            <a:endParaRPr lang="en-US" sz="1000" dirty="0"/>
          </a:p>
        </p:txBody>
      </p:sp>
      <p:sp>
        <p:nvSpPr>
          <p:cNvPr id="19" name="Text 17"/>
          <p:cNvSpPr/>
          <p:nvPr/>
        </p:nvSpPr>
        <p:spPr>
          <a:xfrm>
            <a:off x="4495800" y="242316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BLS Employment Projections 2024-2034</a:t>
            </a:r>
            <a:endParaRPr lang="en-US" sz="1000" dirty="0"/>
          </a:p>
        </p:txBody>
      </p:sp>
      <p:sp>
        <p:nvSpPr>
          <p:cNvPr id="20" name="Text 18"/>
          <p:cNvSpPr/>
          <p:nvPr/>
        </p:nvSpPr>
        <p:spPr>
          <a:xfrm>
            <a:off x="4495800" y="274320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Indeed Hiring Lab — Jan 2026 update</a:t>
            </a:r>
            <a:endParaRPr lang="en-US" sz="1000" dirty="0"/>
          </a:p>
        </p:txBody>
      </p:sp>
      <p:sp>
        <p:nvSpPr>
          <p:cNvPr id="21" name="Text 19"/>
          <p:cNvSpPr/>
          <p:nvPr/>
        </p:nvSpPr>
        <p:spPr>
          <a:xfrm>
            <a:off x="4495800" y="306324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Indeed 2026 US Jobs &amp; Hiring Trends Report</a:t>
            </a:r>
            <a:endParaRPr lang="en-US" sz="1000" dirty="0"/>
          </a:p>
        </p:txBody>
      </p:sp>
      <p:sp>
        <p:nvSpPr>
          <p:cNvPr id="22" name="Text 20"/>
          <p:cNvSpPr/>
          <p:nvPr/>
        </p:nvSpPr>
        <p:spPr>
          <a:xfrm>
            <a:off x="4495800" y="338328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LinkedIn 2026 Jobs on the Rise</a:t>
            </a:r>
            <a:endParaRPr lang="en-US" sz="1000" dirty="0"/>
          </a:p>
        </p:txBody>
      </p:sp>
      <p:sp>
        <p:nvSpPr>
          <p:cNvPr id="23" name="Text 21"/>
          <p:cNvSpPr/>
          <p:nvPr/>
        </p:nvSpPr>
        <p:spPr>
          <a:xfrm>
            <a:off x="4495800" y="370332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World Economic Forum — 1.3M new AI jobs</a:t>
            </a:r>
            <a:endParaRPr lang="en-US" sz="1000" dirty="0"/>
          </a:p>
        </p:txBody>
      </p:sp>
      <p:sp>
        <p:nvSpPr>
          <p:cNvPr id="24" name="Text 22"/>
          <p:cNvSpPr/>
          <p:nvPr/>
        </p:nvSpPr>
        <p:spPr>
          <a:xfrm>
            <a:off x="4495800" y="402336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CompTIA State of the Tech Workforce 2026</a:t>
            </a:r>
            <a:endParaRPr lang="en-US" sz="1000" dirty="0"/>
          </a:p>
        </p:txBody>
      </p:sp>
      <p:sp>
        <p:nvSpPr>
          <p:cNvPr id="25" name="Text 23"/>
          <p:cNvSpPr/>
          <p:nvPr/>
        </p:nvSpPr>
        <p:spPr>
          <a:xfrm>
            <a:off x="8260080" y="1691640"/>
            <a:ext cx="3169920" cy="365760"/>
          </a:xfrm>
          <a:prstGeom prst="rect">
            <a:avLst/>
          </a:prstGeom>
          <a:noFill/>
          <a:ln/>
        </p:spPr>
        <p:txBody>
          <a:bodyPr wrap="square" lIns="0" tIns="0" rIns="0" bIns="0" rtlCol="0" anchor="ctr"/>
          <a:lstStyle/>
          <a:p>
            <a:pPr indent="0" marL="0">
              <a:buNone/>
            </a:pPr>
            <a:r>
              <a:rPr lang="en-US" sz="1000" b="1" spc="300" kern="0" dirty="0">
                <a:solidFill>
                  <a:srgbClr val="0891B2"/>
                </a:solidFill>
                <a:latin typeface="DM Sans" pitchFamily="34" charset="0"/>
                <a:ea typeface="DM Sans" pitchFamily="34" charset="-122"/>
                <a:cs typeface="DM Sans" pitchFamily="34" charset="-120"/>
              </a:rPr>
              <a:t>JOB MARKET — CROWD-SOURCED (FLAGGED)</a:t>
            </a:r>
            <a:endParaRPr lang="en-US" sz="1000" dirty="0"/>
          </a:p>
        </p:txBody>
      </p:sp>
      <p:sp>
        <p:nvSpPr>
          <p:cNvPr id="26" name="Text 24"/>
          <p:cNvSpPr/>
          <p:nvPr/>
        </p:nvSpPr>
        <p:spPr>
          <a:xfrm>
            <a:off x="8260080" y="210312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Glassdoor (Data Analyst, BI, Cloud Eng, GCP DE [n=27 low-n], ML Eng, Cloud Security, SRE/DevOps, Prompt Eng, AI PM, Google Ads Specialist)</a:t>
            </a:r>
            <a:endParaRPr lang="en-US" sz="1000" dirty="0"/>
          </a:p>
        </p:txBody>
      </p:sp>
      <p:sp>
        <p:nvSpPr>
          <p:cNvPr id="27" name="Text 25"/>
          <p:cNvSpPr/>
          <p:nvPr/>
        </p:nvSpPr>
        <p:spPr>
          <a:xfrm>
            <a:off x="8260080" y="242316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Levels.fyi (Google Cloud Architect L5-L6)</a:t>
            </a:r>
            <a:endParaRPr lang="en-US" sz="1000" dirty="0"/>
          </a:p>
        </p:txBody>
      </p:sp>
      <p:sp>
        <p:nvSpPr>
          <p:cNvPr id="28" name="Text 26"/>
          <p:cNvSpPr/>
          <p:nvPr/>
        </p:nvSpPr>
        <p:spPr>
          <a:xfrm>
            <a:off x="8260080" y="274320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ZipRecruiter (Cloud Engineer entry)</a:t>
            </a:r>
            <a:endParaRPr lang="en-US" sz="1000" dirty="0"/>
          </a:p>
        </p:txBody>
      </p:sp>
      <p:sp>
        <p:nvSpPr>
          <p:cNvPr id="29" name="Text 27"/>
          <p:cNvSpPr/>
          <p:nvPr/>
        </p:nvSpPr>
        <p:spPr>
          <a:xfrm>
            <a:off x="8260080" y="306324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StationX cybersecurity job market 2026</a:t>
            </a:r>
            <a:endParaRPr lang="en-US" sz="1000" dirty="0"/>
          </a:p>
        </p:txBody>
      </p:sp>
      <p:sp>
        <p:nvSpPr>
          <p:cNvPr id="30" name="Text 28"/>
          <p:cNvSpPr/>
          <p:nvPr/>
        </p:nvSpPr>
        <p:spPr>
          <a:xfrm>
            <a:off x="8260080" y="338328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NN/g State of UX 2026</a:t>
            </a:r>
            <a:endParaRPr lang="en-US" sz="1000" dirty="0"/>
          </a:p>
        </p:txBody>
      </p:sp>
      <p:sp>
        <p:nvSpPr>
          <p:cNvPr id="31" name="Text 29"/>
          <p:cNvSpPr/>
          <p:nvPr/>
        </p:nvSpPr>
        <p:spPr>
          <a:xfrm>
            <a:off x="8260080" y="370332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UX Design Institute job market 2026</a:t>
            </a:r>
            <a:endParaRPr lang="en-US" sz="1000" dirty="0"/>
          </a:p>
        </p:txBody>
      </p:sp>
      <p:sp>
        <p:nvSpPr>
          <p:cNvPr id="32" name="Text 30"/>
          <p:cNvSpPr/>
          <p:nvPr/>
        </p:nvSpPr>
        <p:spPr>
          <a:xfrm>
            <a:off x="8260080" y="4160520"/>
            <a:ext cx="3169920" cy="365760"/>
          </a:xfrm>
          <a:prstGeom prst="rect">
            <a:avLst/>
          </a:prstGeom>
          <a:noFill/>
          <a:ln/>
        </p:spPr>
        <p:txBody>
          <a:bodyPr wrap="square" lIns="0" tIns="0" rIns="0" bIns="0" rtlCol="0" anchor="ctr"/>
          <a:lstStyle/>
          <a:p>
            <a:pPr indent="0" marL="0">
              <a:buNone/>
            </a:pPr>
            <a:r>
              <a:rPr lang="en-US" sz="1000" b="1" spc="300" kern="0" dirty="0">
                <a:solidFill>
                  <a:srgbClr val="EF4444"/>
                </a:solidFill>
                <a:latin typeface="DM Sans" pitchFamily="34" charset="0"/>
                <a:ea typeface="DM Sans" pitchFamily="34" charset="-122"/>
                <a:cs typeface="DM Sans" pitchFamily="34" charset="-120"/>
              </a:rPr>
              <a:t>VERIFICATION FLAGS [verify]:</a:t>
            </a:r>
            <a:endParaRPr lang="en-US" sz="1000" dirty="0"/>
          </a:p>
        </p:txBody>
      </p:sp>
      <p:sp>
        <p:nvSpPr>
          <p:cNvPr id="33" name="Text 31"/>
          <p:cNvSpPr/>
          <p:nvPr/>
        </p:nvSpPr>
        <p:spPr>
          <a:xfrm>
            <a:off x="8260080" y="4572000"/>
            <a:ext cx="3169920" cy="365760"/>
          </a:xfrm>
          <a:prstGeom prst="rect">
            <a:avLst/>
          </a:prstGeom>
          <a:noFill/>
          <a:ln/>
        </p:spPr>
        <p:txBody>
          <a:bodyPr wrap="square" lIns="0" tIns="0" rIns="0" bIns="0" rtlCol="0" anchor="ctr"/>
          <a:lstStyle/>
          <a:p>
            <a:pPr indent="0" marL="0">
              <a:buNone/>
            </a:pPr>
            <a:r>
              <a:rPr lang="en-US" sz="1000" dirty="0">
                <a:solidFill>
                  <a:srgbClr val="C8BAA6"/>
                </a:solidFill>
                <a:latin typeface="DM Sans" pitchFamily="34" charset="0"/>
                <a:ea typeface="DM Sans" pitchFamily="34" charset="-122"/>
                <a:cs typeface="DM Sans" pitchFamily="34" charset="-120"/>
              </a:rPr>
              <a:t>8 items flagged — see RESEARCH_NOTES §10</a:t>
            </a:r>
            <a:endParaRPr lang="en-US" sz="1000" dirty="0"/>
          </a:p>
        </p:txBody>
      </p:sp>
      <p:sp>
        <p:nvSpPr>
          <p:cNvPr id="34" name="Text 32"/>
          <p:cNvSpPr/>
          <p:nvPr/>
        </p:nvSpPr>
        <p:spPr>
          <a:xfrm>
            <a:off x="548640" y="6080760"/>
            <a:ext cx="11064240" cy="365760"/>
          </a:xfrm>
          <a:prstGeom prst="rect">
            <a:avLst/>
          </a:prstGeom>
          <a:noFill/>
          <a:ln/>
        </p:spPr>
        <p:txBody>
          <a:bodyPr wrap="square" lIns="0" tIns="0" rIns="0" bIns="0" rtlCol="0" anchor="ctr"/>
          <a:lstStyle/>
          <a:p>
            <a:pPr algn="ctr" indent="0" marL="0">
              <a:buNone/>
            </a:pPr>
            <a:r>
              <a:rPr lang="en-US" sz="1200" i="1" dirty="0">
                <a:solidFill>
                  <a:srgbClr val="C8BAA6"/>
                </a:solidFill>
                <a:latin typeface="DM Sans" pitchFamily="34" charset="0"/>
                <a:ea typeface="DM Sans" pitchFamily="34" charset="-122"/>
                <a:cs typeface="DM Sans" pitchFamily="34" charset="-120"/>
              </a:rPr>
              <a:t>Total citations: </a:t>
            </a:r>
            <a:pPr algn="ctr" indent="0" marL="0">
              <a:buNone/>
            </a:pPr>
            <a:r>
              <a:rPr lang="en-US" sz="1200" b="1" i="1" dirty="0">
                <a:solidFill>
                  <a:srgbClr val="F59E0B"/>
                </a:solidFill>
                <a:latin typeface="DM Sans" pitchFamily="34" charset="0"/>
                <a:ea typeface="DM Sans" pitchFamily="34" charset="-122"/>
                <a:cs typeface="DM Sans" pitchFamily="34" charset="-120"/>
              </a:rPr>
              <a:t>60 </a:t>
            </a:r>
            <a:pPr algn="ctr" indent="0" marL="0">
              <a:buNone/>
            </a:pPr>
            <a:r>
              <a:rPr lang="en-US" sz="1200" i="1" dirty="0">
                <a:solidFill>
                  <a:srgbClr val="C8BAA6"/>
                </a:solidFill>
                <a:latin typeface="DM Sans" pitchFamily="34" charset="0"/>
                <a:ea typeface="DM Sans" pitchFamily="34" charset="-122"/>
                <a:cs typeface="DM Sans" pitchFamily="34" charset="-120"/>
              </a:rPr>
              <a:t>(30 Google official + 30 job-market) · Access date 2026-06-09 · See RESEARCH_NOTES.md §9 for full URLs</a:t>
            </a:r>
            <a:endParaRPr lang="en-US" sz="1200" dirty="0"/>
          </a:p>
        </p:txBody>
      </p:sp>
      <p:sp>
        <p:nvSpPr>
          <p:cNvPr id="35" name="Text 33"/>
          <p:cNvSpPr/>
          <p:nvPr/>
        </p:nvSpPr>
        <p:spPr>
          <a:xfrm>
            <a:off x="11064240" y="6492240"/>
            <a:ext cx="822960" cy="228600"/>
          </a:xfrm>
          <a:prstGeom prst="rect">
            <a:avLst/>
          </a:prstGeom>
          <a:noFill/>
          <a:ln/>
        </p:spPr>
        <p:txBody>
          <a:bodyPr wrap="square" lIns="0" tIns="0" rIns="0" bIns="0" rtlCol="0" anchor="ctr"/>
          <a:lstStyle/>
          <a:p>
            <a:pPr algn="r" indent="0" marL="0">
              <a:buNone/>
            </a:pPr>
            <a:r>
              <a:rPr lang="en-US" sz="900" dirty="0">
                <a:solidFill>
                  <a:srgbClr val="8A7A64"/>
                </a:solidFill>
                <a:latin typeface="DM Sans" pitchFamily="34" charset="0"/>
                <a:ea typeface="DM Sans" pitchFamily="34" charset="-122"/>
                <a:cs typeface="DM Sans" pitchFamily="34" charset="-120"/>
              </a:rPr>
              <a:t>17 / 17</a:t>
            </a:r>
            <a:endParaRPr lang="en-US" sz="900" dirty="0"/>
          </a:p>
        </p:txBody>
      </p:sp>
      <p:sp>
        <p:nvSpPr>
          <p:cNvPr id="36" name="Text 34"/>
          <p:cNvSpPr/>
          <p:nvPr/>
        </p:nvSpPr>
        <p:spPr>
          <a:xfrm>
            <a:off x="365760" y="6492240"/>
            <a:ext cx="4572000" cy="228600"/>
          </a:xfrm>
          <a:prstGeom prst="rect">
            <a:avLst/>
          </a:prstGeom>
          <a:noFill/>
          <a:ln/>
        </p:spPr>
        <p:txBody>
          <a:bodyPr wrap="square" lIns="0" tIns="0" rIns="0" bIns="0" rtlCol="0" anchor="ctr"/>
          <a:lstStyle/>
          <a:p>
            <a:pPr algn="l" indent="0" marL="0">
              <a:buNone/>
            </a:pPr>
            <a:r>
              <a:rPr lang="en-US" sz="900" dirty="0">
                <a:solidFill>
                  <a:srgbClr val="8A7A64"/>
                </a:solidFill>
                <a:latin typeface="DM Sans" pitchFamily="34" charset="0"/>
                <a:ea typeface="DM Sans" pitchFamily="34" charset="-122"/>
                <a:cs typeface="DM Sans" pitchFamily="34" charset="-120"/>
              </a:rPr>
              <a:t>PEARL_RESEARCH · 2026-06-09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Pearl Prime / SpiritualTech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Contributor Learning Pathways — Google × Pearl Prime × Job Market</dc:title>
  <dc:subject>PptxGenJS Presentation</dc:subject>
  <dc:creator>Pearl_Research</dc:creator>
  <cp:lastModifiedBy>Pearl_Research</cp:lastModifiedBy>
  <cp:revision>1</cp:revision>
  <dcterms:created xsi:type="dcterms:W3CDTF">2026-06-09T19:00:08Z</dcterms:created>
  <dcterms:modified xsi:type="dcterms:W3CDTF">2026-06-09T19:00:08Z</dcterms:modified>
</cp:coreProperties>
</file>